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7BA930-A44D-BF84-E2E1-2AD8CBACEF5F}" v="56" dt="2026-05-01T15:12:43.3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3274" autoAdjust="0"/>
  </p:normalViewPr>
  <p:slideViewPr>
    <p:cSldViewPr snapToGrid="0" snapToObjects="1">
      <p:cViewPr varScale="1">
        <p:scale>
          <a:sx n="75" d="100"/>
          <a:sy n="75" d="100"/>
        </p:scale>
        <p:origin x="403"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4218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427"/>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4B8A6"/>
          </a:solidFill>
          <a:ln w="12700">
            <a:solidFill>
              <a:srgbClr val="14B8A6"/>
            </a:solidFill>
            <a:prstDash val="solid"/>
          </a:ln>
        </p:spPr>
        <p:txBody>
          <a:bodyPr/>
          <a:lstStyle/>
          <a:p>
            <a:endParaRPr lang="en-US"/>
          </a:p>
        </p:txBody>
      </p:sp>
      <p:sp>
        <p:nvSpPr>
          <p:cNvPr id="3" name="Shape 1"/>
          <p:cNvSpPr/>
          <p:nvPr/>
        </p:nvSpPr>
        <p:spPr>
          <a:xfrm>
            <a:off x="6858000" y="-1645920"/>
            <a:ext cx="4114800" cy="4114800"/>
          </a:xfrm>
          <a:prstGeom prst="ellipse">
            <a:avLst/>
          </a:prstGeom>
          <a:solidFill>
            <a:srgbClr val="14B8A6">
              <a:alpha val="20000"/>
            </a:srgbClr>
          </a:solidFill>
          <a:ln w="12700">
            <a:solidFill>
              <a:srgbClr val="14B8A6">
                <a:alpha val="0"/>
              </a:srgbClr>
            </a:solidFill>
            <a:prstDash val="solid"/>
          </a:ln>
        </p:spPr>
        <p:txBody>
          <a:bodyPr/>
          <a:lstStyle/>
          <a:p>
            <a:endParaRPr lang="en-US"/>
          </a:p>
        </p:txBody>
      </p:sp>
      <p:sp>
        <p:nvSpPr>
          <p:cNvPr id="4" name="Shape 2"/>
          <p:cNvSpPr/>
          <p:nvPr/>
        </p:nvSpPr>
        <p:spPr>
          <a:xfrm>
            <a:off x="7680960" y="-822960"/>
            <a:ext cx="2560320" cy="2560320"/>
          </a:xfrm>
          <a:prstGeom prst="ellipse">
            <a:avLst/>
          </a:prstGeom>
          <a:solidFill>
            <a:srgbClr val="5EEAD4">
              <a:alpha val="30000"/>
            </a:srgbClr>
          </a:solidFill>
          <a:ln w="12700">
            <a:solidFill>
              <a:srgbClr val="5EEAD4">
                <a:alpha val="0"/>
              </a:srgbClr>
            </a:solidFill>
            <a:prstDash val="solid"/>
          </a:ln>
        </p:spPr>
        <p:txBody>
          <a:bodyPr/>
          <a:lstStyle/>
          <a:p>
            <a:endParaRPr lang="en-US"/>
          </a:p>
        </p:txBody>
      </p:sp>
      <p:sp>
        <p:nvSpPr>
          <p:cNvPr id="5" name="Text 3"/>
          <p:cNvSpPr/>
          <p:nvPr/>
        </p:nvSpPr>
        <p:spPr>
          <a:xfrm>
            <a:off x="548640" y="1097280"/>
            <a:ext cx="7315200" cy="274320"/>
          </a:xfrm>
          <a:prstGeom prst="rect">
            <a:avLst/>
          </a:prstGeom>
          <a:noFill/>
          <a:ln/>
        </p:spPr>
        <p:txBody>
          <a:bodyPr wrap="square" lIns="0" tIns="0" rIns="0" bIns="0" rtlCol="0" anchor="ctr"/>
          <a:lstStyle/>
          <a:p>
            <a:pPr marL="0" indent="0">
              <a:buNone/>
            </a:pPr>
            <a:r>
              <a:rPr lang="en-US" sz="1100" b="1" kern="0" spc="800" dirty="0">
                <a:solidFill>
                  <a:srgbClr val="5EEAD4"/>
                </a:solidFill>
                <a:latin typeface="Calibri" pitchFamily="34" charset="0"/>
                <a:ea typeface="Calibri" pitchFamily="34" charset="-122"/>
                <a:cs typeface="Calibri" pitchFamily="34" charset="-120"/>
              </a:rPr>
              <a:t>CONNECTION  |  ECS PARTNERSHIP</a:t>
            </a:r>
            <a:endParaRPr lang="en-US" sz="1100" dirty="0"/>
          </a:p>
        </p:txBody>
      </p:sp>
      <p:sp>
        <p:nvSpPr>
          <p:cNvPr id="6" name="Text 4"/>
          <p:cNvSpPr/>
          <p:nvPr/>
        </p:nvSpPr>
        <p:spPr>
          <a:xfrm>
            <a:off x="548640" y="1463040"/>
            <a:ext cx="7772400" cy="914400"/>
          </a:xfrm>
          <a:prstGeom prst="rect">
            <a:avLst/>
          </a:prstGeom>
          <a:noFill/>
          <a:ln/>
        </p:spPr>
        <p:txBody>
          <a:bodyPr wrap="square" lIns="0" tIns="0" rIns="0" bIns="0"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Modernizing the Core</a:t>
            </a:r>
            <a:endParaRPr lang="en-US" sz="5000" dirty="0"/>
          </a:p>
        </p:txBody>
      </p:sp>
      <p:sp>
        <p:nvSpPr>
          <p:cNvPr id="7" name="Text 5"/>
          <p:cNvSpPr/>
          <p:nvPr/>
        </p:nvSpPr>
        <p:spPr>
          <a:xfrm>
            <a:off x="548640" y="2377440"/>
            <a:ext cx="7772400" cy="457200"/>
          </a:xfrm>
          <a:prstGeom prst="rect">
            <a:avLst/>
          </a:prstGeom>
          <a:noFill/>
          <a:ln/>
        </p:spPr>
        <p:txBody>
          <a:bodyPr wrap="square" lIns="0" tIns="0" rIns="0" bIns="0" rtlCol="0" anchor="ctr"/>
          <a:lstStyle/>
          <a:p>
            <a:pPr marL="0" indent="0">
              <a:buNone/>
            </a:pPr>
            <a:r>
              <a:rPr lang="en-US" sz="2200" i="1" dirty="0">
                <a:solidFill>
                  <a:srgbClr val="5EEAD4"/>
                </a:solidFill>
                <a:latin typeface="Calibri" pitchFamily="34" charset="0"/>
                <a:ea typeface="Calibri" pitchFamily="34" charset="-122"/>
                <a:cs typeface="Calibri" pitchFamily="34" charset="-120"/>
              </a:rPr>
              <a:t>The ServiceNow Reimplementation Strategy</a:t>
            </a:r>
            <a:endParaRPr lang="en-US" sz="2200" dirty="0"/>
          </a:p>
        </p:txBody>
      </p:sp>
      <p:sp>
        <p:nvSpPr>
          <p:cNvPr id="8" name="Shape 6"/>
          <p:cNvSpPr/>
          <p:nvPr/>
        </p:nvSpPr>
        <p:spPr>
          <a:xfrm>
            <a:off x="548640" y="3017520"/>
            <a:ext cx="640080" cy="36576"/>
          </a:xfrm>
          <a:prstGeom prst="rect">
            <a:avLst/>
          </a:prstGeom>
          <a:solidFill>
            <a:srgbClr val="14B8A6"/>
          </a:solidFill>
          <a:ln w="12700">
            <a:solidFill>
              <a:srgbClr val="14B8A6"/>
            </a:solidFill>
            <a:prstDash val="solid"/>
          </a:ln>
        </p:spPr>
        <p:txBody>
          <a:bodyPr/>
          <a:lstStyle/>
          <a:p>
            <a:endParaRPr lang="en-US"/>
          </a:p>
        </p:txBody>
      </p:sp>
      <p:sp>
        <p:nvSpPr>
          <p:cNvPr id="9" name="Text 7"/>
          <p:cNvSpPr/>
          <p:nvPr/>
        </p:nvSpPr>
        <p:spPr>
          <a:xfrm>
            <a:off x="548640" y="3154680"/>
            <a:ext cx="7772400" cy="64008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An 18-week, OOTB-first reimplementation that lands a clean, AI-ready ServiceNow platform — structured as governance-led 2-week sprints.</a:t>
            </a:r>
            <a:endParaRPr lang="en-US" sz="1400" dirty="0"/>
          </a:p>
        </p:txBody>
      </p:sp>
      <p:sp>
        <p:nvSpPr>
          <p:cNvPr id="10" name="Text 8"/>
          <p:cNvSpPr/>
          <p:nvPr/>
        </p:nvSpPr>
        <p:spPr>
          <a:xfrm>
            <a:off x="548640" y="4206240"/>
            <a:ext cx="7772400" cy="274320"/>
          </a:xfrm>
          <a:prstGeom prst="rect">
            <a:avLst/>
          </a:prstGeom>
          <a:noFill/>
          <a:ln/>
        </p:spPr>
        <p:txBody>
          <a:bodyPr wrap="square" lIns="0" tIns="0" rIns="0" bIns="0" rtlCol="0" anchor="ctr"/>
          <a:lstStyle/>
          <a:p>
            <a:pPr marL="0" indent="0">
              <a:buNone/>
            </a:pPr>
            <a:r>
              <a:rPr lang="en-US" sz="1000" b="1" kern="0" spc="400" dirty="0">
                <a:solidFill>
                  <a:srgbClr val="5EEAD4"/>
                </a:solidFill>
                <a:latin typeface="Calibri" pitchFamily="34" charset="0"/>
                <a:ea typeface="Calibri" pitchFamily="34" charset="-122"/>
                <a:cs typeface="Calibri" pitchFamily="34" charset="-120"/>
              </a:rPr>
              <a:t>Phase 1  ·  ITSM Core  ·  CSDM  ·  Employee Experience  ·  AI-Ready</a:t>
            </a:r>
            <a:endParaRPr lang="en-US" sz="1000" dirty="0"/>
          </a:p>
        </p:txBody>
      </p:sp>
      <p:sp>
        <p:nvSpPr>
          <p:cNvPr id="11" name="Text 9"/>
          <p:cNvSpPr/>
          <p:nvPr/>
        </p:nvSpPr>
        <p:spPr>
          <a:xfrm>
            <a:off x="548640" y="4572000"/>
            <a:ext cx="77724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Prepared by ECS  ·  Confidential  ·  PC Connection  ·  ServiceNow Re-implementation</a:t>
            </a:r>
            <a:endParaRPr lang="en-US" sz="900" dirty="0"/>
          </a:p>
        </p:txBody>
      </p:sp>
      <p:pic>
        <p:nvPicPr>
          <p:cNvPr id="12" name="Image 0" descr="/sessions/laughing-cool-lovelace/mnt/outputs/deck/everforth_ecs_federal_white.png"/>
          <p:cNvPicPr>
            <a:picLocks noChangeAspect="1"/>
          </p:cNvPicPr>
          <p:nvPr/>
        </p:nvPicPr>
        <p:blipFill>
          <a:blip r:embed="rId3"/>
          <a:stretch>
            <a:fillRect/>
          </a:stretch>
        </p:blipFill>
        <p:spPr>
          <a:xfrm>
            <a:off x="7040880" y="365760"/>
            <a:ext cx="1828800" cy="33977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92608"/>
            <a:ext cx="8412480" cy="228600"/>
          </a:xfrm>
          <a:prstGeom prst="rect">
            <a:avLst/>
          </a:prstGeom>
          <a:noFill/>
          <a:ln/>
        </p:spPr>
        <p:txBody>
          <a:bodyPr wrap="square" lIns="0" tIns="0" rIns="0" bIns="0" rtlCol="0" anchor="ctr"/>
          <a:lstStyle/>
          <a:p>
            <a:pPr marL="0" indent="0">
              <a:buNone/>
            </a:pPr>
            <a:r>
              <a:rPr lang="en-US" sz="900" b="1" kern="0" spc="600" dirty="0">
                <a:solidFill>
                  <a:srgbClr val="14B8A6"/>
                </a:solidFill>
                <a:latin typeface="Calibri" pitchFamily="34" charset="0"/>
                <a:ea typeface="Calibri" pitchFamily="34" charset="-122"/>
                <a:cs typeface="Calibri" pitchFamily="34" charset="-120"/>
              </a:rPr>
              <a:t>01  ·  EXECUTIVE SUMMARY</a:t>
            </a:r>
            <a:endParaRPr lang="en-US" sz="900" dirty="0"/>
          </a:p>
        </p:txBody>
      </p:sp>
      <p:sp>
        <p:nvSpPr>
          <p:cNvPr id="3" name="Text 1"/>
          <p:cNvSpPr/>
          <p:nvPr/>
        </p:nvSpPr>
        <p:spPr>
          <a:xfrm>
            <a:off x="365760" y="502920"/>
            <a:ext cx="8412480" cy="502920"/>
          </a:xfrm>
          <a:prstGeom prst="rect">
            <a:avLst/>
          </a:prstGeom>
          <a:noFill/>
          <a:ln/>
        </p:spPr>
        <p:txBody>
          <a:bodyPr wrap="square" lIns="0" tIns="0" rIns="0" bIns="0" rtlCol="0" anchor="ctr"/>
          <a:lstStyle/>
          <a:p>
            <a:pPr marL="0" indent="0">
              <a:buNone/>
            </a:pPr>
            <a:r>
              <a:rPr lang="en-US" sz="2400" b="1" dirty="0">
                <a:solidFill>
                  <a:srgbClr val="0B1F3A"/>
                </a:solidFill>
                <a:latin typeface="Calibri" pitchFamily="34" charset="0"/>
                <a:ea typeface="Calibri" pitchFamily="34" charset="-122"/>
                <a:cs typeface="Calibri" pitchFamily="34" charset="-120"/>
              </a:rPr>
              <a:t>Why we're doing this — and why now</a:t>
            </a:r>
            <a:endParaRPr lang="en-US" sz="2400" dirty="0"/>
          </a:p>
        </p:txBody>
      </p:sp>
      <p:sp>
        <p:nvSpPr>
          <p:cNvPr id="4" name="Text 2"/>
          <p:cNvSpPr/>
          <p:nvPr/>
        </p:nvSpPr>
        <p:spPr>
          <a:xfrm>
            <a:off x="365760" y="1143000"/>
            <a:ext cx="8412480" cy="64008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Connection's Corporate IT will fully reimplement ServiceNow on a new, dedicated instance — replacing the customized, domain-separated legacy build with an OOTB-first foundation that is ready for AI, automation, and disciplined growth.</a:t>
            </a:r>
            <a:endParaRPr lang="en-US" sz="1200" dirty="0"/>
          </a:p>
        </p:txBody>
      </p:sp>
      <p:sp>
        <p:nvSpPr>
          <p:cNvPr id="5" name="Shape 3"/>
          <p:cNvSpPr/>
          <p:nvPr/>
        </p:nvSpPr>
        <p:spPr>
          <a:xfrm>
            <a:off x="365760" y="1920240"/>
            <a:ext cx="1993392" cy="2286000"/>
          </a:xfrm>
          <a:prstGeom prst="rect">
            <a:avLst/>
          </a:prstGeom>
          <a:solidFill>
            <a:srgbClr val="FFFFFF"/>
          </a:solidFill>
          <a:ln w="12700">
            <a:solidFill>
              <a:srgbClr val="E2E8F0"/>
            </a:solidFill>
            <a:prstDash val="solid"/>
          </a:ln>
        </p:spPr>
        <p:txBody>
          <a:bodyPr/>
          <a:lstStyle/>
          <a:p>
            <a:endParaRPr lang="en-US"/>
          </a:p>
        </p:txBody>
      </p:sp>
      <p:sp>
        <p:nvSpPr>
          <p:cNvPr id="6" name="Shape 4"/>
          <p:cNvSpPr/>
          <p:nvPr/>
        </p:nvSpPr>
        <p:spPr>
          <a:xfrm>
            <a:off x="365760" y="1920240"/>
            <a:ext cx="1993392" cy="73152"/>
          </a:xfrm>
          <a:prstGeom prst="rect">
            <a:avLst/>
          </a:prstGeom>
          <a:solidFill>
            <a:srgbClr val="14B8A6"/>
          </a:solidFill>
          <a:ln w="12700">
            <a:solidFill>
              <a:srgbClr val="14B8A6"/>
            </a:solidFill>
            <a:prstDash val="solid"/>
          </a:ln>
        </p:spPr>
        <p:txBody>
          <a:bodyPr/>
          <a:lstStyle/>
          <a:p>
            <a:endParaRPr lang="en-US"/>
          </a:p>
        </p:txBody>
      </p:sp>
      <p:sp>
        <p:nvSpPr>
          <p:cNvPr id="7" name="Shape 5"/>
          <p:cNvSpPr/>
          <p:nvPr/>
        </p:nvSpPr>
        <p:spPr>
          <a:xfrm>
            <a:off x="594360" y="2148840"/>
            <a:ext cx="411480" cy="411480"/>
          </a:xfrm>
          <a:prstGeom prst="ellipse">
            <a:avLst/>
          </a:prstGeom>
          <a:solidFill>
            <a:srgbClr val="0B1F3A"/>
          </a:solidFill>
          <a:ln w="12700">
            <a:solidFill>
              <a:srgbClr val="0B1F3A"/>
            </a:solidFill>
            <a:prstDash val="solid"/>
          </a:ln>
        </p:spPr>
        <p:txBody>
          <a:bodyPr/>
          <a:lstStyle/>
          <a:p>
            <a:endParaRPr lang="en-US"/>
          </a:p>
        </p:txBody>
      </p:sp>
      <p:sp>
        <p:nvSpPr>
          <p:cNvPr id="8" name="Text 6"/>
          <p:cNvSpPr/>
          <p:nvPr/>
        </p:nvSpPr>
        <p:spPr>
          <a:xfrm>
            <a:off x="594360" y="21488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548640" y="2697480"/>
            <a:ext cx="1627632" cy="45720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OOTB-First</a:t>
            </a:r>
            <a:endParaRPr lang="en-US" sz="1400" dirty="0"/>
          </a:p>
        </p:txBody>
      </p:sp>
      <p:sp>
        <p:nvSpPr>
          <p:cNvPr id="10" name="Text 8"/>
          <p:cNvSpPr/>
          <p:nvPr/>
        </p:nvSpPr>
        <p:spPr>
          <a:xfrm>
            <a:off x="548640" y="3154680"/>
            <a:ext cx="1627632" cy="96012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Lead with ServiceNow best practices. Customization is the exception, not the default.</a:t>
            </a:r>
            <a:endParaRPr lang="en-US" sz="1000" dirty="0"/>
          </a:p>
        </p:txBody>
      </p:sp>
      <p:sp>
        <p:nvSpPr>
          <p:cNvPr id="11" name="Shape 9"/>
          <p:cNvSpPr/>
          <p:nvPr/>
        </p:nvSpPr>
        <p:spPr>
          <a:xfrm>
            <a:off x="2478024" y="1920240"/>
            <a:ext cx="1993392" cy="2286000"/>
          </a:xfrm>
          <a:prstGeom prst="rect">
            <a:avLst/>
          </a:prstGeom>
          <a:solidFill>
            <a:srgbClr val="FFFFFF"/>
          </a:solidFill>
          <a:ln w="12700">
            <a:solidFill>
              <a:srgbClr val="E2E8F0"/>
            </a:solidFill>
            <a:prstDash val="solid"/>
          </a:ln>
        </p:spPr>
        <p:txBody>
          <a:bodyPr/>
          <a:lstStyle/>
          <a:p>
            <a:endParaRPr lang="en-US"/>
          </a:p>
        </p:txBody>
      </p:sp>
      <p:sp>
        <p:nvSpPr>
          <p:cNvPr id="12" name="Shape 10"/>
          <p:cNvSpPr/>
          <p:nvPr/>
        </p:nvSpPr>
        <p:spPr>
          <a:xfrm>
            <a:off x="2478024" y="1920240"/>
            <a:ext cx="1993392" cy="73152"/>
          </a:xfrm>
          <a:prstGeom prst="rect">
            <a:avLst/>
          </a:prstGeom>
          <a:solidFill>
            <a:srgbClr val="14B8A6"/>
          </a:solidFill>
          <a:ln w="12700">
            <a:solidFill>
              <a:srgbClr val="14B8A6"/>
            </a:solidFill>
            <a:prstDash val="solid"/>
          </a:ln>
        </p:spPr>
        <p:txBody>
          <a:bodyPr/>
          <a:lstStyle/>
          <a:p>
            <a:endParaRPr lang="en-US"/>
          </a:p>
        </p:txBody>
      </p:sp>
      <p:sp>
        <p:nvSpPr>
          <p:cNvPr id="13" name="Shape 11"/>
          <p:cNvSpPr/>
          <p:nvPr/>
        </p:nvSpPr>
        <p:spPr>
          <a:xfrm>
            <a:off x="2706624" y="2148840"/>
            <a:ext cx="411480" cy="411480"/>
          </a:xfrm>
          <a:prstGeom prst="ellipse">
            <a:avLst/>
          </a:prstGeom>
          <a:solidFill>
            <a:srgbClr val="0B1F3A"/>
          </a:solidFill>
          <a:ln w="12700">
            <a:solidFill>
              <a:srgbClr val="0B1F3A"/>
            </a:solidFill>
            <a:prstDash val="solid"/>
          </a:ln>
        </p:spPr>
        <p:txBody>
          <a:bodyPr/>
          <a:lstStyle/>
          <a:p>
            <a:endParaRPr lang="en-US"/>
          </a:p>
        </p:txBody>
      </p:sp>
      <p:sp>
        <p:nvSpPr>
          <p:cNvPr id="14" name="Text 12"/>
          <p:cNvSpPr/>
          <p:nvPr/>
        </p:nvSpPr>
        <p:spPr>
          <a:xfrm>
            <a:off x="2706624" y="21488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2660904" y="2697480"/>
            <a:ext cx="1627632" cy="45720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CSDM-Aligned CMDB</a:t>
            </a:r>
            <a:endParaRPr lang="en-US" sz="1400" dirty="0"/>
          </a:p>
        </p:txBody>
      </p:sp>
      <p:sp>
        <p:nvSpPr>
          <p:cNvPr id="16" name="Text 14"/>
          <p:cNvSpPr/>
          <p:nvPr/>
        </p:nvSpPr>
        <p:spPr>
          <a:xfrm>
            <a:off x="2660904" y="3154680"/>
            <a:ext cx="1627632" cy="96012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Healthy, standardized data from day one — the prerequisite for AI ROI.</a:t>
            </a:r>
            <a:endParaRPr lang="en-US" sz="1000" dirty="0"/>
          </a:p>
        </p:txBody>
      </p:sp>
      <p:sp>
        <p:nvSpPr>
          <p:cNvPr id="17" name="Shape 15"/>
          <p:cNvSpPr/>
          <p:nvPr/>
        </p:nvSpPr>
        <p:spPr>
          <a:xfrm>
            <a:off x="4590288" y="1920240"/>
            <a:ext cx="1993392" cy="2286000"/>
          </a:xfrm>
          <a:prstGeom prst="rect">
            <a:avLst/>
          </a:prstGeom>
          <a:solidFill>
            <a:srgbClr val="FFFFFF"/>
          </a:solidFill>
          <a:ln w="12700">
            <a:solidFill>
              <a:srgbClr val="E2E8F0"/>
            </a:solidFill>
            <a:prstDash val="solid"/>
          </a:ln>
        </p:spPr>
        <p:txBody>
          <a:bodyPr/>
          <a:lstStyle/>
          <a:p>
            <a:endParaRPr lang="en-US"/>
          </a:p>
        </p:txBody>
      </p:sp>
      <p:sp>
        <p:nvSpPr>
          <p:cNvPr id="18" name="Shape 16"/>
          <p:cNvSpPr/>
          <p:nvPr/>
        </p:nvSpPr>
        <p:spPr>
          <a:xfrm>
            <a:off x="4590288" y="1920240"/>
            <a:ext cx="1993392" cy="73152"/>
          </a:xfrm>
          <a:prstGeom prst="rect">
            <a:avLst/>
          </a:prstGeom>
          <a:solidFill>
            <a:srgbClr val="14B8A6"/>
          </a:solidFill>
          <a:ln w="12700">
            <a:solidFill>
              <a:srgbClr val="14B8A6"/>
            </a:solidFill>
            <a:prstDash val="solid"/>
          </a:ln>
        </p:spPr>
        <p:txBody>
          <a:bodyPr/>
          <a:lstStyle/>
          <a:p>
            <a:endParaRPr lang="en-US"/>
          </a:p>
        </p:txBody>
      </p:sp>
      <p:sp>
        <p:nvSpPr>
          <p:cNvPr id="19" name="Shape 17"/>
          <p:cNvSpPr/>
          <p:nvPr/>
        </p:nvSpPr>
        <p:spPr>
          <a:xfrm>
            <a:off x="4818888" y="2148840"/>
            <a:ext cx="411480" cy="411480"/>
          </a:xfrm>
          <a:prstGeom prst="ellipse">
            <a:avLst/>
          </a:prstGeom>
          <a:solidFill>
            <a:srgbClr val="0B1F3A"/>
          </a:solidFill>
          <a:ln w="12700">
            <a:solidFill>
              <a:srgbClr val="0B1F3A"/>
            </a:solidFill>
            <a:prstDash val="solid"/>
          </a:ln>
        </p:spPr>
        <p:txBody>
          <a:bodyPr/>
          <a:lstStyle/>
          <a:p>
            <a:endParaRPr lang="en-US"/>
          </a:p>
        </p:txBody>
      </p:sp>
      <p:sp>
        <p:nvSpPr>
          <p:cNvPr id="20" name="Text 18"/>
          <p:cNvSpPr/>
          <p:nvPr/>
        </p:nvSpPr>
        <p:spPr>
          <a:xfrm>
            <a:off x="4818888" y="21488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p:nvPr/>
        </p:nvSpPr>
        <p:spPr>
          <a:xfrm>
            <a:off x="4773168" y="2697480"/>
            <a:ext cx="1627632" cy="45720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Modern Employee Center</a:t>
            </a:r>
            <a:endParaRPr lang="en-US" sz="1400" dirty="0"/>
          </a:p>
        </p:txBody>
      </p:sp>
      <p:sp>
        <p:nvSpPr>
          <p:cNvPr id="22" name="Text 20"/>
          <p:cNvSpPr/>
          <p:nvPr/>
        </p:nvSpPr>
        <p:spPr>
          <a:xfrm>
            <a:off x="4773168" y="3154680"/>
            <a:ext cx="1627632" cy="96012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Virtual Agent + AI Search to drive deflection and reduce friction.</a:t>
            </a:r>
            <a:endParaRPr lang="en-US" sz="1000" dirty="0"/>
          </a:p>
        </p:txBody>
      </p:sp>
      <p:sp>
        <p:nvSpPr>
          <p:cNvPr id="23" name="Shape 21"/>
          <p:cNvSpPr/>
          <p:nvPr/>
        </p:nvSpPr>
        <p:spPr>
          <a:xfrm>
            <a:off x="6702552" y="1920240"/>
            <a:ext cx="1993392" cy="2286000"/>
          </a:xfrm>
          <a:prstGeom prst="rect">
            <a:avLst/>
          </a:prstGeom>
          <a:solidFill>
            <a:srgbClr val="FFFFFF"/>
          </a:solidFill>
          <a:ln w="12700">
            <a:solidFill>
              <a:srgbClr val="E2E8F0"/>
            </a:solidFill>
            <a:prstDash val="solid"/>
          </a:ln>
        </p:spPr>
        <p:txBody>
          <a:bodyPr/>
          <a:lstStyle/>
          <a:p>
            <a:endParaRPr lang="en-US"/>
          </a:p>
        </p:txBody>
      </p:sp>
      <p:sp>
        <p:nvSpPr>
          <p:cNvPr id="24" name="Shape 22"/>
          <p:cNvSpPr/>
          <p:nvPr/>
        </p:nvSpPr>
        <p:spPr>
          <a:xfrm>
            <a:off x="6702552" y="1920240"/>
            <a:ext cx="1993392" cy="73152"/>
          </a:xfrm>
          <a:prstGeom prst="rect">
            <a:avLst/>
          </a:prstGeom>
          <a:solidFill>
            <a:srgbClr val="14B8A6"/>
          </a:solidFill>
          <a:ln w="12700">
            <a:solidFill>
              <a:srgbClr val="14B8A6"/>
            </a:solidFill>
            <a:prstDash val="solid"/>
          </a:ln>
        </p:spPr>
        <p:txBody>
          <a:bodyPr/>
          <a:lstStyle/>
          <a:p>
            <a:endParaRPr lang="en-US"/>
          </a:p>
        </p:txBody>
      </p:sp>
      <p:sp>
        <p:nvSpPr>
          <p:cNvPr id="25" name="Shape 23"/>
          <p:cNvSpPr/>
          <p:nvPr/>
        </p:nvSpPr>
        <p:spPr>
          <a:xfrm>
            <a:off x="6931152" y="2148840"/>
            <a:ext cx="411480" cy="411480"/>
          </a:xfrm>
          <a:prstGeom prst="ellipse">
            <a:avLst/>
          </a:prstGeom>
          <a:solidFill>
            <a:srgbClr val="0B1F3A"/>
          </a:solidFill>
          <a:ln w="12700">
            <a:solidFill>
              <a:srgbClr val="0B1F3A"/>
            </a:solidFill>
            <a:prstDash val="solid"/>
          </a:ln>
        </p:spPr>
        <p:txBody>
          <a:bodyPr/>
          <a:lstStyle/>
          <a:p>
            <a:endParaRPr lang="en-US"/>
          </a:p>
        </p:txBody>
      </p:sp>
      <p:sp>
        <p:nvSpPr>
          <p:cNvPr id="26" name="Text 24"/>
          <p:cNvSpPr/>
          <p:nvPr/>
        </p:nvSpPr>
        <p:spPr>
          <a:xfrm>
            <a:off x="6931152" y="21488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5"/>
          <p:cNvSpPr/>
          <p:nvPr/>
        </p:nvSpPr>
        <p:spPr>
          <a:xfrm>
            <a:off x="6885432" y="2697480"/>
            <a:ext cx="1627632" cy="45720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Governance Built-In</a:t>
            </a:r>
            <a:endParaRPr lang="en-US" sz="1400" dirty="0"/>
          </a:p>
        </p:txBody>
      </p:sp>
      <p:sp>
        <p:nvSpPr>
          <p:cNvPr id="28" name="Text 26"/>
          <p:cNvSpPr/>
          <p:nvPr/>
        </p:nvSpPr>
        <p:spPr>
          <a:xfrm>
            <a:off x="6885432" y="3154680"/>
            <a:ext cx="1627632" cy="96012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Strict triage, feedback-driven backlog, MTTR &amp; SLA tracked end-to-end.</a:t>
            </a:r>
            <a:endParaRPr lang="en-US" sz="1000" dirty="0"/>
          </a:p>
        </p:txBody>
      </p:sp>
      <p:sp>
        <p:nvSpPr>
          <p:cNvPr id="29" name="Shape 27"/>
          <p:cNvSpPr/>
          <p:nvPr/>
        </p:nvSpPr>
        <p:spPr>
          <a:xfrm>
            <a:off x="365760" y="4370832"/>
            <a:ext cx="8412480" cy="384048"/>
          </a:xfrm>
          <a:prstGeom prst="rect">
            <a:avLst/>
          </a:prstGeom>
          <a:solidFill>
            <a:srgbClr val="0B1F3A"/>
          </a:solidFill>
          <a:ln w="12700">
            <a:solidFill>
              <a:srgbClr val="0B1F3A"/>
            </a:solidFill>
            <a:prstDash val="solid"/>
          </a:ln>
        </p:spPr>
        <p:txBody>
          <a:bodyPr/>
          <a:lstStyle/>
          <a:p>
            <a:endParaRPr lang="en-US"/>
          </a:p>
        </p:txBody>
      </p:sp>
      <p:sp>
        <p:nvSpPr>
          <p:cNvPr id="30" name="Text 28"/>
          <p:cNvSpPr/>
          <p:nvPr/>
        </p:nvSpPr>
        <p:spPr>
          <a:xfrm>
            <a:off x="365760" y="4370832"/>
            <a:ext cx="8412480" cy="384048"/>
          </a:xfrm>
          <a:prstGeom prst="rect">
            <a:avLst/>
          </a:prstGeom>
          <a:noFill/>
          <a:ln/>
        </p:spPr>
        <p:txBody>
          <a:bodyPr wrap="square" lIns="0" tIns="0" rIns="0" bIns="0" rtlCol="0" anchor="ctr"/>
          <a:lstStyle/>
          <a:p>
            <a:pPr marL="0" indent="0" algn="ctr">
              <a:buNone/>
            </a:pPr>
            <a:r>
              <a:rPr lang="en-US" sz="1000" b="1" kern="0" spc="300" dirty="0">
                <a:solidFill>
                  <a:srgbClr val="5EEAD4"/>
                </a:solidFill>
                <a:latin typeface="Calibri" pitchFamily="34" charset="0"/>
                <a:ea typeface="Calibri" pitchFamily="34" charset="-122"/>
                <a:cs typeface="Calibri" pitchFamily="34" charset="-120"/>
              </a:rPr>
              <a:t>18-WEEK PHASE 1   ·   </a:t>
            </a:r>
            <a:r>
              <a:rPr lang="en-US" sz="1000" dirty="0">
                <a:solidFill>
                  <a:srgbClr val="FFFFFF"/>
                </a:solidFill>
                <a:latin typeface="Calibri" pitchFamily="34" charset="0"/>
                <a:ea typeface="Calibri" pitchFamily="34" charset="-122"/>
                <a:cs typeface="Calibri" pitchFamily="34" charset="-120"/>
              </a:rPr>
              <a:t>16 weeks build  +  2 weeks Hypercare  ·  Iterative agile from Day One</a:t>
            </a:r>
            <a:endParaRPr lang="en-US" sz="1000" dirty="0"/>
          </a:p>
        </p:txBody>
      </p:sp>
      <p:sp>
        <p:nvSpPr>
          <p:cNvPr id="31" name="Shape 29"/>
          <p:cNvSpPr/>
          <p:nvPr/>
        </p:nvSpPr>
        <p:spPr>
          <a:xfrm>
            <a:off x="0" y="4818888"/>
            <a:ext cx="9144000" cy="324612"/>
          </a:xfrm>
          <a:prstGeom prst="rect">
            <a:avLst/>
          </a:prstGeom>
          <a:solidFill>
            <a:srgbClr val="0B1F3A"/>
          </a:solidFill>
          <a:ln w="12700">
            <a:solidFill>
              <a:srgbClr val="0B1F3A"/>
            </a:solidFill>
            <a:prstDash val="solid"/>
          </a:ln>
        </p:spPr>
        <p:txBody>
          <a:bodyPr/>
          <a:lstStyle/>
          <a:p>
            <a:endParaRPr lang="en-US"/>
          </a:p>
        </p:txBody>
      </p:sp>
      <p:pic>
        <p:nvPicPr>
          <p:cNvPr id="32" name="Image 0" descr="/sessions/laughing-cool-lovelace/mnt/outputs/deck/everforth_ecs_federal_white.png"/>
          <p:cNvPicPr>
            <a:picLocks noChangeAspect="1"/>
          </p:cNvPicPr>
          <p:nvPr/>
        </p:nvPicPr>
        <p:blipFill>
          <a:blip r:embed="rId3"/>
          <a:stretch>
            <a:fillRect/>
          </a:stretch>
        </p:blipFill>
        <p:spPr>
          <a:xfrm>
            <a:off x="365760" y="4873752"/>
            <a:ext cx="1188720" cy="220855"/>
          </a:xfrm>
          <a:prstGeom prst="rect">
            <a:avLst/>
          </a:prstGeom>
        </p:spPr>
      </p:pic>
      <p:sp>
        <p:nvSpPr>
          <p:cNvPr id="33" name="Text 30"/>
          <p:cNvSpPr/>
          <p:nvPr/>
        </p:nvSpPr>
        <p:spPr>
          <a:xfrm>
            <a:off x="1828800" y="4910328"/>
            <a:ext cx="5486400" cy="146304"/>
          </a:xfrm>
          <a:prstGeom prst="rect">
            <a:avLst/>
          </a:prstGeom>
          <a:noFill/>
          <a:ln/>
        </p:spPr>
        <p:txBody>
          <a:bodyPr wrap="square" lIns="0" tIns="0" rIns="0" bIns="0" rtlCol="0" anchor="ctr"/>
          <a:lstStyle/>
          <a:p>
            <a:pPr marL="0" indent="0">
              <a:buNone/>
            </a:pPr>
            <a:r>
              <a:rPr lang="en-US" sz="750" kern="0" spc="400" dirty="0">
                <a:solidFill>
                  <a:srgbClr val="CBD5E1"/>
                </a:solidFill>
                <a:latin typeface="Calibri" pitchFamily="34" charset="0"/>
                <a:ea typeface="Calibri" pitchFamily="34" charset="-122"/>
                <a:cs typeface="Calibri" pitchFamily="34" charset="-120"/>
              </a:rPr>
              <a:t>ECS  ·  PC CONNECTION  ·  SERVICENOW RE-IMPLEMENTATION</a:t>
            </a:r>
            <a:endParaRPr lang="en-US" sz="750" dirty="0"/>
          </a:p>
        </p:txBody>
      </p:sp>
      <p:sp>
        <p:nvSpPr>
          <p:cNvPr id="34" name="Text 31"/>
          <p:cNvSpPr/>
          <p:nvPr/>
        </p:nvSpPr>
        <p:spPr>
          <a:xfrm>
            <a:off x="7863840" y="4910328"/>
            <a:ext cx="914400" cy="146304"/>
          </a:xfrm>
          <a:prstGeom prst="rect">
            <a:avLst/>
          </a:prstGeom>
          <a:noFill/>
          <a:ln/>
        </p:spPr>
        <p:txBody>
          <a:bodyPr wrap="square" lIns="0" tIns="0" rIns="0" bIns="0" rtlCol="0" anchor="ctr"/>
          <a:lstStyle/>
          <a:p>
            <a:pPr marL="0" indent="0" algn="r">
              <a:buNone/>
            </a:pPr>
            <a:r>
              <a:rPr lang="en-US" sz="750" dirty="0">
                <a:solidFill>
                  <a:srgbClr val="CBD5E1"/>
                </a:solidFill>
                <a:latin typeface="Calibri" pitchFamily="34" charset="0"/>
                <a:ea typeface="Calibri" pitchFamily="34" charset="-122"/>
                <a:cs typeface="Calibri" pitchFamily="34" charset="-120"/>
              </a:rPr>
              <a:t>2 / 19</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92608"/>
            <a:ext cx="8412480" cy="228600"/>
          </a:xfrm>
          <a:prstGeom prst="rect">
            <a:avLst/>
          </a:prstGeom>
          <a:noFill/>
          <a:ln/>
        </p:spPr>
        <p:txBody>
          <a:bodyPr wrap="square" lIns="0" tIns="0" rIns="0" bIns="0" rtlCol="0" anchor="ctr"/>
          <a:lstStyle/>
          <a:p>
            <a:pPr marL="0" indent="0">
              <a:buNone/>
            </a:pPr>
            <a:r>
              <a:rPr lang="en-US" sz="900" b="1" kern="0" spc="600" dirty="0">
                <a:solidFill>
                  <a:srgbClr val="14B8A6"/>
                </a:solidFill>
                <a:latin typeface="Calibri" pitchFamily="34" charset="0"/>
                <a:ea typeface="Calibri" pitchFamily="34" charset="-122"/>
                <a:cs typeface="Calibri" pitchFamily="34" charset="-120"/>
              </a:rPr>
              <a:t>02  ·  CURRENT STATE</a:t>
            </a:r>
            <a:endParaRPr lang="en-US" sz="900" dirty="0"/>
          </a:p>
        </p:txBody>
      </p:sp>
      <p:sp>
        <p:nvSpPr>
          <p:cNvPr id="3" name="Text 1"/>
          <p:cNvSpPr/>
          <p:nvPr/>
        </p:nvSpPr>
        <p:spPr>
          <a:xfrm>
            <a:off x="365760" y="502920"/>
            <a:ext cx="8412480" cy="502920"/>
          </a:xfrm>
          <a:prstGeom prst="rect">
            <a:avLst/>
          </a:prstGeom>
          <a:noFill/>
          <a:ln/>
        </p:spPr>
        <p:txBody>
          <a:bodyPr wrap="square" lIns="0" tIns="0" rIns="0" bIns="0" rtlCol="0" anchor="ctr"/>
          <a:lstStyle/>
          <a:p>
            <a:pPr marL="0" indent="0">
              <a:buNone/>
            </a:pPr>
            <a:r>
              <a:rPr lang="en-US" sz="2400" b="1" dirty="0">
                <a:solidFill>
                  <a:srgbClr val="0B1F3A"/>
                </a:solidFill>
                <a:latin typeface="Calibri" pitchFamily="34" charset="0"/>
                <a:ea typeface="Calibri" pitchFamily="34" charset="-122"/>
                <a:cs typeface="Calibri" pitchFamily="34" charset="-120"/>
              </a:rPr>
              <a:t>The pain points driving the reset</a:t>
            </a:r>
            <a:endParaRPr lang="en-US" sz="2400" dirty="0"/>
          </a:p>
        </p:txBody>
      </p:sp>
      <p:sp>
        <p:nvSpPr>
          <p:cNvPr id="4" name="Shape 2"/>
          <p:cNvSpPr/>
          <p:nvPr/>
        </p:nvSpPr>
        <p:spPr>
          <a:xfrm>
            <a:off x="365760" y="1143000"/>
            <a:ext cx="2926080" cy="3611880"/>
          </a:xfrm>
          <a:prstGeom prst="rect">
            <a:avLst/>
          </a:prstGeom>
          <a:solidFill>
            <a:srgbClr val="071427"/>
          </a:solidFill>
          <a:ln w="12700">
            <a:solidFill>
              <a:srgbClr val="071427"/>
            </a:solidFill>
            <a:prstDash val="solid"/>
          </a:ln>
        </p:spPr>
        <p:txBody>
          <a:bodyPr/>
          <a:lstStyle/>
          <a:p>
            <a:endParaRPr lang="en-US"/>
          </a:p>
        </p:txBody>
      </p:sp>
      <p:sp>
        <p:nvSpPr>
          <p:cNvPr id="5" name="Text 3"/>
          <p:cNvSpPr/>
          <p:nvPr/>
        </p:nvSpPr>
        <p:spPr>
          <a:xfrm>
            <a:off x="548640" y="1371600"/>
            <a:ext cx="2560320" cy="274320"/>
          </a:xfrm>
          <a:prstGeom prst="rect">
            <a:avLst/>
          </a:prstGeom>
          <a:noFill/>
          <a:ln/>
        </p:spPr>
        <p:txBody>
          <a:bodyPr wrap="square" lIns="0" tIns="0" rIns="0" bIns="0" rtlCol="0" anchor="ctr"/>
          <a:lstStyle/>
          <a:p>
            <a:pPr marL="0" indent="0">
              <a:buNone/>
            </a:pPr>
            <a:r>
              <a:rPr lang="en-US" sz="1000" b="1" kern="0" spc="400" dirty="0">
                <a:solidFill>
                  <a:srgbClr val="5EEAD4"/>
                </a:solidFill>
                <a:latin typeface="Calibri" pitchFamily="34" charset="0"/>
                <a:ea typeface="Calibri" pitchFamily="34" charset="-122"/>
                <a:cs typeface="Calibri" pitchFamily="34" charset="-120"/>
              </a:rPr>
              <a:t>LEGACY DEBT IS</a:t>
            </a:r>
            <a:endParaRPr lang="en-US" sz="1000" dirty="0"/>
          </a:p>
        </p:txBody>
      </p:sp>
      <p:sp>
        <p:nvSpPr>
          <p:cNvPr id="6" name="Text 4"/>
          <p:cNvSpPr/>
          <p:nvPr/>
        </p:nvSpPr>
        <p:spPr>
          <a:xfrm>
            <a:off x="548640" y="1691640"/>
            <a:ext cx="2560320" cy="9144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blocking AI</a:t>
            </a:r>
            <a:endParaRPr lang="en-US" sz="3600" dirty="0"/>
          </a:p>
        </p:txBody>
      </p:sp>
      <p:sp>
        <p:nvSpPr>
          <p:cNvPr id="7" name="Shape 5"/>
          <p:cNvSpPr/>
          <p:nvPr/>
        </p:nvSpPr>
        <p:spPr>
          <a:xfrm>
            <a:off x="548640" y="2697480"/>
            <a:ext cx="457200" cy="36576"/>
          </a:xfrm>
          <a:prstGeom prst="rect">
            <a:avLst/>
          </a:prstGeom>
          <a:solidFill>
            <a:srgbClr val="14B8A6"/>
          </a:solidFill>
          <a:ln w="12700">
            <a:solidFill>
              <a:srgbClr val="14B8A6"/>
            </a:solidFill>
            <a:prstDash val="solid"/>
          </a:ln>
        </p:spPr>
        <p:txBody>
          <a:bodyPr/>
          <a:lstStyle/>
          <a:p>
            <a:endParaRPr lang="en-US"/>
          </a:p>
        </p:txBody>
      </p:sp>
      <p:sp>
        <p:nvSpPr>
          <p:cNvPr id="8" name="Text 6"/>
          <p:cNvSpPr/>
          <p:nvPr/>
        </p:nvSpPr>
        <p:spPr>
          <a:xfrm>
            <a:off x="548640" y="2834640"/>
            <a:ext cx="2560320" cy="1737360"/>
          </a:xfrm>
          <a:prstGeom prst="rect">
            <a:avLst/>
          </a:prstGeom>
          <a:noFill/>
          <a:ln/>
        </p:spPr>
        <p:txBody>
          <a:bodyPr wrap="square" lIns="0" tIns="0" rIns="0" bIns="0" rtlCol="0" anchor="ctr"/>
          <a:lstStyle/>
          <a:p>
            <a:r>
              <a:rPr lang="en-US" sz="1100" dirty="0">
                <a:solidFill>
                  <a:srgbClr val="CBD5E1"/>
                </a:solidFill>
                <a:latin typeface="Calibri"/>
                <a:ea typeface="Calibri"/>
                <a:cs typeface="Calibri"/>
              </a:rPr>
              <a:t>Heavy customization, a domain-separated environment, and  a legacy CMDB make it impossible to leverage modern ServiceNow capabilities or realize AI ROI.</a:t>
            </a:r>
            <a:endParaRPr lang="en-US" sz="1100" dirty="0">
              <a:latin typeface="Calibri"/>
              <a:ea typeface="Calibri"/>
              <a:cs typeface="Calibri"/>
            </a:endParaRPr>
          </a:p>
        </p:txBody>
      </p:sp>
      <p:sp>
        <p:nvSpPr>
          <p:cNvPr id="9" name="Shape 7"/>
          <p:cNvSpPr/>
          <p:nvPr/>
        </p:nvSpPr>
        <p:spPr>
          <a:xfrm>
            <a:off x="3520440" y="1143000"/>
            <a:ext cx="2606040" cy="841248"/>
          </a:xfrm>
          <a:prstGeom prst="rect">
            <a:avLst/>
          </a:prstGeom>
          <a:solidFill>
            <a:srgbClr val="F8FAFC"/>
          </a:solidFill>
          <a:ln w="9525">
            <a:solidFill>
              <a:srgbClr val="E2E8F0"/>
            </a:solidFill>
            <a:prstDash val="solid"/>
          </a:ln>
        </p:spPr>
        <p:txBody>
          <a:bodyPr/>
          <a:lstStyle/>
          <a:p>
            <a:endParaRPr lang="en-US"/>
          </a:p>
        </p:txBody>
      </p:sp>
      <p:sp>
        <p:nvSpPr>
          <p:cNvPr id="10" name="Shape 8"/>
          <p:cNvSpPr/>
          <p:nvPr/>
        </p:nvSpPr>
        <p:spPr>
          <a:xfrm>
            <a:off x="3520440" y="1143000"/>
            <a:ext cx="54864" cy="841248"/>
          </a:xfrm>
          <a:prstGeom prst="rect">
            <a:avLst/>
          </a:prstGeom>
          <a:solidFill>
            <a:srgbClr val="E11D48"/>
          </a:solidFill>
          <a:ln w="12700">
            <a:solidFill>
              <a:srgbClr val="E11D48"/>
            </a:solidFill>
            <a:prstDash val="solid"/>
          </a:ln>
        </p:spPr>
        <p:txBody>
          <a:bodyPr/>
          <a:lstStyle/>
          <a:p>
            <a:endParaRPr lang="en-US"/>
          </a:p>
        </p:txBody>
      </p:sp>
      <p:sp>
        <p:nvSpPr>
          <p:cNvPr id="11" name="Text 9"/>
          <p:cNvSpPr/>
          <p:nvPr/>
        </p:nvSpPr>
        <p:spPr>
          <a:xfrm>
            <a:off x="3685032" y="1216152"/>
            <a:ext cx="237744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Technical Debt</a:t>
            </a:r>
            <a:endParaRPr lang="en-US" sz="1100" dirty="0"/>
          </a:p>
        </p:txBody>
      </p:sp>
      <p:sp>
        <p:nvSpPr>
          <p:cNvPr id="12" name="Text 10"/>
          <p:cNvSpPr/>
          <p:nvPr/>
        </p:nvSpPr>
        <p:spPr>
          <a:xfrm>
            <a:off x="3685032" y="1490472"/>
            <a:ext cx="2377440" cy="4572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Heavy customization blocks modern features.</a:t>
            </a:r>
            <a:endParaRPr lang="en-US" sz="900" dirty="0"/>
          </a:p>
        </p:txBody>
      </p:sp>
      <p:sp>
        <p:nvSpPr>
          <p:cNvPr id="13" name="Shape 11"/>
          <p:cNvSpPr/>
          <p:nvPr/>
        </p:nvSpPr>
        <p:spPr>
          <a:xfrm>
            <a:off x="6199632" y="1143000"/>
            <a:ext cx="2606040" cy="841248"/>
          </a:xfrm>
          <a:prstGeom prst="rect">
            <a:avLst/>
          </a:prstGeom>
          <a:solidFill>
            <a:srgbClr val="F8FAFC"/>
          </a:solidFill>
          <a:ln w="9525">
            <a:solidFill>
              <a:srgbClr val="E2E8F0"/>
            </a:solidFill>
            <a:prstDash val="solid"/>
          </a:ln>
        </p:spPr>
        <p:txBody>
          <a:bodyPr/>
          <a:lstStyle/>
          <a:p>
            <a:endParaRPr lang="en-US"/>
          </a:p>
        </p:txBody>
      </p:sp>
      <p:sp>
        <p:nvSpPr>
          <p:cNvPr id="14" name="Shape 12"/>
          <p:cNvSpPr/>
          <p:nvPr/>
        </p:nvSpPr>
        <p:spPr>
          <a:xfrm>
            <a:off x="6199632" y="1143000"/>
            <a:ext cx="54864" cy="841248"/>
          </a:xfrm>
          <a:prstGeom prst="rect">
            <a:avLst/>
          </a:prstGeom>
          <a:solidFill>
            <a:srgbClr val="E11D48"/>
          </a:solidFill>
          <a:ln w="12700">
            <a:solidFill>
              <a:srgbClr val="E11D48"/>
            </a:solidFill>
            <a:prstDash val="solid"/>
          </a:ln>
        </p:spPr>
        <p:txBody>
          <a:bodyPr/>
          <a:lstStyle/>
          <a:p>
            <a:endParaRPr lang="en-US"/>
          </a:p>
        </p:txBody>
      </p:sp>
      <p:sp>
        <p:nvSpPr>
          <p:cNvPr id="15" name="Text 13"/>
          <p:cNvSpPr/>
          <p:nvPr/>
        </p:nvSpPr>
        <p:spPr>
          <a:xfrm>
            <a:off x="6364224" y="1216152"/>
            <a:ext cx="237744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Low OOTB Adoption</a:t>
            </a:r>
            <a:endParaRPr lang="en-US" sz="1100" dirty="0"/>
          </a:p>
        </p:txBody>
      </p:sp>
      <p:sp>
        <p:nvSpPr>
          <p:cNvPr id="16" name="Text 14"/>
          <p:cNvSpPr/>
          <p:nvPr/>
        </p:nvSpPr>
        <p:spPr>
          <a:xfrm>
            <a:off x="6364224" y="1490472"/>
            <a:ext cx="2377440" cy="4572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Replicating legacy = inefficiency at scale.</a:t>
            </a:r>
            <a:endParaRPr lang="en-US" sz="900" dirty="0"/>
          </a:p>
        </p:txBody>
      </p:sp>
      <p:sp>
        <p:nvSpPr>
          <p:cNvPr id="17" name="Shape 15"/>
          <p:cNvSpPr/>
          <p:nvPr/>
        </p:nvSpPr>
        <p:spPr>
          <a:xfrm>
            <a:off x="3520440" y="2057400"/>
            <a:ext cx="2606040" cy="841248"/>
          </a:xfrm>
          <a:prstGeom prst="rect">
            <a:avLst/>
          </a:prstGeom>
          <a:solidFill>
            <a:srgbClr val="F8FAFC"/>
          </a:solidFill>
          <a:ln w="9525">
            <a:solidFill>
              <a:srgbClr val="E2E8F0"/>
            </a:solidFill>
            <a:prstDash val="solid"/>
          </a:ln>
        </p:spPr>
        <p:txBody>
          <a:bodyPr/>
          <a:lstStyle/>
          <a:p>
            <a:endParaRPr lang="en-US"/>
          </a:p>
        </p:txBody>
      </p:sp>
      <p:sp>
        <p:nvSpPr>
          <p:cNvPr id="18" name="Shape 16"/>
          <p:cNvSpPr/>
          <p:nvPr/>
        </p:nvSpPr>
        <p:spPr>
          <a:xfrm>
            <a:off x="3520440" y="2057400"/>
            <a:ext cx="54864" cy="841248"/>
          </a:xfrm>
          <a:prstGeom prst="rect">
            <a:avLst/>
          </a:prstGeom>
          <a:solidFill>
            <a:srgbClr val="E11D48"/>
          </a:solidFill>
          <a:ln w="12700">
            <a:solidFill>
              <a:srgbClr val="E11D48"/>
            </a:solidFill>
            <a:prstDash val="solid"/>
          </a:ln>
        </p:spPr>
        <p:txBody>
          <a:bodyPr/>
          <a:lstStyle/>
          <a:p>
            <a:endParaRPr lang="en-US"/>
          </a:p>
        </p:txBody>
      </p:sp>
      <p:sp>
        <p:nvSpPr>
          <p:cNvPr id="19" name="Text 17"/>
          <p:cNvSpPr/>
          <p:nvPr/>
        </p:nvSpPr>
        <p:spPr>
          <a:xfrm>
            <a:off x="3685032" y="2130552"/>
            <a:ext cx="237744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Domain Separation</a:t>
            </a:r>
            <a:endParaRPr lang="en-US" sz="1100" dirty="0"/>
          </a:p>
        </p:txBody>
      </p:sp>
      <p:sp>
        <p:nvSpPr>
          <p:cNvPr id="20" name="Text 18"/>
          <p:cNvSpPr/>
          <p:nvPr/>
        </p:nvSpPr>
        <p:spPr>
          <a:xfrm>
            <a:off x="3685032" y="2404872"/>
            <a:ext cx="2377440" cy="4572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Operational complexity prevents expansion.</a:t>
            </a:r>
            <a:endParaRPr lang="en-US" sz="900" dirty="0"/>
          </a:p>
        </p:txBody>
      </p:sp>
      <p:sp>
        <p:nvSpPr>
          <p:cNvPr id="21" name="Shape 19"/>
          <p:cNvSpPr/>
          <p:nvPr/>
        </p:nvSpPr>
        <p:spPr>
          <a:xfrm>
            <a:off x="6199632" y="2057400"/>
            <a:ext cx="2606040" cy="841248"/>
          </a:xfrm>
          <a:prstGeom prst="rect">
            <a:avLst/>
          </a:prstGeom>
          <a:solidFill>
            <a:srgbClr val="F8FAFC"/>
          </a:solidFill>
          <a:ln w="9525">
            <a:solidFill>
              <a:srgbClr val="E2E8F0"/>
            </a:solidFill>
            <a:prstDash val="solid"/>
          </a:ln>
        </p:spPr>
        <p:txBody>
          <a:bodyPr/>
          <a:lstStyle/>
          <a:p>
            <a:endParaRPr lang="en-US"/>
          </a:p>
        </p:txBody>
      </p:sp>
      <p:sp>
        <p:nvSpPr>
          <p:cNvPr id="22" name="Shape 20"/>
          <p:cNvSpPr/>
          <p:nvPr/>
        </p:nvSpPr>
        <p:spPr>
          <a:xfrm>
            <a:off x="6199632" y="2057400"/>
            <a:ext cx="54864" cy="841248"/>
          </a:xfrm>
          <a:prstGeom prst="rect">
            <a:avLst/>
          </a:prstGeom>
          <a:solidFill>
            <a:srgbClr val="E11D48"/>
          </a:solidFill>
          <a:ln w="12700">
            <a:solidFill>
              <a:srgbClr val="E11D48"/>
            </a:solidFill>
            <a:prstDash val="solid"/>
          </a:ln>
        </p:spPr>
        <p:txBody>
          <a:bodyPr/>
          <a:lstStyle/>
          <a:p>
            <a:endParaRPr lang="en-US"/>
          </a:p>
        </p:txBody>
      </p:sp>
      <p:sp>
        <p:nvSpPr>
          <p:cNvPr id="23" name="Text 21"/>
          <p:cNvSpPr/>
          <p:nvPr/>
        </p:nvSpPr>
        <p:spPr>
          <a:xfrm>
            <a:off x="6364224" y="2130552"/>
            <a:ext cx="237744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Portal Confusion</a:t>
            </a:r>
            <a:endParaRPr lang="en-US" sz="1100" dirty="0"/>
          </a:p>
        </p:txBody>
      </p:sp>
      <p:sp>
        <p:nvSpPr>
          <p:cNvPr id="24" name="Text 22"/>
          <p:cNvSpPr/>
          <p:nvPr/>
        </p:nvSpPr>
        <p:spPr>
          <a:xfrm>
            <a:off x="6364224" y="2404872"/>
            <a:ext cx="2377440" cy="4572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Employees unsure how or where to request.</a:t>
            </a:r>
            <a:endParaRPr lang="en-US" sz="900" dirty="0"/>
          </a:p>
        </p:txBody>
      </p:sp>
      <p:sp>
        <p:nvSpPr>
          <p:cNvPr id="25" name="Shape 23"/>
          <p:cNvSpPr/>
          <p:nvPr/>
        </p:nvSpPr>
        <p:spPr>
          <a:xfrm>
            <a:off x="3520440" y="2971800"/>
            <a:ext cx="2606040" cy="841248"/>
          </a:xfrm>
          <a:prstGeom prst="rect">
            <a:avLst/>
          </a:prstGeom>
          <a:solidFill>
            <a:srgbClr val="F8FAFC"/>
          </a:solidFill>
          <a:ln w="9525">
            <a:solidFill>
              <a:srgbClr val="E2E8F0"/>
            </a:solidFill>
            <a:prstDash val="solid"/>
          </a:ln>
        </p:spPr>
        <p:txBody>
          <a:bodyPr/>
          <a:lstStyle/>
          <a:p>
            <a:endParaRPr lang="en-US"/>
          </a:p>
        </p:txBody>
      </p:sp>
      <p:sp>
        <p:nvSpPr>
          <p:cNvPr id="26" name="Shape 24"/>
          <p:cNvSpPr/>
          <p:nvPr/>
        </p:nvSpPr>
        <p:spPr>
          <a:xfrm>
            <a:off x="3520440" y="2971800"/>
            <a:ext cx="54864" cy="841248"/>
          </a:xfrm>
          <a:prstGeom prst="rect">
            <a:avLst/>
          </a:prstGeom>
          <a:solidFill>
            <a:srgbClr val="E11D48"/>
          </a:solidFill>
          <a:ln w="12700">
            <a:solidFill>
              <a:srgbClr val="E11D48"/>
            </a:solidFill>
            <a:prstDash val="solid"/>
          </a:ln>
        </p:spPr>
        <p:txBody>
          <a:bodyPr/>
          <a:lstStyle/>
          <a:p>
            <a:endParaRPr lang="en-US"/>
          </a:p>
        </p:txBody>
      </p:sp>
      <p:sp>
        <p:nvSpPr>
          <p:cNvPr id="27" name="Text 25"/>
          <p:cNvSpPr/>
          <p:nvPr/>
        </p:nvSpPr>
        <p:spPr>
          <a:xfrm>
            <a:off x="3685032" y="3044952"/>
            <a:ext cx="237744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Communication Gaps</a:t>
            </a:r>
            <a:endParaRPr lang="en-US" sz="1100" dirty="0"/>
          </a:p>
        </p:txBody>
      </p:sp>
      <p:sp>
        <p:nvSpPr>
          <p:cNvPr id="28" name="Text 26"/>
          <p:cNvSpPr/>
          <p:nvPr/>
        </p:nvSpPr>
        <p:spPr>
          <a:xfrm>
            <a:off x="3685032" y="3319272"/>
            <a:ext cx="2377440" cy="4572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Inconsistent updates, weak automation.</a:t>
            </a:r>
            <a:endParaRPr lang="en-US" sz="900" dirty="0"/>
          </a:p>
        </p:txBody>
      </p:sp>
      <p:sp>
        <p:nvSpPr>
          <p:cNvPr id="29" name="Shape 27"/>
          <p:cNvSpPr/>
          <p:nvPr/>
        </p:nvSpPr>
        <p:spPr>
          <a:xfrm>
            <a:off x="6199632" y="2971800"/>
            <a:ext cx="2606040" cy="841248"/>
          </a:xfrm>
          <a:prstGeom prst="rect">
            <a:avLst/>
          </a:prstGeom>
          <a:solidFill>
            <a:srgbClr val="F8FAFC"/>
          </a:solidFill>
          <a:ln w="9525">
            <a:solidFill>
              <a:srgbClr val="E2E8F0"/>
            </a:solidFill>
            <a:prstDash val="solid"/>
          </a:ln>
        </p:spPr>
        <p:txBody>
          <a:bodyPr/>
          <a:lstStyle/>
          <a:p>
            <a:endParaRPr lang="en-US"/>
          </a:p>
        </p:txBody>
      </p:sp>
      <p:sp>
        <p:nvSpPr>
          <p:cNvPr id="30" name="Shape 28"/>
          <p:cNvSpPr/>
          <p:nvPr/>
        </p:nvSpPr>
        <p:spPr>
          <a:xfrm>
            <a:off x="6199632" y="2971800"/>
            <a:ext cx="54864" cy="841248"/>
          </a:xfrm>
          <a:prstGeom prst="rect">
            <a:avLst/>
          </a:prstGeom>
          <a:solidFill>
            <a:srgbClr val="E11D48"/>
          </a:solidFill>
          <a:ln w="12700">
            <a:solidFill>
              <a:srgbClr val="E11D48"/>
            </a:solidFill>
            <a:prstDash val="solid"/>
          </a:ln>
        </p:spPr>
        <p:txBody>
          <a:bodyPr/>
          <a:lstStyle/>
          <a:p>
            <a:endParaRPr lang="en-US"/>
          </a:p>
        </p:txBody>
      </p:sp>
      <p:sp>
        <p:nvSpPr>
          <p:cNvPr id="31" name="Text 29"/>
          <p:cNvSpPr/>
          <p:nvPr/>
        </p:nvSpPr>
        <p:spPr>
          <a:xfrm>
            <a:off x="6364224" y="3044952"/>
            <a:ext cx="2377440" cy="274320"/>
          </a:xfrm>
          <a:prstGeom prst="rect">
            <a:avLst/>
          </a:prstGeom>
          <a:noFill/>
          <a:ln/>
        </p:spPr>
        <p:txBody>
          <a:bodyPr wrap="square" lIns="0" tIns="0" rIns="0" bIns="0" rtlCol="0" anchor="ctr"/>
          <a:lstStyle/>
          <a:p>
            <a:r>
              <a:rPr lang="en-US" sz="1100" b="1">
                <a:solidFill>
                  <a:srgbClr val="0B1F3A"/>
                </a:solidFill>
                <a:latin typeface="Calibri"/>
                <a:ea typeface="Calibri"/>
                <a:cs typeface="Calibri"/>
              </a:rPr>
              <a:t>Improving CMDB</a:t>
            </a:r>
            <a:r>
              <a:rPr lang="en-US" sz="1100" b="1" dirty="0">
                <a:solidFill>
                  <a:srgbClr val="0B1F3A"/>
                </a:solidFill>
                <a:latin typeface="Calibri"/>
                <a:ea typeface="Calibri"/>
                <a:cs typeface="Calibri"/>
              </a:rPr>
              <a:t> Health</a:t>
            </a:r>
            <a:endParaRPr lang="en-US" sz="1100" dirty="0">
              <a:latin typeface="Calibri"/>
              <a:ea typeface="Calibri"/>
              <a:cs typeface="Calibri"/>
            </a:endParaRPr>
          </a:p>
        </p:txBody>
      </p:sp>
      <p:sp>
        <p:nvSpPr>
          <p:cNvPr id="32" name="Text 30"/>
          <p:cNvSpPr/>
          <p:nvPr/>
        </p:nvSpPr>
        <p:spPr>
          <a:xfrm>
            <a:off x="6364224" y="3319272"/>
            <a:ext cx="2377440" cy="457200"/>
          </a:xfrm>
          <a:prstGeom prst="rect">
            <a:avLst/>
          </a:prstGeom>
          <a:noFill/>
          <a:ln/>
        </p:spPr>
        <p:txBody>
          <a:bodyPr wrap="square" lIns="0" tIns="0" rIns="0" bIns="0" rtlCol="0" anchor="ctr"/>
          <a:lstStyle/>
          <a:p>
            <a:r>
              <a:rPr lang="en-US" sz="900">
                <a:solidFill>
                  <a:srgbClr val="475569"/>
                </a:solidFill>
                <a:latin typeface="Calibri"/>
                <a:ea typeface="Calibri"/>
                <a:cs typeface="Calibri"/>
              </a:rPr>
              <a:t>Resetting CI data to maximize AI use and ROI.</a:t>
            </a:r>
            <a:endParaRPr lang="en-US" sz="900">
              <a:latin typeface="Calibri"/>
              <a:ea typeface="Calibri"/>
              <a:cs typeface="Calibri"/>
            </a:endParaRPr>
          </a:p>
        </p:txBody>
      </p:sp>
      <p:sp>
        <p:nvSpPr>
          <p:cNvPr id="33" name="Shape 31"/>
          <p:cNvSpPr/>
          <p:nvPr/>
        </p:nvSpPr>
        <p:spPr>
          <a:xfrm>
            <a:off x="3520440" y="3886200"/>
            <a:ext cx="2606040" cy="841248"/>
          </a:xfrm>
          <a:prstGeom prst="rect">
            <a:avLst/>
          </a:prstGeom>
          <a:solidFill>
            <a:srgbClr val="F8FAFC"/>
          </a:solidFill>
          <a:ln w="9525">
            <a:solidFill>
              <a:srgbClr val="E2E8F0"/>
            </a:solidFill>
            <a:prstDash val="solid"/>
          </a:ln>
        </p:spPr>
        <p:txBody>
          <a:bodyPr/>
          <a:lstStyle/>
          <a:p>
            <a:endParaRPr lang="en-US"/>
          </a:p>
        </p:txBody>
      </p:sp>
      <p:sp>
        <p:nvSpPr>
          <p:cNvPr id="34" name="Shape 32"/>
          <p:cNvSpPr/>
          <p:nvPr/>
        </p:nvSpPr>
        <p:spPr>
          <a:xfrm>
            <a:off x="3520440" y="3886200"/>
            <a:ext cx="54864" cy="841248"/>
          </a:xfrm>
          <a:prstGeom prst="rect">
            <a:avLst/>
          </a:prstGeom>
          <a:solidFill>
            <a:srgbClr val="E11D48"/>
          </a:solidFill>
          <a:ln w="12700">
            <a:solidFill>
              <a:srgbClr val="E11D48"/>
            </a:solidFill>
            <a:prstDash val="solid"/>
          </a:ln>
        </p:spPr>
        <p:txBody>
          <a:bodyPr/>
          <a:lstStyle/>
          <a:p>
            <a:endParaRPr lang="en-US"/>
          </a:p>
        </p:txBody>
      </p:sp>
      <p:sp>
        <p:nvSpPr>
          <p:cNvPr id="35" name="Text 33"/>
          <p:cNvSpPr/>
          <p:nvPr/>
        </p:nvSpPr>
        <p:spPr>
          <a:xfrm>
            <a:off x="3685032" y="3959352"/>
            <a:ext cx="237744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Underutilized SKUs</a:t>
            </a:r>
            <a:endParaRPr lang="en-US" sz="1100" dirty="0"/>
          </a:p>
        </p:txBody>
      </p:sp>
      <p:sp>
        <p:nvSpPr>
          <p:cNvPr id="36" name="Text 34"/>
          <p:cNvSpPr/>
          <p:nvPr/>
        </p:nvSpPr>
        <p:spPr>
          <a:xfrm>
            <a:off x="3685032" y="4233672"/>
            <a:ext cx="2377440" cy="4572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Licensed capabilities sitting idle.</a:t>
            </a:r>
            <a:endParaRPr lang="en-US" sz="900" dirty="0"/>
          </a:p>
        </p:txBody>
      </p:sp>
      <p:sp>
        <p:nvSpPr>
          <p:cNvPr id="37" name="Shape 35"/>
          <p:cNvSpPr/>
          <p:nvPr/>
        </p:nvSpPr>
        <p:spPr>
          <a:xfrm>
            <a:off x="6199632" y="3886200"/>
            <a:ext cx="2606040" cy="841248"/>
          </a:xfrm>
          <a:prstGeom prst="rect">
            <a:avLst/>
          </a:prstGeom>
          <a:solidFill>
            <a:srgbClr val="F8FAFC"/>
          </a:solidFill>
          <a:ln w="9525">
            <a:solidFill>
              <a:srgbClr val="E2E8F0"/>
            </a:solidFill>
            <a:prstDash val="solid"/>
          </a:ln>
        </p:spPr>
        <p:txBody>
          <a:bodyPr/>
          <a:lstStyle/>
          <a:p>
            <a:endParaRPr lang="en-US"/>
          </a:p>
        </p:txBody>
      </p:sp>
      <p:sp>
        <p:nvSpPr>
          <p:cNvPr id="38" name="Shape 36"/>
          <p:cNvSpPr/>
          <p:nvPr/>
        </p:nvSpPr>
        <p:spPr>
          <a:xfrm>
            <a:off x="6199632" y="3886200"/>
            <a:ext cx="54864" cy="841248"/>
          </a:xfrm>
          <a:prstGeom prst="rect">
            <a:avLst/>
          </a:prstGeom>
          <a:solidFill>
            <a:srgbClr val="E11D48"/>
          </a:solidFill>
          <a:ln w="12700">
            <a:solidFill>
              <a:srgbClr val="E11D48"/>
            </a:solidFill>
            <a:prstDash val="solid"/>
          </a:ln>
        </p:spPr>
        <p:txBody>
          <a:bodyPr/>
          <a:lstStyle/>
          <a:p>
            <a:endParaRPr lang="en-US"/>
          </a:p>
        </p:txBody>
      </p:sp>
      <p:sp>
        <p:nvSpPr>
          <p:cNvPr id="39" name="Text 37"/>
          <p:cNvSpPr/>
          <p:nvPr/>
        </p:nvSpPr>
        <p:spPr>
          <a:xfrm>
            <a:off x="6364224" y="3959352"/>
            <a:ext cx="237744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Limited Reporting</a:t>
            </a:r>
            <a:endParaRPr lang="en-US" sz="1100" dirty="0"/>
          </a:p>
        </p:txBody>
      </p:sp>
      <p:sp>
        <p:nvSpPr>
          <p:cNvPr id="40" name="Text 38"/>
          <p:cNvSpPr/>
          <p:nvPr/>
        </p:nvSpPr>
        <p:spPr>
          <a:xfrm>
            <a:off x="6364224" y="4233672"/>
            <a:ext cx="2377440" cy="4572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No reliable view of MTTR or SLA performance.</a:t>
            </a:r>
            <a:endParaRPr lang="en-US" sz="900" dirty="0"/>
          </a:p>
        </p:txBody>
      </p:sp>
      <p:sp>
        <p:nvSpPr>
          <p:cNvPr id="41" name="Shape 39"/>
          <p:cNvSpPr/>
          <p:nvPr/>
        </p:nvSpPr>
        <p:spPr>
          <a:xfrm>
            <a:off x="0" y="4818888"/>
            <a:ext cx="9144000" cy="324612"/>
          </a:xfrm>
          <a:prstGeom prst="rect">
            <a:avLst/>
          </a:prstGeom>
          <a:solidFill>
            <a:srgbClr val="0B1F3A"/>
          </a:solidFill>
          <a:ln w="12700">
            <a:solidFill>
              <a:srgbClr val="0B1F3A"/>
            </a:solidFill>
            <a:prstDash val="solid"/>
          </a:ln>
        </p:spPr>
        <p:txBody>
          <a:bodyPr/>
          <a:lstStyle/>
          <a:p>
            <a:endParaRPr lang="en-US"/>
          </a:p>
        </p:txBody>
      </p:sp>
      <p:pic>
        <p:nvPicPr>
          <p:cNvPr id="42" name="Image 0" descr="/sessions/laughing-cool-lovelace/mnt/outputs/deck/everforth_ecs_federal_white.png"/>
          <p:cNvPicPr>
            <a:picLocks noChangeAspect="1"/>
          </p:cNvPicPr>
          <p:nvPr/>
        </p:nvPicPr>
        <p:blipFill>
          <a:blip r:embed="rId3"/>
          <a:stretch>
            <a:fillRect/>
          </a:stretch>
        </p:blipFill>
        <p:spPr>
          <a:xfrm>
            <a:off x="365760" y="4873752"/>
            <a:ext cx="1188720" cy="220855"/>
          </a:xfrm>
          <a:prstGeom prst="rect">
            <a:avLst/>
          </a:prstGeom>
        </p:spPr>
      </p:pic>
      <p:sp>
        <p:nvSpPr>
          <p:cNvPr id="43" name="Text 40"/>
          <p:cNvSpPr/>
          <p:nvPr/>
        </p:nvSpPr>
        <p:spPr>
          <a:xfrm>
            <a:off x="1828800" y="4910328"/>
            <a:ext cx="5486400" cy="146304"/>
          </a:xfrm>
          <a:prstGeom prst="rect">
            <a:avLst/>
          </a:prstGeom>
          <a:noFill/>
          <a:ln/>
        </p:spPr>
        <p:txBody>
          <a:bodyPr wrap="square" lIns="0" tIns="0" rIns="0" bIns="0" rtlCol="0" anchor="ctr"/>
          <a:lstStyle/>
          <a:p>
            <a:pPr marL="0" indent="0">
              <a:buNone/>
            </a:pPr>
            <a:r>
              <a:rPr lang="en-US" sz="750" kern="0" spc="400" dirty="0">
                <a:solidFill>
                  <a:srgbClr val="CBD5E1"/>
                </a:solidFill>
                <a:latin typeface="Calibri" pitchFamily="34" charset="0"/>
                <a:ea typeface="Calibri" pitchFamily="34" charset="-122"/>
                <a:cs typeface="Calibri" pitchFamily="34" charset="-120"/>
              </a:rPr>
              <a:t>ECS  ·  PC CONNECTION  ·  SERVICENOW RE-IMPLEMENTATION</a:t>
            </a:r>
            <a:endParaRPr lang="en-US" sz="750" dirty="0"/>
          </a:p>
        </p:txBody>
      </p:sp>
      <p:sp>
        <p:nvSpPr>
          <p:cNvPr id="44" name="Text 41"/>
          <p:cNvSpPr/>
          <p:nvPr/>
        </p:nvSpPr>
        <p:spPr>
          <a:xfrm>
            <a:off x="7863840" y="4910328"/>
            <a:ext cx="914400" cy="146304"/>
          </a:xfrm>
          <a:prstGeom prst="rect">
            <a:avLst/>
          </a:prstGeom>
          <a:noFill/>
          <a:ln/>
        </p:spPr>
        <p:txBody>
          <a:bodyPr wrap="square" lIns="0" tIns="0" rIns="0" bIns="0" rtlCol="0" anchor="ctr"/>
          <a:lstStyle/>
          <a:p>
            <a:pPr marL="0" indent="0" algn="r">
              <a:buNone/>
            </a:pPr>
            <a:r>
              <a:rPr lang="en-US" sz="750" dirty="0">
                <a:solidFill>
                  <a:srgbClr val="CBD5E1"/>
                </a:solidFill>
                <a:latin typeface="Calibri" pitchFamily="34" charset="0"/>
                <a:ea typeface="Calibri" pitchFamily="34" charset="-122"/>
                <a:cs typeface="Calibri" pitchFamily="34" charset="-120"/>
              </a:rPr>
              <a:t>3 / 19</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92608"/>
            <a:ext cx="8412480" cy="228600"/>
          </a:xfrm>
          <a:prstGeom prst="rect">
            <a:avLst/>
          </a:prstGeom>
          <a:noFill/>
          <a:ln/>
        </p:spPr>
        <p:txBody>
          <a:bodyPr wrap="square" lIns="0" tIns="0" rIns="0" bIns="0" rtlCol="0" anchor="ctr"/>
          <a:lstStyle/>
          <a:p>
            <a:pPr marL="0" indent="0">
              <a:buNone/>
            </a:pPr>
            <a:r>
              <a:rPr lang="en-US" sz="900" b="1" kern="0" spc="600" dirty="0">
                <a:solidFill>
                  <a:srgbClr val="14B8A6"/>
                </a:solidFill>
                <a:latin typeface="Calibri" pitchFamily="34" charset="0"/>
                <a:ea typeface="Calibri" pitchFamily="34" charset="-122"/>
                <a:cs typeface="Calibri" pitchFamily="34" charset="-120"/>
              </a:rPr>
              <a:t>03  ·  STRATEGIC GOALS</a:t>
            </a:r>
            <a:endParaRPr lang="en-US" sz="900" dirty="0"/>
          </a:p>
        </p:txBody>
      </p:sp>
      <p:sp>
        <p:nvSpPr>
          <p:cNvPr id="3" name="Text 1"/>
          <p:cNvSpPr/>
          <p:nvPr/>
        </p:nvSpPr>
        <p:spPr>
          <a:xfrm>
            <a:off x="365760" y="502920"/>
            <a:ext cx="8412480" cy="502920"/>
          </a:xfrm>
          <a:prstGeom prst="rect">
            <a:avLst/>
          </a:prstGeom>
          <a:noFill/>
          <a:ln/>
        </p:spPr>
        <p:txBody>
          <a:bodyPr wrap="square" lIns="0" tIns="0" rIns="0" bIns="0" rtlCol="0" anchor="ctr"/>
          <a:lstStyle/>
          <a:p>
            <a:pPr marL="0" indent="0">
              <a:buNone/>
            </a:pPr>
            <a:r>
              <a:rPr lang="en-US" sz="2400" b="1" dirty="0">
                <a:solidFill>
                  <a:srgbClr val="0B1F3A"/>
                </a:solidFill>
                <a:latin typeface="Calibri" pitchFamily="34" charset="0"/>
                <a:ea typeface="Calibri" pitchFamily="34" charset="-122"/>
                <a:cs typeface="Calibri" pitchFamily="34" charset="-120"/>
              </a:rPr>
              <a:t>Where we're headed — the seven outcomes</a:t>
            </a:r>
            <a:endParaRPr lang="en-US" sz="2400" dirty="0"/>
          </a:p>
        </p:txBody>
      </p:sp>
      <p:sp>
        <p:nvSpPr>
          <p:cNvPr id="4" name="Shape 2"/>
          <p:cNvSpPr/>
          <p:nvPr/>
        </p:nvSpPr>
        <p:spPr>
          <a:xfrm>
            <a:off x="384048" y="1325880"/>
            <a:ext cx="2011680" cy="1554480"/>
          </a:xfrm>
          <a:prstGeom prst="rect">
            <a:avLst/>
          </a:prstGeom>
          <a:solidFill>
            <a:srgbClr val="FFFFFF"/>
          </a:solidFill>
          <a:ln w="12700">
            <a:solidFill>
              <a:srgbClr val="E2E8F0"/>
            </a:solidFill>
            <a:prstDash val="solid"/>
          </a:ln>
        </p:spPr>
        <p:txBody>
          <a:bodyPr/>
          <a:lstStyle/>
          <a:p>
            <a:endParaRPr lang="en-US"/>
          </a:p>
        </p:txBody>
      </p:sp>
      <p:sp>
        <p:nvSpPr>
          <p:cNvPr id="5" name="Shape 3"/>
          <p:cNvSpPr/>
          <p:nvPr/>
        </p:nvSpPr>
        <p:spPr>
          <a:xfrm>
            <a:off x="566928" y="1508760"/>
            <a:ext cx="502920" cy="502920"/>
          </a:xfrm>
          <a:prstGeom prst="ellipse">
            <a:avLst/>
          </a:prstGeom>
          <a:solidFill>
            <a:srgbClr val="14B8A6"/>
          </a:solidFill>
          <a:ln w="12700">
            <a:solidFill>
              <a:srgbClr val="14B8A6"/>
            </a:solidFill>
            <a:prstDash val="solid"/>
          </a:ln>
        </p:spPr>
        <p:txBody>
          <a:bodyPr/>
          <a:lstStyle/>
          <a:p>
            <a:endParaRPr lang="en-US"/>
          </a:p>
        </p:txBody>
      </p:sp>
      <p:sp>
        <p:nvSpPr>
          <p:cNvPr id="6" name="Text 4"/>
          <p:cNvSpPr/>
          <p:nvPr/>
        </p:nvSpPr>
        <p:spPr>
          <a:xfrm>
            <a:off x="566928" y="15087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566928" y="2103120"/>
            <a:ext cx="1645920" cy="36576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Adopt OOTB Processes</a:t>
            </a:r>
            <a:endParaRPr lang="en-US" sz="1200" dirty="0"/>
          </a:p>
        </p:txBody>
      </p:sp>
      <p:sp>
        <p:nvSpPr>
          <p:cNvPr id="8" name="Text 6"/>
          <p:cNvSpPr/>
          <p:nvPr/>
        </p:nvSpPr>
        <p:spPr>
          <a:xfrm>
            <a:off x="566928" y="2423160"/>
            <a:ext cx="1645920" cy="41148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Lead with best practices before iterating.</a:t>
            </a:r>
            <a:endParaRPr lang="en-US" sz="950" dirty="0"/>
          </a:p>
        </p:txBody>
      </p:sp>
      <p:sp>
        <p:nvSpPr>
          <p:cNvPr id="9" name="Shape 7"/>
          <p:cNvSpPr/>
          <p:nvPr/>
        </p:nvSpPr>
        <p:spPr>
          <a:xfrm>
            <a:off x="2505456" y="1332525"/>
            <a:ext cx="2011680" cy="1554480"/>
          </a:xfrm>
          <a:prstGeom prst="rect">
            <a:avLst/>
          </a:prstGeom>
          <a:solidFill>
            <a:srgbClr val="FFFFFF"/>
          </a:solidFill>
          <a:ln w="12700">
            <a:solidFill>
              <a:srgbClr val="E2E8F0"/>
            </a:solidFill>
            <a:prstDash val="solid"/>
          </a:ln>
        </p:spPr>
        <p:txBody>
          <a:bodyPr/>
          <a:lstStyle/>
          <a:p>
            <a:endParaRPr lang="en-US"/>
          </a:p>
        </p:txBody>
      </p:sp>
      <p:sp>
        <p:nvSpPr>
          <p:cNvPr id="10" name="Shape 8"/>
          <p:cNvSpPr/>
          <p:nvPr/>
        </p:nvSpPr>
        <p:spPr>
          <a:xfrm>
            <a:off x="2688336" y="1508760"/>
            <a:ext cx="502920" cy="502920"/>
          </a:xfrm>
          <a:prstGeom prst="ellipse">
            <a:avLst/>
          </a:prstGeom>
          <a:solidFill>
            <a:srgbClr val="14B8A6"/>
          </a:solidFill>
          <a:ln w="12700">
            <a:solidFill>
              <a:srgbClr val="14B8A6"/>
            </a:solidFill>
            <a:prstDash val="solid"/>
          </a:ln>
        </p:spPr>
        <p:txBody>
          <a:bodyPr/>
          <a:lstStyle/>
          <a:p>
            <a:endParaRPr lang="en-US"/>
          </a:p>
        </p:txBody>
      </p:sp>
      <p:sp>
        <p:nvSpPr>
          <p:cNvPr id="11" name="Text 9"/>
          <p:cNvSpPr/>
          <p:nvPr/>
        </p:nvSpPr>
        <p:spPr>
          <a:xfrm>
            <a:off x="2688336" y="15087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2688336" y="2103120"/>
            <a:ext cx="1645920" cy="36576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Modernize Change &amp; CMDB</a:t>
            </a:r>
            <a:endParaRPr lang="en-US" sz="1200" dirty="0"/>
          </a:p>
        </p:txBody>
      </p:sp>
      <p:sp>
        <p:nvSpPr>
          <p:cNvPr id="13" name="Text 11"/>
          <p:cNvSpPr/>
          <p:nvPr/>
        </p:nvSpPr>
        <p:spPr>
          <a:xfrm>
            <a:off x="2688336" y="2423160"/>
            <a:ext cx="1645920" cy="411480"/>
          </a:xfrm>
          <a:prstGeom prst="rect">
            <a:avLst/>
          </a:prstGeom>
          <a:noFill/>
          <a:ln/>
        </p:spPr>
        <p:txBody>
          <a:bodyPr wrap="square" lIns="0" tIns="0" rIns="0" bIns="0" rtlCol="0" anchor="ctr"/>
          <a:lstStyle/>
          <a:p>
            <a:pPr marL="0" indent="0">
              <a:buNone/>
            </a:pPr>
            <a:r>
              <a:rPr lang="en-US" sz="950">
                <a:solidFill>
                  <a:srgbClr val="475569"/>
                </a:solidFill>
                <a:latin typeface="Calibri"/>
                <a:ea typeface="Calibri"/>
                <a:cs typeface="Calibri"/>
              </a:rPr>
              <a:t>CSDM with CI-based risk </a:t>
            </a:r>
            <a:r>
              <a:rPr lang="en-US" sz="950" dirty="0">
                <a:solidFill>
                  <a:srgbClr val="475569"/>
                </a:solidFill>
                <a:latin typeface="Calibri"/>
                <a:ea typeface="Calibri"/>
                <a:cs typeface="Calibri"/>
              </a:rPr>
              <a:t>scoring.</a:t>
            </a:r>
            <a:endParaRPr lang="en-US" sz="950" dirty="0">
              <a:latin typeface="Calibri"/>
              <a:ea typeface="Calibri"/>
              <a:cs typeface="Calibri"/>
            </a:endParaRPr>
          </a:p>
        </p:txBody>
      </p:sp>
      <p:sp>
        <p:nvSpPr>
          <p:cNvPr id="14" name="Shape 12"/>
          <p:cNvSpPr/>
          <p:nvPr/>
        </p:nvSpPr>
        <p:spPr>
          <a:xfrm>
            <a:off x="4626864" y="1325880"/>
            <a:ext cx="2011680" cy="1554480"/>
          </a:xfrm>
          <a:prstGeom prst="rect">
            <a:avLst/>
          </a:prstGeom>
          <a:solidFill>
            <a:srgbClr val="FFFFFF"/>
          </a:solidFill>
          <a:ln w="12700">
            <a:solidFill>
              <a:srgbClr val="E2E8F0"/>
            </a:solidFill>
            <a:prstDash val="solid"/>
          </a:ln>
        </p:spPr>
        <p:txBody>
          <a:bodyPr/>
          <a:lstStyle/>
          <a:p>
            <a:endParaRPr lang="en-US"/>
          </a:p>
        </p:txBody>
      </p:sp>
      <p:sp>
        <p:nvSpPr>
          <p:cNvPr id="15" name="Shape 13"/>
          <p:cNvSpPr/>
          <p:nvPr/>
        </p:nvSpPr>
        <p:spPr>
          <a:xfrm>
            <a:off x="4809744" y="1508760"/>
            <a:ext cx="502920" cy="502920"/>
          </a:xfrm>
          <a:prstGeom prst="ellipse">
            <a:avLst/>
          </a:prstGeom>
          <a:solidFill>
            <a:srgbClr val="14B8A6"/>
          </a:solidFill>
          <a:ln w="12700">
            <a:solidFill>
              <a:srgbClr val="14B8A6"/>
            </a:solidFill>
            <a:prstDash val="solid"/>
          </a:ln>
        </p:spPr>
        <p:txBody>
          <a:bodyPr/>
          <a:lstStyle/>
          <a:p>
            <a:endParaRPr lang="en-US"/>
          </a:p>
        </p:txBody>
      </p:sp>
      <p:sp>
        <p:nvSpPr>
          <p:cNvPr id="16" name="Text 14"/>
          <p:cNvSpPr/>
          <p:nvPr/>
        </p:nvSpPr>
        <p:spPr>
          <a:xfrm>
            <a:off x="4809744" y="15087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4809744" y="2103120"/>
            <a:ext cx="1645920" cy="36576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Improve Employee Experience</a:t>
            </a:r>
            <a:endParaRPr lang="en-US" sz="1200" dirty="0"/>
          </a:p>
        </p:txBody>
      </p:sp>
      <p:sp>
        <p:nvSpPr>
          <p:cNvPr id="18" name="Text 16"/>
          <p:cNvSpPr/>
          <p:nvPr/>
        </p:nvSpPr>
        <p:spPr>
          <a:xfrm>
            <a:off x="4809744" y="2423160"/>
            <a:ext cx="1645920" cy="41148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Modern EC, Virtual Agent, AI Search.</a:t>
            </a:r>
            <a:endParaRPr lang="en-US" sz="950" dirty="0"/>
          </a:p>
        </p:txBody>
      </p:sp>
      <p:sp>
        <p:nvSpPr>
          <p:cNvPr id="19" name="Shape 17"/>
          <p:cNvSpPr/>
          <p:nvPr/>
        </p:nvSpPr>
        <p:spPr>
          <a:xfrm>
            <a:off x="6748272" y="1325880"/>
            <a:ext cx="2011680" cy="1554480"/>
          </a:xfrm>
          <a:prstGeom prst="rect">
            <a:avLst/>
          </a:prstGeom>
          <a:solidFill>
            <a:srgbClr val="FFFFFF"/>
          </a:solidFill>
          <a:ln w="12700">
            <a:solidFill>
              <a:srgbClr val="E2E8F0"/>
            </a:solidFill>
            <a:prstDash val="solid"/>
          </a:ln>
        </p:spPr>
        <p:txBody>
          <a:bodyPr/>
          <a:lstStyle/>
          <a:p>
            <a:endParaRPr lang="en-US"/>
          </a:p>
        </p:txBody>
      </p:sp>
      <p:sp>
        <p:nvSpPr>
          <p:cNvPr id="20" name="Shape 18"/>
          <p:cNvSpPr/>
          <p:nvPr/>
        </p:nvSpPr>
        <p:spPr>
          <a:xfrm>
            <a:off x="6931152" y="1508760"/>
            <a:ext cx="502920" cy="502920"/>
          </a:xfrm>
          <a:prstGeom prst="ellipse">
            <a:avLst/>
          </a:prstGeom>
          <a:solidFill>
            <a:srgbClr val="14B8A6"/>
          </a:solidFill>
          <a:ln w="12700">
            <a:solidFill>
              <a:srgbClr val="14B8A6"/>
            </a:solidFill>
            <a:prstDash val="solid"/>
          </a:ln>
        </p:spPr>
        <p:txBody>
          <a:bodyPr/>
          <a:lstStyle/>
          <a:p>
            <a:endParaRPr lang="en-US"/>
          </a:p>
        </p:txBody>
      </p:sp>
      <p:sp>
        <p:nvSpPr>
          <p:cNvPr id="21" name="Text 19"/>
          <p:cNvSpPr/>
          <p:nvPr/>
        </p:nvSpPr>
        <p:spPr>
          <a:xfrm>
            <a:off x="6931152" y="15087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6931152" y="2103120"/>
            <a:ext cx="1645920" cy="36576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Enable AI &amp; Analytics</a:t>
            </a:r>
            <a:endParaRPr lang="en-US" sz="1200" dirty="0"/>
          </a:p>
        </p:txBody>
      </p:sp>
      <p:sp>
        <p:nvSpPr>
          <p:cNvPr id="23" name="Text 21"/>
          <p:cNvSpPr/>
          <p:nvPr/>
        </p:nvSpPr>
        <p:spPr>
          <a:xfrm>
            <a:off x="6931152" y="2423160"/>
            <a:ext cx="1645920" cy="41148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Predictive Intelligence + Performance Analytics.</a:t>
            </a:r>
            <a:endParaRPr lang="en-US" sz="950" dirty="0"/>
          </a:p>
        </p:txBody>
      </p:sp>
      <p:sp>
        <p:nvSpPr>
          <p:cNvPr id="24" name="Shape 22"/>
          <p:cNvSpPr/>
          <p:nvPr/>
        </p:nvSpPr>
        <p:spPr>
          <a:xfrm>
            <a:off x="1444752" y="3017520"/>
            <a:ext cx="2011680" cy="1554480"/>
          </a:xfrm>
          <a:prstGeom prst="rect">
            <a:avLst/>
          </a:prstGeom>
          <a:solidFill>
            <a:srgbClr val="FFFFFF"/>
          </a:solidFill>
          <a:ln w="12700">
            <a:solidFill>
              <a:srgbClr val="E2E8F0"/>
            </a:solidFill>
            <a:prstDash val="solid"/>
          </a:ln>
        </p:spPr>
        <p:txBody>
          <a:bodyPr/>
          <a:lstStyle/>
          <a:p>
            <a:endParaRPr lang="en-US"/>
          </a:p>
        </p:txBody>
      </p:sp>
      <p:sp>
        <p:nvSpPr>
          <p:cNvPr id="25" name="Shape 23"/>
          <p:cNvSpPr/>
          <p:nvPr/>
        </p:nvSpPr>
        <p:spPr>
          <a:xfrm>
            <a:off x="1627632" y="3200400"/>
            <a:ext cx="502920" cy="502920"/>
          </a:xfrm>
          <a:prstGeom prst="ellipse">
            <a:avLst/>
          </a:prstGeom>
          <a:solidFill>
            <a:srgbClr val="14B8A6"/>
          </a:solidFill>
          <a:ln w="12700">
            <a:solidFill>
              <a:srgbClr val="14B8A6"/>
            </a:solidFill>
            <a:prstDash val="solid"/>
          </a:ln>
        </p:spPr>
        <p:txBody>
          <a:bodyPr/>
          <a:lstStyle/>
          <a:p>
            <a:endParaRPr lang="en-US"/>
          </a:p>
        </p:txBody>
      </p:sp>
      <p:sp>
        <p:nvSpPr>
          <p:cNvPr id="26" name="Text 24"/>
          <p:cNvSpPr/>
          <p:nvPr/>
        </p:nvSpPr>
        <p:spPr>
          <a:xfrm>
            <a:off x="1627632" y="32004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7" name="Text 25"/>
          <p:cNvSpPr/>
          <p:nvPr/>
        </p:nvSpPr>
        <p:spPr>
          <a:xfrm>
            <a:off x="1627632" y="3794760"/>
            <a:ext cx="1645920" cy="36576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Exit Domain Separation</a:t>
            </a:r>
            <a:endParaRPr lang="en-US" sz="1200" dirty="0"/>
          </a:p>
        </p:txBody>
      </p:sp>
      <p:sp>
        <p:nvSpPr>
          <p:cNvPr id="28" name="Text 26"/>
          <p:cNvSpPr/>
          <p:nvPr/>
        </p:nvSpPr>
        <p:spPr>
          <a:xfrm>
            <a:off x="1627632" y="4114800"/>
            <a:ext cx="1645920" cy="41148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Move to a governed, dedicated instance.</a:t>
            </a:r>
            <a:endParaRPr lang="en-US" sz="950" dirty="0"/>
          </a:p>
        </p:txBody>
      </p:sp>
      <p:sp>
        <p:nvSpPr>
          <p:cNvPr id="29" name="Shape 27"/>
          <p:cNvSpPr/>
          <p:nvPr/>
        </p:nvSpPr>
        <p:spPr>
          <a:xfrm>
            <a:off x="3566160" y="3017520"/>
            <a:ext cx="2011680" cy="1554480"/>
          </a:xfrm>
          <a:prstGeom prst="rect">
            <a:avLst/>
          </a:prstGeom>
          <a:solidFill>
            <a:srgbClr val="FFFFFF"/>
          </a:solidFill>
          <a:ln w="12700">
            <a:solidFill>
              <a:srgbClr val="E2E8F0"/>
            </a:solidFill>
            <a:prstDash val="solid"/>
          </a:ln>
        </p:spPr>
        <p:txBody>
          <a:bodyPr/>
          <a:lstStyle/>
          <a:p>
            <a:endParaRPr lang="en-US"/>
          </a:p>
        </p:txBody>
      </p:sp>
      <p:sp>
        <p:nvSpPr>
          <p:cNvPr id="30" name="Shape 28"/>
          <p:cNvSpPr/>
          <p:nvPr/>
        </p:nvSpPr>
        <p:spPr>
          <a:xfrm>
            <a:off x="3749040" y="3200400"/>
            <a:ext cx="502920" cy="502920"/>
          </a:xfrm>
          <a:prstGeom prst="ellipse">
            <a:avLst/>
          </a:prstGeom>
          <a:solidFill>
            <a:srgbClr val="14B8A6"/>
          </a:solidFill>
          <a:ln w="12700">
            <a:solidFill>
              <a:srgbClr val="14B8A6"/>
            </a:solidFill>
            <a:prstDash val="solid"/>
          </a:ln>
        </p:spPr>
        <p:txBody>
          <a:bodyPr/>
          <a:lstStyle/>
          <a:p>
            <a:endParaRPr lang="en-US"/>
          </a:p>
        </p:txBody>
      </p:sp>
      <p:sp>
        <p:nvSpPr>
          <p:cNvPr id="31" name="Text 29"/>
          <p:cNvSpPr/>
          <p:nvPr/>
        </p:nvSpPr>
        <p:spPr>
          <a:xfrm>
            <a:off x="3749040" y="32004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2" name="Text 30"/>
          <p:cNvSpPr/>
          <p:nvPr/>
        </p:nvSpPr>
        <p:spPr>
          <a:xfrm>
            <a:off x="3749040" y="3794760"/>
            <a:ext cx="1645920" cy="36576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Establish Governance</a:t>
            </a:r>
            <a:endParaRPr lang="en-US" sz="1200" dirty="0"/>
          </a:p>
        </p:txBody>
      </p:sp>
      <p:sp>
        <p:nvSpPr>
          <p:cNvPr id="33" name="Text 31"/>
          <p:cNvSpPr/>
          <p:nvPr/>
        </p:nvSpPr>
        <p:spPr>
          <a:xfrm>
            <a:off x="3749040" y="4114800"/>
            <a:ext cx="1645920" cy="41148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Triaged backlog, business-prioritized intake.</a:t>
            </a:r>
            <a:endParaRPr lang="en-US" sz="950" dirty="0"/>
          </a:p>
        </p:txBody>
      </p:sp>
      <p:sp>
        <p:nvSpPr>
          <p:cNvPr id="34" name="Shape 32"/>
          <p:cNvSpPr/>
          <p:nvPr/>
        </p:nvSpPr>
        <p:spPr>
          <a:xfrm>
            <a:off x="5687568" y="3017520"/>
            <a:ext cx="2011680" cy="1554480"/>
          </a:xfrm>
          <a:prstGeom prst="rect">
            <a:avLst/>
          </a:prstGeom>
          <a:solidFill>
            <a:srgbClr val="FFFFFF"/>
          </a:solidFill>
          <a:ln w="12700">
            <a:solidFill>
              <a:srgbClr val="E2E8F0"/>
            </a:solidFill>
            <a:prstDash val="solid"/>
          </a:ln>
        </p:spPr>
        <p:txBody>
          <a:bodyPr/>
          <a:lstStyle/>
          <a:p>
            <a:endParaRPr lang="en-US"/>
          </a:p>
        </p:txBody>
      </p:sp>
      <p:sp>
        <p:nvSpPr>
          <p:cNvPr id="35" name="Shape 33"/>
          <p:cNvSpPr/>
          <p:nvPr/>
        </p:nvSpPr>
        <p:spPr>
          <a:xfrm>
            <a:off x="5870448" y="3200400"/>
            <a:ext cx="502920" cy="502920"/>
          </a:xfrm>
          <a:prstGeom prst="ellipse">
            <a:avLst/>
          </a:prstGeom>
          <a:solidFill>
            <a:srgbClr val="14B8A6"/>
          </a:solidFill>
          <a:ln w="12700">
            <a:solidFill>
              <a:srgbClr val="14B8A6"/>
            </a:solidFill>
            <a:prstDash val="solid"/>
          </a:ln>
        </p:spPr>
        <p:txBody>
          <a:bodyPr/>
          <a:lstStyle/>
          <a:p>
            <a:endParaRPr lang="en-US"/>
          </a:p>
        </p:txBody>
      </p:sp>
      <p:sp>
        <p:nvSpPr>
          <p:cNvPr id="36" name="Text 34"/>
          <p:cNvSpPr/>
          <p:nvPr/>
        </p:nvSpPr>
        <p:spPr>
          <a:xfrm>
            <a:off x="5870448" y="32004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37" name="Text 35"/>
          <p:cNvSpPr/>
          <p:nvPr/>
        </p:nvSpPr>
        <p:spPr>
          <a:xfrm>
            <a:off x="5870448" y="3794760"/>
            <a:ext cx="1645920" cy="36576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Optimize Licensed SKUs</a:t>
            </a:r>
            <a:endParaRPr lang="en-US" sz="1200" dirty="0"/>
          </a:p>
        </p:txBody>
      </p:sp>
      <p:sp>
        <p:nvSpPr>
          <p:cNvPr id="38" name="Text 36"/>
          <p:cNvSpPr/>
          <p:nvPr/>
        </p:nvSpPr>
        <p:spPr>
          <a:xfrm>
            <a:off x="5870448" y="4114800"/>
            <a:ext cx="1645920" cy="411480"/>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Realize value from every capability paid for.</a:t>
            </a:r>
            <a:endParaRPr lang="en-US" sz="950" dirty="0"/>
          </a:p>
        </p:txBody>
      </p:sp>
      <p:sp>
        <p:nvSpPr>
          <p:cNvPr id="39" name="Shape 37"/>
          <p:cNvSpPr/>
          <p:nvPr/>
        </p:nvSpPr>
        <p:spPr>
          <a:xfrm>
            <a:off x="0" y="4818888"/>
            <a:ext cx="9144000" cy="324612"/>
          </a:xfrm>
          <a:prstGeom prst="rect">
            <a:avLst/>
          </a:prstGeom>
          <a:solidFill>
            <a:srgbClr val="0B1F3A"/>
          </a:solidFill>
          <a:ln w="12700">
            <a:solidFill>
              <a:srgbClr val="0B1F3A"/>
            </a:solidFill>
            <a:prstDash val="solid"/>
          </a:ln>
        </p:spPr>
        <p:txBody>
          <a:bodyPr/>
          <a:lstStyle/>
          <a:p>
            <a:endParaRPr lang="en-US"/>
          </a:p>
        </p:txBody>
      </p:sp>
      <p:pic>
        <p:nvPicPr>
          <p:cNvPr id="40" name="Image 0" descr="/sessions/laughing-cool-lovelace/mnt/outputs/deck/everforth_ecs_federal_white.png"/>
          <p:cNvPicPr>
            <a:picLocks noChangeAspect="1"/>
          </p:cNvPicPr>
          <p:nvPr/>
        </p:nvPicPr>
        <p:blipFill>
          <a:blip r:embed="rId3"/>
          <a:stretch>
            <a:fillRect/>
          </a:stretch>
        </p:blipFill>
        <p:spPr>
          <a:xfrm>
            <a:off x="365760" y="4873752"/>
            <a:ext cx="1188720" cy="220855"/>
          </a:xfrm>
          <a:prstGeom prst="rect">
            <a:avLst/>
          </a:prstGeom>
        </p:spPr>
      </p:pic>
      <p:sp>
        <p:nvSpPr>
          <p:cNvPr id="41" name="Text 38"/>
          <p:cNvSpPr/>
          <p:nvPr/>
        </p:nvSpPr>
        <p:spPr>
          <a:xfrm>
            <a:off x="1828800" y="4910328"/>
            <a:ext cx="5486400" cy="146304"/>
          </a:xfrm>
          <a:prstGeom prst="rect">
            <a:avLst/>
          </a:prstGeom>
          <a:noFill/>
          <a:ln/>
        </p:spPr>
        <p:txBody>
          <a:bodyPr wrap="square" lIns="0" tIns="0" rIns="0" bIns="0" rtlCol="0" anchor="ctr"/>
          <a:lstStyle/>
          <a:p>
            <a:pPr marL="0" indent="0">
              <a:buNone/>
            </a:pPr>
            <a:r>
              <a:rPr lang="en-US" sz="750" kern="0" spc="400" dirty="0">
                <a:solidFill>
                  <a:srgbClr val="CBD5E1"/>
                </a:solidFill>
                <a:latin typeface="Calibri" pitchFamily="34" charset="0"/>
                <a:ea typeface="Calibri" pitchFamily="34" charset="-122"/>
                <a:cs typeface="Calibri" pitchFamily="34" charset="-120"/>
              </a:rPr>
              <a:t>ECS  ·  PC CONNECTION  ·  SERVICENOW RE-IMPLEMENTATION</a:t>
            </a:r>
            <a:endParaRPr lang="en-US" sz="750" dirty="0"/>
          </a:p>
        </p:txBody>
      </p:sp>
      <p:sp>
        <p:nvSpPr>
          <p:cNvPr id="42" name="Text 39"/>
          <p:cNvSpPr/>
          <p:nvPr/>
        </p:nvSpPr>
        <p:spPr>
          <a:xfrm>
            <a:off x="7863840" y="4910328"/>
            <a:ext cx="914400" cy="146304"/>
          </a:xfrm>
          <a:prstGeom prst="rect">
            <a:avLst/>
          </a:prstGeom>
          <a:noFill/>
          <a:ln/>
        </p:spPr>
        <p:txBody>
          <a:bodyPr wrap="square" lIns="0" tIns="0" rIns="0" bIns="0" rtlCol="0" anchor="ctr"/>
          <a:lstStyle/>
          <a:p>
            <a:pPr marL="0" indent="0" algn="r">
              <a:buNone/>
            </a:pPr>
            <a:r>
              <a:rPr lang="en-US" sz="750" dirty="0">
                <a:solidFill>
                  <a:srgbClr val="CBD5E1"/>
                </a:solidFill>
                <a:latin typeface="Calibri" pitchFamily="34" charset="0"/>
                <a:ea typeface="Calibri" pitchFamily="34" charset="-122"/>
                <a:cs typeface="Calibri" pitchFamily="34" charset="-120"/>
              </a:rPr>
              <a:t>4 / 19</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92608"/>
            <a:ext cx="8412480" cy="228600"/>
          </a:xfrm>
          <a:prstGeom prst="rect">
            <a:avLst/>
          </a:prstGeom>
          <a:noFill/>
          <a:ln/>
        </p:spPr>
        <p:txBody>
          <a:bodyPr wrap="square" lIns="0" tIns="0" rIns="0" bIns="0" rtlCol="0" anchor="ctr"/>
          <a:lstStyle/>
          <a:p>
            <a:pPr marL="0" indent="0">
              <a:buNone/>
            </a:pPr>
            <a:r>
              <a:rPr lang="en-US" sz="900" b="1" kern="0" spc="600" dirty="0">
                <a:solidFill>
                  <a:srgbClr val="14B8A6"/>
                </a:solidFill>
                <a:latin typeface="Calibri" pitchFamily="34" charset="0"/>
                <a:ea typeface="Calibri" pitchFamily="34" charset="-122"/>
                <a:cs typeface="Calibri" pitchFamily="34" charset="-120"/>
              </a:rPr>
              <a:t>04  ·  SCOPE</a:t>
            </a:r>
            <a:endParaRPr lang="en-US" sz="900" dirty="0"/>
          </a:p>
        </p:txBody>
      </p:sp>
      <p:sp>
        <p:nvSpPr>
          <p:cNvPr id="3" name="Text 1"/>
          <p:cNvSpPr/>
          <p:nvPr/>
        </p:nvSpPr>
        <p:spPr>
          <a:xfrm>
            <a:off x="365760" y="502920"/>
            <a:ext cx="8412480" cy="502920"/>
          </a:xfrm>
          <a:prstGeom prst="rect">
            <a:avLst/>
          </a:prstGeom>
          <a:noFill/>
          <a:ln/>
        </p:spPr>
        <p:txBody>
          <a:bodyPr wrap="square" lIns="0" tIns="0" rIns="0" bIns="0" rtlCol="0" anchor="ctr"/>
          <a:lstStyle/>
          <a:p>
            <a:pPr marL="0" indent="0">
              <a:buNone/>
            </a:pPr>
            <a:r>
              <a:rPr lang="en-US" sz="2400" b="1" dirty="0">
                <a:solidFill>
                  <a:srgbClr val="0B1F3A"/>
                </a:solidFill>
                <a:latin typeface="Calibri" pitchFamily="34" charset="0"/>
                <a:ea typeface="Calibri" pitchFamily="34" charset="-122"/>
                <a:cs typeface="Calibri" pitchFamily="34" charset="-120"/>
              </a:rPr>
              <a:t>Phase 1 in-scope applications &amp; integrations</a:t>
            </a:r>
            <a:endParaRPr lang="en-US" sz="2400" dirty="0"/>
          </a:p>
        </p:txBody>
      </p:sp>
      <p:sp>
        <p:nvSpPr>
          <p:cNvPr id="4" name="Shape 2"/>
          <p:cNvSpPr/>
          <p:nvPr/>
        </p:nvSpPr>
        <p:spPr>
          <a:xfrm>
            <a:off x="365760" y="1325880"/>
            <a:ext cx="1700784" cy="1325880"/>
          </a:xfrm>
          <a:prstGeom prst="rect">
            <a:avLst/>
          </a:prstGeom>
          <a:solidFill>
            <a:srgbClr val="F8FAFC"/>
          </a:solidFill>
          <a:ln w="9525">
            <a:solidFill>
              <a:srgbClr val="E2E8F0"/>
            </a:solidFill>
            <a:prstDash val="solid"/>
          </a:ln>
        </p:spPr>
        <p:txBody>
          <a:bodyPr/>
          <a:lstStyle/>
          <a:p>
            <a:endParaRPr lang="en-US"/>
          </a:p>
        </p:txBody>
      </p:sp>
      <p:sp>
        <p:nvSpPr>
          <p:cNvPr id="5" name="Shape 3"/>
          <p:cNvSpPr/>
          <p:nvPr/>
        </p:nvSpPr>
        <p:spPr>
          <a:xfrm>
            <a:off x="365760" y="1325880"/>
            <a:ext cx="1700784" cy="54864"/>
          </a:xfrm>
          <a:prstGeom prst="rect">
            <a:avLst/>
          </a:prstGeom>
          <a:solidFill>
            <a:srgbClr val="14B8A6"/>
          </a:solidFill>
          <a:ln w="12700">
            <a:solidFill>
              <a:srgbClr val="14B8A6"/>
            </a:solidFill>
            <a:prstDash val="solid"/>
          </a:ln>
        </p:spPr>
        <p:txBody>
          <a:bodyPr/>
          <a:lstStyle/>
          <a:p>
            <a:endParaRPr lang="en-US"/>
          </a:p>
        </p:txBody>
      </p:sp>
      <p:sp>
        <p:nvSpPr>
          <p:cNvPr id="6" name="Text 4"/>
          <p:cNvSpPr/>
          <p:nvPr/>
        </p:nvSpPr>
        <p:spPr>
          <a:xfrm>
            <a:off x="484632" y="1472184"/>
            <a:ext cx="1517904"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ITSM Core</a:t>
            </a:r>
            <a:endParaRPr lang="en-US" sz="1100" dirty="0"/>
          </a:p>
        </p:txBody>
      </p:sp>
      <p:sp>
        <p:nvSpPr>
          <p:cNvPr id="7" name="Text 5"/>
          <p:cNvSpPr/>
          <p:nvPr/>
        </p:nvSpPr>
        <p:spPr>
          <a:xfrm>
            <a:off x="484632" y="1828800"/>
            <a:ext cx="1517904" cy="777240"/>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Incident, Request, Knowledge, Change/CAB, Problem, Major Incident, SO Workspace.</a:t>
            </a:r>
            <a:endParaRPr lang="en-US" sz="850" dirty="0"/>
          </a:p>
        </p:txBody>
      </p:sp>
      <p:sp>
        <p:nvSpPr>
          <p:cNvPr id="8" name="Shape 6"/>
          <p:cNvSpPr/>
          <p:nvPr/>
        </p:nvSpPr>
        <p:spPr>
          <a:xfrm>
            <a:off x="2130552" y="1325880"/>
            <a:ext cx="1700784" cy="1325880"/>
          </a:xfrm>
          <a:prstGeom prst="rect">
            <a:avLst/>
          </a:prstGeom>
          <a:solidFill>
            <a:srgbClr val="F8FAFC"/>
          </a:solidFill>
          <a:ln w="9525">
            <a:solidFill>
              <a:srgbClr val="E2E8F0"/>
            </a:solidFill>
            <a:prstDash val="solid"/>
          </a:ln>
        </p:spPr>
        <p:txBody>
          <a:bodyPr/>
          <a:lstStyle/>
          <a:p>
            <a:endParaRPr lang="en-US"/>
          </a:p>
        </p:txBody>
      </p:sp>
      <p:sp>
        <p:nvSpPr>
          <p:cNvPr id="9" name="Shape 7"/>
          <p:cNvSpPr/>
          <p:nvPr/>
        </p:nvSpPr>
        <p:spPr>
          <a:xfrm>
            <a:off x="2130552" y="1325880"/>
            <a:ext cx="1700784" cy="54864"/>
          </a:xfrm>
          <a:prstGeom prst="rect">
            <a:avLst/>
          </a:prstGeom>
          <a:solidFill>
            <a:srgbClr val="14B8A6"/>
          </a:solidFill>
          <a:ln w="12700">
            <a:solidFill>
              <a:srgbClr val="14B8A6"/>
            </a:solidFill>
            <a:prstDash val="solid"/>
          </a:ln>
        </p:spPr>
        <p:txBody>
          <a:bodyPr/>
          <a:lstStyle/>
          <a:p>
            <a:endParaRPr lang="en-US"/>
          </a:p>
        </p:txBody>
      </p:sp>
      <p:sp>
        <p:nvSpPr>
          <p:cNvPr id="10" name="Text 8"/>
          <p:cNvSpPr/>
          <p:nvPr/>
        </p:nvSpPr>
        <p:spPr>
          <a:xfrm>
            <a:off x="2249424" y="1472184"/>
            <a:ext cx="1517904"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Initial Service Catalog</a:t>
            </a:r>
            <a:endParaRPr lang="en-US" sz="1100" dirty="0"/>
          </a:p>
        </p:txBody>
      </p:sp>
      <p:sp>
        <p:nvSpPr>
          <p:cNvPr id="11" name="Text 9"/>
          <p:cNvSpPr/>
          <p:nvPr/>
        </p:nvSpPr>
        <p:spPr>
          <a:xfrm>
            <a:off x="2249424" y="1828800"/>
            <a:ext cx="1517904" cy="777240"/>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Top 10–15 most impactful items with workflows, approvals; 2–3 generic to cover all services.</a:t>
            </a:r>
            <a:endParaRPr lang="en-US" sz="850" dirty="0"/>
          </a:p>
        </p:txBody>
      </p:sp>
      <p:sp>
        <p:nvSpPr>
          <p:cNvPr id="12" name="Shape 10"/>
          <p:cNvSpPr/>
          <p:nvPr/>
        </p:nvSpPr>
        <p:spPr>
          <a:xfrm>
            <a:off x="3895344" y="1325880"/>
            <a:ext cx="1700784" cy="1325880"/>
          </a:xfrm>
          <a:prstGeom prst="rect">
            <a:avLst/>
          </a:prstGeom>
          <a:solidFill>
            <a:srgbClr val="F8FAFC"/>
          </a:solidFill>
          <a:ln w="9525">
            <a:solidFill>
              <a:srgbClr val="E2E8F0"/>
            </a:solidFill>
            <a:prstDash val="solid"/>
          </a:ln>
        </p:spPr>
        <p:txBody>
          <a:bodyPr/>
          <a:lstStyle/>
          <a:p>
            <a:endParaRPr lang="en-US"/>
          </a:p>
        </p:txBody>
      </p:sp>
      <p:sp>
        <p:nvSpPr>
          <p:cNvPr id="13" name="Shape 11"/>
          <p:cNvSpPr/>
          <p:nvPr/>
        </p:nvSpPr>
        <p:spPr>
          <a:xfrm>
            <a:off x="3895344" y="1325880"/>
            <a:ext cx="1700784" cy="54864"/>
          </a:xfrm>
          <a:prstGeom prst="rect">
            <a:avLst/>
          </a:prstGeom>
          <a:solidFill>
            <a:srgbClr val="14B8A6"/>
          </a:solidFill>
          <a:ln w="12700">
            <a:solidFill>
              <a:srgbClr val="14B8A6"/>
            </a:solidFill>
            <a:prstDash val="solid"/>
          </a:ln>
        </p:spPr>
        <p:txBody>
          <a:bodyPr/>
          <a:lstStyle/>
          <a:p>
            <a:endParaRPr lang="en-US"/>
          </a:p>
        </p:txBody>
      </p:sp>
      <p:sp>
        <p:nvSpPr>
          <p:cNvPr id="14" name="Text 12"/>
          <p:cNvSpPr/>
          <p:nvPr/>
        </p:nvSpPr>
        <p:spPr>
          <a:xfrm>
            <a:off x="4014216" y="1472184"/>
            <a:ext cx="1517904"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Employee Experience</a:t>
            </a:r>
            <a:endParaRPr lang="en-US" sz="1100" dirty="0"/>
          </a:p>
        </p:txBody>
      </p:sp>
      <p:sp>
        <p:nvSpPr>
          <p:cNvPr id="15" name="Text 13"/>
          <p:cNvSpPr/>
          <p:nvPr/>
        </p:nvSpPr>
        <p:spPr>
          <a:xfrm>
            <a:off x="4014216" y="1828800"/>
            <a:ext cx="1517904" cy="777240"/>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Employee Center, Virtual Agent, AI Search, Knowledge Management.</a:t>
            </a:r>
            <a:endParaRPr lang="en-US" sz="850" dirty="0"/>
          </a:p>
        </p:txBody>
      </p:sp>
      <p:sp>
        <p:nvSpPr>
          <p:cNvPr id="16" name="Shape 14"/>
          <p:cNvSpPr/>
          <p:nvPr/>
        </p:nvSpPr>
        <p:spPr>
          <a:xfrm>
            <a:off x="5660136" y="1325880"/>
            <a:ext cx="1700784" cy="1325880"/>
          </a:xfrm>
          <a:prstGeom prst="rect">
            <a:avLst/>
          </a:prstGeom>
          <a:solidFill>
            <a:srgbClr val="F8FAFC"/>
          </a:solidFill>
          <a:ln w="9525">
            <a:solidFill>
              <a:srgbClr val="E2E8F0"/>
            </a:solidFill>
            <a:prstDash val="solid"/>
          </a:ln>
        </p:spPr>
        <p:txBody>
          <a:bodyPr/>
          <a:lstStyle/>
          <a:p>
            <a:endParaRPr lang="en-US"/>
          </a:p>
        </p:txBody>
      </p:sp>
      <p:sp>
        <p:nvSpPr>
          <p:cNvPr id="17" name="Shape 15"/>
          <p:cNvSpPr/>
          <p:nvPr/>
        </p:nvSpPr>
        <p:spPr>
          <a:xfrm>
            <a:off x="5660136" y="1325880"/>
            <a:ext cx="1700784" cy="54864"/>
          </a:xfrm>
          <a:prstGeom prst="rect">
            <a:avLst/>
          </a:prstGeom>
          <a:solidFill>
            <a:srgbClr val="14B8A6"/>
          </a:solidFill>
          <a:ln w="12700">
            <a:solidFill>
              <a:srgbClr val="14B8A6"/>
            </a:solidFill>
            <a:prstDash val="solid"/>
          </a:ln>
        </p:spPr>
        <p:txBody>
          <a:bodyPr/>
          <a:lstStyle/>
          <a:p>
            <a:endParaRPr lang="en-US"/>
          </a:p>
        </p:txBody>
      </p:sp>
      <p:sp>
        <p:nvSpPr>
          <p:cNvPr id="18" name="Text 16"/>
          <p:cNvSpPr/>
          <p:nvPr/>
        </p:nvSpPr>
        <p:spPr>
          <a:xfrm>
            <a:off x="5779008" y="1472184"/>
            <a:ext cx="1517904"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Automation &amp; AI</a:t>
            </a:r>
            <a:endParaRPr lang="en-US" sz="1100" dirty="0"/>
          </a:p>
        </p:txBody>
      </p:sp>
      <p:sp>
        <p:nvSpPr>
          <p:cNvPr id="19" name="Text 17"/>
          <p:cNvSpPr/>
          <p:nvPr/>
        </p:nvSpPr>
        <p:spPr>
          <a:xfrm>
            <a:off x="5779008" y="1828800"/>
            <a:ext cx="1517904" cy="777240"/>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Flow Designer, Predictive Intelligence, Task Intelligence.</a:t>
            </a:r>
            <a:endParaRPr lang="en-US" sz="850" dirty="0"/>
          </a:p>
        </p:txBody>
      </p:sp>
      <p:sp>
        <p:nvSpPr>
          <p:cNvPr id="20" name="Shape 18"/>
          <p:cNvSpPr/>
          <p:nvPr/>
        </p:nvSpPr>
        <p:spPr>
          <a:xfrm>
            <a:off x="7424928" y="1325880"/>
            <a:ext cx="1700784" cy="1325880"/>
          </a:xfrm>
          <a:prstGeom prst="rect">
            <a:avLst/>
          </a:prstGeom>
          <a:solidFill>
            <a:srgbClr val="F8FAFC"/>
          </a:solidFill>
          <a:ln w="9525">
            <a:solidFill>
              <a:srgbClr val="E2E8F0"/>
            </a:solidFill>
            <a:prstDash val="solid"/>
          </a:ln>
        </p:spPr>
        <p:txBody>
          <a:bodyPr/>
          <a:lstStyle/>
          <a:p>
            <a:endParaRPr lang="en-US"/>
          </a:p>
        </p:txBody>
      </p:sp>
      <p:sp>
        <p:nvSpPr>
          <p:cNvPr id="21" name="Shape 19"/>
          <p:cNvSpPr/>
          <p:nvPr/>
        </p:nvSpPr>
        <p:spPr>
          <a:xfrm>
            <a:off x="7424928" y="1325880"/>
            <a:ext cx="1700784" cy="54864"/>
          </a:xfrm>
          <a:prstGeom prst="rect">
            <a:avLst/>
          </a:prstGeom>
          <a:solidFill>
            <a:srgbClr val="14B8A6"/>
          </a:solidFill>
          <a:ln w="12700">
            <a:solidFill>
              <a:srgbClr val="14B8A6"/>
            </a:solidFill>
            <a:prstDash val="solid"/>
          </a:ln>
        </p:spPr>
        <p:txBody>
          <a:bodyPr/>
          <a:lstStyle/>
          <a:p>
            <a:endParaRPr lang="en-US"/>
          </a:p>
        </p:txBody>
      </p:sp>
      <p:sp>
        <p:nvSpPr>
          <p:cNvPr id="22" name="Text 20"/>
          <p:cNvSpPr/>
          <p:nvPr/>
        </p:nvSpPr>
        <p:spPr>
          <a:xfrm>
            <a:off x="7543800" y="1472184"/>
            <a:ext cx="1517904"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Analytics</a:t>
            </a:r>
            <a:endParaRPr lang="en-US" sz="1100" dirty="0"/>
          </a:p>
        </p:txBody>
      </p:sp>
      <p:sp>
        <p:nvSpPr>
          <p:cNvPr id="23" name="Text 21"/>
          <p:cNvSpPr/>
          <p:nvPr/>
        </p:nvSpPr>
        <p:spPr>
          <a:xfrm>
            <a:off x="7543800" y="1828800"/>
            <a:ext cx="1517904" cy="777240"/>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Platform Analytics, Performance Analytics, Data Visualization, Benchmarks.</a:t>
            </a:r>
            <a:endParaRPr lang="en-US" sz="850" dirty="0"/>
          </a:p>
        </p:txBody>
      </p:sp>
      <p:sp>
        <p:nvSpPr>
          <p:cNvPr id="24" name="Shape 22"/>
          <p:cNvSpPr/>
          <p:nvPr/>
        </p:nvSpPr>
        <p:spPr>
          <a:xfrm>
            <a:off x="1213561" y="2715768"/>
            <a:ext cx="1700784" cy="1325880"/>
          </a:xfrm>
          <a:prstGeom prst="rect">
            <a:avLst/>
          </a:prstGeom>
          <a:solidFill>
            <a:srgbClr val="F8FAFC"/>
          </a:solidFill>
          <a:ln w="9525">
            <a:solidFill>
              <a:srgbClr val="E2E8F0"/>
            </a:solidFill>
            <a:prstDash val="solid"/>
          </a:ln>
        </p:spPr>
        <p:txBody>
          <a:bodyPr/>
          <a:lstStyle/>
          <a:p>
            <a:endParaRPr lang="en-US"/>
          </a:p>
        </p:txBody>
      </p:sp>
      <p:sp>
        <p:nvSpPr>
          <p:cNvPr id="25" name="Shape 23"/>
          <p:cNvSpPr/>
          <p:nvPr/>
        </p:nvSpPr>
        <p:spPr>
          <a:xfrm>
            <a:off x="1213561" y="2715768"/>
            <a:ext cx="1700784" cy="54864"/>
          </a:xfrm>
          <a:prstGeom prst="rect">
            <a:avLst/>
          </a:prstGeom>
          <a:solidFill>
            <a:srgbClr val="14B8A6"/>
          </a:solidFill>
          <a:ln w="12700">
            <a:solidFill>
              <a:srgbClr val="14B8A6"/>
            </a:solidFill>
            <a:prstDash val="solid"/>
          </a:ln>
        </p:spPr>
        <p:txBody>
          <a:bodyPr/>
          <a:lstStyle/>
          <a:p>
            <a:endParaRPr lang="en-US"/>
          </a:p>
        </p:txBody>
      </p:sp>
      <p:sp>
        <p:nvSpPr>
          <p:cNvPr id="26" name="Text 24"/>
          <p:cNvSpPr/>
          <p:nvPr/>
        </p:nvSpPr>
        <p:spPr>
          <a:xfrm>
            <a:off x="1332433" y="2862072"/>
            <a:ext cx="1517904"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CMDB &amp; CSDM</a:t>
            </a:r>
            <a:endParaRPr lang="en-US" sz="1100" dirty="0"/>
          </a:p>
        </p:txBody>
      </p:sp>
      <p:sp>
        <p:nvSpPr>
          <p:cNvPr id="27" name="Text 25"/>
          <p:cNvSpPr/>
          <p:nvPr/>
        </p:nvSpPr>
        <p:spPr>
          <a:xfrm>
            <a:off x="1332433" y="3218688"/>
            <a:ext cx="1517904" cy="777240"/>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Foundational CSDM alignment, CMDB and CI relationship standards.</a:t>
            </a:r>
            <a:endParaRPr lang="en-US" sz="850" dirty="0"/>
          </a:p>
        </p:txBody>
      </p:sp>
      <p:sp>
        <p:nvSpPr>
          <p:cNvPr id="28" name="Shape 26"/>
          <p:cNvSpPr/>
          <p:nvPr/>
        </p:nvSpPr>
        <p:spPr>
          <a:xfrm>
            <a:off x="2978353" y="2715768"/>
            <a:ext cx="1700784" cy="1325880"/>
          </a:xfrm>
          <a:prstGeom prst="rect">
            <a:avLst/>
          </a:prstGeom>
          <a:solidFill>
            <a:srgbClr val="F8FAFC"/>
          </a:solidFill>
          <a:ln w="9525">
            <a:solidFill>
              <a:srgbClr val="E2E8F0"/>
            </a:solidFill>
            <a:prstDash val="solid"/>
          </a:ln>
        </p:spPr>
        <p:txBody>
          <a:bodyPr/>
          <a:lstStyle/>
          <a:p>
            <a:endParaRPr lang="en-US"/>
          </a:p>
        </p:txBody>
      </p:sp>
      <p:sp>
        <p:nvSpPr>
          <p:cNvPr id="29" name="Shape 27"/>
          <p:cNvSpPr/>
          <p:nvPr/>
        </p:nvSpPr>
        <p:spPr>
          <a:xfrm>
            <a:off x="2978353" y="2715768"/>
            <a:ext cx="1700784" cy="54864"/>
          </a:xfrm>
          <a:prstGeom prst="rect">
            <a:avLst/>
          </a:prstGeom>
          <a:solidFill>
            <a:srgbClr val="14B8A6"/>
          </a:solidFill>
          <a:ln w="12700">
            <a:solidFill>
              <a:srgbClr val="14B8A6"/>
            </a:solidFill>
            <a:prstDash val="solid"/>
          </a:ln>
        </p:spPr>
        <p:txBody>
          <a:bodyPr/>
          <a:lstStyle/>
          <a:p>
            <a:endParaRPr lang="en-US"/>
          </a:p>
        </p:txBody>
      </p:sp>
      <p:sp>
        <p:nvSpPr>
          <p:cNvPr id="30" name="Text 28"/>
          <p:cNvSpPr/>
          <p:nvPr/>
        </p:nvSpPr>
        <p:spPr>
          <a:xfrm>
            <a:off x="3097225" y="2862072"/>
            <a:ext cx="1517904"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Discovery &amp; Connectors</a:t>
            </a:r>
            <a:endParaRPr lang="en-US" sz="1100" dirty="0"/>
          </a:p>
        </p:txBody>
      </p:sp>
      <p:sp>
        <p:nvSpPr>
          <p:cNvPr id="31" name="Text 29"/>
          <p:cNvSpPr/>
          <p:nvPr/>
        </p:nvSpPr>
        <p:spPr>
          <a:xfrm>
            <a:off x="3097225" y="3218688"/>
            <a:ext cx="1517904" cy="777240"/>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Discovery, Service Graph Connectors for SCCM and Intune.</a:t>
            </a:r>
            <a:endParaRPr lang="en-US" sz="850" dirty="0"/>
          </a:p>
        </p:txBody>
      </p:sp>
      <p:sp>
        <p:nvSpPr>
          <p:cNvPr id="32" name="Shape 30"/>
          <p:cNvSpPr/>
          <p:nvPr/>
        </p:nvSpPr>
        <p:spPr>
          <a:xfrm>
            <a:off x="4743145" y="2715768"/>
            <a:ext cx="1700784" cy="1325880"/>
          </a:xfrm>
          <a:prstGeom prst="rect">
            <a:avLst/>
          </a:prstGeom>
          <a:solidFill>
            <a:srgbClr val="F8FAFC"/>
          </a:solidFill>
          <a:ln w="9525">
            <a:solidFill>
              <a:srgbClr val="E2E8F0"/>
            </a:solidFill>
            <a:prstDash val="solid"/>
          </a:ln>
        </p:spPr>
        <p:txBody>
          <a:bodyPr/>
          <a:lstStyle/>
          <a:p>
            <a:endParaRPr lang="en-US"/>
          </a:p>
        </p:txBody>
      </p:sp>
      <p:sp>
        <p:nvSpPr>
          <p:cNvPr id="33" name="Shape 31"/>
          <p:cNvSpPr/>
          <p:nvPr/>
        </p:nvSpPr>
        <p:spPr>
          <a:xfrm>
            <a:off x="4743145" y="2715768"/>
            <a:ext cx="1700784" cy="54864"/>
          </a:xfrm>
          <a:prstGeom prst="rect">
            <a:avLst/>
          </a:prstGeom>
          <a:solidFill>
            <a:srgbClr val="14B8A6"/>
          </a:solidFill>
          <a:ln w="12700">
            <a:solidFill>
              <a:srgbClr val="14B8A6"/>
            </a:solidFill>
            <a:prstDash val="solid"/>
          </a:ln>
        </p:spPr>
        <p:txBody>
          <a:bodyPr/>
          <a:lstStyle/>
          <a:p>
            <a:endParaRPr lang="en-US"/>
          </a:p>
        </p:txBody>
      </p:sp>
      <p:sp>
        <p:nvSpPr>
          <p:cNvPr id="34" name="Text 32"/>
          <p:cNvSpPr/>
          <p:nvPr/>
        </p:nvSpPr>
        <p:spPr>
          <a:xfrm>
            <a:off x="4862017" y="2862072"/>
            <a:ext cx="1517904"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Agile / DevOps</a:t>
            </a:r>
            <a:endParaRPr lang="en-US" sz="1100" dirty="0"/>
          </a:p>
        </p:txBody>
      </p:sp>
      <p:sp>
        <p:nvSpPr>
          <p:cNvPr id="35" name="Text 33"/>
          <p:cNvSpPr/>
          <p:nvPr/>
        </p:nvSpPr>
        <p:spPr>
          <a:xfrm>
            <a:off x="4862017" y="3218688"/>
            <a:ext cx="1517904" cy="777240"/>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Agile delivery for ServiceNow; intake &amp; triage model.</a:t>
            </a:r>
            <a:endParaRPr lang="en-US" sz="850" dirty="0"/>
          </a:p>
        </p:txBody>
      </p:sp>
      <p:sp>
        <p:nvSpPr>
          <p:cNvPr id="40" name="Shape 38"/>
          <p:cNvSpPr/>
          <p:nvPr/>
        </p:nvSpPr>
        <p:spPr>
          <a:xfrm>
            <a:off x="6514719" y="2720340"/>
            <a:ext cx="1700784" cy="1325880"/>
          </a:xfrm>
          <a:prstGeom prst="rect">
            <a:avLst/>
          </a:prstGeom>
          <a:solidFill>
            <a:srgbClr val="F8FAFC"/>
          </a:solidFill>
          <a:ln w="9525">
            <a:solidFill>
              <a:srgbClr val="E2E8F0"/>
            </a:solidFill>
            <a:prstDash val="solid"/>
          </a:ln>
        </p:spPr>
        <p:txBody>
          <a:bodyPr/>
          <a:lstStyle/>
          <a:p>
            <a:endParaRPr lang="en-US"/>
          </a:p>
        </p:txBody>
      </p:sp>
      <p:sp>
        <p:nvSpPr>
          <p:cNvPr id="41" name="Shape 39"/>
          <p:cNvSpPr/>
          <p:nvPr/>
        </p:nvSpPr>
        <p:spPr>
          <a:xfrm>
            <a:off x="6514719" y="2720340"/>
            <a:ext cx="1700784" cy="54864"/>
          </a:xfrm>
          <a:prstGeom prst="rect">
            <a:avLst/>
          </a:prstGeom>
          <a:solidFill>
            <a:srgbClr val="14B8A6"/>
          </a:solidFill>
          <a:ln w="12700">
            <a:solidFill>
              <a:srgbClr val="14B8A6"/>
            </a:solidFill>
            <a:prstDash val="solid"/>
          </a:ln>
        </p:spPr>
        <p:txBody>
          <a:bodyPr/>
          <a:lstStyle/>
          <a:p>
            <a:endParaRPr lang="en-US"/>
          </a:p>
        </p:txBody>
      </p:sp>
      <p:sp>
        <p:nvSpPr>
          <p:cNvPr id="42" name="Text 40"/>
          <p:cNvSpPr/>
          <p:nvPr/>
        </p:nvSpPr>
        <p:spPr>
          <a:xfrm>
            <a:off x="6633591" y="2866644"/>
            <a:ext cx="1517904"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HAM + Integrations</a:t>
            </a:r>
            <a:endParaRPr lang="en-US" sz="1100" dirty="0"/>
          </a:p>
        </p:txBody>
      </p:sp>
      <p:sp>
        <p:nvSpPr>
          <p:cNvPr id="43" name="Text 41"/>
          <p:cNvSpPr/>
          <p:nvPr/>
        </p:nvSpPr>
        <p:spPr>
          <a:xfrm>
            <a:off x="6633591" y="3223260"/>
            <a:ext cx="1517904" cy="777240"/>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Stockrooms, HAM Foundations, AD/SSO for seamless login.</a:t>
            </a:r>
            <a:endParaRPr lang="en-US" sz="850" dirty="0"/>
          </a:p>
        </p:txBody>
      </p:sp>
      <p:sp>
        <p:nvSpPr>
          <p:cNvPr id="44" name="Text 42"/>
          <p:cNvSpPr/>
          <p:nvPr/>
        </p:nvSpPr>
        <p:spPr>
          <a:xfrm>
            <a:off x="365760" y="4389120"/>
            <a:ext cx="8412480" cy="365760"/>
          </a:xfrm>
          <a:prstGeom prst="rect">
            <a:avLst/>
          </a:prstGeom>
          <a:noFill/>
          <a:ln/>
        </p:spPr>
        <p:txBody>
          <a:bodyPr wrap="square" lIns="0" tIns="0" rIns="0" bIns="0" rtlCol="0" anchor="ctr"/>
          <a:lstStyle/>
          <a:p>
            <a:pPr marL="0" indent="0" algn="ctr">
              <a:buNone/>
            </a:pPr>
            <a:r>
              <a:rPr lang="en-US" sz="1000" i="1" dirty="0">
                <a:solidFill>
                  <a:srgbClr val="0D9488"/>
                </a:solidFill>
                <a:latin typeface="Calibri" pitchFamily="34" charset="0"/>
                <a:ea typeface="Calibri" pitchFamily="34" charset="-122"/>
                <a:cs typeface="Calibri" pitchFamily="34" charset="-120"/>
              </a:rPr>
              <a:t>Existing configuration will be ported where it does not introduce technical debt — the rest is greenfield.</a:t>
            </a:r>
            <a:endParaRPr lang="en-US" sz="1000" dirty="0"/>
          </a:p>
        </p:txBody>
      </p:sp>
      <p:sp>
        <p:nvSpPr>
          <p:cNvPr id="45" name="Shape 43"/>
          <p:cNvSpPr/>
          <p:nvPr/>
        </p:nvSpPr>
        <p:spPr>
          <a:xfrm>
            <a:off x="0" y="4818888"/>
            <a:ext cx="9144000" cy="324612"/>
          </a:xfrm>
          <a:prstGeom prst="rect">
            <a:avLst/>
          </a:prstGeom>
          <a:solidFill>
            <a:srgbClr val="0B1F3A"/>
          </a:solidFill>
          <a:ln w="12700">
            <a:solidFill>
              <a:srgbClr val="0B1F3A"/>
            </a:solidFill>
            <a:prstDash val="solid"/>
          </a:ln>
        </p:spPr>
        <p:txBody>
          <a:bodyPr/>
          <a:lstStyle/>
          <a:p>
            <a:endParaRPr lang="en-US"/>
          </a:p>
        </p:txBody>
      </p:sp>
      <p:pic>
        <p:nvPicPr>
          <p:cNvPr id="46" name="Image 0" descr="/sessions/laughing-cool-lovelace/mnt/outputs/deck/everforth_ecs_federal_white.png"/>
          <p:cNvPicPr>
            <a:picLocks noChangeAspect="1"/>
          </p:cNvPicPr>
          <p:nvPr/>
        </p:nvPicPr>
        <p:blipFill>
          <a:blip r:embed="rId3"/>
          <a:stretch>
            <a:fillRect/>
          </a:stretch>
        </p:blipFill>
        <p:spPr>
          <a:xfrm>
            <a:off x="365760" y="4873752"/>
            <a:ext cx="1188720" cy="220855"/>
          </a:xfrm>
          <a:prstGeom prst="rect">
            <a:avLst/>
          </a:prstGeom>
        </p:spPr>
      </p:pic>
      <p:sp>
        <p:nvSpPr>
          <p:cNvPr id="47" name="Text 44"/>
          <p:cNvSpPr/>
          <p:nvPr/>
        </p:nvSpPr>
        <p:spPr>
          <a:xfrm>
            <a:off x="1828800" y="4910328"/>
            <a:ext cx="5486400" cy="146304"/>
          </a:xfrm>
          <a:prstGeom prst="rect">
            <a:avLst/>
          </a:prstGeom>
          <a:noFill/>
          <a:ln/>
        </p:spPr>
        <p:txBody>
          <a:bodyPr wrap="square" lIns="0" tIns="0" rIns="0" bIns="0" rtlCol="0" anchor="ctr"/>
          <a:lstStyle/>
          <a:p>
            <a:pPr marL="0" indent="0">
              <a:buNone/>
            </a:pPr>
            <a:r>
              <a:rPr lang="en-US" sz="750" kern="0" spc="400" dirty="0">
                <a:solidFill>
                  <a:srgbClr val="CBD5E1"/>
                </a:solidFill>
                <a:latin typeface="Calibri" pitchFamily="34" charset="0"/>
                <a:ea typeface="Calibri" pitchFamily="34" charset="-122"/>
                <a:cs typeface="Calibri" pitchFamily="34" charset="-120"/>
              </a:rPr>
              <a:t>ECS  ·  PC CONNECTION  ·  SERVICENOW RE-IMPLEMENTATION</a:t>
            </a:r>
            <a:endParaRPr lang="en-US" sz="750" dirty="0"/>
          </a:p>
        </p:txBody>
      </p:sp>
      <p:sp>
        <p:nvSpPr>
          <p:cNvPr id="48" name="Text 45"/>
          <p:cNvSpPr/>
          <p:nvPr/>
        </p:nvSpPr>
        <p:spPr>
          <a:xfrm>
            <a:off x="7863840" y="4910328"/>
            <a:ext cx="914400" cy="146304"/>
          </a:xfrm>
          <a:prstGeom prst="rect">
            <a:avLst/>
          </a:prstGeom>
          <a:noFill/>
          <a:ln/>
        </p:spPr>
        <p:txBody>
          <a:bodyPr wrap="square" lIns="0" tIns="0" rIns="0" bIns="0" rtlCol="0" anchor="ctr"/>
          <a:lstStyle/>
          <a:p>
            <a:pPr marL="0" indent="0" algn="r">
              <a:buNone/>
            </a:pPr>
            <a:r>
              <a:rPr lang="en-US" sz="750" dirty="0">
                <a:solidFill>
                  <a:srgbClr val="CBD5E1"/>
                </a:solidFill>
                <a:latin typeface="Calibri" pitchFamily="34" charset="0"/>
                <a:ea typeface="Calibri" pitchFamily="34" charset="-122"/>
                <a:cs typeface="Calibri" pitchFamily="34" charset="-120"/>
              </a:rPr>
              <a:t>5 / 19</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92608"/>
            <a:ext cx="8412480" cy="228600"/>
          </a:xfrm>
          <a:prstGeom prst="rect">
            <a:avLst/>
          </a:prstGeom>
          <a:noFill/>
          <a:ln/>
        </p:spPr>
        <p:txBody>
          <a:bodyPr wrap="square" lIns="0" tIns="0" rIns="0" bIns="0" rtlCol="0" anchor="ctr"/>
          <a:lstStyle/>
          <a:p>
            <a:pPr marL="0" indent="0">
              <a:buNone/>
            </a:pPr>
            <a:r>
              <a:rPr lang="en-US" sz="900" b="1" kern="0" spc="600" dirty="0">
                <a:solidFill>
                  <a:srgbClr val="14B8A6"/>
                </a:solidFill>
                <a:latin typeface="Calibri" pitchFamily="34" charset="0"/>
                <a:ea typeface="Calibri" pitchFamily="34" charset="-122"/>
                <a:cs typeface="Calibri" pitchFamily="34" charset="-120"/>
              </a:rPr>
              <a:t>05  ·  TECHNICAL APPROACH</a:t>
            </a:r>
            <a:endParaRPr lang="en-US" sz="900" dirty="0"/>
          </a:p>
        </p:txBody>
      </p:sp>
      <p:sp>
        <p:nvSpPr>
          <p:cNvPr id="3" name="Text 1"/>
          <p:cNvSpPr/>
          <p:nvPr/>
        </p:nvSpPr>
        <p:spPr>
          <a:xfrm>
            <a:off x="365760" y="502920"/>
            <a:ext cx="8412480" cy="502920"/>
          </a:xfrm>
          <a:prstGeom prst="rect">
            <a:avLst/>
          </a:prstGeom>
          <a:noFill/>
          <a:ln/>
        </p:spPr>
        <p:txBody>
          <a:bodyPr wrap="square" lIns="0" tIns="0" rIns="0" bIns="0" rtlCol="0" anchor="ctr"/>
          <a:lstStyle/>
          <a:p>
            <a:pPr marL="0" indent="0">
              <a:buNone/>
            </a:pPr>
            <a:r>
              <a:rPr lang="en-US" sz="2400" b="1" dirty="0">
                <a:solidFill>
                  <a:srgbClr val="0B1F3A"/>
                </a:solidFill>
                <a:latin typeface="Calibri" pitchFamily="34" charset="0"/>
                <a:ea typeface="Calibri" pitchFamily="34" charset="-122"/>
                <a:cs typeface="Calibri" pitchFamily="34" charset="-120"/>
              </a:rPr>
              <a:t>The OOTB-First framework</a:t>
            </a:r>
            <a:endParaRPr lang="en-US" sz="2400" dirty="0"/>
          </a:p>
        </p:txBody>
      </p:sp>
      <p:sp>
        <p:nvSpPr>
          <p:cNvPr id="4" name="Text 2"/>
          <p:cNvSpPr/>
          <p:nvPr/>
        </p:nvSpPr>
        <p:spPr>
          <a:xfrm>
            <a:off x="365760" y="1005840"/>
            <a:ext cx="8412480" cy="274320"/>
          </a:xfrm>
          <a:prstGeom prst="rect">
            <a:avLst/>
          </a:prstGeom>
          <a:noFill/>
          <a:ln/>
        </p:spPr>
        <p:txBody>
          <a:bodyPr wrap="square" lIns="0" tIns="0" rIns="0" bIns="0" rtlCol="0" anchor="ctr"/>
          <a:lstStyle/>
          <a:p>
            <a:pPr marL="0" indent="0">
              <a:buNone/>
            </a:pPr>
            <a:r>
              <a:rPr lang="en-US" sz="1200" i="1" dirty="0">
                <a:solidFill>
                  <a:srgbClr val="0D9488"/>
                </a:solidFill>
                <a:latin typeface="Calibri" pitchFamily="34" charset="0"/>
                <a:ea typeface="Calibri" pitchFamily="34" charset="-122"/>
                <a:cs typeface="Calibri" pitchFamily="34" charset="-120"/>
              </a:rPr>
              <a:t>Make customization the exception, not the default.</a:t>
            </a:r>
            <a:endParaRPr lang="en-US" sz="1200" dirty="0"/>
          </a:p>
        </p:txBody>
      </p:sp>
      <p:sp>
        <p:nvSpPr>
          <p:cNvPr id="5" name="Shape 3"/>
          <p:cNvSpPr/>
          <p:nvPr/>
        </p:nvSpPr>
        <p:spPr>
          <a:xfrm>
            <a:off x="365760" y="1417320"/>
            <a:ext cx="2011680" cy="3200400"/>
          </a:xfrm>
          <a:prstGeom prst="rect">
            <a:avLst/>
          </a:prstGeom>
          <a:solidFill>
            <a:srgbClr val="071427"/>
          </a:solidFill>
          <a:ln w="12700">
            <a:solidFill>
              <a:srgbClr val="071427"/>
            </a:solidFill>
            <a:prstDash val="solid"/>
          </a:ln>
        </p:spPr>
        <p:txBody>
          <a:bodyPr/>
          <a:lstStyle/>
          <a:p>
            <a:endParaRPr lang="en-US"/>
          </a:p>
        </p:txBody>
      </p:sp>
      <p:sp>
        <p:nvSpPr>
          <p:cNvPr id="6" name="Text 4"/>
          <p:cNvSpPr/>
          <p:nvPr/>
        </p:nvSpPr>
        <p:spPr>
          <a:xfrm>
            <a:off x="594360" y="1645920"/>
            <a:ext cx="1554480" cy="822960"/>
          </a:xfrm>
          <a:prstGeom prst="rect">
            <a:avLst/>
          </a:prstGeom>
          <a:noFill/>
          <a:ln/>
        </p:spPr>
        <p:txBody>
          <a:bodyPr wrap="square" lIns="0" tIns="0" rIns="0" bIns="0" rtlCol="0" anchor="ctr"/>
          <a:lstStyle/>
          <a:p>
            <a:pPr marL="0" indent="0">
              <a:buNone/>
            </a:pPr>
            <a:r>
              <a:rPr lang="en-US" sz="4800" b="1" dirty="0">
                <a:solidFill>
                  <a:srgbClr val="14B8A6"/>
                </a:solidFill>
                <a:latin typeface="Calibri" pitchFamily="34" charset="0"/>
                <a:ea typeface="Calibri" pitchFamily="34" charset="-122"/>
                <a:cs typeface="Calibri" pitchFamily="34" charset="-120"/>
              </a:rPr>
              <a:t>01</a:t>
            </a:r>
            <a:endParaRPr lang="en-US" sz="4800" dirty="0"/>
          </a:p>
        </p:txBody>
      </p:sp>
      <p:sp>
        <p:nvSpPr>
          <p:cNvPr id="7" name="Shape 5"/>
          <p:cNvSpPr/>
          <p:nvPr/>
        </p:nvSpPr>
        <p:spPr>
          <a:xfrm>
            <a:off x="594360" y="2514600"/>
            <a:ext cx="365760" cy="36576"/>
          </a:xfrm>
          <a:prstGeom prst="rect">
            <a:avLst/>
          </a:prstGeom>
          <a:solidFill>
            <a:srgbClr val="14B8A6"/>
          </a:solidFill>
          <a:ln w="12700">
            <a:solidFill>
              <a:srgbClr val="14B8A6"/>
            </a:solidFill>
            <a:prstDash val="solid"/>
          </a:ln>
        </p:spPr>
        <p:txBody>
          <a:bodyPr/>
          <a:lstStyle/>
          <a:p>
            <a:endParaRPr lang="en-US"/>
          </a:p>
        </p:txBody>
      </p:sp>
      <p:sp>
        <p:nvSpPr>
          <p:cNvPr id="8" name="Text 6"/>
          <p:cNvSpPr/>
          <p:nvPr/>
        </p:nvSpPr>
        <p:spPr>
          <a:xfrm>
            <a:off x="594360" y="2651760"/>
            <a:ext cx="155448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Baseline Validation</a:t>
            </a:r>
            <a:endParaRPr lang="en-US" sz="1300" dirty="0"/>
          </a:p>
        </p:txBody>
      </p:sp>
      <p:sp>
        <p:nvSpPr>
          <p:cNvPr id="9" name="Text 7"/>
          <p:cNvSpPr/>
          <p:nvPr/>
        </p:nvSpPr>
        <p:spPr>
          <a:xfrm>
            <a:off x="594360" y="3246120"/>
            <a:ext cx="1554480" cy="128016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Every build starts with an OOTB demo. Any delta must be justified by documented business need and Project Sponsor sign-off.</a:t>
            </a:r>
            <a:endParaRPr lang="en-US" sz="950" dirty="0"/>
          </a:p>
        </p:txBody>
      </p:sp>
      <p:sp>
        <p:nvSpPr>
          <p:cNvPr id="10" name="Shape 8"/>
          <p:cNvSpPr/>
          <p:nvPr/>
        </p:nvSpPr>
        <p:spPr>
          <a:xfrm>
            <a:off x="2514600" y="1417320"/>
            <a:ext cx="2011680" cy="3200400"/>
          </a:xfrm>
          <a:prstGeom prst="rect">
            <a:avLst/>
          </a:prstGeom>
          <a:solidFill>
            <a:srgbClr val="071427"/>
          </a:solidFill>
          <a:ln w="12700">
            <a:solidFill>
              <a:srgbClr val="071427"/>
            </a:solidFill>
            <a:prstDash val="solid"/>
          </a:ln>
        </p:spPr>
        <p:txBody>
          <a:bodyPr/>
          <a:lstStyle/>
          <a:p>
            <a:endParaRPr lang="en-US"/>
          </a:p>
        </p:txBody>
      </p:sp>
      <p:sp>
        <p:nvSpPr>
          <p:cNvPr id="11" name="Text 9"/>
          <p:cNvSpPr/>
          <p:nvPr/>
        </p:nvSpPr>
        <p:spPr>
          <a:xfrm>
            <a:off x="2743200" y="1645920"/>
            <a:ext cx="1554480" cy="822960"/>
          </a:xfrm>
          <a:prstGeom prst="rect">
            <a:avLst/>
          </a:prstGeom>
          <a:noFill/>
          <a:ln/>
        </p:spPr>
        <p:txBody>
          <a:bodyPr wrap="square" lIns="0" tIns="0" rIns="0" bIns="0" rtlCol="0" anchor="ctr"/>
          <a:lstStyle/>
          <a:p>
            <a:pPr marL="0" indent="0">
              <a:buNone/>
            </a:pPr>
            <a:r>
              <a:rPr lang="en-US" sz="4800" b="1" dirty="0">
                <a:solidFill>
                  <a:srgbClr val="14B8A6"/>
                </a:solidFill>
                <a:latin typeface="Calibri" pitchFamily="34" charset="0"/>
                <a:ea typeface="Calibri" pitchFamily="34" charset="-122"/>
                <a:cs typeface="Calibri" pitchFamily="34" charset="-120"/>
              </a:rPr>
              <a:t>02</a:t>
            </a:r>
            <a:endParaRPr lang="en-US" sz="4800" dirty="0"/>
          </a:p>
        </p:txBody>
      </p:sp>
      <p:sp>
        <p:nvSpPr>
          <p:cNvPr id="12" name="Shape 10"/>
          <p:cNvSpPr/>
          <p:nvPr/>
        </p:nvSpPr>
        <p:spPr>
          <a:xfrm>
            <a:off x="2743200" y="2514600"/>
            <a:ext cx="365760" cy="36576"/>
          </a:xfrm>
          <a:prstGeom prst="rect">
            <a:avLst/>
          </a:prstGeom>
          <a:solidFill>
            <a:srgbClr val="14B8A6"/>
          </a:solidFill>
          <a:ln w="12700">
            <a:solidFill>
              <a:srgbClr val="14B8A6"/>
            </a:solidFill>
            <a:prstDash val="solid"/>
          </a:ln>
        </p:spPr>
        <p:txBody>
          <a:bodyPr/>
          <a:lstStyle/>
          <a:p>
            <a:endParaRPr lang="en-US"/>
          </a:p>
        </p:txBody>
      </p:sp>
      <p:sp>
        <p:nvSpPr>
          <p:cNvPr id="13" name="Text 11"/>
          <p:cNvSpPr/>
          <p:nvPr/>
        </p:nvSpPr>
        <p:spPr>
          <a:xfrm>
            <a:off x="2743200" y="2651760"/>
            <a:ext cx="155448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Low-Code / No-Code</a:t>
            </a:r>
            <a:endParaRPr lang="en-US" sz="1300" dirty="0"/>
          </a:p>
        </p:txBody>
      </p:sp>
      <p:sp>
        <p:nvSpPr>
          <p:cNvPr id="14" name="Text 12"/>
          <p:cNvSpPr/>
          <p:nvPr/>
        </p:nvSpPr>
        <p:spPr>
          <a:xfrm>
            <a:off x="2743200" y="3246120"/>
            <a:ext cx="1554480" cy="128016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Configuration favors Flow Designer, Decision Tables, and UI Builder over custom Script Includes or Jelly/Angular code.</a:t>
            </a:r>
            <a:endParaRPr lang="en-US" sz="950" dirty="0"/>
          </a:p>
        </p:txBody>
      </p:sp>
      <p:sp>
        <p:nvSpPr>
          <p:cNvPr id="15" name="Shape 13"/>
          <p:cNvSpPr/>
          <p:nvPr/>
        </p:nvSpPr>
        <p:spPr>
          <a:xfrm>
            <a:off x="4663440" y="1417320"/>
            <a:ext cx="2011680" cy="3200400"/>
          </a:xfrm>
          <a:prstGeom prst="rect">
            <a:avLst/>
          </a:prstGeom>
          <a:solidFill>
            <a:srgbClr val="071427"/>
          </a:solidFill>
          <a:ln w="12700">
            <a:solidFill>
              <a:srgbClr val="071427"/>
            </a:solidFill>
            <a:prstDash val="solid"/>
          </a:ln>
        </p:spPr>
        <p:txBody>
          <a:bodyPr/>
          <a:lstStyle/>
          <a:p>
            <a:endParaRPr lang="en-US"/>
          </a:p>
        </p:txBody>
      </p:sp>
      <p:sp>
        <p:nvSpPr>
          <p:cNvPr id="16" name="Text 14"/>
          <p:cNvSpPr/>
          <p:nvPr/>
        </p:nvSpPr>
        <p:spPr>
          <a:xfrm>
            <a:off x="4892040" y="1645920"/>
            <a:ext cx="1554480" cy="822960"/>
          </a:xfrm>
          <a:prstGeom prst="rect">
            <a:avLst/>
          </a:prstGeom>
          <a:noFill/>
          <a:ln/>
        </p:spPr>
        <p:txBody>
          <a:bodyPr wrap="square" lIns="0" tIns="0" rIns="0" bIns="0" rtlCol="0" anchor="ctr"/>
          <a:lstStyle/>
          <a:p>
            <a:pPr marL="0" indent="0">
              <a:buNone/>
            </a:pPr>
            <a:r>
              <a:rPr lang="en-US" sz="4800" b="1" dirty="0">
                <a:solidFill>
                  <a:srgbClr val="14B8A6"/>
                </a:solidFill>
                <a:latin typeface="Calibri" pitchFamily="34" charset="0"/>
                <a:ea typeface="Calibri" pitchFamily="34" charset="-122"/>
                <a:cs typeface="Calibri" pitchFamily="34" charset="-120"/>
              </a:rPr>
              <a:t>03</a:t>
            </a:r>
            <a:endParaRPr lang="en-US" sz="4800" dirty="0"/>
          </a:p>
        </p:txBody>
      </p:sp>
      <p:sp>
        <p:nvSpPr>
          <p:cNvPr id="17" name="Shape 15"/>
          <p:cNvSpPr/>
          <p:nvPr/>
        </p:nvSpPr>
        <p:spPr>
          <a:xfrm>
            <a:off x="4892040" y="2514600"/>
            <a:ext cx="365760" cy="36576"/>
          </a:xfrm>
          <a:prstGeom prst="rect">
            <a:avLst/>
          </a:prstGeom>
          <a:solidFill>
            <a:srgbClr val="14B8A6"/>
          </a:solidFill>
          <a:ln w="12700">
            <a:solidFill>
              <a:srgbClr val="14B8A6"/>
            </a:solidFill>
            <a:prstDash val="solid"/>
          </a:ln>
        </p:spPr>
        <p:txBody>
          <a:bodyPr/>
          <a:lstStyle/>
          <a:p>
            <a:endParaRPr lang="en-US"/>
          </a:p>
        </p:txBody>
      </p:sp>
      <p:sp>
        <p:nvSpPr>
          <p:cNvPr id="18" name="Text 16"/>
          <p:cNvSpPr/>
          <p:nvPr/>
        </p:nvSpPr>
        <p:spPr>
          <a:xfrm>
            <a:off x="4892040" y="2651760"/>
            <a:ext cx="155448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Upgradeability Scorecard</a:t>
            </a:r>
            <a:endParaRPr lang="en-US" sz="1300" dirty="0"/>
          </a:p>
        </p:txBody>
      </p:sp>
      <p:sp>
        <p:nvSpPr>
          <p:cNvPr id="19" name="Text 17"/>
          <p:cNvSpPr/>
          <p:nvPr/>
        </p:nvSpPr>
        <p:spPr>
          <a:xfrm>
            <a:off x="4892040" y="3246120"/>
            <a:ext cx="1554480" cy="128016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Every config is assessed for upgrade impact. 'Skipped Record' risk for the next release auto-flags the Governance Triage Log.</a:t>
            </a:r>
            <a:endParaRPr lang="en-US" sz="950" dirty="0"/>
          </a:p>
        </p:txBody>
      </p:sp>
      <p:sp>
        <p:nvSpPr>
          <p:cNvPr id="20" name="Shape 18"/>
          <p:cNvSpPr/>
          <p:nvPr/>
        </p:nvSpPr>
        <p:spPr>
          <a:xfrm>
            <a:off x="6812280" y="1417320"/>
            <a:ext cx="2011680" cy="3200400"/>
          </a:xfrm>
          <a:prstGeom prst="rect">
            <a:avLst/>
          </a:prstGeom>
          <a:solidFill>
            <a:srgbClr val="071427"/>
          </a:solidFill>
          <a:ln w="12700">
            <a:solidFill>
              <a:srgbClr val="071427"/>
            </a:solidFill>
            <a:prstDash val="solid"/>
          </a:ln>
        </p:spPr>
        <p:txBody>
          <a:bodyPr/>
          <a:lstStyle/>
          <a:p>
            <a:endParaRPr lang="en-US"/>
          </a:p>
        </p:txBody>
      </p:sp>
      <p:sp>
        <p:nvSpPr>
          <p:cNvPr id="21" name="Text 19"/>
          <p:cNvSpPr/>
          <p:nvPr/>
        </p:nvSpPr>
        <p:spPr>
          <a:xfrm>
            <a:off x="7040880" y="1645920"/>
            <a:ext cx="1554480" cy="822960"/>
          </a:xfrm>
          <a:prstGeom prst="rect">
            <a:avLst/>
          </a:prstGeom>
          <a:noFill/>
          <a:ln/>
        </p:spPr>
        <p:txBody>
          <a:bodyPr wrap="square" lIns="0" tIns="0" rIns="0" bIns="0" rtlCol="0" anchor="ctr"/>
          <a:lstStyle/>
          <a:p>
            <a:pPr marL="0" indent="0">
              <a:buNone/>
            </a:pPr>
            <a:r>
              <a:rPr lang="en-US" sz="4800" b="1" dirty="0">
                <a:solidFill>
                  <a:srgbClr val="14B8A6"/>
                </a:solidFill>
                <a:latin typeface="Calibri" pitchFamily="34" charset="0"/>
                <a:ea typeface="Calibri" pitchFamily="34" charset="-122"/>
                <a:cs typeface="Calibri" pitchFamily="34" charset="-120"/>
              </a:rPr>
              <a:t>04</a:t>
            </a:r>
            <a:endParaRPr lang="en-US" sz="4800" dirty="0"/>
          </a:p>
        </p:txBody>
      </p:sp>
      <p:sp>
        <p:nvSpPr>
          <p:cNvPr id="22" name="Shape 20"/>
          <p:cNvSpPr/>
          <p:nvPr/>
        </p:nvSpPr>
        <p:spPr>
          <a:xfrm>
            <a:off x="7040880" y="2514600"/>
            <a:ext cx="365760" cy="36576"/>
          </a:xfrm>
          <a:prstGeom prst="rect">
            <a:avLst/>
          </a:prstGeom>
          <a:solidFill>
            <a:srgbClr val="14B8A6"/>
          </a:solidFill>
          <a:ln w="12700">
            <a:solidFill>
              <a:srgbClr val="14B8A6"/>
            </a:solidFill>
            <a:prstDash val="solid"/>
          </a:ln>
        </p:spPr>
        <p:txBody>
          <a:bodyPr/>
          <a:lstStyle/>
          <a:p>
            <a:endParaRPr lang="en-US"/>
          </a:p>
        </p:txBody>
      </p:sp>
      <p:sp>
        <p:nvSpPr>
          <p:cNvPr id="23" name="Text 21"/>
          <p:cNvSpPr/>
          <p:nvPr/>
        </p:nvSpPr>
        <p:spPr>
          <a:xfrm>
            <a:off x="7040880" y="2651760"/>
            <a:ext cx="155448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Core Data Integrity</a:t>
            </a:r>
            <a:endParaRPr lang="en-US" sz="1300" dirty="0"/>
          </a:p>
        </p:txBody>
      </p:sp>
      <p:sp>
        <p:nvSpPr>
          <p:cNvPr id="24" name="Text 22"/>
          <p:cNvSpPr/>
          <p:nvPr/>
        </p:nvSpPr>
        <p:spPr>
          <a:xfrm>
            <a:off x="7040880" y="3246120"/>
            <a:ext cx="1554480" cy="128016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Strict CSDM 5.0 adherence. Custom tables in place of standard CI classes are 'Structural Deviations' needing sponsor approval.</a:t>
            </a:r>
            <a:endParaRPr lang="en-US" sz="950" dirty="0"/>
          </a:p>
        </p:txBody>
      </p:sp>
      <p:sp>
        <p:nvSpPr>
          <p:cNvPr id="25" name="Shape 23"/>
          <p:cNvSpPr/>
          <p:nvPr/>
        </p:nvSpPr>
        <p:spPr>
          <a:xfrm>
            <a:off x="0" y="4818888"/>
            <a:ext cx="9144000" cy="324612"/>
          </a:xfrm>
          <a:prstGeom prst="rect">
            <a:avLst/>
          </a:prstGeom>
          <a:solidFill>
            <a:srgbClr val="0B1F3A"/>
          </a:solidFill>
          <a:ln w="12700">
            <a:solidFill>
              <a:srgbClr val="0B1F3A"/>
            </a:solidFill>
            <a:prstDash val="solid"/>
          </a:ln>
        </p:spPr>
        <p:txBody>
          <a:bodyPr/>
          <a:lstStyle/>
          <a:p>
            <a:endParaRPr lang="en-US"/>
          </a:p>
        </p:txBody>
      </p:sp>
      <p:pic>
        <p:nvPicPr>
          <p:cNvPr id="26" name="Image 0" descr="/sessions/laughing-cool-lovelace/mnt/outputs/deck/everforth_ecs_federal_white.png"/>
          <p:cNvPicPr>
            <a:picLocks noChangeAspect="1"/>
          </p:cNvPicPr>
          <p:nvPr/>
        </p:nvPicPr>
        <p:blipFill>
          <a:blip r:embed="rId3"/>
          <a:stretch>
            <a:fillRect/>
          </a:stretch>
        </p:blipFill>
        <p:spPr>
          <a:xfrm>
            <a:off x="365760" y="4873752"/>
            <a:ext cx="1188720" cy="220855"/>
          </a:xfrm>
          <a:prstGeom prst="rect">
            <a:avLst/>
          </a:prstGeom>
        </p:spPr>
      </p:pic>
      <p:sp>
        <p:nvSpPr>
          <p:cNvPr id="27" name="Text 24"/>
          <p:cNvSpPr/>
          <p:nvPr/>
        </p:nvSpPr>
        <p:spPr>
          <a:xfrm>
            <a:off x="1828800" y="4910328"/>
            <a:ext cx="5486400" cy="146304"/>
          </a:xfrm>
          <a:prstGeom prst="rect">
            <a:avLst/>
          </a:prstGeom>
          <a:noFill/>
          <a:ln/>
        </p:spPr>
        <p:txBody>
          <a:bodyPr wrap="square" lIns="0" tIns="0" rIns="0" bIns="0" rtlCol="0" anchor="ctr"/>
          <a:lstStyle/>
          <a:p>
            <a:pPr marL="0" indent="0">
              <a:buNone/>
            </a:pPr>
            <a:r>
              <a:rPr lang="en-US" sz="750" kern="0" spc="400" dirty="0">
                <a:solidFill>
                  <a:srgbClr val="CBD5E1"/>
                </a:solidFill>
                <a:latin typeface="Calibri" pitchFamily="34" charset="0"/>
                <a:ea typeface="Calibri" pitchFamily="34" charset="-122"/>
                <a:cs typeface="Calibri" pitchFamily="34" charset="-120"/>
              </a:rPr>
              <a:t>ECS  ·  PC CONNECTION  ·  SERVICENOW RE-IMPLEMENTATION</a:t>
            </a:r>
            <a:endParaRPr lang="en-US" sz="750" dirty="0"/>
          </a:p>
        </p:txBody>
      </p:sp>
      <p:sp>
        <p:nvSpPr>
          <p:cNvPr id="28" name="Text 25"/>
          <p:cNvSpPr/>
          <p:nvPr/>
        </p:nvSpPr>
        <p:spPr>
          <a:xfrm>
            <a:off x="7863840" y="4910328"/>
            <a:ext cx="914400" cy="146304"/>
          </a:xfrm>
          <a:prstGeom prst="rect">
            <a:avLst/>
          </a:prstGeom>
          <a:noFill/>
          <a:ln/>
        </p:spPr>
        <p:txBody>
          <a:bodyPr wrap="square" lIns="0" tIns="0" rIns="0" bIns="0" rtlCol="0" anchor="ctr"/>
          <a:lstStyle/>
          <a:p>
            <a:pPr marL="0" indent="0" algn="r">
              <a:buNone/>
            </a:pPr>
            <a:r>
              <a:rPr lang="en-US" sz="750" dirty="0">
                <a:solidFill>
                  <a:srgbClr val="CBD5E1"/>
                </a:solidFill>
                <a:latin typeface="Calibri" pitchFamily="34" charset="0"/>
                <a:ea typeface="Calibri" pitchFamily="34" charset="-122"/>
                <a:cs typeface="Calibri" pitchFamily="34" charset="-120"/>
              </a:rPr>
              <a:t>6 / 19</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92608"/>
            <a:ext cx="8412480" cy="228600"/>
          </a:xfrm>
          <a:prstGeom prst="rect">
            <a:avLst/>
          </a:prstGeom>
          <a:noFill/>
          <a:ln/>
        </p:spPr>
        <p:txBody>
          <a:bodyPr wrap="square" lIns="0" tIns="0" rIns="0" bIns="0" rtlCol="0" anchor="ctr"/>
          <a:lstStyle/>
          <a:p>
            <a:pPr marL="0" indent="0">
              <a:buNone/>
            </a:pPr>
            <a:r>
              <a:rPr lang="en-US" sz="900" b="1" kern="0" spc="600" dirty="0">
                <a:solidFill>
                  <a:srgbClr val="14B8A6"/>
                </a:solidFill>
                <a:latin typeface="Calibri" pitchFamily="34" charset="0"/>
                <a:ea typeface="Calibri" pitchFamily="34" charset="-122"/>
                <a:cs typeface="Calibri" pitchFamily="34" charset="-120"/>
              </a:rPr>
              <a:t>06  ·  GOVERNANCE</a:t>
            </a:r>
            <a:endParaRPr lang="en-US" sz="900" dirty="0"/>
          </a:p>
        </p:txBody>
      </p:sp>
      <p:sp>
        <p:nvSpPr>
          <p:cNvPr id="3" name="Text 1"/>
          <p:cNvSpPr/>
          <p:nvPr/>
        </p:nvSpPr>
        <p:spPr>
          <a:xfrm>
            <a:off x="365760" y="502920"/>
            <a:ext cx="8412480" cy="502920"/>
          </a:xfrm>
          <a:prstGeom prst="rect">
            <a:avLst/>
          </a:prstGeom>
          <a:noFill/>
          <a:ln/>
        </p:spPr>
        <p:txBody>
          <a:bodyPr wrap="square" lIns="0" tIns="0" rIns="0" bIns="0" rtlCol="0" anchor="ctr"/>
          <a:lstStyle/>
          <a:p>
            <a:pPr marL="0" indent="0">
              <a:buNone/>
            </a:pPr>
            <a:r>
              <a:rPr lang="en-US" sz="2400" b="1" dirty="0">
                <a:solidFill>
                  <a:srgbClr val="0B1F3A"/>
                </a:solidFill>
                <a:latin typeface="Calibri" pitchFamily="34" charset="0"/>
                <a:ea typeface="Calibri" pitchFamily="34" charset="-122"/>
                <a:cs typeface="Calibri" pitchFamily="34" charset="-120"/>
              </a:rPr>
              <a:t>Operational Guardrails &amp; PCR triggers</a:t>
            </a:r>
            <a:endParaRPr lang="en-US" sz="2400" dirty="0"/>
          </a:p>
        </p:txBody>
      </p:sp>
      <p:sp>
        <p:nvSpPr>
          <p:cNvPr id="4" name="Text 2"/>
          <p:cNvSpPr/>
          <p:nvPr/>
        </p:nvSpPr>
        <p:spPr>
          <a:xfrm>
            <a:off x="365760" y="1188720"/>
            <a:ext cx="3840480" cy="274320"/>
          </a:xfrm>
          <a:prstGeom prst="rect">
            <a:avLst/>
          </a:prstGeom>
          <a:noFill/>
          <a:ln/>
        </p:spPr>
        <p:txBody>
          <a:bodyPr wrap="square" lIns="0" tIns="0" rIns="0" bIns="0" rtlCol="0" anchor="ctr"/>
          <a:lstStyle/>
          <a:p>
            <a:pPr marL="0" indent="0">
              <a:buNone/>
            </a:pPr>
            <a:r>
              <a:rPr lang="en-US" sz="1000" b="1" kern="0" spc="400" dirty="0">
                <a:solidFill>
                  <a:srgbClr val="14B8A6"/>
                </a:solidFill>
                <a:latin typeface="Calibri" pitchFamily="34" charset="0"/>
                <a:ea typeface="Calibri" pitchFamily="34" charset="-122"/>
                <a:cs typeface="Calibri" pitchFamily="34" charset="-120"/>
              </a:rPr>
              <a:t>THE RULE OF THREE</a:t>
            </a:r>
            <a:endParaRPr lang="en-US" sz="1000" dirty="0"/>
          </a:p>
        </p:txBody>
      </p:sp>
      <p:sp>
        <p:nvSpPr>
          <p:cNvPr id="5" name="Text 3"/>
          <p:cNvSpPr/>
          <p:nvPr/>
        </p:nvSpPr>
        <p:spPr>
          <a:xfrm>
            <a:off x="365760" y="1463040"/>
            <a:ext cx="3840480" cy="50292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If a requirement cannot be met by one of these three, it becomes a customization requiring formal review.</a:t>
            </a:r>
            <a:endParaRPr lang="en-US" sz="1000" dirty="0"/>
          </a:p>
        </p:txBody>
      </p:sp>
      <p:sp>
        <p:nvSpPr>
          <p:cNvPr id="6" name="Shape 4"/>
          <p:cNvSpPr/>
          <p:nvPr/>
        </p:nvSpPr>
        <p:spPr>
          <a:xfrm>
            <a:off x="365760" y="2103120"/>
            <a:ext cx="3840480" cy="411480"/>
          </a:xfrm>
          <a:prstGeom prst="rect">
            <a:avLst/>
          </a:prstGeom>
          <a:solidFill>
            <a:srgbClr val="F8FAFC"/>
          </a:solidFill>
          <a:ln w="12700">
            <a:solidFill>
              <a:srgbClr val="E2E8F0"/>
            </a:solidFill>
            <a:prstDash val="solid"/>
          </a:ln>
        </p:spPr>
        <p:txBody>
          <a:bodyPr/>
          <a:lstStyle/>
          <a:p>
            <a:endParaRPr lang="en-US"/>
          </a:p>
        </p:txBody>
      </p:sp>
      <p:sp>
        <p:nvSpPr>
          <p:cNvPr id="7" name="Shape 5"/>
          <p:cNvSpPr/>
          <p:nvPr/>
        </p:nvSpPr>
        <p:spPr>
          <a:xfrm>
            <a:off x="502920" y="2171700"/>
            <a:ext cx="274320" cy="274320"/>
          </a:xfrm>
          <a:prstGeom prst="ellipse">
            <a:avLst/>
          </a:prstGeom>
          <a:solidFill>
            <a:srgbClr val="14B8A6"/>
          </a:solidFill>
          <a:ln w="12700">
            <a:solidFill>
              <a:srgbClr val="14B8A6"/>
            </a:solidFill>
            <a:prstDash val="solid"/>
          </a:ln>
        </p:spPr>
        <p:txBody>
          <a:bodyPr/>
          <a:lstStyle/>
          <a:p>
            <a:endParaRPr lang="en-US"/>
          </a:p>
        </p:txBody>
      </p:sp>
      <p:sp>
        <p:nvSpPr>
          <p:cNvPr id="8" name="Text 6"/>
          <p:cNvSpPr/>
          <p:nvPr/>
        </p:nvSpPr>
        <p:spPr>
          <a:xfrm>
            <a:off x="502920" y="21717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914400" y="2103120"/>
            <a:ext cx="3108960" cy="41148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Configuration</a:t>
            </a:r>
            <a:endParaRPr lang="en-US" sz="1200" dirty="0"/>
          </a:p>
        </p:txBody>
      </p:sp>
      <p:sp>
        <p:nvSpPr>
          <p:cNvPr id="10" name="Shape 8"/>
          <p:cNvSpPr/>
          <p:nvPr/>
        </p:nvSpPr>
        <p:spPr>
          <a:xfrm>
            <a:off x="365760" y="2606040"/>
            <a:ext cx="3840480" cy="411480"/>
          </a:xfrm>
          <a:prstGeom prst="rect">
            <a:avLst/>
          </a:prstGeom>
          <a:solidFill>
            <a:srgbClr val="F8FAFC"/>
          </a:solidFill>
          <a:ln w="12700">
            <a:solidFill>
              <a:srgbClr val="E2E8F0"/>
            </a:solidFill>
            <a:prstDash val="solid"/>
          </a:ln>
        </p:spPr>
        <p:txBody>
          <a:bodyPr/>
          <a:lstStyle/>
          <a:p>
            <a:endParaRPr lang="en-US"/>
          </a:p>
        </p:txBody>
      </p:sp>
      <p:sp>
        <p:nvSpPr>
          <p:cNvPr id="11" name="Shape 9"/>
          <p:cNvSpPr/>
          <p:nvPr/>
        </p:nvSpPr>
        <p:spPr>
          <a:xfrm>
            <a:off x="502920" y="2674620"/>
            <a:ext cx="274320" cy="274320"/>
          </a:xfrm>
          <a:prstGeom prst="ellipse">
            <a:avLst/>
          </a:prstGeom>
          <a:solidFill>
            <a:srgbClr val="14B8A6"/>
          </a:solidFill>
          <a:ln w="12700">
            <a:solidFill>
              <a:srgbClr val="14B8A6"/>
            </a:solidFill>
            <a:prstDash val="solid"/>
          </a:ln>
        </p:spPr>
        <p:txBody>
          <a:bodyPr/>
          <a:lstStyle/>
          <a:p>
            <a:endParaRPr lang="en-US"/>
          </a:p>
        </p:txBody>
      </p:sp>
      <p:sp>
        <p:nvSpPr>
          <p:cNvPr id="12" name="Text 10"/>
          <p:cNvSpPr/>
          <p:nvPr/>
        </p:nvSpPr>
        <p:spPr>
          <a:xfrm>
            <a:off x="502920" y="267462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914400" y="2606040"/>
            <a:ext cx="3108960" cy="41148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UI Policy</a:t>
            </a:r>
            <a:endParaRPr lang="en-US" sz="1200" dirty="0"/>
          </a:p>
        </p:txBody>
      </p:sp>
      <p:sp>
        <p:nvSpPr>
          <p:cNvPr id="14" name="Shape 12"/>
          <p:cNvSpPr/>
          <p:nvPr/>
        </p:nvSpPr>
        <p:spPr>
          <a:xfrm>
            <a:off x="365760" y="3108960"/>
            <a:ext cx="3840480" cy="411480"/>
          </a:xfrm>
          <a:prstGeom prst="rect">
            <a:avLst/>
          </a:prstGeom>
          <a:solidFill>
            <a:srgbClr val="F8FAFC"/>
          </a:solidFill>
          <a:ln w="12700">
            <a:solidFill>
              <a:srgbClr val="E2E8F0"/>
            </a:solidFill>
            <a:prstDash val="solid"/>
          </a:ln>
        </p:spPr>
        <p:txBody>
          <a:bodyPr/>
          <a:lstStyle/>
          <a:p>
            <a:endParaRPr lang="en-US"/>
          </a:p>
        </p:txBody>
      </p:sp>
      <p:sp>
        <p:nvSpPr>
          <p:cNvPr id="15" name="Shape 13"/>
          <p:cNvSpPr/>
          <p:nvPr/>
        </p:nvSpPr>
        <p:spPr>
          <a:xfrm>
            <a:off x="502920" y="3177540"/>
            <a:ext cx="274320" cy="274320"/>
          </a:xfrm>
          <a:prstGeom prst="ellipse">
            <a:avLst/>
          </a:prstGeom>
          <a:solidFill>
            <a:srgbClr val="14B8A6"/>
          </a:solidFill>
          <a:ln w="12700">
            <a:solidFill>
              <a:srgbClr val="14B8A6"/>
            </a:solidFill>
            <a:prstDash val="solid"/>
          </a:ln>
        </p:spPr>
        <p:txBody>
          <a:bodyPr/>
          <a:lstStyle/>
          <a:p>
            <a:endParaRPr lang="en-US"/>
          </a:p>
        </p:txBody>
      </p:sp>
      <p:sp>
        <p:nvSpPr>
          <p:cNvPr id="16" name="Text 14"/>
          <p:cNvSpPr/>
          <p:nvPr/>
        </p:nvSpPr>
        <p:spPr>
          <a:xfrm>
            <a:off x="502920" y="317754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914400" y="3108960"/>
            <a:ext cx="3108960" cy="41148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Flow Designer</a:t>
            </a:r>
            <a:endParaRPr lang="en-US" sz="1200" dirty="0"/>
          </a:p>
        </p:txBody>
      </p:sp>
      <p:sp>
        <p:nvSpPr>
          <p:cNvPr id="18" name="Shape 16"/>
          <p:cNvSpPr/>
          <p:nvPr/>
        </p:nvSpPr>
        <p:spPr>
          <a:xfrm>
            <a:off x="365760" y="3703320"/>
            <a:ext cx="3840480" cy="868680"/>
          </a:xfrm>
          <a:prstGeom prst="rect">
            <a:avLst/>
          </a:prstGeom>
          <a:solidFill>
            <a:srgbClr val="0B1F3A"/>
          </a:solidFill>
          <a:ln w="12700">
            <a:solidFill>
              <a:srgbClr val="0B1F3A"/>
            </a:solidFill>
            <a:prstDash val="solid"/>
          </a:ln>
        </p:spPr>
        <p:txBody>
          <a:bodyPr/>
          <a:lstStyle/>
          <a:p>
            <a:endParaRPr lang="en-US"/>
          </a:p>
        </p:txBody>
      </p:sp>
      <p:sp>
        <p:nvSpPr>
          <p:cNvPr id="19" name="Text 17"/>
          <p:cNvSpPr/>
          <p:nvPr/>
        </p:nvSpPr>
        <p:spPr>
          <a:xfrm>
            <a:off x="502920" y="3794760"/>
            <a:ext cx="3566160" cy="228600"/>
          </a:xfrm>
          <a:prstGeom prst="rect">
            <a:avLst/>
          </a:prstGeom>
          <a:noFill/>
          <a:ln/>
        </p:spPr>
        <p:txBody>
          <a:bodyPr wrap="square" lIns="0" tIns="0" rIns="0" bIns="0" rtlCol="0" anchor="ctr"/>
          <a:lstStyle/>
          <a:p>
            <a:pPr marL="0" indent="0">
              <a:buNone/>
            </a:pPr>
            <a:r>
              <a:rPr lang="en-US" sz="900" b="1" kern="0" spc="400" dirty="0">
                <a:solidFill>
                  <a:srgbClr val="5EEAD4"/>
                </a:solidFill>
                <a:latin typeface="Calibri" pitchFamily="34" charset="0"/>
                <a:ea typeface="Calibri" pitchFamily="34" charset="-122"/>
                <a:cs typeface="Calibri" pitchFamily="34" charset="-120"/>
              </a:rPr>
              <a:t>DEFINITION OF DONE</a:t>
            </a:r>
            <a:endParaRPr lang="en-US" sz="900" dirty="0"/>
          </a:p>
        </p:txBody>
      </p:sp>
      <p:sp>
        <p:nvSpPr>
          <p:cNvPr id="20" name="Text 18"/>
          <p:cNvSpPr/>
          <p:nvPr/>
        </p:nvSpPr>
        <p:spPr>
          <a:xfrm>
            <a:off x="502920" y="4023360"/>
            <a:ext cx="3566160" cy="502920"/>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A story is not 'Done' unless it is proven to be upgrade-safe.</a:t>
            </a:r>
            <a:endParaRPr lang="en-US" sz="1200" dirty="0"/>
          </a:p>
        </p:txBody>
      </p:sp>
      <p:sp>
        <p:nvSpPr>
          <p:cNvPr id="21" name="Text 19"/>
          <p:cNvSpPr/>
          <p:nvPr/>
        </p:nvSpPr>
        <p:spPr>
          <a:xfrm>
            <a:off x="4434840" y="1188720"/>
            <a:ext cx="4343400" cy="274320"/>
          </a:xfrm>
          <a:prstGeom prst="rect">
            <a:avLst/>
          </a:prstGeom>
          <a:noFill/>
          <a:ln/>
        </p:spPr>
        <p:txBody>
          <a:bodyPr wrap="square" lIns="0" tIns="0" rIns="0" bIns="0" rtlCol="0" anchor="ctr"/>
          <a:lstStyle/>
          <a:p>
            <a:pPr marL="0" indent="0">
              <a:buNone/>
            </a:pPr>
            <a:r>
              <a:rPr lang="en-US" sz="1000" b="1" kern="0" spc="400" dirty="0">
                <a:solidFill>
                  <a:srgbClr val="14B8A6"/>
                </a:solidFill>
                <a:latin typeface="Calibri" pitchFamily="34" charset="0"/>
                <a:ea typeface="Calibri" pitchFamily="34" charset="-122"/>
                <a:cs typeface="Calibri" pitchFamily="34" charset="-120"/>
              </a:rPr>
              <a:t>PCR TRIGGERS  ·  CONTRACTUAL GUARDRAILS</a:t>
            </a:r>
            <a:endParaRPr lang="en-US" sz="1000" dirty="0"/>
          </a:p>
        </p:txBody>
      </p:sp>
      <p:sp>
        <p:nvSpPr>
          <p:cNvPr id="22" name="Text 20"/>
          <p:cNvSpPr/>
          <p:nvPr/>
        </p:nvSpPr>
        <p:spPr>
          <a:xfrm>
            <a:off x="4434840" y="1463040"/>
            <a:ext cx="4343400" cy="27432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Any of the following requires a formal Project Change Request:</a:t>
            </a:r>
            <a:endParaRPr lang="en-US" sz="1000" dirty="0"/>
          </a:p>
        </p:txBody>
      </p:sp>
      <p:sp>
        <p:nvSpPr>
          <p:cNvPr id="23" name="Shape 21"/>
          <p:cNvSpPr/>
          <p:nvPr/>
        </p:nvSpPr>
        <p:spPr>
          <a:xfrm>
            <a:off x="4434840" y="1783080"/>
            <a:ext cx="54864" cy="384048"/>
          </a:xfrm>
          <a:prstGeom prst="rect">
            <a:avLst/>
          </a:prstGeom>
          <a:solidFill>
            <a:srgbClr val="F59E0B"/>
          </a:solidFill>
          <a:ln w="12700">
            <a:solidFill>
              <a:srgbClr val="F59E0B"/>
            </a:solidFill>
            <a:prstDash val="solid"/>
          </a:ln>
        </p:spPr>
        <p:txBody>
          <a:bodyPr/>
          <a:lstStyle/>
          <a:p>
            <a:endParaRPr lang="en-US"/>
          </a:p>
        </p:txBody>
      </p:sp>
      <p:sp>
        <p:nvSpPr>
          <p:cNvPr id="24" name="Text 22"/>
          <p:cNvSpPr/>
          <p:nvPr/>
        </p:nvSpPr>
        <p:spPr>
          <a:xfrm>
            <a:off x="4572000" y="1783080"/>
            <a:ext cx="4206240" cy="38404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Custom scripting or modification of protected baseline objects</a:t>
            </a:r>
            <a:endParaRPr lang="en-US" sz="1000" dirty="0"/>
          </a:p>
        </p:txBody>
      </p:sp>
      <p:sp>
        <p:nvSpPr>
          <p:cNvPr id="25" name="Shape 23"/>
          <p:cNvSpPr/>
          <p:nvPr/>
        </p:nvSpPr>
        <p:spPr>
          <a:xfrm>
            <a:off x="4434840" y="2240280"/>
            <a:ext cx="54864" cy="384048"/>
          </a:xfrm>
          <a:prstGeom prst="rect">
            <a:avLst/>
          </a:prstGeom>
          <a:solidFill>
            <a:srgbClr val="F59E0B"/>
          </a:solidFill>
          <a:ln w="12700">
            <a:solidFill>
              <a:srgbClr val="F59E0B"/>
            </a:solidFill>
            <a:prstDash val="solid"/>
          </a:ln>
        </p:spPr>
        <p:txBody>
          <a:bodyPr/>
          <a:lstStyle/>
          <a:p>
            <a:endParaRPr lang="en-US"/>
          </a:p>
        </p:txBody>
      </p:sp>
      <p:sp>
        <p:nvSpPr>
          <p:cNvPr id="26" name="Text 24"/>
          <p:cNvSpPr/>
          <p:nvPr/>
        </p:nvSpPr>
        <p:spPr>
          <a:xfrm>
            <a:off x="4572000" y="2240280"/>
            <a:ext cx="4206240" cy="38404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Creation of custom tables outside the OOTB CSDM model</a:t>
            </a:r>
            <a:endParaRPr lang="en-US" sz="1000" dirty="0"/>
          </a:p>
        </p:txBody>
      </p:sp>
      <p:sp>
        <p:nvSpPr>
          <p:cNvPr id="27" name="Shape 25"/>
          <p:cNvSpPr/>
          <p:nvPr/>
        </p:nvSpPr>
        <p:spPr>
          <a:xfrm>
            <a:off x="4434840" y="2697480"/>
            <a:ext cx="54864" cy="384048"/>
          </a:xfrm>
          <a:prstGeom prst="rect">
            <a:avLst/>
          </a:prstGeom>
          <a:solidFill>
            <a:srgbClr val="F59E0B"/>
          </a:solidFill>
          <a:ln w="12700">
            <a:solidFill>
              <a:srgbClr val="F59E0B"/>
            </a:solidFill>
            <a:prstDash val="solid"/>
          </a:ln>
        </p:spPr>
        <p:txBody>
          <a:bodyPr/>
          <a:lstStyle/>
          <a:p>
            <a:endParaRPr lang="en-US"/>
          </a:p>
        </p:txBody>
      </p:sp>
      <p:sp>
        <p:nvSpPr>
          <p:cNvPr id="28" name="Text 26"/>
          <p:cNvSpPr/>
          <p:nvPr/>
        </p:nvSpPr>
        <p:spPr>
          <a:xfrm>
            <a:off x="4572000" y="2697480"/>
            <a:ext cx="4206240" cy="38404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Customer dependencies (Foundation Data, SSO, SMEs) missed by Sprint 0/1</a:t>
            </a:r>
            <a:endParaRPr lang="en-US" sz="1000" dirty="0"/>
          </a:p>
        </p:txBody>
      </p:sp>
      <p:sp>
        <p:nvSpPr>
          <p:cNvPr id="29" name="Shape 27"/>
          <p:cNvSpPr/>
          <p:nvPr/>
        </p:nvSpPr>
        <p:spPr>
          <a:xfrm>
            <a:off x="4434840" y="3154680"/>
            <a:ext cx="54864" cy="384048"/>
          </a:xfrm>
          <a:prstGeom prst="rect">
            <a:avLst/>
          </a:prstGeom>
          <a:solidFill>
            <a:srgbClr val="F59E0B"/>
          </a:solidFill>
          <a:ln w="12700">
            <a:solidFill>
              <a:srgbClr val="F59E0B"/>
            </a:solidFill>
            <a:prstDash val="solid"/>
          </a:ln>
        </p:spPr>
        <p:txBody>
          <a:bodyPr/>
          <a:lstStyle/>
          <a:p>
            <a:endParaRPr lang="en-US"/>
          </a:p>
        </p:txBody>
      </p:sp>
      <p:sp>
        <p:nvSpPr>
          <p:cNvPr id="30" name="Text 28"/>
          <p:cNvSpPr/>
          <p:nvPr/>
        </p:nvSpPr>
        <p:spPr>
          <a:xfrm>
            <a:off x="4572000" y="3154680"/>
            <a:ext cx="4206240" cy="38404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Connection SME unavailable for in-scope integration work</a:t>
            </a:r>
            <a:endParaRPr lang="en-US" sz="1000" dirty="0"/>
          </a:p>
        </p:txBody>
      </p:sp>
      <p:sp>
        <p:nvSpPr>
          <p:cNvPr id="31" name="Shape 29"/>
          <p:cNvSpPr/>
          <p:nvPr/>
        </p:nvSpPr>
        <p:spPr>
          <a:xfrm>
            <a:off x="4434840" y="3611880"/>
            <a:ext cx="54864" cy="384048"/>
          </a:xfrm>
          <a:prstGeom prst="rect">
            <a:avLst/>
          </a:prstGeom>
          <a:solidFill>
            <a:srgbClr val="F59E0B"/>
          </a:solidFill>
          <a:ln w="12700">
            <a:solidFill>
              <a:srgbClr val="F59E0B"/>
            </a:solidFill>
            <a:prstDash val="solid"/>
          </a:ln>
        </p:spPr>
        <p:txBody>
          <a:bodyPr/>
          <a:lstStyle/>
          <a:p>
            <a:endParaRPr lang="en-US"/>
          </a:p>
        </p:txBody>
      </p:sp>
      <p:sp>
        <p:nvSpPr>
          <p:cNvPr id="32" name="Text 30"/>
          <p:cNvSpPr/>
          <p:nvPr/>
        </p:nvSpPr>
        <p:spPr>
          <a:xfrm>
            <a:off x="4572000" y="3611880"/>
            <a:ext cx="4206240" cy="38404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Third-party integrations not explicitly listed in the original SOW</a:t>
            </a:r>
            <a:endParaRPr lang="en-US" sz="1000" dirty="0"/>
          </a:p>
        </p:txBody>
      </p:sp>
      <p:sp>
        <p:nvSpPr>
          <p:cNvPr id="33" name="Shape 31"/>
          <p:cNvSpPr/>
          <p:nvPr/>
        </p:nvSpPr>
        <p:spPr>
          <a:xfrm>
            <a:off x="4434840" y="4069080"/>
            <a:ext cx="54864" cy="384048"/>
          </a:xfrm>
          <a:prstGeom prst="rect">
            <a:avLst/>
          </a:prstGeom>
          <a:solidFill>
            <a:srgbClr val="F59E0B"/>
          </a:solidFill>
          <a:ln w="12700">
            <a:solidFill>
              <a:srgbClr val="F59E0B"/>
            </a:solidFill>
            <a:prstDash val="solid"/>
          </a:ln>
        </p:spPr>
        <p:txBody>
          <a:bodyPr/>
          <a:lstStyle/>
          <a:p>
            <a:endParaRPr lang="en-US"/>
          </a:p>
        </p:txBody>
      </p:sp>
      <p:sp>
        <p:nvSpPr>
          <p:cNvPr id="34" name="Text 32"/>
          <p:cNvSpPr/>
          <p:nvPr/>
        </p:nvSpPr>
        <p:spPr>
          <a:xfrm>
            <a:off x="4572000" y="4069080"/>
            <a:ext cx="4206240" cy="38404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MVP Mindset: secondary requirements deferred to the Phase 2 backlog</a:t>
            </a:r>
            <a:endParaRPr lang="en-US" sz="1000" dirty="0"/>
          </a:p>
        </p:txBody>
      </p:sp>
      <p:sp>
        <p:nvSpPr>
          <p:cNvPr id="35" name="Shape 33"/>
          <p:cNvSpPr/>
          <p:nvPr/>
        </p:nvSpPr>
        <p:spPr>
          <a:xfrm>
            <a:off x="0" y="4818888"/>
            <a:ext cx="9144000" cy="324612"/>
          </a:xfrm>
          <a:prstGeom prst="rect">
            <a:avLst/>
          </a:prstGeom>
          <a:solidFill>
            <a:srgbClr val="0B1F3A"/>
          </a:solidFill>
          <a:ln w="12700">
            <a:solidFill>
              <a:srgbClr val="0B1F3A"/>
            </a:solidFill>
            <a:prstDash val="solid"/>
          </a:ln>
        </p:spPr>
        <p:txBody>
          <a:bodyPr/>
          <a:lstStyle/>
          <a:p>
            <a:endParaRPr lang="en-US"/>
          </a:p>
        </p:txBody>
      </p:sp>
      <p:pic>
        <p:nvPicPr>
          <p:cNvPr id="36" name="Image 0" descr="/sessions/laughing-cool-lovelace/mnt/outputs/deck/everforth_ecs_federal_white.png"/>
          <p:cNvPicPr>
            <a:picLocks noChangeAspect="1"/>
          </p:cNvPicPr>
          <p:nvPr/>
        </p:nvPicPr>
        <p:blipFill>
          <a:blip r:embed="rId3"/>
          <a:stretch>
            <a:fillRect/>
          </a:stretch>
        </p:blipFill>
        <p:spPr>
          <a:xfrm>
            <a:off x="365760" y="4873752"/>
            <a:ext cx="1188720" cy="220855"/>
          </a:xfrm>
          <a:prstGeom prst="rect">
            <a:avLst/>
          </a:prstGeom>
        </p:spPr>
      </p:pic>
      <p:sp>
        <p:nvSpPr>
          <p:cNvPr id="37" name="Text 34"/>
          <p:cNvSpPr/>
          <p:nvPr/>
        </p:nvSpPr>
        <p:spPr>
          <a:xfrm>
            <a:off x="1828800" y="4910328"/>
            <a:ext cx="5486400" cy="146304"/>
          </a:xfrm>
          <a:prstGeom prst="rect">
            <a:avLst/>
          </a:prstGeom>
          <a:noFill/>
          <a:ln/>
        </p:spPr>
        <p:txBody>
          <a:bodyPr wrap="square" lIns="0" tIns="0" rIns="0" bIns="0" rtlCol="0" anchor="ctr"/>
          <a:lstStyle/>
          <a:p>
            <a:pPr marL="0" indent="0">
              <a:buNone/>
            </a:pPr>
            <a:r>
              <a:rPr lang="en-US" sz="750" kern="0" spc="400" dirty="0">
                <a:solidFill>
                  <a:srgbClr val="CBD5E1"/>
                </a:solidFill>
                <a:latin typeface="Calibri" pitchFamily="34" charset="0"/>
                <a:ea typeface="Calibri" pitchFamily="34" charset="-122"/>
                <a:cs typeface="Calibri" pitchFamily="34" charset="-120"/>
              </a:rPr>
              <a:t>ECS  ·  PC CONNECTION  ·  SERVICENOW RE-IMPLEMENTATION</a:t>
            </a:r>
            <a:endParaRPr lang="en-US" sz="750" dirty="0"/>
          </a:p>
        </p:txBody>
      </p:sp>
      <p:sp>
        <p:nvSpPr>
          <p:cNvPr id="38" name="Text 35"/>
          <p:cNvSpPr/>
          <p:nvPr/>
        </p:nvSpPr>
        <p:spPr>
          <a:xfrm>
            <a:off x="7863840" y="4910328"/>
            <a:ext cx="914400" cy="146304"/>
          </a:xfrm>
          <a:prstGeom prst="rect">
            <a:avLst/>
          </a:prstGeom>
          <a:noFill/>
          <a:ln/>
        </p:spPr>
        <p:txBody>
          <a:bodyPr wrap="square" lIns="0" tIns="0" rIns="0" bIns="0" rtlCol="0" anchor="ctr"/>
          <a:lstStyle/>
          <a:p>
            <a:pPr marL="0" indent="0" algn="r">
              <a:buNone/>
            </a:pPr>
            <a:r>
              <a:rPr lang="en-US" sz="750" dirty="0">
                <a:solidFill>
                  <a:srgbClr val="CBD5E1"/>
                </a:solidFill>
                <a:latin typeface="Calibri" pitchFamily="34" charset="0"/>
                <a:ea typeface="Calibri" pitchFamily="34" charset="-122"/>
                <a:cs typeface="Calibri" pitchFamily="34" charset="-120"/>
              </a:rPr>
              <a:t>7 / 19</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92608"/>
            <a:ext cx="8412480" cy="228600"/>
          </a:xfrm>
          <a:prstGeom prst="rect">
            <a:avLst/>
          </a:prstGeom>
          <a:noFill/>
          <a:ln/>
        </p:spPr>
        <p:txBody>
          <a:bodyPr wrap="square" lIns="0" tIns="0" rIns="0" bIns="0" rtlCol="0" anchor="ctr"/>
          <a:lstStyle/>
          <a:p>
            <a:pPr marL="0" indent="0">
              <a:buNone/>
            </a:pPr>
            <a:r>
              <a:rPr lang="en-US" sz="900" b="1" kern="0" spc="600" dirty="0">
                <a:solidFill>
                  <a:srgbClr val="14B8A6"/>
                </a:solidFill>
                <a:latin typeface="Calibri" pitchFamily="34" charset="0"/>
                <a:ea typeface="Calibri" pitchFamily="34" charset="-122"/>
                <a:cs typeface="Calibri" pitchFamily="34" charset="-120"/>
              </a:rPr>
              <a:t>07  ·  WORKSHOP APPROACH</a:t>
            </a:r>
            <a:endParaRPr lang="en-US" sz="900" dirty="0"/>
          </a:p>
        </p:txBody>
      </p:sp>
      <p:sp>
        <p:nvSpPr>
          <p:cNvPr id="3" name="Text 1"/>
          <p:cNvSpPr/>
          <p:nvPr/>
        </p:nvSpPr>
        <p:spPr>
          <a:xfrm>
            <a:off x="365760" y="502920"/>
            <a:ext cx="8412480" cy="502920"/>
          </a:xfrm>
          <a:prstGeom prst="rect">
            <a:avLst/>
          </a:prstGeom>
          <a:noFill/>
          <a:ln/>
        </p:spPr>
        <p:txBody>
          <a:bodyPr wrap="square" lIns="0" tIns="0" rIns="0" bIns="0" rtlCol="0" anchor="ctr"/>
          <a:lstStyle/>
          <a:p>
            <a:pPr marL="0" indent="0">
              <a:buNone/>
            </a:pPr>
            <a:r>
              <a:rPr lang="en-US" sz="2400" b="1" dirty="0">
                <a:solidFill>
                  <a:srgbClr val="0B1F3A"/>
                </a:solidFill>
                <a:latin typeface="Calibri" pitchFamily="34" charset="0"/>
                <a:ea typeface="Calibri" pitchFamily="34" charset="-122"/>
                <a:cs typeface="Calibri" pitchFamily="34" charset="-120"/>
              </a:rPr>
              <a:t>Just-in-Time, OOTB-first, decision-led</a:t>
            </a:r>
            <a:endParaRPr lang="en-US" sz="2400" dirty="0"/>
          </a:p>
        </p:txBody>
      </p:sp>
      <p:sp>
        <p:nvSpPr>
          <p:cNvPr id="4" name="Text 2"/>
          <p:cNvSpPr/>
          <p:nvPr/>
        </p:nvSpPr>
        <p:spPr>
          <a:xfrm>
            <a:off x="365760" y="1097280"/>
            <a:ext cx="8412480" cy="502920"/>
          </a:xfrm>
          <a:prstGeom prst="rect">
            <a:avLst/>
          </a:prstGeom>
          <a:noFill/>
          <a:ln/>
        </p:spPr>
        <p:txBody>
          <a:bodyPr wrap="square" lIns="0" tIns="0" rIns="0" bIns="0" rtlCol="0" anchor="ctr"/>
          <a:lstStyle/>
          <a:p>
            <a:r>
              <a:rPr lang="en-US" sz="1100" dirty="0"/>
              <a:t>Workshops are the foundation of our delivery approach — we run them throughout the engagement, not just upfront. Each session opens with a live OOTB demonstration, then focuses on the narrow set of decisions your team needs to make to fit the platform to Connection. Sessions are hands-on: we configure, test, and iterate against your data and scenarios in the room.. Because every workshop is timed Just-in-Time to the next sprint, requirements don't go stale — what's agreed moves straight into the active iteration of planned work, accelerating alignment and creating momentum into delivery.</a:t>
            </a:r>
          </a:p>
        </p:txBody>
      </p:sp>
      <p:sp>
        <p:nvSpPr>
          <p:cNvPr id="5" name="Shape 3"/>
          <p:cNvSpPr/>
          <p:nvPr/>
        </p:nvSpPr>
        <p:spPr>
          <a:xfrm>
            <a:off x="365760" y="1831528"/>
            <a:ext cx="1591056" cy="2103120"/>
          </a:xfrm>
          <a:prstGeom prst="rect">
            <a:avLst/>
          </a:prstGeom>
          <a:solidFill>
            <a:srgbClr val="FFFFFF"/>
          </a:solidFill>
          <a:ln w="12700">
            <a:solidFill>
              <a:srgbClr val="E2E8F0"/>
            </a:solidFill>
            <a:prstDash val="solid"/>
          </a:ln>
        </p:spPr>
        <p:txBody>
          <a:bodyPr/>
          <a:lstStyle/>
          <a:p>
            <a:endParaRPr lang="en-US"/>
          </a:p>
        </p:txBody>
      </p:sp>
      <p:sp>
        <p:nvSpPr>
          <p:cNvPr id="6" name="Shape 4"/>
          <p:cNvSpPr/>
          <p:nvPr/>
        </p:nvSpPr>
        <p:spPr>
          <a:xfrm>
            <a:off x="365760" y="1831528"/>
            <a:ext cx="1591056" cy="411480"/>
          </a:xfrm>
          <a:prstGeom prst="rect">
            <a:avLst/>
          </a:prstGeom>
          <a:solidFill>
            <a:srgbClr val="0B1F3A"/>
          </a:solidFill>
          <a:ln w="12700">
            <a:solidFill>
              <a:srgbClr val="0B1F3A"/>
            </a:solidFill>
            <a:prstDash val="solid"/>
          </a:ln>
        </p:spPr>
        <p:txBody>
          <a:bodyPr/>
          <a:lstStyle/>
          <a:p>
            <a:endParaRPr lang="en-US"/>
          </a:p>
        </p:txBody>
      </p:sp>
      <p:sp>
        <p:nvSpPr>
          <p:cNvPr id="7" name="Text 5"/>
          <p:cNvSpPr/>
          <p:nvPr/>
        </p:nvSpPr>
        <p:spPr>
          <a:xfrm>
            <a:off x="475488" y="1877248"/>
            <a:ext cx="365760" cy="320040"/>
          </a:xfrm>
          <a:prstGeom prst="rect">
            <a:avLst/>
          </a:prstGeom>
          <a:noFill/>
          <a:ln/>
        </p:spPr>
        <p:txBody>
          <a:bodyPr wrap="square" lIns="0" tIns="0" rIns="0" bIns="0" rtlCol="0" anchor="ctr"/>
          <a:lstStyle/>
          <a:p>
            <a:pPr marL="0" indent="0">
              <a:buNone/>
            </a:pPr>
            <a:r>
              <a:rPr lang="en-US" sz="1100" b="1" dirty="0">
                <a:solidFill>
                  <a:srgbClr val="5EEAD4"/>
                </a:solidFill>
                <a:latin typeface="Calibri" pitchFamily="34" charset="0"/>
                <a:ea typeface="Calibri" pitchFamily="34" charset="-122"/>
                <a:cs typeface="Calibri" pitchFamily="34" charset="-120"/>
              </a:rPr>
              <a:t>01</a:t>
            </a:r>
            <a:endParaRPr lang="en-US" sz="1100" dirty="0"/>
          </a:p>
        </p:txBody>
      </p:sp>
      <p:sp>
        <p:nvSpPr>
          <p:cNvPr id="8" name="Text 6"/>
          <p:cNvSpPr/>
          <p:nvPr/>
        </p:nvSpPr>
        <p:spPr>
          <a:xfrm>
            <a:off x="868680" y="1877248"/>
            <a:ext cx="996696" cy="320040"/>
          </a:xfrm>
          <a:prstGeom prst="rect">
            <a:avLst/>
          </a:prstGeom>
          <a:noFill/>
          <a:ln/>
        </p:spPr>
        <p:txBody>
          <a:bodyPr wrap="square" lIns="0" tIns="0" rIns="0" bIns="0" rtlCol="0" anchor="ctr"/>
          <a:lstStyle/>
          <a:p>
            <a:pPr marL="0" indent="0">
              <a:buNone/>
            </a:pPr>
            <a:r>
              <a:rPr lang="en-US" sz="900" b="1" kern="0" spc="100" dirty="0">
                <a:solidFill>
                  <a:srgbClr val="FFFFFF"/>
                </a:solidFill>
                <a:latin typeface="Calibri" pitchFamily="34" charset="0"/>
                <a:ea typeface="Calibri" pitchFamily="34" charset="-122"/>
                <a:cs typeface="Calibri" pitchFamily="34" charset="-120"/>
              </a:rPr>
              <a:t>ACCELERATOR PACK</a:t>
            </a:r>
            <a:endParaRPr lang="en-US" sz="900" dirty="0"/>
          </a:p>
        </p:txBody>
      </p:sp>
      <p:sp>
        <p:nvSpPr>
          <p:cNvPr id="9" name="Text 7"/>
          <p:cNvSpPr/>
          <p:nvPr/>
        </p:nvSpPr>
        <p:spPr>
          <a:xfrm>
            <a:off x="502920" y="2380168"/>
            <a:ext cx="1362456" cy="1463040"/>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Foundational core data — Accelerator Pack workbooks for CMDB classes, locations, groups, assignment rules, catalog taxonomy, datasets — to execute build and reach go-live.  </a:t>
            </a:r>
            <a:endParaRPr lang="en-US" sz="850" dirty="0"/>
          </a:p>
        </p:txBody>
      </p:sp>
      <p:sp>
        <p:nvSpPr>
          <p:cNvPr id="10" name="Shape 8"/>
          <p:cNvSpPr/>
          <p:nvPr/>
        </p:nvSpPr>
        <p:spPr>
          <a:xfrm>
            <a:off x="2075688" y="1831528"/>
            <a:ext cx="1591056" cy="2103120"/>
          </a:xfrm>
          <a:prstGeom prst="rect">
            <a:avLst/>
          </a:prstGeom>
          <a:solidFill>
            <a:srgbClr val="FFFFFF"/>
          </a:solidFill>
          <a:ln w="12700">
            <a:solidFill>
              <a:srgbClr val="E2E8F0"/>
            </a:solidFill>
            <a:prstDash val="solid"/>
          </a:ln>
        </p:spPr>
        <p:txBody>
          <a:bodyPr/>
          <a:lstStyle/>
          <a:p>
            <a:endParaRPr lang="en-US"/>
          </a:p>
        </p:txBody>
      </p:sp>
      <p:sp>
        <p:nvSpPr>
          <p:cNvPr id="11" name="Shape 9"/>
          <p:cNvSpPr/>
          <p:nvPr/>
        </p:nvSpPr>
        <p:spPr>
          <a:xfrm>
            <a:off x="2075688" y="1831528"/>
            <a:ext cx="1591056" cy="411480"/>
          </a:xfrm>
          <a:prstGeom prst="rect">
            <a:avLst/>
          </a:prstGeom>
          <a:solidFill>
            <a:srgbClr val="0B1F3A"/>
          </a:solidFill>
          <a:ln w="12700">
            <a:solidFill>
              <a:srgbClr val="0B1F3A"/>
            </a:solidFill>
            <a:prstDash val="solid"/>
          </a:ln>
        </p:spPr>
        <p:txBody>
          <a:bodyPr/>
          <a:lstStyle/>
          <a:p>
            <a:endParaRPr lang="en-US"/>
          </a:p>
        </p:txBody>
      </p:sp>
      <p:sp>
        <p:nvSpPr>
          <p:cNvPr id="12" name="Text 10"/>
          <p:cNvSpPr/>
          <p:nvPr/>
        </p:nvSpPr>
        <p:spPr>
          <a:xfrm>
            <a:off x="2185416" y="1877248"/>
            <a:ext cx="365760" cy="320040"/>
          </a:xfrm>
          <a:prstGeom prst="rect">
            <a:avLst/>
          </a:prstGeom>
          <a:noFill/>
          <a:ln/>
        </p:spPr>
        <p:txBody>
          <a:bodyPr wrap="square" lIns="0" tIns="0" rIns="0" bIns="0" rtlCol="0" anchor="ctr"/>
          <a:lstStyle/>
          <a:p>
            <a:pPr marL="0" indent="0">
              <a:buNone/>
            </a:pPr>
            <a:r>
              <a:rPr lang="en-US" sz="1100" b="1" dirty="0">
                <a:solidFill>
                  <a:srgbClr val="5EEAD4"/>
                </a:solidFill>
                <a:latin typeface="Calibri" pitchFamily="34" charset="0"/>
                <a:ea typeface="Calibri" pitchFamily="34" charset="-122"/>
                <a:cs typeface="Calibri" pitchFamily="34" charset="-120"/>
              </a:rPr>
              <a:t>02</a:t>
            </a:r>
            <a:endParaRPr lang="en-US" sz="1100" dirty="0"/>
          </a:p>
        </p:txBody>
      </p:sp>
      <p:sp>
        <p:nvSpPr>
          <p:cNvPr id="13" name="Text 11"/>
          <p:cNvSpPr/>
          <p:nvPr/>
        </p:nvSpPr>
        <p:spPr>
          <a:xfrm>
            <a:off x="2578608" y="1877248"/>
            <a:ext cx="996696" cy="320040"/>
          </a:xfrm>
          <a:prstGeom prst="rect">
            <a:avLst/>
          </a:prstGeom>
          <a:noFill/>
          <a:ln/>
        </p:spPr>
        <p:txBody>
          <a:bodyPr wrap="square" lIns="0" tIns="0" rIns="0" bIns="0" rtlCol="0" anchor="ctr"/>
          <a:lstStyle/>
          <a:p>
            <a:pPr marL="0" indent="0">
              <a:buNone/>
            </a:pPr>
            <a:r>
              <a:rPr lang="en-US" sz="900" b="1" kern="0" spc="100" dirty="0">
                <a:solidFill>
                  <a:srgbClr val="FFFFFF"/>
                </a:solidFill>
                <a:latin typeface="Calibri" pitchFamily="34" charset="0"/>
                <a:ea typeface="Calibri" pitchFamily="34" charset="-122"/>
                <a:cs typeface="Calibri" pitchFamily="34" charset="-120"/>
              </a:rPr>
              <a:t>CSDM</a:t>
            </a:r>
            <a:endParaRPr lang="en-US" sz="900" dirty="0"/>
          </a:p>
        </p:txBody>
      </p:sp>
      <p:sp>
        <p:nvSpPr>
          <p:cNvPr id="14" name="Text 12"/>
          <p:cNvSpPr/>
          <p:nvPr/>
        </p:nvSpPr>
        <p:spPr>
          <a:xfrm>
            <a:off x="2212848" y="2380168"/>
            <a:ext cx="1362456" cy="1463040"/>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Map Business, Technical, Application Services to OOTB CSDM 5.0 domains. Connection leaves with a signed-off model that lets Discovery, Service Mapping, and AI work OOTB, documented in the CSDM &amp; CMDB Blueprint.</a:t>
            </a:r>
            <a:endParaRPr lang="en-US" sz="850" dirty="0"/>
          </a:p>
        </p:txBody>
      </p:sp>
      <p:sp>
        <p:nvSpPr>
          <p:cNvPr id="15" name="Shape 13"/>
          <p:cNvSpPr/>
          <p:nvPr/>
        </p:nvSpPr>
        <p:spPr>
          <a:xfrm>
            <a:off x="3785616" y="1831528"/>
            <a:ext cx="1591056" cy="2103120"/>
          </a:xfrm>
          <a:prstGeom prst="rect">
            <a:avLst/>
          </a:prstGeom>
          <a:solidFill>
            <a:srgbClr val="FFFFFF"/>
          </a:solidFill>
          <a:ln w="12700">
            <a:solidFill>
              <a:srgbClr val="E2E8F0"/>
            </a:solidFill>
            <a:prstDash val="solid"/>
          </a:ln>
        </p:spPr>
        <p:txBody>
          <a:bodyPr/>
          <a:lstStyle/>
          <a:p>
            <a:endParaRPr lang="en-US"/>
          </a:p>
        </p:txBody>
      </p:sp>
      <p:sp>
        <p:nvSpPr>
          <p:cNvPr id="16" name="Shape 14"/>
          <p:cNvSpPr/>
          <p:nvPr/>
        </p:nvSpPr>
        <p:spPr>
          <a:xfrm>
            <a:off x="3785616" y="1831528"/>
            <a:ext cx="1591056" cy="411480"/>
          </a:xfrm>
          <a:prstGeom prst="rect">
            <a:avLst/>
          </a:prstGeom>
          <a:solidFill>
            <a:srgbClr val="0B1F3A"/>
          </a:solidFill>
          <a:ln w="12700">
            <a:solidFill>
              <a:srgbClr val="0B1F3A"/>
            </a:solidFill>
            <a:prstDash val="solid"/>
          </a:ln>
        </p:spPr>
        <p:txBody>
          <a:bodyPr/>
          <a:lstStyle/>
          <a:p>
            <a:endParaRPr lang="en-US"/>
          </a:p>
        </p:txBody>
      </p:sp>
      <p:sp>
        <p:nvSpPr>
          <p:cNvPr id="17" name="Text 15"/>
          <p:cNvSpPr/>
          <p:nvPr/>
        </p:nvSpPr>
        <p:spPr>
          <a:xfrm>
            <a:off x="3895344" y="1877248"/>
            <a:ext cx="365760" cy="320040"/>
          </a:xfrm>
          <a:prstGeom prst="rect">
            <a:avLst/>
          </a:prstGeom>
          <a:noFill/>
          <a:ln/>
        </p:spPr>
        <p:txBody>
          <a:bodyPr wrap="square" lIns="0" tIns="0" rIns="0" bIns="0" rtlCol="0" anchor="ctr"/>
          <a:lstStyle/>
          <a:p>
            <a:pPr marL="0" indent="0">
              <a:buNone/>
            </a:pPr>
            <a:r>
              <a:rPr lang="en-US" sz="1100" b="1" dirty="0">
                <a:solidFill>
                  <a:srgbClr val="5EEAD4"/>
                </a:solidFill>
                <a:latin typeface="Calibri" pitchFamily="34" charset="0"/>
                <a:ea typeface="Calibri" pitchFamily="34" charset="-122"/>
                <a:cs typeface="Calibri" pitchFamily="34" charset="-120"/>
              </a:rPr>
              <a:t>03</a:t>
            </a:r>
            <a:endParaRPr lang="en-US" sz="1100" dirty="0"/>
          </a:p>
        </p:txBody>
      </p:sp>
      <p:sp>
        <p:nvSpPr>
          <p:cNvPr id="18" name="Text 16"/>
          <p:cNvSpPr/>
          <p:nvPr/>
        </p:nvSpPr>
        <p:spPr>
          <a:xfrm>
            <a:off x="4288536" y="1877248"/>
            <a:ext cx="996696" cy="320040"/>
          </a:xfrm>
          <a:prstGeom prst="rect">
            <a:avLst/>
          </a:prstGeom>
          <a:noFill/>
          <a:ln/>
        </p:spPr>
        <p:txBody>
          <a:bodyPr wrap="square" lIns="0" tIns="0" rIns="0" bIns="0" rtlCol="0" anchor="ctr"/>
          <a:lstStyle/>
          <a:p>
            <a:pPr marL="0" indent="0">
              <a:buNone/>
            </a:pPr>
            <a:r>
              <a:rPr lang="en-US" sz="900" b="1" kern="0" spc="100" dirty="0">
                <a:solidFill>
                  <a:srgbClr val="FFFFFF"/>
                </a:solidFill>
                <a:latin typeface="Calibri" pitchFamily="34" charset="0"/>
                <a:ea typeface="Calibri" pitchFamily="34" charset="-122"/>
                <a:cs typeface="Calibri" pitchFamily="34" charset="-120"/>
              </a:rPr>
              <a:t>REPORTING</a:t>
            </a:r>
            <a:endParaRPr lang="en-US" sz="900" dirty="0"/>
          </a:p>
        </p:txBody>
      </p:sp>
      <p:sp>
        <p:nvSpPr>
          <p:cNvPr id="19" name="Text 17"/>
          <p:cNvSpPr/>
          <p:nvPr/>
        </p:nvSpPr>
        <p:spPr>
          <a:xfrm>
            <a:off x="3922776" y="2380168"/>
            <a:ext cx="1362456" cy="1463040"/>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Confirm OOTB Performance Analytics, dashboards, and standard reports meet Connection's business objectives before any custom report is entertained. Gaps are captured in stories and configure during the Execute phase.</a:t>
            </a:r>
            <a:endParaRPr lang="en-US" sz="850" dirty="0"/>
          </a:p>
        </p:txBody>
      </p:sp>
      <p:sp>
        <p:nvSpPr>
          <p:cNvPr id="20" name="Shape 18"/>
          <p:cNvSpPr/>
          <p:nvPr/>
        </p:nvSpPr>
        <p:spPr>
          <a:xfrm>
            <a:off x="5495544" y="1831528"/>
            <a:ext cx="1591056" cy="2103120"/>
          </a:xfrm>
          <a:prstGeom prst="rect">
            <a:avLst/>
          </a:prstGeom>
          <a:solidFill>
            <a:srgbClr val="FFFFFF"/>
          </a:solidFill>
          <a:ln w="12700">
            <a:solidFill>
              <a:srgbClr val="E2E8F0"/>
            </a:solidFill>
            <a:prstDash val="solid"/>
          </a:ln>
        </p:spPr>
        <p:txBody>
          <a:bodyPr/>
          <a:lstStyle/>
          <a:p>
            <a:endParaRPr lang="en-US"/>
          </a:p>
        </p:txBody>
      </p:sp>
      <p:sp>
        <p:nvSpPr>
          <p:cNvPr id="21" name="Shape 19"/>
          <p:cNvSpPr/>
          <p:nvPr/>
        </p:nvSpPr>
        <p:spPr>
          <a:xfrm>
            <a:off x="5495544" y="1831528"/>
            <a:ext cx="1591056" cy="411480"/>
          </a:xfrm>
          <a:prstGeom prst="rect">
            <a:avLst/>
          </a:prstGeom>
          <a:solidFill>
            <a:srgbClr val="0B1F3A"/>
          </a:solidFill>
          <a:ln w="12700">
            <a:solidFill>
              <a:srgbClr val="0B1F3A"/>
            </a:solidFill>
            <a:prstDash val="solid"/>
          </a:ln>
        </p:spPr>
        <p:txBody>
          <a:bodyPr/>
          <a:lstStyle/>
          <a:p>
            <a:endParaRPr lang="en-US"/>
          </a:p>
        </p:txBody>
      </p:sp>
      <p:sp>
        <p:nvSpPr>
          <p:cNvPr id="22" name="Text 20"/>
          <p:cNvSpPr/>
          <p:nvPr/>
        </p:nvSpPr>
        <p:spPr>
          <a:xfrm>
            <a:off x="5605272" y="1877248"/>
            <a:ext cx="365760" cy="320040"/>
          </a:xfrm>
          <a:prstGeom prst="rect">
            <a:avLst/>
          </a:prstGeom>
          <a:noFill/>
          <a:ln/>
        </p:spPr>
        <p:txBody>
          <a:bodyPr wrap="square" lIns="0" tIns="0" rIns="0" bIns="0" rtlCol="0" anchor="ctr"/>
          <a:lstStyle/>
          <a:p>
            <a:pPr marL="0" indent="0">
              <a:buNone/>
            </a:pPr>
            <a:r>
              <a:rPr lang="en-US" sz="1100" b="1" dirty="0">
                <a:solidFill>
                  <a:srgbClr val="5EEAD4"/>
                </a:solidFill>
                <a:latin typeface="Calibri" pitchFamily="34" charset="0"/>
                <a:ea typeface="Calibri" pitchFamily="34" charset="-122"/>
                <a:cs typeface="Calibri" pitchFamily="34" charset="-120"/>
              </a:rPr>
              <a:t>04</a:t>
            </a:r>
            <a:endParaRPr lang="en-US" sz="1100" dirty="0"/>
          </a:p>
        </p:txBody>
      </p:sp>
      <p:sp>
        <p:nvSpPr>
          <p:cNvPr id="23" name="Text 21"/>
          <p:cNvSpPr/>
          <p:nvPr/>
        </p:nvSpPr>
        <p:spPr>
          <a:xfrm>
            <a:off x="5998464" y="1877248"/>
            <a:ext cx="996696" cy="320040"/>
          </a:xfrm>
          <a:prstGeom prst="rect">
            <a:avLst/>
          </a:prstGeom>
          <a:noFill/>
          <a:ln/>
        </p:spPr>
        <p:txBody>
          <a:bodyPr wrap="square" lIns="0" tIns="0" rIns="0" bIns="0" rtlCol="0" anchor="ctr"/>
          <a:lstStyle/>
          <a:p>
            <a:pPr marL="0" indent="0">
              <a:buNone/>
            </a:pPr>
            <a:r>
              <a:rPr lang="en-US" sz="900" b="1" kern="0" spc="100" dirty="0">
                <a:solidFill>
                  <a:srgbClr val="FFFFFF"/>
                </a:solidFill>
                <a:latin typeface="Calibri" pitchFamily="34" charset="0"/>
                <a:ea typeface="Calibri" pitchFamily="34" charset="-122"/>
                <a:cs typeface="Calibri" pitchFamily="34" charset="-120"/>
              </a:rPr>
              <a:t>PROCESS OOTB ALIGNMENT</a:t>
            </a:r>
            <a:endParaRPr lang="en-US" sz="900" dirty="0"/>
          </a:p>
        </p:txBody>
      </p:sp>
      <p:sp>
        <p:nvSpPr>
          <p:cNvPr id="24" name="Text 22"/>
          <p:cNvSpPr/>
          <p:nvPr/>
        </p:nvSpPr>
        <p:spPr>
          <a:xfrm>
            <a:off x="5632704" y="2380168"/>
            <a:ext cx="1362456" cy="1463040"/>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Walk each in-scope process end-to-end against the OOTB demo. Identify the narrow set of justified deltas. Collectively we make adjustments to the baseline when adjustments align to outcomes. Sign off on user stories to be built.</a:t>
            </a:r>
            <a:endParaRPr lang="en-US" sz="850" dirty="0"/>
          </a:p>
        </p:txBody>
      </p:sp>
      <p:sp>
        <p:nvSpPr>
          <p:cNvPr id="25" name="Shape 23"/>
          <p:cNvSpPr/>
          <p:nvPr/>
        </p:nvSpPr>
        <p:spPr>
          <a:xfrm>
            <a:off x="7205472" y="1831528"/>
            <a:ext cx="1591056" cy="2103120"/>
          </a:xfrm>
          <a:prstGeom prst="rect">
            <a:avLst/>
          </a:prstGeom>
          <a:solidFill>
            <a:srgbClr val="FFFFFF"/>
          </a:solidFill>
          <a:ln w="12700">
            <a:solidFill>
              <a:srgbClr val="E2E8F0"/>
            </a:solidFill>
            <a:prstDash val="solid"/>
          </a:ln>
        </p:spPr>
        <p:txBody>
          <a:bodyPr/>
          <a:lstStyle/>
          <a:p>
            <a:endParaRPr lang="en-US"/>
          </a:p>
        </p:txBody>
      </p:sp>
      <p:sp>
        <p:nvSpPr>
          <p:cNvPr id="26" name="Shape 24"/>
          <p:cNvSpPr/>
          <p:nvPr/>
        </p:nvSpPr>
        <p:spPr>
          <a:xfrm>
            <a:off x="7205472" y="1831528"/>
            <a:ext cx="1591056" cy="411480"/>
          </a:xfrm>
          <a:prstGeom prst="rect">
            <a:avLst/>
          </a:prstGeom>
          <a:solidFill>
            <a:srgbClr val="0B1F3A"/>
          </a:solidFill>
          <a:ln w="12700">
            <a:solidFill>
              <a:srgbClr val="0B1F3A"/>
            </a:solidFill>
            <a:prstDash val="solid"/>
          </a:ln>
        </p:spPr>
        <p:txBody>
          <a:bodyPr/>
          <a:lstStyle/>
          <a:p>
            <a:endParaRPr lang="en-US"/>
          </a:p>
        </p:txBody>
      </p:sp>
      <p:sp>
        <p:nvSpPr>
          <p:cNvPr id="27" name="Text 25"/>
          <p:cNvSpPr/>
          <p:nvPr/>
        </p:nvSpPr>
        <p:spPr>
          <a:xfrm>
            <a:off x="7315200" y="1877248"/>
            <a:ext cx="365760" cy="320040"/>
          </a:xfrm>
          <a:prstGeom prst="rect">
            <a:avLst/>
          </a:prstGeom>
          <a:noFill/>
          <a:ln/>
        </p:spPr>
        <p:txBody>
          <a:bodyPr wrap="square" lIns="0" tIns="0" rIns="0" bIns="0" rtlCol="0" anchor="ctr"/>
          <a:lstStyle/>
          <a:p>
            <a:pPr marL="0" indent="0">
              <a:buNone/>
            </a:pPr>
            <a:r>
              <a:rPr lang="en-US" sz="1100" b="1" dirty="0">
                <a:solidFill>
                  <a:srgbClr val="5EEAD4"/>
                </a:solidFill>
                <a:latin typeface="Calibri" pitchFamily="34" charset="0"/>
                <a:ea typeface="Calibri" pitchFamily="34" charset="-122"/>
                <a:cs typeface="Calibri" pitchFamily="34" charset="-120"/>
              </a:rPr>
              <a:t>05</a:t>
            </a:r>
            <a:endParaRPr lang="en-US" sz="1100" dirty="0"/>
          </a:p>
        </p:txBody>
      </p:sp>
      <p:sp>
        <p:nvSpPr>
          <p:cNvPr id="28" name="Text 26"/>
          <p:cNvSpPr/>
          <p:nvPr/>
        </p:nvSpPr>
        <p:spPr>
          <a:xfrm>
            <a:off x="7708392" y="1877248"/>
            <a:ext cx="996696" cy="320040"/>
          </a:xfrm>
          <a:prstGeom prst="rect">
            <a:avLst/>
          </a:prstGeom>
          <a:noFill/>
          <a:ln/>
        </p:spPr>
        <p:txBody>
          <a:bodyPr wrap="square" lIns="0" tIns="0" rIns="0" bIns="0" rtlCol="0" anchor="ctr"/>
          <a:lstStyle/>
          <a:p>
            <a:pPr marL="0" indent="0">
              <a:buNone/>
            </a:pPr>
            <a:r>
              <a:rPr lang="en-US" sz="900" b="1" kern="0" spc="100" dirty="0">
                <a:solidFill>
                  <a:srgbClr val="FFFFFF"/>
                </a:solidFill>
                <a:latin typeface="Calibri" pitchFamily="34" charset="0"/>
                <a:ea typeface="Calibri" pitchFamily="34" charset="-122"/>
                <a:cs typeface="Calibri" pitchFamily="34" charset="-120"/>
              </a:rPr>
              <a:t>INTEGRATION</a:t>
            </a:r>
            <a:endParaRPr lang="en-US" sz="900" dirty="0"/>
          </a:p>
        </p:txBody>
      </p:sp>
      <p:sp>
        <p:nvSpPr>
          <p:cNvPr id="29" name="Text 27"/>
          <p:cNvSpPr/>
          <p:nvPr/>
        </p:nvSpPr>
        <p:spPr>
          <a:xfrm>
            <a:off x="7342632" y="2380168"/>
            <a:ext cx="1362456" cy="1463040"/>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Define in-scope integration patterns, data contracts, and OOTB Spoke / IntegrationHub usage. Document in stories and in. ECS owns the SN side; Connection owns source systems.</a:t>
            </a:r>
            <a:endParaRPr lang="en-US" sz="850" dirty="0"/>
          </a:p>
        </p:txBody>
      </p:sp>
      <p:sp>
        <p:nvSpPr>
          <p:cNvPr id="30" name="Shape 28"/>
          <p:cNvSpPr/>
          <p:nvPr/>
        </p:nvSpPr>
        <p:spPr>
          <a:xfrm>
            <a:off x="365760" y="4069080"/>
            <a:ext cx="8412480" cy="685800"/>
          </a:xfrm>
          <a:prstGeom prst="rect">
            <a:avLst/>
          </a:prstGeom>
          <a:solidFill>
            <a:srgbClr val="F8FAFC"/>
          </a:solidFill>
          <a:ln w="12700">
            <a:solidFill>
              <a:srgbClr val="E2E8F0"/>
            </a:solidFill>
            <a:prstDash val="solid"/>
          </a:ln>
        </p:spPr>
        <p:txBody>
          <a:bodyPr/>
          <a:lstStyle/>
          <a:p>
            <a:endParaRPr lang="en-US"/>
          </a:p>
        </p:txBody>
      </p:sp>
      <p:sp>
        <p:nvSpPr>
          <p:cNvPr id="31" name="Text 29"/>
          <p:cNvSpPr/>
          <p:nvPr/>
        </p:nvSpPr>
        <p:spPr>
          <a:xfrm>
            <a:off x="502920" y="4069080"/>
            <a:ext cx="8183880" cy="685800"/>
          </a:xfrm>
          <a:prstGeom prst="rect">
            <a:avLst/>
          </a:prstGeom>
          <a:noFill/>
          <a:ln/>
        </p:spPr>
        <p:txBody>
          <a:bodyPr wrap="square" lIns="0" tIns="0" rIns="0" bIns="0" rtlCol="0" anchor="ctr"/>
          <a:lstStyle/>
          <a:p>
            <a:pPr marL="0" indent="0">
              <a:buNone/>
            </a:pPr>
            <a:r>
              <a:rPr lang="en-US" sz="900" b="1" kern="0" spc="200" dirty="0">
                <a:solidFill>
                  <a:srgbClr val="14B8A6"/>
                </a:solidFill>
                <a:latin typeface="Calibri" pitchFamily="34" charset="0"/>
                <a:ea typeface="Calibri" pitchFamily="34" charset="-122"/>
                <a:cs typeface="Calibri" pitchFamily="34" charset="-120"/>
              </a:rPr>
              <a:t>ECS PROVIDES  </a:t>
            </a:r>
            <a:r>
              <a:rPr lang="en-US" sz="900" dirty="0">
                <a:solidFill>
                  <a:srgbClr val="1E293B"/>
                </a:solidFill>
                <a:latin typeface="Calibri" pitchFamily="34" charset="0"/>
                <a:ea typeface="Calibri" pitchFamily="34" charset="-122"/>
                <a:cs typeface="Calibri" pitchFamily="34" charset="-120"/>
              </a:rPr>
              <a:t>facilitator · demo environment · accelerator templates · cadence · ServiceNow design</a:t>
            </a:r>
            <a:r>
              <a:rPr lang="en-US" sz="900" dirty="0">
                <a:solidFill>
                  <a:srgbClr val="E2E8F0"/>
                </a:solidFill>
                <a:latin typeface="Calibri" pitchFamily="34" charset="0"/>
                <a:ea typeface="Calibri" pitchFamily="34" charset="-122"/>
                <a:cs typeface="Calibri" pitchFamily="34" charset="-120"/>
              </a:rPr>
              <a:t>      |      </a:t>
            </a:r>
            <a:r>
              <a:rPr lang="en-US" sz="900" b="1" kern="0" spc="200" dirty="0">
                <a:solidFill>
                  <a:srgbClr val="14B8A6"/>
                </a:solidFill>
                <a:latin typeface="Calibri" pitchFamily="34" charset="0"/>
                <a:ea typeface="Calibri" pitchFamily="34" charset="-122"/>
                <a:cs typeface="Calibri" pitchFamily="34" charset="-120"/>
              </a:rPr>
              <a:t>CONNECTION PROVIDES  </a:t>
            </a:r>
            <a:r>
              <a:rPr lang="en-US" sz="900" dirty="0">
                <a:solidFill>
                  <a:srgbClr val="1E293B"/>
                </a:solidFill>
                <a:latin typeface="Calibri" pitchFamily="34" charset="0"/>
                <a:ea typeface="Calibri" pitchFamily="34" charset="-122"/>
                <a:cs typeface="Calibri" pitchFamily="34" charset="-120"/>
              </a:rPr>
              <a:t>empowered process owners · timely SMEs · source-system access · signed-off outputs</a:t>
            </a:r>
            <a:endParaRPr lang="en-US" sz="900" dirty="0"/>
          </a:p>
        </p:txBody>
      </p:sp>
      <p:sp>
        <p:nvSpPr>
          <p:cNvPr id="32" name="Shape 30"/>
          <p:cNvSpPr/>
          <p:nvPr/>
        </p:nvSpPr>
        <p:spPr>
          <a:xfrm>
            <a:off x="0" y="4818888"/>
            <a:ext cx="9144000" cy="324612"/>
          </a:xfrm>
          <a:prstGeom prst="rect">
            <a:avLst/>
          </a:prstGeom>
          <a:solidFill>
            <a:srgbClr val="0B1F3A"/>
          </a:solidFill>
          <a:ln w="12700">
            <a:solidFill>
              <a:srgbClr val="0B1F3A"/>
            </a:solidFill>
            <a:prstDash val="solid"/>
          </a:ln>
        </p:spPr>
        <p:txBody>
          <a:bodyPr/>
          <a:lstStyle/>
          <a:p>
            <a:endParaRPr lang="en-US"/>
          </a:p>
        </p:txBody>
      </p:sp>
      <p:pic>
        <p:nvPicPr>
          <p:cNvPr id="33" name="Image 0" descr="/sessions/laughing-cool-lovelace/mnt/outputs/deck/everforth_ecs_federal_white.png"/>
          <p:cNvPicPr>
            <a:picLocks noChangeAspect="1"/>
          </p:cNvPicPr>
          <p:nvPr/>
        </p:nvPicPr>
        <p:blipFill>
          <a:blip r:embed="rId3"/>
          <a:stretch>
            <a:fillRect/>
          </a:stretch>
        </p:blipFill>
        <p:spPr>
          <a:xfrm>
            <a:off x="365760" y="4873752"/>
            <a:ext cx="1188720" cy="220855"/>
          </a:xfrm>
          <a:prstGeom prst="rect">
            <a:avLst/>
          </a:prstGeom>
        </p:spPr>
      </p:pic>
      <p:sp>
        <p:nvSpPr>
          <p:cNvPr id="34" name="Text 31"/>
          <p:cNvSpPr/>
          <p:nvPr/>
        </p:nvSpPr>
        <p:spPr>
          <a:xfrm>
            <a:off x="1828800" y="4910328"/>
            <a:ext cx="5486400" cy="146304"/>
          </a:xfrm>
          <a:prstGeom prst="rect">
            <a:avLst/>
          </a:prstGeom>
          <a:noFill/>
          <a:ln/>
        </p:spPr>
        <p:txBody>
          <a:bodyPr wrap="square" lIns="0" tIns="0" rIns="0" bIns="0" rtlCol="0" anchor="ctr"/>
          <a:lstStyle/>
          <a:p>
            <a:pPr marL="0" indent="0">
              <a:buNone/>
            </a:pPr>
            <a:r>
              <a:rPr lang="en-US" sz="750" kern="0" spc="400" dirty="0">
                <a:solidFill>
                  <a:srgbClr val="CBD5E1"/>
                </a:solidFill>
                <a:latin typeface="Calibri" pitchFamily="34" charset="0"/>
                <a:ea typeface="Calibri" pitchFamily="34" charset="-122"/>
                <a:cs typeface="Calibri" pitchFamily="34" charset="-120"/>
              </a:rPr>
              <a:t>ECS  ·  PC CONNECTION  ·  SERVICENOW RE-IMPLEMENTATION</a:t>
            </a:r>
            <a:endParaRPr lang="en-US" sz="750" dirty="0"/>
          </a:p>
        </p:txBody>
      </p:sp>
      <p:sp>
        <p:nvSpPr>
          <p:cNvPr id="35" name="Text 32"/>
          <p:cNvSpPr/>
          <p:nvPr/>
        </p:nvSpPr>
        <p:spPr>
          <a:xfrm>
            <a:off x="7863840" y="4910328"/>
            <a:ext cx="914400" cy="146304"/>
          </a:xfrm>
          <a:prstGeom prst="rect">
            <a:avLst/>
          </a:prstGeom>
          <a:noFill/>
          <a:ln/>
        </p:spPr>
        <p:txBody>
          <a:bodyPr wrap="square" lIns="0" tIns="0" rIns="0" bIns="0" rtlCol="0" anchor="ctr"/>
          <a:lstStyle/>
          <a:p>
            <a:pPr marL="0" indent="0" algn="r">
              <a:buNone/>
            </a:pPr>
            <a:r>
              <a:rPr lang="en-US" sz="750" dirty="0">
                <a:solidFill>
                  <a:srgbClr val="CBD5E1"/>
                </a:solidFill>
                <a:latin typeface="Calibri" pitchFamily="34" charset="0"/>
                <a:ea typeface="Calibri" pitchFamily="34" charset="-122"/>
                <a:cs typeface="Calibri" pitchFamily="34" charset="-120"/>
              </a:rPr>
              <a:t>8 / 19</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92608"/>
            <a:ext cx="8412480" cy="228600"/>
          </a:xfrm>
          <a:prstGeom prst="rect">
            <a:avLst/>
          </a:prstGeom>
          <a:noFill/>
          <a:ln/>
        </p:spPr>
        <p:txBody>
          <a:bodyPr wrap="square" lIns="0" tIns="0" rIns="0" bIns="0" rtlCol="0" anchor="ctr"/>
          <a:lstStyle/>
          <a:p>
            <a:pPr marL="0" indent="0">
              <a:buNone/>
            </a:pPr>
            <a:r>
              <a:rPr lang="en-US" sz="900" b="1" kern="0" spc="600" dirty="0">
                <a:solidFill>
                  <a:srgbClr val="14B8A6"/>
                </a:solidFill>
                <a:latin typeface="Calibri" pitchFamily="34" charset="0"/>
                <a:ea typeface="Calibri" pitchFamily="34" charset="-122"/>
                <a:cs typeface="Calibri" pitchFamily="34" charset="-120"/>
              </a:rPr>
              <a:t>08  ·  INITIAL SERVICE CATALOG</a:t>
            </a:r>
            <a:endParaRPr lang="en-US" sz="900" dirty="0"/>
          </a:p>
        </p:txBody>
      </p:sp>
      <p:sp>
        <p:nvSpPr>
          <p:cNvPr id="3" name="Text 1"/>
          <p:cNvSpPr/>
          <p:nvPr/>
        </p:nvSpPr>
        <p:spPr>
          <a:xfrm>
            <a:off x="365760" y="502920"/>
            <a:ext cx="8412480" cy="502920"/>
          </a:xfrm>
          <a:prstGeom prst="rect">
            <a:avLst/>
          </a:prstGeom>
          <a:noFill/>
          <a:ln/>
        </p:spPr>
        <p:txBody>
          <a:bodyPr wrap="square" lIns="0" tIns="0" rIns="0" bIns="0" rtlCol="0" anchor="ctr"/>
          <a:lstStyle/>
          <a:p>
            <a:pPr marL="0" indent="0">
              <a:buNone/>
            </a:pPr>
            <a:r>
              <a:rPr lang="en-US" sz="2400" b="1" dirty="0">
                <a:solidFill>
                  <a:srgbClr val="0B1F3A"/>
                </a:solidFill>
                <a:latin typeface="Calibri" pitchFamily="34" charset="0"/>
                <a:ea typeface="Calibri" pitchFamily="34" charset="-122"/>
                <a:cs typeface="Calibri" pitchFamily="34" charset="-120"/>
              </a:rPr>
              <a:t>10–15 most impactful  +  2–3 generic  =  no customer left behind</a:t>
            </a:r>
            <a:endParaRPr lang="en-US" sz="2400" dirty="0"/>
          </a:p>
        </p:txBody>
      </p:sp>
      <p:sp>
        <p:nvSpPr>
          <p:cNvPr id="4" name="Shape 2"/>
          <p:cNvSpPr/>
          <p:nvPr/>
        </p:nvSpPr>
        <p:spPr>
          <a:xfrm>
            <a:off x="365760" y="1325880"/>
            <a:ext cx="2743200" cy="2743200"/>
          </a:xfrm>
          <a:prstGeom prst="rect">
            <a:avLst/>
          </a:prstGeom>
          <a:solidFill>
            <a:srgbClr val="071427"/>
          </a:solidFill>
          <a:ln w="12700">
            <a:solidFill>
              <a:srgbClr val="071427"/>
            </a:solidFill>
            <a:prstDash val="solid"/>
          </a:ln>
        </p:spPr>
        <p:txBody>
          <a:bodyPr/>
          <a:lstStyle/>
          <a:p>
            <a:endParaRPr lang="en-US"/>
          </a:p>
        </p:txBody>
      </p:sp>
      <p:sp>
        <p:nvSpPr>
          <p:cNvPr id="5" name="Text 3"/>
          <p:cNvSpPr/>
          <p:nvPr/>
        </p:nvSpPr>
        <p:spPr>
          <a:xfrm>
            <a:off x="365760" y="1463040"/>
            <a:ext cx="2743200" cy="914400"/>
          </a:xfrm>
          <a:prstGeom prst="rect">
            <a:avLst/>
          </a:prstGeom>
          <a:noFill/>
          <a:ln/>
        </p:spPr>
        <p:txBody>
          <a:bodyPr wrap="square" lIns="0" tIns="0" rIns="0" bIns="0" rtlCol="0" anchor="ctr"/>
          <a:lstStyle/>
          <a:p>
            <a:pPr marL="0" indent="0" algn="ctr">
              <a:buNone/>
            </a:pPr>
            <a:r>
              <a:rPr lang="en-US" sz="5600" b="1" dirty="0">
                <a:solidFill>
                  <a:srgbClr val="5EEAD4"/>
                </a:solidFill>
                <a:latin typeface="Calibri" pitchFamily="34" charset="0"/>
                <a:ea typeface="Calibri" pitchFamily="34" charset="-122"/>
                <a:cs typeface="Calibri" pitchFamily="34" charset="-120"/>
              </a:rPr>
              <a:t>10–15</a:t>
            </a:r>
            <a:endParaRPr lang="en-US" sz="5600" dirty="0"/>
          </a:p>
        </p:txBody>
      </p:sp>
      <p:sp>
        <p:nvSpPr>
          <p:cNvPr id="6" name="Text 4"/>
          <p:cNvSpPr/>
          <p:nvPr/>
        </p:nvSpPr>
        <p:spPr>
          <a:xfrm>
            <a:off x="365760" y="2468880"/>
            <a:ext cx="2743200" cy="274320"/>
          </a:xfrm>
          <a:prstGeom prst="rect">
            <a:avLst/>
          </a:prstGeom>
          <a:noFill/>
          <a:ln/>
        </p:spPr>
        <p:txBody>
          <a:bodyPr wrap="square" lIns="0" tIns="0" rIns="0" bIns="0" rtlCol="0" anchor="ctr"/>
          <a:lstStyle/>
          <a:p>
            <a:pPr marL="0" indent="0" algn="ctr">
              <a:buNone/>
            </a:pPr>
            <a:r>
              <a:rPr lang="en-US" sz="1100" b="1" kern="0" spc="400" dirty="0">
                <a:solidFill>
                  <a:srgbClr val="FFFFFF"/>
                </a:solidFill>
                <a:latin typeface="Calibri" pitchFamily="34" charset="0"/>
                <a:ea typeface="Calibri" pitchFamily="34" charset="-122"/>
                <a:cs typeface="Calibri" pitchFamily="34" charset="-120"/>
              </a:rPr>
              <a:t>MOST IMPACTFUL</a:t>
            </a:r>
            <a:endParaRPr lang="en-US" sz="1100" dirty="0"/>
          </a:p>
        </p:txBody>
      </p:sp>
      <p:sp>
        <p:nvSpPr>
          <p:cNvPr id="7" name="Text 5"/>
          <p:cNvSpPr/>
          <p:nvPr/>
        </p:nvSpPr>
        <p:spPr>
          <a:xfrm>
            <a:off x="502920" y="2834640"/>
            <a:ext cx="2468880" cy="1097280"/>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Existing catalog items with clearly defined activities, workflows, approvals; current configuration leveraged where it does not introduce technical debt.</a:t>
            </a:r>
            <a:endParaRPr lang="en-US" sz="1000" dirty="0"/>
          </a:p>
        </p:txBody>
      </p:sp>
      <p:sp>
        <p:nvSpPr>
          <p:cNvPr id="8" name="Text 6"/>
          <p:cNvSpPr/>
          <p:nvPr/>
        </p:nvSpPr>
        <p:spPr>
          <a:xfrm>
            <a:off x="3154680" y="2286000"/>
            <a:ext cx="365760" cy="640080"/>
          </a:xfrm>
          <a:prstGeom prst="rect">
            <a:avLst/>
          </a:prstGeom>
          <a:noFill/>
          <a:ln/>
        </p:spPr>
        <p:txBody>
          <a:bodyPr wrap="square" lIns="0" tIns="0" rIns="0" bIns="0" rtlCol="0" anchor="ctr"/>
          <a:lstStyle/>
          <a:p>
            <a:pPr marL="0" indent="0" algn="ctr">
              <a:buNone/>
            </a:pPr>
            <a:r>
              <a:rPr lang="en-US" sz="4800" b="1" dirty="0">
                <a:solidFill>
                  <a:srgbClr val="14B8A6"/>
                </a:solidFill>
                <a:latin typeface="Calibri" pitchFamily="34" charset="0"/>
                <a:ea typeface="Calibri" pitchFamily="34" charset="-122"/>
                <a:cs typeface="Calibri" pitchFamily="34" charset="-120"/>
              </a:rPr>
              <a:t>+</a:t>
            </a:r>
            <a:endParaRPr lang="en-US" sz="4800" dirty="0"/>
          </a:p>
        </p:txBody>
      </p:sp>
      <p:sp>
        <p:nvSpPr>
          <p:cNvPr id="9" name="Shape 7"/>
          <p:cNvSpPr/>
          <p:nvPr/>
        </p:nvSpPr>
        <p:spPr>
          <a:xfrm>
            <a:off x="3611880" y="1325880"/>
            <a:ext cx="2743200" cy="2743200"/>
          </a:xfrm>
          <a:prstGeom prst="rect">
            <a:avLst/>
          </a:prstGeom>
          <a:solidFill>
            <a:srgbClr val="14B8A6"/>
          </a:solidFill>
          <a:ln w="12700">
            <a:solidFill>
              <a:srgbClr val="14B8A6"/>
            </a:solidFill>
            <a:prstDash val="solid"/>
          </a:ln>
        </p:spPr>
        <p:txBody>
          <a:bodyPr/>
          <a:lstStyle/>
          <a:p>
            <a:endParaRPr lang="en-US"/>
          </a:p>
        </p:txBody>
      </p:sp>
      <p:sp>
        <p:nvSpPr>
          <p:cNvPr id="10" name="Text 8"/>
          <p:cNvSpPr/>
          <p:nvPr/>
        </p:nvSpPr>
        <p:spPr>
          <a:xfrm>
            <a:off x="3611880" y="1463040"/>
            <a:ext cx="2743200" cy="914400"/>
          </a:xfrm>
          <a:prstGeom prst="rect">
            <a:avLst/>
          </a:prstGeom>
          <a:noFill/>
          <a:ln/>
        </p:spPr>
        <p:txBody>
          <a:bodyPr wrap="square" lIns="0" tIns="0" rIns="0" bIns="0"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2–3</a:t>
            </a:r>
            <a:endParaRPr lang="en-US" sz="5600" dirty="0"/>
          </a:p>
        </p:txBody>
      </p:sp>
      <p:sp>
        <p:nvSpPr>
          <p:cNvPr id="11" name="Text 9"/>
          <p:cNvSpPr/>
          <p:nvPr/>
        </p:nvSpPr>
        <p:spPr>
          <a:xfrm>
            <a:off x="3611880" y="2468880"/>
            <a:ext cx="2743200" cy="274320"/>
          </a:xfrm>
          <a:prstGeom prst="rect">
            <a:avLst/>
          </a:prstGeom>
          <a:noFill/>
          <a:ln/>
        </p:spPr>
        <p:txBody>
          <a:bodyPr wrap="square" lIns="0" tIns="0" rIns="0" bIns="0" rtlCol="0" anchor="ctr"/>
          <a:lstStyle/>
          <a:p>
            <a:pPr marL="0" indent="0" algn="ctr">
              <a:buNone/>
            </a:pPr>
            <a:r>
              <a:rPr lang="en-US" sz="1100" b="1" kern="0" spc="400" dirty="0">
                <a:solidFill>
                  <a:srgbClr val="0B1F3A"/>
                </a:solidFill>
                <a:latin typeface="Calibri" pitchFamily="34" charset="0"/>
                <a:ea typeface="Calibri" pitchFamily="34" charset="-122"/>
                <a:cs typeface="Calibri" pitchFamily="34" charset="-120"/>
              </a:rPr>
              <a:t>GENERIC ITEMS</a:t>
            </a:r>
            <a:endParaRPr lang="en-US" sz="1100" dirty="0"/>
          </a:p>
        </p:txBody>
      </p:sp>
      <p:sp>
        <p:nvSpPr>
          <p:cNvPr id="12" name="Text 10"/>
          <p:cNvSpPr/>
          <p:nvPr/>
        </p:nvSpPr>
        <p:spPr>
          <a:xfrm>
            <a:off x="3749040" y="2834640"/>
            <a:ext cx="2468880" cy="1097280"/>
          </a:xfrm>
          <a:prstGeom prst="rect">
            <a:avLst/>
          </a:prstGeom>
          <a:noFill/>
          <a:ln/>
        </p:spPr>
        <p:txBody>
          <a:bodyPr wrap="square" lIns="0" tIns="0" rIns="0" bIns="0" rtlCol="0" anchor="ctr"/>
          <a:lstStyle/>
          <a:p>
            <a:pPr marL="0" indent="0" algn="ctr">
              <a:buNone/>
            </a:pPr>
            <a:r>
              <a:rPr lang="en-US" sz="1000" dirty="0">
                <a:solidFill>
                  <a:srgbClr val="071427"/>
                </a:solidFill>
                <a:latin typeface="Calibri" pitchFamily="34" charset="0"/>
                <a:ea typeface="Calibri" pitchFamily="34" charset="-122"/>
                <a:cs typeface="Calibri" pitchFamily="34" charset="-120"/>
              </a:rPr>
              <a:t>Designed to capture services that do not yet have a dedicated workflow — every customer has a viable path on day one.</a:t>
            </a:r>
            <a:endParaRPr lang="en-US" sz="1000" dirty="0"/>
          </a:p>
        </p:txBody>
      </p:sp>
      <p:sp>
        <p:nvSpPr>
          <p:cNvPr id="13" name="Text 11"/>
          <p:cNvSpPr/>
          <p:nvPr/>
        </p:nvSpPr>
        <p:spPr>
          <a:xfrm>
            <a:off x="6400800" y="2286000"/>
            <a:ext cx="365760" cy="640080"/>
          </a:xfrm>
          <a:prstGeom prst="rect">
            <a:avLst/>
          </a:prstGeom>
          <a:noFill/>
          <a:ln/>
        </p:spPr>
        <p:txBody>
          <a:bodyPr wrap="square" lIns="0" tIns="0" rIns="0" bIns="0" rtlCol="0" anchor="ctr"/>
          <a:lstStyle/>
          <a:p>
            <a:pPr marL="0" indent="0" algn="ctr">
              <a:buNone/>
            </a:pPr>
            <a:r>
              <a:rPr lang="en-US" sz="4800" b="1" dirty="0">
                <a:solidFill>
                  <a:srgbClr val="14B8A6"/>
                </a:solidFill>
                <a:latin typeface="Calibri" pitchFamily="34" charset="0"/>
                <a:ea typeface="Calibri" pitchFamily="34" charset="-122"/>
                <a:cs typeface="Calibri" pitchFamily="34" charset="-120"/>
              </a:rPr>
              <a:t>=</a:t>
            </a:r>
            <a:endParaRPr lang="en-US" sz="4800" dirty="0"/>
          </a:p>
        </p:txBody>
      </p:sp>
      <p:sp>
        <p:nvSpPr>
          <p:cNvPr id="14" name="Shape 12"/>
          <p:cNvSpPr/>
          <p:nvPr/>
        </p:nvSpPr>
        <p:spPr>
          <a:xfrm>
            <a:off x="6858000" y="1325880"/>
            <a:ext cx="1920240" cy="2743200"/>
          </a:xfrm>
          <a:prstGeom prst="rect">
            <a:avLst/>
          </a:prstGeom>
          <a:solidFill>
            <a:srgbClr val="FFFFFF"/>
          </a:solidFill>
          <a:ln w="25400">
            <a:solidFill>
              <a:srgbClr val="0B1F3A"/>
            </a:solidFill>
            <a:prstDash val="solid"/>
          </a:ln>
        </p:spPr>
        <p:txBody>
          <a:bodyPr/>
          <a:lstStyle/>
          <a:p>
            <a:endParaRPr lang="en-US"/>
          </a:p>
        </p:txBody>
      </p:sp>
      <p:sp>
        <p:nvSpPr>
          <p:cNvPr id="15" name="Shape 13"/>
          <p:cNvSpPr/>
          <p:nvPr/>
        </p:nvSpPr>
        <p:spPr>
          <a:xfrm>
            <a:off x="6858000" y="1325880"/>
            <a:ext cx="1920240" cy="54864"/>
          </a:xfrm>
          <a:prstGeom prst="rect">
            <a:avLst/>
          </a:prstGeom>
          <a:solidFill>
            <a:srgbClr val="14B8A6"/>
          </a:solidFill>
          <a:ln w="12700">
            <a:solidFill>
              <a:srgbClr val="14B8A6"/>
            </a:solidFill>
            <a:prstDash val="solid"/>
          </a:ln>
        </p:spPr>
        <p:txBody>
          <a:bodyPr/>
          <a:lstStyle/>
          <a:p>
            <a:endParaRPr lang="en-US"/>
          </a:p>
        </p:txBody>
      </p:sp>
      <p:sp>
        <p:nvSpPr>
          <p:cNvPr id="16" name="Text 14"/>
          <p:cNvSpPr/>
          <p:nvPr/>
        </p:nvSpPr>
        <p:spPr>
          <a:xfrm>
            <a:off x="6949440" y="1508760"/>
            <a:ext cx="1737360" cy="548640"/>
          </a:xfrm>
          <a:prstGeom prst="rect">
            <a:avLst/>
          </a:prstGeom>
          <a:noFill/>
          <a:ln/>
        </p:spPr>
        <p:txBody>
          <a:bodyPr wrap="square" lIns="0" tIns="0" rIns="0" bIns="0" rtlCol="0" anchor="ctr"/>
          <a:lstStyle/>
          <a:p>
            <a:pPr marL="0" indent="0">
              <a:buNone/>
            </a:pPr>
            <a:r>
              <a:rPr lang="en-US" sz="1000" b="1" kern="0" spc="300" dirty="0">
                <a:solidFill>
                  <a:srgbClr val="14B8A6"/>
                </a:solidFill>
                <a:latin typeface="Calibri" pitchFamily="34" charset="0"/>
                <a:ea typeface="Calibri" pitchFamily="34" charset="-122"/>
                <a:cs typeface="Calibri" pitchFamily="34" charset="-120"/>
              </a:rPr>
              <a:t>EVERY SERVICE ACCOUNTED FOR</a:t>
            </a:r>
            <a:endParaRPr lang="en-US" sz="1000" dirty="0"/>
          </a:p>
        </p:txBody>
      </p:sp>
      <p:sp>
        <p:nvSpPr>
          <p:cNvPr id="17" name="Text 15"/>
          <p:cNvSpPr/>
          <p:nvPr/>
        </p:nvSpPr>
        <p:spPr>
          <a:xfrm>
            <a:off x="6949440" y="2148840"/>
            <a:ext cx="1737360" cy="45720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Phase 1 lands the most impactful items.</a:t>
            </a:r>
            <a:endParaRPr lang="en-US" sz="1000" dirty="0"/>
          </a:p>
        </p:txBody>
      </p:sp>
      <p:sp>
        <p:nvSpPr>
          <p:cNvPr id="18" name="Text 16"/>
          <p:cNvSpPr/>
          <p:nvPr/>
        </p:nvSpPr>
        <p:spPr>
          <a:xfrm>
            <a:off x="6949440" y="2606040"/>
            <a:ext cx="1737360" cy="45720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Generic items keep all customers covered.</a:t>
            </a:r>
            <a:endParaRPr lang="en-US" sz="1000" dirty="0"/>
          </a:p>
        </p:txBody>
      </p:sp>
      <p:sp>
        <p:nvSpPr>
          <p:cNvPr id="19" name="Text 17"/>
          <p:cNvSpPr/>
          <p:nvPr/>
        </p:nvSpPr>
        <p:spPr>
          <a:xfrm>
            <a:off x="6949440" y="3108960"/>
            <a:ext cx="1737360" cy="6400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Expanded directed workflows arrive in later phases.</a:t>
            </a:r>
            <a:endParaRPr lang="en-US" sz="1000" dirty="0"/>
          </a:p>
        </p:txBody>
      </p:sp>
      <p:sp>
        <p:nvSpPr>
          <p:cNvPr id="20" name="Shape 18"/>
          <p:cNvSpPr/>
          <p:nvPr/>
        </p:nvSpPr>
        <p:spPr>
          <a:xfrm>
            <a:off x="365760" y="4297680"/>
            <a:ext cx="8412480" cy="457200"/>
          </a:xfrm>
          <a:prstGeom prst="rect">
            <a:avLst/>
          </a:prstGeom>
          <a:solidFill>
            <a:srgbClr val="F8FAFC"/>
          </a:solidFill>
          <a:ln w="12700">
            <a:solidFill>
              <a:srgbClr val="E2E8F0"/>
            </a:solidFill>
            <a:prstDash val="solid"/>
          </a:ln>
        </p:spPr>
        <p:txBody>
          <a:bodyPr/>
          <a:lstStyle/>
          <a:p>
            <a:endParaRPr lang="en-US"/>
          </a:p>
        </p:txBody>
      </p:sp>
      <p:sp>
        <p:nvSpPr>
          <p:cNvPr id="21" name="Text 19"/>
          <p:cNvSpPr/>
          <p:nvPr/>
        </p:nvSpPr>
        <p:spPr>
          <a:xfrm>
            <a:off x="365760" y="4297680"/>
            <a:ext cx="8412480" cy="457200"/>
          </a:xfrm>
          <a:prstGeom prst="rect">
            <a:avLst/>
          </a:prstGeom>
          <a:noFill/>
          <a:ln/>
        </p:spPr>
        <p:txBody>
          <a:bodyPr wrap="square" lIns="0" tIns="0" rIns="0" bIns="0" rtlCol="0" anchor="ctr"/>
          <a:lstStyle/>
          <a:p>
            <a:pPr marL="0" indent="0" algn="ctr">
              <a:buNone/>
            </a:pPr>
            <a:r>
              <a:rPr lang="en-US" sz="1000" i="1" dirty="0">
                <a:solidFill>
                  <a:srgbClr val="0B1F3A"/>
                </a:solidFill>
                <a:latin typeface="Calibri" pitchFamily="34" charset="0"/>
                <a:ea typeface="Calibri" pitchFamily="34" charset="-122"/>
                <a:cs typeface="Calibri" pitchFamily="34" charset="-120"/>
              </a:rPr>
              <a:t>"We don't want to leave any of the customers behind."  —  Kristen, Connection</a:t>
            </a:r>
            <a:endParaRPr lang="en-US" sz="1000" dirty="0"/>
          </a:p>
        </p:txBody>
      </p:sp>
      <p:sp>
        <p:nvSpPr>
          <p:cNvPr id="22" name="Shape 20"/>
          <p:cNvSpPr/>
          <p:nvPr/>
        </p:nvSpPr>
        <p:spPr>
          <a:xfrm>
            <a:off x="0" y="4818888"/>
            <a:ext cx="9144000" cy="324612"/>
          </a:xfrm>
          <a:prstGeom prst="rect">
            <a:avLst/>
          </a:prstGeom>
          <a:solidFill>
            <a:srgbClr val="0B1F3A"/>
          </a:solidFill>
          <a:ln w="12700">
            <a:solidFill>
              <a:srgbClr val="0B1F3A"/>
            </a:solidFill>
            <a:prstDash val="solid"/>
          </a:ln>
        </p:spPr>
        <p:txBody>
          <a:bodyPr/>
          <a:lstStyle/>
          <a:p>
            <a:endParaRPr lang="en-US"/>
          </a:p>
        </p:txBody>
      </p:sp>
      <p:pic>
        <p:nvPicPr>
          <p:cNvPr id="23" name="Image 0" descr="/sessions/laughing-cool-lovelace/mnt/outputs/deck/everforth_ecs_federal_white.png"/>
          <p:cNvPicPr>
            <a:picLocks noChangeAspect="1"/>
          </p:cNvPicPr>
          <p:nvPr/>
        </p:nvPicPr>
        <p:blipFill>
          <a:blip r:embed="rId3"/>
          <a:stretch>
            <a:fillRect/>
          </a:stretch>
        </p:blipFill>
        <p:spPr>
          <a:xfrm>
            <a:off x="365760" y="4873752"/>
            <a:ext cx="1188720" cy="220855"/>
          </a:xfrm>
          <a:prstGeom prst="rect">
            <a:avLst/>
          </a:prstGeom>
        </p:spPr>
      </p:pic>
      <p:sp>
        <p:nvSpPr>
          <p:cNvPr id="24" name="Text 21"/>
          <p:cNvSpPr/>
          <p:nvPr/>
        </p:nvSpPr>
        <p:spPr>
          <a:xfrm>
            <a:off x="1828800" y="4910328"/>
            <a:ext cx="5486400" cy="146304"/>
          </a:xfrm>
          <a:prstGeom prst="rect">
            <a:avLst/>
          </a:prstGeom>
          <a:noFill/>
          <a:ln/>
        </p:spPr>
        <p:txBody>
          <a:bodyPr wrap="square" lIns="0" tIns="0" rIns="0" bIns="0" rtlCol="0" anchor="ctr"/>
          <a:lstStyle/>
          <a:p>
            <a:pPr marL="0" indent="0">
              <a:buNone/>
            </a:pPr>
            <a:r>
              <a:rPr lang="en-US" sz="750" kern="0" spc="400" dirty="0">
                <a:solidFill>
                  <a:srgbClr val="CBD5E1"/>
                </a:solidFill>
                <a:latin typeface="Calibri" pitchFamily="34" charset="0"/>
                <a:ea typeface="Calibri" pitchFamily="34" charset="-122"/>
                <a:cs typeface="Calibri" pitchFamily="34" charset="-120"/>
              </a:rPr>
              <a:t>ECS  ·  PC CONNECTION  ·  SERVICENOW RE-IMPLEMENTATION</a:t>
            </a:r>
            <a:endParaRPr lang="en-US" sz="750" dirty="0"/>
          </a:p>
        </p:txBody>
      </p:sp>
      <p:sp>
        <p:nvSpPr>
          <p:cNvPr id="25" name="Text 22"/>
          <p:cNvSpPr/>
          <p:nvPr/>
        </p:nvSpPr>
        <p:spPr>
          <a:xfrm>
            <a:off x="7863840" y="4910328"/>
            <a:ext cx="914400" cy="146304"/>
          </a:xfrm>
          <a:prstGeom prst="rect">
            <a:avLst/>
          </a:prstGeom>
          <a:noFill/>
          <a:ln/>
        </p:spPr>
        <p:txBody>
          <a:bodyPr wrap="square" lIns="0" tIns="0" rIns="0" bIns="0" rtlCol="0" anchor="ctr"/>
          <a:lstStyle/>
          <a:p>
            <a:pPr marL="0" indent="0" algn="r">
              <a:buNone/>
            </a:pPr>
            <a:r>
              <a:rPr lang="en-US" sz="750" dirty="0">
                <a:solidFill>
                  <a:srgbClr val="CBD5E1"/>
                </a:solidFill>
                <a:latin typeface="Calibri" pitchFamily="34" charset="0"/>
                <a:ea typeface="Calibri" pitchFamily="34" charset="-122"/>
                <a:cs typeface="Calibri" pitchFamily="34" charset="-120"/>
              </a:rPr>
              <a:t>9 / 19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92608"/>
            <a:ext cx="8412480" cy="228600"/>
          </a:xfrm>
          <a:prstGeom prst="rect">
            <a:avLst/>
          </a:prstGeom>
          <a:noFill/>
          <a:ln/>
        </p:spPr>
        <p:txBody>
          <a:bodyPr wrap="square" lIns="0" tIns="0" rIns="0" bIns="0" rtlCol="0" anchor="ctr"/>
          <a:lstStyle/>
          <a:p>
            <a:pPr marL="0" indent="0">
              <a:buNone/>
            </a:pPr>
            <a:r>
              <a:rPr lang="en-US" sz="900" b="1" kern="0" spc="600" dirty="0">
                <a:solidFill>
                  <a:srgbClr val="14B8A6"/>
                </a:solidFill>
                <a:latin typeface="Calibri" pitchFamily="34" charset="0"/>
                <a:ea typeface="Calibri" pitchFamily="34" charset="-122"/>
                <a:cs typeface="Calibri" pitchFamily="34" charset="-120"/>
              </a:rPr>
              <a:t>09  ·  ROADMAP</a:t>
            </a:r>
            <a:endParaRPr lang="en-US" sz="900" dirty="0"/>
          </a:p>
        </p:txBody>
      </p:sp>
      <p:sp>
        <p:nvSpPr>
          <p:cNvPr id="3" name="Text 1"/>
          <p:cNvSpPr/>
          <p:nvPr/>
        </p:nvSpPr>
        <p:spPr>
          <a:xfrm>
            <a:off x="365760" y="502920"/>
            <a:ext cx="8412480" cy="502920"/>
          </a:xfrm>
          <a:prstGeom prst="rect">
            <a:avLst/>
          </a:prstGeom>
          <a:noFill/>
          <a:ln/>
        </p:spPr>
        <p:txBody>
          <a:bodyPr wrap="square" lIns="0" tIns="0" rIns="0" bIns="0" rtlCol="0" anchor="ctr"/>
          <a:lstStyle/>
          <a:p>
            <a:pPr marL="0" indent="0">
              <a:buNone/>
            </a:pPr>
            <a:r>
              <a:rPr lang="en-US" sz="2400" b="1" dirty="0">
                <a:solidFill>
                  <a:srgbClr val="0B1F3A"/>
                </a:solidFill>
                <a:latin typeface="Calibri" pitchFamily="34" charset="0"/>
                <a:ea typeface="Calibri" pitchFamily="34" charset="-122"/>
                <a:cs typeface="Calibri" pitchFamily="34" charset="-120"/>
              </a:rPr>
              <a:t>Phase 1 implementation — 4 months, 8 sprints</a:t>
            </a:r>
            <a:endParaRPr lang="en-US" sz="2400" dirty="0"/>
          </a:p>
        </p:txBody>
      </p:sp>
      <p:sp>
        <p:nvSpPr>
          <p:cNvPr id="4" name="Shape 2"/>
          <p:cNvSpPr/>
          <p:nvPr/>
        </p:nvSpPr>
        <p:spPr>
          <a:xfrm>
            <a:off x="457200" y="2423160"/>
            <a:ext cx="8229600" cy="54864"/>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1188720"/>
            <a:ext cx="1920240" cy="1097280"/>
          </a:xfrm>
          <a:prstGeom prst="rect">
            <a:avLst/>
          </a:prstGeom>
          <a:solidFill>
            <a:srgbClr val="0B1F3A"/>
          </a:solidFill>
          <a:ln w="12700">
            <a:solidFill>
              <a:srgbClr val="0B1F3A"/>
            </a:solidFill>
            <a:prstDash val="solid"/>
          </a:ln>
        </p:spPr>
        <p:txBody>
          <a:bodyPr/>
          <a:lstStyle/>
          <a:p>
            <a:endParaRPr lang="en-US"/>
          </a:p>
        </p:txBody>
      </p:sp>
      <p:sp>
        <p:nvSpPr>
          <p:cNvPr id="6" name="Text 4"/>
          <p:cNvSpPr/>
          <p:nvPr/>
        </p:nvSpPr>
        <p:spPr>
          <a:xfrm>
            <a:off x="594360" y="1280160"/>
            <a:ext cx="1645920" cy="274320"/>
          </a:xfrm>
          <a:prstGeom prst="rect">
            <a:avLst/>
          </a:prstGeom>
          <a:noFill/>
          <a:ln/>
        </p:spPr>
        <p:txBody>
          <a:bodyPr wrap="square" lIns="0" tIns="0" rIns="0" bIns="0" rtlCol="0" anchor="ctr"/>
          <a:lstStyle/>
          <a:p>
            <a:pPr marL="0" indent="0">
              <a:buNone/>
            </a:pPr>
            <a:r>
              <a:rPr lang="en-US" sz="1000" b="1" kern="0" spc="400" dirty="0">
                <a:solidFill>
                  <a:srgbClr val="5EEAD4"/>
                </a:solidFill>
                <a:latin typeface="Calibri" pitchFamily="34" charset="0"/>
                <a:ea typeface="Calibri" pitchFamily="34" charset="-122"/>
                <a:cs typeface="Calibri" pitchFamily="34" charset="-120"/>
              </a:rPr>
              <a:t>MONTH 1</a:t>
            </a:r>
            <a:endParaRPr lang="en-US" sz="1000" dirty="0"/>
          </a:p>
        </p:txBody>
      </p:sp>
      <p:sp>
        <p:nvSpPr>
          <p:cNvPr id="7" name="Text 5"/>
          <p:cNvSpPr/>
          <p:nvPr/>
        </p:nvSpPr>
        <p:spPr>
          <a:xfrm>
            <a:off x="594360" y="1554480"/>
            <a:ext cx="1645920" cy="6400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Foundation &amp; Discovery</a:t>
            </a:r>
            <a:endParaRPr lang="en-US" sz="1400" dirty="0"/>
          </a:p>
        </p:txBody>
      </p:sp>
      <p:sp>
        <p:nvSpPr>
          <p:cNvPr id="8" name="Shape 6"/>
          <p:cNvSpPr/>
          <p:nvPr/>
        </p:nvSpPr>
        <p:spPr>
          <a:xfrm>
            <a:off x="1252728" y="2286000"/>
            <a:ext cx="329184" cy="329184"/>
          </a:xfrm>
          <a:prstGeom prst="ellipse">
            <a:avLst/>
          </a:prstGeom>
          <a:solidFill>
            <a:srgbClr val="14B8A6"/>
          </a:solidFill>
          <a:ln w="38100">
            <a:solidFill>
              <a:srgbClr val="FFFFFF"/>
            </a:solidFill>
            <a:prstDash val="solid"/>
          </a:ln>
        </p:spPr>
        <p:txBody>
          <a:bodyPr/>
          <a:lstStyle/>
          <a:p>
            <a:endParaRPr lang="en-US"/>
          </a:p>
        </p:txBody>
      </p:sp>
      <p:sp>
        <p:nvSpPr>
          <p:cNvPr id="9" name="Shape 7"/>
          <p:cNvSpPr/>
          <p:nvPr/>
        </p:nvSpPr>
        <p:spPr>
          <a:xfrm>
            <a:off x="457200" y="2834640"/>
            <a:ext cx="1920240" cy="1371600"/>
          </a:xfrm>
          <a:prstGeom prst="rect">
            <a:avLst/>
          </a:prstGeom>
          <a:solidFill>
            <a:srgbClr val="F8FAFC"/>
          </a:solidFill>
          <a:ln w="12700">
            <a:solidFill>
              <a:srgbClr val="E2E8F0"/>
            </a:solidFill>
            <a:prstDash val="solid"/>
          </a:ln>
        </p:spPr>
        <p:txBody>
          <a:bodyPr/>
          <a:lstStyle/>
          <a:p>
            <a:endParaRPr lang="en-US"/>
          </a:p>
        </p:txBody>
      </p:sp>
      <p:sp>
        <p:nvSpPr>
          <p:cNvPr id="10" name="Text 8"/>
          <p:cNvSpPr/>
          <p:nvPr/>
        </p:nvSpPr>
        <p:spPr>
          <a:xfrm>
            <a:off x="621792" y="2971800"/>
            <a:ext cx="1645920" cy="114300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Architecture, CSDM data model, Discovery &amp; connector ingestion begin.</a:t>
            </a:r>
            <a:endParaRPr lang="en-US" sz="1000" dirty="0"/>
          </a:p>
        </p:txBody>
      </p:sp>
      <p:sp>
        <p:nvSpPr>
          <p:cNvPr id="11" name="Shape 9"/>
          <p:cNvSpPr/>
          <p:nvPr/>
        </p:nvSpPr>
        <p:spPr>
          <a:xfrm>
            <a:off x="2496312" y="1188720"/>
            <a:ext cx="1920240" cy="1097280"/>
          </a:xfrm>
          <a:prstGeom prst="rect">
            <a:avLst/>
          </a:prstGeom>
          <a:solidFill>
            <a:srgbClr val="0B1F3A"/>
          </a:solidFill>
          <a:ln w="12700">
            <a:solidFill>
              <a:srgbClr val="0B1F3A"/>
            </a:solidFill>
            <a:prstDash val="solid"/>
          </a:ln>
        </p:spPr>
        <p:txBody>
          <a:bodyPr/>
          <a:lstStyle/>
          <a:p>
            <a:endParaRPr lang="en-US"/>
          </a:p>
        </p:txBody>
      </p:sp>
      <p:sp>
        <p:nvSpPr>
          <p:cNvPr id="12" name="Text 10"/>
          <p:cNvSpPr/>
          <p:nvPr/>
        </p:nvSpPr>
        <p:spPr>
          <a:xfrm>
            <a:off x="2633472" y="1280160"/>
            <a:ext cx="1645920" cy="274320"/>
          </a:xfrm>
          <a:prstGeom prst="rect">
            <a:avLst/>
          </a:prstGeom>
          <a:noFill/>
          <a:ln/>
        </p:spPr>
        <p:txBody>
          <a:bodyPr wrap="square" lIns="0" tIns="0" rIns="0" bIns="0" rtlCol="0" anchor="ctr"/>
          <a:lstStyle/>
          <a:p>
            <a:pPr marL="0" indent="0">
              <a:buNone/>
            </a:pPr>
            <a:r>
              <a:rPr lang="en-US" sz="1000" b="1" kern="0" spc="400" dirty="0">
                <a:solidFill>
                  <a:srgbClr val="5EEAD4"/>
                </a:solidFill>
                <a:latin typeface="Calibri" pitchFamily="34" charset="0"/>
                <a:ea typeface="Calibri" pitchFamily="34" charset="-122"/>
                <a:cs typeface="Calibri" pitchFamily="34" charset="-120"/>
              </a:rPr>
              <a:t>MONTH 2</a:t>
            </a:r>
            <a:endParaRPr lang="en-US" sz="1000" dirty="0"/>
          </a:p>
        </p:txBody>
      </p:sp>
      <p:sp>
        <p:nvSpPr>
          <p:cNvPr id="13" name="Text 11"/>
          <p:cNvSpPr/>
          <p:nvPr/>
        </p:nvSpPr>
        <p:spPr>
          <a:xfrm>
            <a:off x="2633472" y="1554480"/>
            <a:ext cx="1645920" cy="6400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Core Build</a:t>
            </a:r>
            <a:endParaRPr lang="en-US" sz="1400" dirty="0"/>
          </a:p>
        </p:txBody>
      </p:sp>
      <p:sp>
        <p:nvSpPr>
          <p:cNvPr id="14" name="Shape 12"/>
          <p:cNvSpPr/>
          <p:nvPr/>
        </p:nvSpPr>
        <p:spPr>
          <a:xfrm>
            <a:off x="3291840" y="2286000"/>
            <a:ext cx="329184" cy="329184"/>
          </a:xfrm>
          <a:prstGeom prst="ellipse">
            <a:avLst/>
          </a:prstGeom>
          <a:solidFill>
            <a:srgbClr val="14B8A6"/>
          </a:solidFill>
          <a:ln w="38100">
            <a:solidFill>
              <a:srgbClr val="FFFFFF"/>
            </a:solidFill>
            <a:prstDash val="solid"/>
          </a:ln>
        </p:spPr>
        <p:txBody>
          <a:bodyPr/>
          <a:lstStyle/>
          <a:p>
            <a:endParaRPr lang="en-US"/>
          </a:p>
        </p:txBody>
      </p:sp>
      <p:sp>
        <p:nvSpPr>
          <p:cNvPr id="15" name="Shape 13"/>
          <p:cNvSpPr/>
          <p:nvPr/>
        </p:nvSpPr>
        <p:spPr>
          <a:xfrm>
            <a:off x="2496312" y="2834640"/>
            <a:ext cx="1920240" cy="1371600"/>
          </a:xfrm>
          <a:prstGeom prst="rect">
            <a:avLst/>
          </a:prstGeom>
          <a:solidFill>
            <a:srgbClr val="F8FAFC"/>
          </a:solidFill>
          <a:ln w="12700">
            <a:solidFill>
              <a:srgbClr val="E2E8F0"/>
            </a:solidFill>
            <a:prstDash val="solid"/>
          </a:ln>
        </p:spPr>
        <p:txBody>
          <a:bodyPr/>
          <a:lstStyle/>
          <a:p>
            <a:endParaRPr lang="en-US"/>
          </a:p>
        </p:txBody>
      </p:sp>
      <p:sp>
        <p:nvSpPr>
          <p:cNvPr id="16" name="Text 14"/>
          <p:cNvSpPr/>
          <p:nvPr/>
        </p:nvSpPr>
        <p:spPr>
          <a:xfrm>
            <a:off x="2660904" y="2971800"/>
            <a:ext cx="1645920" cy="114300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ITSM Core (INC/PRB/REQ), modernized Change/CAB, top-priority catalog items.</a:t>
            </a:r>
            <a:endParaRPr lang="en-US" sz="1000" dirty="0"/>
          </a:p>
        </p:txBody>
      </p:sp>
      <p:sp>
        <p:nvSpPr>
          <p:cNvPr id="17" name="Shape 15"/>
          <p:cNvSpPr/>
          <p:nvPr/>
        </p:nvSpPr>
        <p:spPr>
          <a:xfrm>
            <a:off x="4535424" y="1188720"/>
            <a:ext cx="1920240" cy="1097280"/>
          </a:xfrm>
          <a:prstGeom prst="rect">
            <a:avLst/>
          </a:prstGeom>
          <a:solidFill>
            <a:srgbClr val="0B1F3A"/>
          </a:solidFill>
          <a:ln w="12700">
            <a:solidFill>
              <a:srgbClr val="0B1F3A"/>
            </a:solidFill>
            <a:prstDash val="solid"/>
          </a:ln>
        </p:spPr>
        <p:txBody>
          <a:bodyPr/>
          <a:lstStyle/>
          <a:p>
            <a:endParaRPr lang="en-US"/>
          </a:p>
        </p:txBody>
      </p:sp>
      <p:sp>
        <p:nvSpPr>
          <p:cNvPr id="18" name="Text 16"/>
          <p:cNvSpPr/>
          <p:nvPr/>
        </p:nvSpPr>
        <p:spPr>
          <a:xfrm>
            <a:off x="4672584" y="1280160"/>
            <a:ext cx="1645920" cy="274320"/>
          </a:xfrm>
          <a:prstGeom prst="rect">
            <a:avLst/>
          </a:prstGeom>
          <a:noFill/>
          <a:ln/>
        </p:spPr>
        <p:txBody>
          <a:bodyPr wrap="square" lIns="0" tIns="0" rIns="0" bIns="0" rtlCol="0" anchor="ctr"/>
          <a:lstStyle/>
          <a:p>
            <a:pPr marL="0" indent="0">
              <a:buNone/>
            </a:pPr>
            <a:r>
              <a:rPr lang="en-US" sz="1000" b="1" kern="0" spc="400" dirty="0">
                <a:solidFill>
                  <a:srgbClr val="5EEAD4"/>
                </a:solidFill>
                <a:latin typeface="Calibri" pitchFamily="34" charset="0"/>
                <a:ea typeface="Calibri" pitchFamily="34" charset="-122"/>
                <a:cs typeface="Calibri" pitchFamily="34" charset="-120"/>
              </a:rPr>
              <a:t>MONTH 3</a:t>
            </a:r>
            <a:endParaRPr lang="en-US" sz="1000" dirty="0"/>
          </a:p>
        </p:txBody>
      </p:sp>
      <p:sp>
        <p:nvSpPr>
          <p:cNvPr id="19" name="Text 17"/>
          <p:cNvSpPr/>
          <p:nvPr/>
        </p:nvSpPr>
        <p:spPr>
          <a:xfrm>
            <a:off x="4672584" y="1554480"/>
            <a:ext cx="1645920" cy="6400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Advanced Features</a:t>
            </a:r>
            <a:endParaRPr lang="en-US" sz="1400" dirty="0"/>
          </a:p>
        </p:txBody>
      </p:sp>
      <p:sp>
        <p:nvSpPr>
          <p:cNvPr id="20" name="Shape 18"/>
          <p:cNvSpPr/>
          <p:nvPr/>
        </p:nvSpPr>
        <p:spPr>
          <a:xfrm>
            <a:off x="5330952" y="2286000"/>
            <a:ext cx="329184" cy="329184"/>
          </a:xfrm>
          <a:prstGeom prst="ellipse">
            <a:avLst/>
          </a:prstGeom>
          <a:solidFill>
            <a:srgbClr val="14B8A6"/>
          </a:solidFill>
          <a:ln w="38100">
            <a:solidFill>
              <a:srgbClr val="FFFFFF"/>
            </a:solidFill>
            <a:prstDash val="solid"/>
          </a:ln>
        </p:spPr>
        <p:txBody>
          <a:bodyPr/>
          <a:lstStyle/>
          <a:p>
            <a:endParaRPr lang="en-US"/>
          </a:p>
        </p:txBody>
      </p:sp>
      <p:sp>
        <p:nvSpPr>
          <p:cNvPr id="21" name="Shape 19"/>
          <p:cNvSpPr/>
          <p:nvPr/>
        </p:nvSpPr>
        <p:spPr>
          <a:xfrm>
            <a:off x="4535424" y="2834640"/>
            <a:ext cx="1920240" cy="1371600"/>
          </a:xfrm>
          <a:prstGeom prst="rect">
            <a:avLst/>
          </a:prstGeom>
          <a:solidFill>
            <a:srgbClr val="F8FAFC"/>
          </a:solidFill>
          <a:ln w="12700">
            <a:solidFill>
              <a:srgbClr val="E2E8F0"/>
            </a:solidFill>
            <a:prstDash val="solid"/>
          </a:ln>
        </p:spPr>
        <p:txBody>
          <a:bodyPr/>
          <a:lstStyle/>
          <a:p>
            <a:endParaRPr lang="en-US"/>
          </a:p>
        </p:txBody>
      </p:sp>
      <p:sp>
        <p:nvSpPr>
          <p:cNvPr id="22" name="Text 20"/>
          <p:cNvSpPr/>
          <p:nvPr/>
        </p:nvSpPr>
        <p:spPr>
          <a:xfrm>
            <a:off x="4700016" y="2971800"/>
            <a:ext cx="1645920" cy="114300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Employee Center, Virtual Agent, KM, Performance Analytics, HAM foundations.</a:t>
            </a:r>
            <a:endParaRPr lang="en-US" sz="1000" dirty="0"/>
          </a:p>
        </p:txBody>
      </p:sp>
      <p:sp>
        <p:nvSpPr>
          <p:cNvPr id="23" name="Shape 21"/>
          <p:cNvSpPr/>
          <p:nvPr/>
        </p:nvSpPr>
        <p:spPr>
          <a:xfrm>
            <a:off x="6574536" y="1188720"/>
            <a:ext cx="1920240" cy="1097280"/>
          </a:xfrm>
          <a:prstGeom prst="rect">
            <a:avLst/>
          </a:prstGeom>
          <a:solidFill>
            <a:srgbClr val="0B1F3A"/>
          </a:solidFill>
          <a:ln w="12700">
            <a:solidFill>
              <a:srgbClr val="0B1F3A"/>
            </a:solidFill>
            <a:prstDash val="solid"/>
          </a:ln>
        </p:spPr>
        <p:txBody>
          <a:bodyPr/>
          <a:lstStyle/>
          <a:p>
            <a:endParaRPr lang="en-US"/>
          </a:p>
        </p:txBody>
      </p:sp>
      <p:sp>
        <p:nvSpPr>
          <p:cNvPr id="24" name="Text 22"/>
          <p:cNvSpPr/>
          <p:nvPr/>
        </p:nvSpPr>
        <p:spPr>
          <a:xfrm>
            <a:off x="6711696" y="1280160"/>
            <a:ext cx="1645920" cy="274320"/>
          </a:xfrm>
          <a:prstGeom prst="rect">
            <a:avLst/>
          </a:prstGeom>
          <a:noFill/>
          <a:ln/>
        </p:spPr>
        <p:txBody>
          <a:bodyPr wrap="square" lIns="0" tIns="0" rIns="0" bIns="0" rtlCol="0" anchor="ctr"/>
          <a:lstStyle/>
          <a:p>
            <a:pPr marL="0" indent="0">
              <a:buNone/>
            </a:pPr>
            <a:r>
              <a:rPr lang="en-US" sz="1000" b="1" kern="0" spc="400" dirty="0">
                <a:solidFill>
                  <a:srgbClr val="5EEAD4"/>
                </a:solidFill>
                <a:latin typeface="Calibri" pitchFamily="34" charset="0"/>
                <a:ea typeface="Calibri" pitchFamily="34" charset="-122"/>
                <a:cs typeface="Calibri" pitchFamily="34" charset="-120"/>
              </a:rPr>
              <a:t>MONTH 4</a:t>
            </a:r>
            <a:endParaRPr lang="en-US" sz="1000" dirty="0"/>
          </a:p>
        </p:txBody>
      </p:sp>
      <p:sp>
        <p:nvSpPr>
          <p:cNvPr id="25" name="Text 23"/>
          <p:cNvSpPr/>
          <p:nvPr/>
        </p:nvSpPr>
        <p:spPr>
          <a:xfrm>
            <a:off x="6711696" y="1554480"/>
            <a:ext cx="1645920" cy="6400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Validate &amp; Go-Live</a:t>
            </a:r>
            <a:endParaRPr lang="en-US" sz="1400" dirty="0"/>
          </a:p>
        </p:txBody>
      </p:sp>
      <p:sp>
        <p:nvSpPr>
          <p:cNvPr id="26" name="Shape 24"/>
          <p:cNvSpPr/>
          <p:nvPr/>
        </p:nvSpPr>
        <p:spPr>
          <a:xfrm>
            <a:off x="7370064" y="2286000"/>
            <a:ext cx="329184" cy="329184"/>
          </a:xfrm>
          <a:prstGeom prst="ellipse">
            <a:avLst/>
          </a:prstGeom>
          <a:solidFill>
            <a:srgbClr val="14B8A6"/>
          </a:solidFill>
          <a:ln w="38100">
            <a:solidFill>
              <a:srgbClr val="FFFFFF"/>
            </a:solidFill>
            <a:prstDash val="solid"/>
          </a:ln>
        </p:spPr>
        <p:txBody>
          <a:bodyPr/>
          <a:lstStyle/>
          <a:p>
            <a:endParaRPr lang="en-US"/>
          </a:p>
        </p:txBody>
      </p:sp>
      <p:sp>
        <p:nvSpPr>
          <p:cNvPr id="27" name="Shape 25"/>
          <p:cNvSpPr/>
          <p:nvPr/>
        </p:nvSpPr>
        <p:spPr>
          <a:xfrm>
            <a:off x="6574536" y="2834640"/>
            <a:ext cx="1920240" cy="1371600"/>
          </a:xfrm>
          <a:prstGeom prst="rect">
            <a:avLst/>
          </a:prstGeom>
          <a:solidFill>
            <a:srgbClr val="F8FAFC"/>
          </a:solidFill>
          <a:ln w="12700">
            <a:solidFill>
              <a:srgbClr val="E2E8F0"/>
            </a:solidFill>
            <a:prstDash val="solid"/>
          </a:ln>
        </p:spPr>
        <p:txBody>
          <a:bodyPr/>
          <a:lstStyle/>
          <a:p>
            <a:endParaRPr lang="en-US"/>
          </a:p>
        </p:txBody>
      </p:sp>
      <p:sp>
        <p:nvSpPr>
          <p:cNvPr id="28" name="Text 26"/>
          <p:cNvSpPr/>
          <p:nvPr/>
        </p:nvSpPr>
        <p:spPr>
          <a:xfrm>
            <a:off x="6739128" y="2971800"/>
            <a:ext cx="1645920" cy="114300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UAT, training, governed cutover, Hypercare and stabilization.</a:t>
            </a:r>
            <a:endParaRPr lang="en-US" sz="1000" dirty="0"/>
          </a:p>
        </p:txBody>
      </p:sp>
      <p:sp>
        <p:nvSpPr>
          <p:cNvPr id="29" name="Shape 27"/>
          <p:cNvSpPr/>
          <p:nvPr/>
        </p:nvSpPr>
        <p:spPr>
          <a:xfrm>
            <a:off x="365760" y="4389120"/>
            <a:ext cx="8412480" cy="384048"/>
          </a:xfrm>
          <a:prstGeom prst="rect">
            <a:avLst/>
          </a:prstGeom>
          <a:solidFill>
            <a:srgbClr val="0B1F3A"/>
          </a:solidFill>
          <a:ln w="12700">
            <a:solidFill>
              <a:srgbClr val="0B1F3A"/>
            </a:solidFill>
            <a:prstDash val="solid"/>
          </a:ln>
        </p:spPr>
        <p:txBody>
          <a:bodyPr/>
          <a:lstStyle/>
          <a:p>
            <a:endParaRPr lang="en-US"/>
          </a:p>
        </p:txBody>
      </p:sp>
      <p:sp>
        <p:nvSpPr>
          <p:cNvPr id="30" name="Text 28"/>
          <p:cNvSpPr/>
          <p:nvPr/>
        </p:nvSpPr>
        <p:spPr>
          <a:xfrm>
            <a:off x="365760" y="4389120"/>
            <a:ext cx="8412480" cy="38404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16 weeks of build  +  2 weeks of Hypercare   ·   Sprint 0 sets the foundation   ·   Go-Live targeted for week 16</a:t>
            </a:r>
            <a:endParaRPr lang="en-US" sz="1000" dirty="0"/>
          </a:p>
        </p:txBody>
      </p:sp>
      <p:sp>
        <p:nvSpPr>
          <p:cNvPr id="31" name="Shape 29"/>
          <p:cNvSpPr/>
          <p:nvPr/>
        </p:nvSpPr>
        <p:spPr>
          <a:xfrm>
            <a:off x="0" y="4818888"/>
            <a:ext cx="9144000" cy="324612"/>
          </a:xfrm>
          <a:prstGeom prst="rect">
            <a:avLst/>
          </a:prstGeom>
          <a:solidFill>
            <a:srgbClr val="0B1F3A"/>
          </a:solidFill>
          <a:ln w="12700">
            <a:solidFill>
              <a:srgbClr val="0B1F3A"/>
            </a:solidFill>
            <a:prstDash val="solid"/>
          </a:ln>
        </p:spPr>
        <p:txBody>
          <a:bodyPr/>
          <a:lstStyle/>
          <a:p>
            <a:endParaRPr lang="en-US"/>
          </a:p>
        </p:txBody>
      </p:sp>
      <p:pic>
        <p:nvPicPr>
          <p:cNvPr id="32" name="Image 0" descr="/sessions/laughing-cool-lovelace/mnt/outputs/deck/everforth_ecs_federal_white.png"/>
          <p:cNvPicPr>
            <a:picLocks noChangeAspect="1"/>
          </p:cNvPicPr>
          <p:nvPr/>
        </p:nvPicPr>
        <p:blipFill>
          <a:blip r:embed="rId3"/>
          <a:stretch>
            <a:fillRect/>
          </a:stretch>
        </p:blipFill>
        <p:spPr>
          <a:xfrm>
            <a:off x="365760" y="4873752"/>
            <a:ext cx="1188720" cy="220855"/>
          </a:xfrm>
          <a:prstGeom prst="rect">
            <a:avLst/>
          </a:prstGeom>
        </p:spPr>
      </p:pic>
      <p:sp>
        <p:nvSpPr>
          <p:cNvPr id="33" name="Text 30"/>
          <p:cNvSpPr/>
          <p:nvPr/>
        </p:nvSpPr>
        <p:spPr>
          <a:xfrm>
            <a:off x="1828800" y="4910328"/>
            <a:ext cx="5486400" cy="146304"/>
          </a:xfrm>
          <a:prstGeom prst="rect">
            <a:avLst/>
          </a:prstGeom>
          <a:noFill/>
          <a:ln/>
        </p:spPr>
        <p:txBody>
          <a:bodyPr wrap="square" lIns="0" tIns="0" rIns="0" bIns="0" rtlCol="0" anchor="ctr"/>
          <a:lstStyle/>
          <a:p>
            <a:pPr marL="0" indent="0">
              <a:buNone/>
            </a:pPr>
            <a:r>
              <a:rPr lang="en-US" sz="750" kern="0" spc="400" dirty="0">
                <a:solidFill>
                  <a:srgbClr val="CBD5E1"/>
                </a:solidFill>
                <a:latin typeface="Calibri" pitchFamily="34" charset="0"/>
                <a:ea typeface="Calibri" pitchFamily="34" charset="-122"/>
                <a:cs typeface="Calibri" pitchFamily="34" charset="-120"/>
              </a:rPr>
              <a:t>ECS  ·  PC CONNECTION  ·  SERVICENOW RE-IMPLEMENTATION</a:t>
            </a:r>
            <a:endParaRPr lang="en-US" sz="750" dirty="0"/>
          </a:p>
        </p:txBody>
      </p:sp>
      <p:sp>
        <p:nvSpPr>
          <p:cNvPr id="34" name="Text 31"/>
          <p:cNvSpPr/>
          <p:nvPr/>
        </p:nvSpPr>
        <p:spPr>
          <a:xfrm>
            <a:off x="7863840" y="4910328"/>
            <a:ext cx="914400" cy="146304"/>
          </a:xfrm>
          <a:prstGeom prst="rect">
            <a:avLst/>
          </a:prstGeom>
          <a:noFill/>
          <a:ln/>
        </p:spPr>
        <p:txBody>
          <a:bodyPr wrap="square" lIns="0" tIns="0" rIns="0" bIns="0" rtlCol="0" anchor="ctr"/>
          <a:lstStyle/>
          <a:p>
            <a:pPr marL="0" indent="0" algn="r">
              <a:buNone/>
            </a:pPr>
            <a:r>
              <a:rPr lang="en-US" sz="750" dirty="0">
                <a:solidFill>
                  <a:srgbClr val="CBD5E1"/>
                </a:solidFill>
                <a:latin typeface="Calibri" pitchFamily="34" charset="0"/>
                <a:ea typeface="Calibri" pitchFamily="34" charset="-122"/>
                <a:cs typeface="Calibri" pitchFamily="34" charset="-120"/>
              </a:rPr>
              <a:t>10 / 19</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92608"/>
            <a:ext cx="8412480" cy="228600"/>
          </a:xfrm>
          <a:prstGeom prst="rect">
            <a:avLst/>
          </a:prstGeom>
          <a:noFill/>
          <a:ln/>
        </p:spPr>
        <p:txBody>
          <a:bodyPr wrap="square" lIns="0" tIns="0" rIns="0" bIns="0" rtlCol="0" anchor="ctr"/>
          <a:lstStyle/>
          <a:p>
            <a:pPr marL="0" indent="0">
              <a:buNone/>
            </a:pPr>
            <a:r>
              <a:rPr lang="en-US" sz="900" b="1" kern="0" spc="600" dirty="0">
                <a:solidFill>
                  <a:srgbClr val="14B8A6"/>
                </a:solidFill>
                <a:latin typeface="Calibri" pitchFamily="34" charset="0"/>
                <a:ea typeface="Calibri" pitchFamily="34" charset="-122"/>
                <a:cs typeface="Calibri" pitchFamily="34" charset="-120"/>
              </a:rPr>
              <a:t>10  ·  STAGE 1  ·  INITIATE &amp; PLAN</a:t>
            </a:r>
            <a:endParaRPr lang="en-US" sz="900" dirty="0"/>
          </a:p>
        </p:txBody>
      </p:sp>
      <p:sp>
        <p:nvSpPr>
          <p:cNvPr id="3" name="Text 1"/>
          <p:cNvSpPr/>
          <p:nvPr/>
        </p:nvSpPr>
        <p:spPr>
          <a:xfrm>
            <a:off x="365760" y="502920"/>
            <a:ext cx="8412480" cy="502920"/>
          </a:xfrm>
          <a:prstGeom prst="rect">
            <a:avLst/>
          </a:prstGeom>
          <a:noFill/>
          <a:ln/>
        </p:spPr>
        <p:txBody>
          <a:bodyPr wrap="square" lIns="0" tIns="0" rIns="0" bIns="0" rtlCol="0" anchor="ctr"/>
          <a:lstStyle/>
          <a:p>
            <a:pPr marL="0" indent="0">
              <a:buNone/>
            </a:pPr>
            <a:r>
              <a:rPr lang="en-US" sz="2200" b="1" dirty="0">
                <a:solidFill>
                  <a:srgbClr val="0B1F3A"/>
                </a:solidFill>
                <a:latin typeface="Calibri" pitchFamily="34" charset="0"/>
                <a:ea typeface="Calibri" pitchFamily="34" charset="-122"/>
                <a:cs typeface="Calibri" pitchFamily="34" charset="-120"/>
              </a:rPr>
              <a:t>Sprints 0–2  ·  Weeks 1–6  ·  Foundation</a:t>
            </a:r>
            <a:endParaRPr lang="en-US" sz="2200" dirty="0"/>
          </a:p>
        </p:txBody>
      </p:sp>
      <p:sp>
        <p:nvSpPr>
          <p:cNvPr id="4" name="Shape 2"/>
          <p:cNvSpPr/>
          <p:nvPr/>
        </p:nvSpPr>
        <p:spPr>
          <a:xfrm>
            <a:off x="365760" y="1325880"/>
            <a:ext cx="1645920" cy="1645920"/>
          </a:xfrm>
          <a:prstGeom prst="ellipse">
            <a:avLst/>
          </a:prstGeom>
          <a:solidFill>
            <a:srgbClr val="071427"/>
          </a:solidFill>
          <a:ln w="12700">
            <a:solidFill>
              <a:srgbClr val="071427"/>
            </a:solidFill>
            <a:prstDash val="solid"/>
          </a:ln>
        </p:spPr>
        <p:txBody>
          <a:bodyPr/>
          <a:lstStyle/>
          <a:p>
            <a:endParaRPr lang="en-US"/>
          </a:p>
        </p:txBody>
      </p:sp>
      <p:sp>
        <p:nvSpPr>
          <p:cNvPr id="5" name="Text 3"/>
          <p:cNvSpPr/>
          <p:nvPr/>
        </p:nvSpPr>
        <p:spPr>
          <a:xfrm>
            <a:off x="365760" y="1508760"/>
            <a:ext cx="1645920" cy="274320"/>
          </a:xfrm>
          <a:prstGeom prst="rect">
            <a:avLst/>
          </a:prstGeom>
          <a:noFill/>
          <a:ln/>
        </p:spPr>
        <p:txBody>
          <a:bodyPr wrap="square" lIns="0" tIns="0" rIns="0" bIns="0" rtlCol="0" anchor="ctr"/>
          <a:lstStyle/>
          <a:p>
            <a:pPr marL="0" indent="0" algn="ctr">
              <a:buNone/>
            </a:pPr>
            <a:r>
              <a:rPr lang="en-US" sz="900" b="1" kern="0" spc="400" dirty="0">
                <a:solidFill>
                  <a:srgbClr val="5EEAD4"/>
                </a:solidFill>
                <a:latin typeface="Calibri" pitchFamily="34" charset="0"/>
                <a:ea typeface="Calibri" pitchFamily="34" charset="-122"/>
                <a:cs typeface="Calibri" pitchFamily="34" charset="-120"/>
              </a:rPr>
              <a:t>STAGE</a:t>
            </a:r>
            <a:endParaRPr lang="en-US" sz="900" dirty="0"/>
          </a:p>
        </p:txBody>
      </p:sp>
      <p:sp>
        <p:nvSpPr>
          <p:cNvPr id="6" name="Text 4"/>
          <p:cNvSpPr/>
          <p:nvPr/>
        </p:nvSpPr>
        <p:spPr>
          <a:xfrm>
            <a:off x="365760" y="1783080"/>
            <a:ext cx="1645920" cy="777240"/>
          </a:xfrm>
          <a:prstGeom prst="rect">
            <a:avLst/>
          </a:prstGeom>
          <a:noFill/>
          <a:ln/>
        </p:spPr>
        <p:txBody>
          <a:bodyPr wrap="square" lIns="0" tIns="0" rIns="0" bIns="0"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01</a:t>
            </a:r>
            <a:endParaRPr lang="en-US" sz="5600" dirty="0"/>
          </a:p>
        </p:txBody>
      </p:sp>
      <p:sp>
        <p:nvSpPr>
          <p:cNvPr id="7" name="Shape 5"/>
          <p:cNvSpPr/>
          <p:nvPr/>
        </p:nvSpPr>
        <p:spPr>
          <a:xfrm>
            <a:off x="2194560" y="1280160"/>
            <a:ext cx="3291840" cy="2194560"/>
          </a:xfrm>
          <a:prstGeom prst="rect">
            <a:avLst/>
          </a:prstGeom>
          <a:solidFill>
            <a:srgbClr val="FFFFFF"/>
          </a:solidFill>
          <a:ln w="12700">
            <a:solidFill>
              <a:srgbClr val="E2E8F0"/>
            </a:solidFill>
            <a:prstDash val="solid"/>
          </a:ln>
        </p:spPr>
        <p:txBody>
          <a:bodyPr/>
          <a:lstStyle/>
          <a:p>
            <a:endParaRPr lang="en-US"/>
          </a:p>
        </p:txBody>
      </p:sp>
      <p:sp>
        <p:nvSpPr>
          <p:cNvPr id="8" name="Shape 6"/>
          <p:cNvSpPr/>
          <p:nvPr/>
        </p:nvSpPr>
        <p:spPr>
          <a:xfrm>
            <a:off x="2194560" y="1280160"/>
            <a:ext cx="73152" cy="2194560"/>
          </a:xfrm>
          <a:prstGeom prst="rect">
            <a:avLst/>
          </a:prstGeom>
          <a:solidFill>
            <a:srgbClr val="14B8A6"/>
          </a:solidFill>
          <a:ln w="12700">
            <a:solidFill>
              <a:srgbClr val="14B8A6"/>
            </a:solidFill>
            <a:prstDash val="solid"/>
          </a:ln>
        </p:spPr>
        <p:txBody>
          <a:bodyPr/>
          <a:lstStyle/>
          <a:p>
            <a:endParaRPr lang="en-US"/>
          </a:p>
        </p:txBody>
      </p:sp>
      <p:sp>
        <p:nvSpPr>
          <p:cNvPr id="9" name="Text 7"/>
          <p:cNvSpPr/>
          <p:nvPr/>
        </p:nvSpPr>
        <p:spPr>
          <a:xfrm>
            <a:off x="2377440" y="1389888"/>
            <a:ext cx="3017520" cy="228600"/>
          </a:xfrm>
          <a:prstGeom prst="rect">
            <a:avLst/>
          </a:prstGeom>
          <a:noFill/>
          <a:ln/>
        </p:spPr>
        <p:txBody>
          <a:bodyPr wrap="square" lIns="0" tIns="0" rIns="0" bIns="0" rtlCol="0" anchor="ctr"/>
          <a:lstStyle/>
          <a:p>
            <a:pPr marL="0" indent="0">
              <a:buNone/>
            </a:pPr>
            <a:r>
              <a:rPr lang="en-US" sz="900" b="1" kern="0" spc="300" dirty="0">
                <a:solidFill>
                  <a:srgbClr val="14B8A6"/>
                </a:solidFill>
                <a:latin typeface="Calibri" pitchFamily="34" charset="0"/>
                <a:ea typeface="Calibri" pitchFamily="34" charset="-122"/>
                <a:cs typeface="Calibri" pitchFamily="34" charset="-120"/>
              </a:rPr>
              <a:t>SPRINT 0</a:t>
            </a:r>
            <a:endParaRPr lang="en-US" sz="900" dirty="0"/>
          </a:p>
        </p:txBody>
      </p:sp>
      <p:sp>
        <p:nvSpPr>
          <p:cNvPr id="10" name="Text 8"/>
          <p:cNvSpPr/>
          <p:nvPr/>
        </p:nvSpPr>
        <p:spPr>
          <a:xfrm>
            <a:off x="2377440" y="1600200"/>
            <a:ext cx="301752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WEEKS 1–2</a:t>
            </a:r>
            <a:endParaRPr lang="en-US" sz="900" dirty="0"/>
          </a:p>
        </p:txBody>
      </p:sp>
      <p:sp>
        <p:nvSpPr>
          <p:cNvPr id="11" name="Text 9"/>
          <p:cNvSpPr/>
          <p:nvPr/>
        </p:nvSpPr>
        <p:spPr>
          <a:xfrm>
            <a:off x="2377440" y="1828800"/>
            <a:ext cx="3017520" cy="36576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Project Setup &amp; Governance</a:t>
            </a:r>
            <a:endParaRPr lang="en-US" sz="1300" dirty="0"/>
          </a:p>
        </p:txBody>
      </p:sp>
      <p:sp>
        <p:nvSpPr>
          <p:cNvPr id="12" name="Text 10"/>
          <p:cNvSpPr/>
          <p:nvPr/>
        </p:nvSpPr>
        <p:spPr>
          <a:xfrm>
            <a:off x="2377440" y="2240280"/>
            <a:ext cx="3017520" cy="114300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Formal kickoff &amp; SOW review</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ECS Accelerator Pack distribution</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Backlog triage &amp; governance strategy</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Roles, responsibilities &amp; acceptance criteria</a:t>
            </a:r>
            <a:endParaRPr lang="en-US" sz="950" dirty="0"/>
          </a:p>
        </p:txBody>
      </p:sp>
      <p:sp>
        <p:nvSpPr>
          <p:cNvPr id="13" name="Shape 11"/>
          <p:cNvSpPr/>
          <p:nvPr/>
        </p:nvSpPr>
        <p:spPr>
          <a:xfrm>
            <a:off x="5623560" y="1280160"/>
            <a:ext cx="3291840" cy="2194560"/>
          </a:xfrm>
          <a:prstGeom prst="rect">
            <a:avLst/>
          </a:prstGeom>
          <a:solidFill>
            <a:srgbClr val="FFFFFF"/>
          </a:solidFill>
          <a:ln w="12700">
            <a:solidFill>
              <a:srgbClr val="E2E8F0"/>
            </a:solidFill>
            <a:prstDash val="solid"/>
          </a:ln>
        </p:spPr>
        <p:txBody>
          <a:bodyPr/>
          <a:lstStyle/>
          <a:p>
            <a:endParaRPr lang="en-US"/>
          </a:p>
        </p:txBody>
      </p:sp>
      <p:sp>
        <p:nvSpPr>
          <p:cNvPr id="14" name="Shape 12"/>
          <p:cNvSpPr/>
          <p:nvPr/>
        </p:nvSpPr>
        <p:spPr>
          <a:xfrm>
            <a:off x="5623560" y="1280160"/>
            <a:ext cx="73152" cy="2194560"/>
          </a:xfrm>
          <a:prstGeom prst="rect">
            <a:avLst/>
          </a:prstGeom>
          <a:solidFill>
            <a:srgbClr val="14B8A6"/>
          </a:solidFill>
          <a:ln w="12700">
            <a:solidFill>
              <a:srgbClr val="14B8A6"/>
            </a:solidFill>
            <a:prstDash val="solid"/>
          </a:ln>
        </p:spPr>
        <p:txBody>
          <a:bodyPr/>
          <a:lstStyle/>
          <a:p>
            <a:endParaRPr lang="en-US"/>
          </a:p>
        </p:txBody>
      </p:sp>
      <p:sp>
        <p:nvSpPr>
          <p:cNvPr id="15" name="Text 13"/>
          <p:cNvSpPr/>
          <p:nvPr/>
        </p:nvSpPr>
        <p:spPr>
          <a:xfrm>
            <a:off x="5806440" y="1389888"/>
            <a:ext cx="3017520" cy="228600"/>
          </a:xfrm>
          <a:prstGeom prst="rect">
            <a:avLst/>
          </a:prstGeom>
          <a:noFill/>
          <a:ln/>
        </p:spPr>
        <p:txBody>
          <a:bodyPr wrap="square" lIns="0" tIns="0" rIns="0" bIns="0" rtlCol="0" anchor="ctr"/>
          <a:lstStyle/>
          <a:p>
            <a:pPr marL="0" indent="0">
              <a:buNone/>
            </a:pPr>
            <a:r>
              <a:rPr lang="en-US" sz="900" b="1" kern="0" spc="300" dirty="0">
                <a:solidFill>
                  <a:srgbClr val="14B8A6"/>
                </a:solidFill>
                <a:latin typeface="Calibri" pitchFamily="34" charset="0"/>
                <a:ea typeface="Calibri" pitchFamily="34" charset="-122"/>
                <a:cs typeface="Calibri" pitchFamily="34" charset="-120"/>
              </a:rPr>
              <a:t>SPRINTS 1 &amp; 2</a:t>
            </a:r>
            <a:endParaRPr lang="en-US" sz="900" dirty="0"/>
          </a:p>
        </p:txBody>
      </p:sp>
      <p:sp>
        <p:nvSpPr>
          <p:cNvPr id="16" name="Text 14"/>
          <p:cNvSpPr/>
          <p:nvPr/>
        </p:nvSpPr>
        <p:spPr>
          <a:xfrm>
            <a:off x="5806440" y="1600200"/>
            <a:ext cx="301752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WEEKS 3–6</a:t>
            </a:r>
            <a:endParaRPr lang="en-US" sz="900" dirty="0"/>
          </a:p>
        </p:txBody>
      </p:sp>
      <p:sp>
        <p:nvSpPr>
          <p:cNvPr id="17" name="Text 15"/>
          <p:cNvSpPr/>
          <p:nvPr/>
        </p:nvSpPr>
        <p:spPr>
          <a:xfrm>
            <a:off x="5806440" y="1828800"/>
            <a:ext cx="3017520" cy="36576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Core Data &amp; CSDM Foundation</a:t>
            </a:r>
            <a:endParaRPr lang="en-US" sz="1300" dirty="0"/>
          </a:p>
        </p:txBody>
      </p:sp>
      <p:sp>
        <p:nvSpPr>
          <p:cNvPr id="18" name="Text 16"/>
          <p:cNvSpPr/>
          <p:nvPr/>
        </p:nvSpPr>
        <p:spPr>
          <a:xfrm>
            <a:off x="5806440" y="2240280"/>
            <a:ext cx="3017520" cy="114300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CSDM mapping &amp; CI relationship standards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Greenfield basics — SSO, AD, roles, SLAs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Foundation Data imports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Discovery &amp; SCCM/Intune Service Graph kickoff</a:t>
            </a:r>
            <a:endParaRPr lang="en-US" sz="950" dirty="0"/>
          </a:p>
        </p:txBody>
      </p:sp>
      <p:sp>
        <p:nvSpPr>
          <p:cNvPr id="19" name="Shape 17"/>
          <p:cNvSpPr/>
          <p:nvPr/>
        </p:nvSpPr>
        <p:spPr>
          <a:xfrm>
            <a:off x="365760" y="4069080"/>
            <a:ext cx="8412480" cy="685800"/>
          </a:xfrm>
          <a:prstGeom prst="rect">
            <a:avLst/>
          </a:prstGeom>
          <a:solidFill>
            <a:srgbClr val="F8FAFC"/>
          </a:solidFill>
          <a:ln w="12700">
            <a:solidFill>
              <a:srgbClr val="E2E8F0"/>
            </a:solidFill>
            <a:prstDash val="solid"/>
          </a:ln>
        </p:spPr>
        <p:txBody>
          <a:bodyPr/>
          <a:lstStyle/>
          <a:p>
            <a:endParaRPr lang="en-US"/>
          </a:p>
        </p:txBody>
      </p:sp>
      <p:sp>
        <p:nvSpPr>
          <p:cNvPr id="20" name="Text 18"/>
          <p:cNvSpPr/>
          <p:nvPr/>
        </p:nvSpPr>
        <p:spPr>
          <a:xfrm>
            <a:off x="502920" y="4069080"/>
            <a:ext cx="8183880" cy="685800"/>
          </a:xfrm>
          <a:prstGeom prst="rect">
            <a:avLst/>
          </a:prstGeom>
          <a:noFill/>
          <a:ln/>
        </p:spPr>
        <p:txBody>
          <a:bodyPr wrap="square" lIns="0" tIns="0" rIns="0" bIns="0" rtlCol="0" anchor="ctr"/>
          <a:lstStyle/>
          <a:p>
            <a:pPr marL="0" indent="0">
              <a:buNone/>
            </a:pPr>
            <a:r>
              <a:rPr lang="en-US" sz="1000" b="1" i="1" kern="0" spc="300" dirty="0">
                <a:solidFill>
                  <a:srgbClr val="14B8A6"/>
                </a:solidFill>
                <a:latin typeface="Calibri" pitchFamily="34" charset="0"/>
                <a:ea typeface="Calibri" pitchFamily="34" charset="-122"/>
                <a:cs typeface="Calibri" pitchFamily="34" charset="-120"/>
              </a:rPr>
              <a:t>FOCUS  ·  </a:t>
            </a:r>
            <a:r>
              <a:rPr lang="en-US" sz="1000" i="1" dirty="0">
                <a:solidFill>
                  <a:srgbClr val="1E293B"/>
                </a:solidFill>
                <a:latin typeface="Calibri" pitchFamily="34" charset="0"/>
                <a:ea typeface="Calibri" pitchFamily="34" charset="-122"/>
                <a:cs typeface="Calibri" pitchFamily="34" charset="-120"/>
              </a:rPr>
              <a:t>Set governance. Stand up the greenfield. Build the CSDM-aligned data foundation that everything else depends on.</a:t>
            </a:r>
            <a:endParaRPr lang="en-US" sz="1000" dirty="0"/>
          </a:p>
        </p:txBody>
      </p:sp>
      <p:sp>
        <p:nvSpPr>
          <p:cNvPr id="21" name="Shape 19"/>
          <p:cNvSpPr/>
          <p:nvPr/>
        </p:nvSpPr>
        <p:spPr>
          <a:xfrm>
            <a:off x="0" y="4818888"/>
            <a:ext cx="9144000" cy="324612"/>
          </a:xfrm>
          <a:prstGeom prst="rect">
            <a:avLst/>
          </a:prstGeom>
          <a:solidFill>
            <a:srgbClr val="0B1F3A"/>
          </a:solidFill>
          <a:ln w="12700">
            <a:solidFill>
              <a:srgbClr val="0B1F3A"/>
            </a:solidFill>
            <a:prstDash val="solid"/>
          </a:ln>
        </p:spPr>
        <p:txBody>
          <a:bodyPr/>
          <a:lstStyle/>
          <a:p>
            <a:endParaRPr lang="en-US"/>
          </a:p>
        </p:txBody>
      </p:sp>
      <p:pic>
        <p:nvPicPr>
          <p:cNvPr id="22" name="Image 0" descr="/sessions/laughing-cool-lovelace/mnt/outputs/deck/everforth_ecs_federal_white.png"/>
          <p:cNvPicPr>
            <a:picLocks noChangeAspect="1"/>
          </p:cNvPicPr>
          <p:nvPr/>
        </p:nvPicPr>
        <p:blipFill>
          <a:blip r:embed="rId3"/>
          <a:stretch>
            <a:fillRect/>
          </a:stretch>
        </p:blipFill>
        <p:spPr>
          <a:xfrm>
            <a:off x="365760" y="4873752"/>
            <a:ext cx="1188720" cy="220855"/>
          </a:xfrm>
          <a:prstGeom prst="rect">
            <a:avLst/>
          </a:prstGeom>
        </p:spPr>
      </p:pic>
      <p:sp>
        <p:nvSpPr>
          <p:cNvPr id="23" name="Text 20"/>
          <p:cNvSpPr/>
          <p:nvPr/>
        </p:nvSpPr>
        <p:spPr>
          <a:xfrm>
            <a:off x="1828800" y="4910328"/>
            <a:ext cx="5486400" cy="146304"/>
          </a:xfrm>
          <a:prstGeom prst="rect">
            <a:avLst/>
          </a:prstGeom>
          <a:noFill/>
          <a:ln/>
        </p:spPr>
        <p:txBody>
          <a:bodyPr wrap="square" lIns="0" tIns="0" rIns="0" bIns="0" rtlCol="0" anchor="ctr"/>
          <a:lstStyle/>
          <a:p>
            <a:pPr marL="0" indent="0">
              <a:buNone/>
            </a:pPr>
            <a:r>
              <a:rPr lang="en-US" sz="750" kern="0" spc="400" dirty="0">
                <a:solidFill>
                  <a:srgbClr val="CBD5E1"/>
                </a:solidFill>
                <a:latin typeface="Calibri" pitchFamily="34" charset="0"/>
                <a:ea typeface="Calibri" pitchFamily="34" charset="-122"/>
                <a:cs typeface="Calibri" pitchFamily="34" charset="-120"/>
              </a:rPr>
              <a:t>ECS  ·  PC CONNECTION  ·  SERVICENOW RE-IMPLEMENTATION</a:t>
            </a:r>
            <a:endParaRPr lang="en-US" sz="750" dirty="0"/>
          </a:p>
        </p:txBody>
      </p:sp>
      <p:sp>
        <p:nvSpPr>
          <p:cNvPr id="24" name="Text 21"/>
          <p:cNvSpPr/>
          <p:nvPr/>
        </p:nvSpPr>
        <p:spPr>
          <a:xfrm>
            <a:off x="7863840" y="4910328"/>
            <a:ext cx="914400" cy="146304"/>
          </a:xfrm>
          <a:prstGeom prst="rect">
            <a:avLst/>
          </a:prstGeom>
          <a:noFill/>
          <a:ln/>
        </p:spPr>
        <p:txBody>
          <a:bodyPr wrap="square" lIns="0" tIns="0" rIns="0" bIns="0" rtlCol="0" anchor="ctr"/>
          <a:lstStyle/>
          <a:p>
            <a:pPr marL="0" indent="0" algn="r">
              <a:buNone/>
            </a:pPr>
            <a:r>
              <a:rPr lang="en-US" sz="750" dirty="0">
                <a:solidFill>
                  <a:srgbClr val="CBD5E1"/>
                </a:solidFill>
                <a:latin typeface="Calibri" pitchFamily="34" charset="0"/>
                <a:ea typeface="Calibri" pitchFamily="34" charset="-122"/>
                <a:cs typeface="Calibri" pitchFamily="34" charset="-120"/>
              </a:rPr>
              <a:t>11 / 19</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92608"/>
            <a:ext cx="8412480" cy="228600"/>
          </a:xfrm>
          <a:prstGeom prst="rect">
            <a:avLst/>
          </a:prstGeom>
          <a:noFill/>
          <a:ln/>
        </p:spPr>
        <p:txBody>
          <a:bodyPr wrap="square" lIns="0" tIns="0" rIns="0" bIns="0" rtlCol="0" anchor="ctr"/>
          <a:lstStyle/>
          <a:p>
            <a:pPr marL="0" indent="0">
              <a:buNone/>
            </a:pPr>
            <a:r>
              <a:rPr lang="en-US" sz="900" b="1" kern="0" spc="600" dirty="0">
                <a:solidFill>
                  <a:srgbClr val="14B8A6"/>
                </a:solidFill>
                <a:latin typeface="Calibri" pitchFamily="34" charset="0"/>
                <a:ea typeface="Calibri" pitchFamily="34" charset="-122"/>
                <a:cs typeface="Calibri" pitchFamily="34" charset="-120"/>
              </a:rPr>
              <a:t>11  ·  STAGE 2  ·  EXECUTE</a:t>
            </a:r>
            <a:endParaRPr lang="en-US" sz="900" dirty="0"/>
          </a:p>
        </p:txBody>
      </p:sp>
      <p:sp>
        <p:nvSpPr>
          <p:cNvPr id="3" name="Text 1"/>
          <p:cNvSpPr/>
          <p:nvPr/>
        </p:nvSpPr>
        <p:spPr>
          <a:xfrm>
            <a:off x="365760" y="502920"/>
            <a:ext cx="8412480" cy="502920"/>
          </a:xfrm>
          <a:prstGeom prst="rect">
            <a:avLst/>
          </a:prstGeom>
          <a:noFill/>
          <a:ln/>
        </p:spPr>
        <p:txBody>
          <a:bodyPr wrap="square" lIns="0" tIns="0" rIns="0" bIns="0" rtlCol="0" anchor="ctr"/>
          <a:lstStyle/>
          <a:p>
            <a:pPr marL="0" indent="0">
              <a:buNone/>
            </a:pPr>
            <a:r>
              <a:rPr lang="en-US" sz="2200" b="1" dirty="0">
                <a:solidFill>
                  <a:srgbClr val="0B1F3A"/>
                </a:solidFill>
                <a:latin typeface="Calibri" pitchFamily="34" charset="0"/>
                <a:ea typeface="Calibri" pitchFamily="34" charset="-122"/>
                <a:cs typeface="Calibri" pitchFamily="34" charset="-120"/>
              </a:rPr>
              <a:t>Sprints 3–5  ·  Weeks 7–12  ·  Core build &amp; employee experience</a:t>
            </a:r>
            <a:endParaRPr lang="en-US" sz="2200" dirty="0"/>
          </a:p>
        </p:txBody>
      </p:sp>
      <p:sp>
        <p:nvSpPr>
          <p:cNvPr id="4" name="Shape 2"/>
          <p:cNvSpPr/>
          <p:nvPr/>
        </p:nvSpPr>
        <p:spPr>
          <a:xfrm>
            <a:off x="365760" y="1325880"/>
            <a:ext cx="1645920" cy="1645920"/>
          </a:xfrm>
          <a:prstGeom prst="ellipse">
            <a:avLst/>
          </a:prstGeom>
          <a:solidFill>
            <a:srgbClr val="071427"/>
          </a:solidFill>
          <a:ln w="12700">
            <a:solidFill>
              <a:srgbClr val="071427"/>
            </a:solidFill>
            <a:prstDash val="solid"/>
          </a:ln>
        </p:spPr>
        <p:txBody>
          <a:bodyPr/>
          <a:lstStyle/>
          <a:p>
            <a:endParaRPr lang="en-US"/>
          </a:p>
        </p:txBody>
      </p:sp>
      <p:sp>
        <p:nvSpPr>
          <p:cNvPr id="5" name="Text 3"/>
          <p:cNvSpPr/>
          <p:nvPr/>
        </p:nvSpPr>
        <p:spPr>
          <a:xfrm>
            <a:off x="365760" y="1508760"/>
            <a:ext cx="1645920" cy="274320"/>
          </a:xfrm>
          <a:prstGeom prst="rect">
            <a:avLst/>
          </a:prstGeom>
          <a:noFill/>
          <a:ln/>
        </p:spPr>
        <p:txBody>
          <a:bodyPr wrap="square" lIns="0" tIns="0" rIns="0" bIns="0" rtlCol="0" anchor="ctr"/>
          <a:lstStyle/>
          <a:p>
            <a:pPr marL="0" indent="0" algn="ctr">
              <a:buNone/>
            </a:pPr>
            <a:r>
              <a:rPr lang="en-US" sz="900" b="1" kern="0" spc="400" dirty="0">
                <a:solidFill>
                  <a:srgbClr val="5EEAD4"/>
                </a:solidFill>
                <a:latin typeface="Calibri" pitchFamily="34" charset="0"/>
                <a:ea typeface="Calibri" pitchFamily="34" charset="-122"/>
                <a:cs typeface="Calibri" pitchFamily="34" charset="-120"/>
              </a:rPr>
              <a:t>STAGE</a:t>
            </a:r>
            <a:endParaRPr lang="en-US" sz="900" dirty="0"/>
          </a:p>
        </p:txBody>
      </p:sp>
      <p:sp>
        <p:nvSpPr>
          <p:cNvPr id="6" name="Text 4"/>
          <p:cNvSpPr/>
          <p:nvPr/>
        </p:nvSpPr>
        <p:spPr>
          <a:xfrm>
            <a:off x="365760" y="1783080"/>
            <a:ext cx="1645920" cy="777240"/>
          </a:xfrm>
          <a:prstGeom prst="rect">
            <a:avLst/>
          </a:prstGeom>
          <a:noFill/>
          <a:ln/>
        </p:spPr>
        <p:txBody>
          <a:bodyPr wrap="square" lIns="0" tIns="0" rIns="0" bIns="0"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02</a:t>
            </a:r>
            <a:endParaRPr lang="en-US" sz="5600" dirty="0"/>
          </a:p>
        </p:txBody>
      </p:sp>
      <p:sp>
        <p:nvSpPr>
          <p:cNvPr id="7" name="Shape 5"/>
          <p:cNvSpPr/>
          <p:nvPr/>
        </p:nvSpPr>
        <p:spPr>
          <a:xfrm>
            <a:off x="2194560" y="1280160"/>
            <a:ext cx="3291840" cy="2194560"/>
          </a:xfrm>
          <a:prstGeom prst="rect">
            <a:avLst/>
          </a:prstGeom>
          <a:solidFill>
            <a:srgbClr val="FFFFFF"/>
          </a:solidFill>
          <a:ln w="12700">
            <a:solidFill>
              <a:srgbClr val="E2E8F0"/>
            </a:solidFill>
            <a:prstDash val="solid"/>
          </a:ln>
        </p:spPr>
        <p:txBody>
          <a:bodyPr/>
          <a:lstStyle/>
          <a:p>
            <a:endParaRPr lang="en-US"/>
          </a:p>
        </p:txBody>
      </p:sp>
      <p:sp>
        <p:nvSpPr>
          <p:cNvPr id="8" name="Shape 6"/>
          <p:cNvSpPr/>
          <p:nvPr/>
        </p:nvSpPr>
        <p:spPr>
          <a:xfrm>
            <a:off x="2194560" y="1280160"/>
            <a:ext cx="73152" cy="2194560"/>
          </a:xfrm>
          <a:prstGeom prst="rect">
            <a:avLst/>
          </a:prstGeom>
          <a:solidFill>
            <a:srgbClr val="14B8A6"/>
          </a:solidFill>
          <a:ln w="12700">
            <a:solidFill>
              <a:srgbClr val="14B8A6"/>
            </a:solidFill>
            <a:prstDash val="solid"/>
          </a:ln>
        </p:spPr>
        <p:txBody>
          <a:bodyPr/>
          <a:lstStyle/>
          <a:p>
            <a:endParaRPr lang="en-US"/>
          </a:p>
        </p:txBody>
      </p:sp>
      <p:sp>
        <p:nvSpPr>
          <p:cNvPr id="9" name="Text 7"/>
          <p:cNvSpPr/>
          <p:nvPr/>
        </p:nvSpPr>
        <p:spPr>
          <a:xfrm>
            <a:off x="2377440" y="1389888"/>
            <a:ext cx="3017520" cy="228600"/>
          </a:xfrm>
          <a:prstGeom prst="rect">
            <a:avLst/>
          </a:prstGeom>
          <a:noFill/>
          <a:ln/>
        </p:spPr>
        <p:txBody>
          <a:bodyPr wrap="square" lIns="0" tIns="0" rIns="0" bIns="0" rtlCol="0" anchor="ctr"/>
          <a:lstStyle/>
          <a:p>
            <a:pPr marL="0" indent="0">
              <a:buNone/>
            </a:pPr>
            <a:r>
              <a:rPr lang="en-US" sz="900" b="1" kern="0" spc="300" dirty="0">
                <a:solidFill>
                  <a:srgbClr val="14B8A6"/>
                </a:solidFill>
                <a:latin typeface="Calibri" pitchFamily="34" charset="0"/>
                <a:ea typeface="Calibri" pitchFamily="34" charset="-122"/>
                <a:cs typeface="Calibri" pitchFamily="34" charset="-120"/>
              </a:rPr>
              <a:t>SPRINTS 3 &amp; 4</a:t>
            </a:r>
            <a:endParaRPr lang="en-US" sz="900" dirty="0"/>
          </a:p>
        </p:txBody>
      </p:sp>
      <p:sp>
        <p:nvSpPr>
          <p:cNvPr id="10" name="Text 8"/>
          <p:cNvSpPr/>
          <p:nvPr/>
        </p:nvSpPr>
        <p:spPr>
          <a:xfrm>
            <a:off x="2377440" y="1600200"/>
            <a:ext cx="301752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WEEKS 7–10</a:t>
            </a:r>
            <a:endParaRPr lang="en-US" sz="900" dirty="0"/>
          </a:p>
        </p:txBody>
      </p:sp>
      <p:sp>
        <p:nvSpPr>
          <p:cNvPr id="11" name="Text 9"/>
          <p:cNvSpPr/>
          <p:nvPr/>
        </p:nvSpPr>
        <p:spPr>
          <a:xfrm>
            <a:off x="2377440" y="1828800"/>
            <a:ext cx="3017520" cy="36576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ITSM Core &amp; Modernized Change</a:t>
            </a:r>
            <a:endParaRPr lang="en-US" sz="1300" dirty="0"/>
          </a:p>
        </p:txBody>
      </p:sp>
      <p:sp>
        <p:nvSpPr>
          <p:cNvPr id="12" name="Text 10"/>
          <p:cNvSpPr/>
          <p:nvPr/>
        </p:nvSpPr>
        <p:spPr>
          <a:xfrm>
            <a:off x="2377440" y="2240280"/>
            <a:ext cx="3017520" cy="114300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INC, PRB, CHG, REQ in SO Workspace</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CI-driven change risk scoring</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CAB Workbench standup</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Replace customized legacy with OOTB workflows</a:t>
            </a:r>
            <a:endParaRPr lang="en-US" sz="950" dirty="0"/>
          </a:p>
        </p:txBody>
      </p:sp>
      <p:sp>
        <p:nvSpPr>
          <p:cNvPr id="13" name="Shape 11"/>
          <p:cNvSpPr/>
          <p:nvPr/>
        </p:nvSpPr>
        <p:spPr>
          <a:xfrm>
            <a:off x="5623560" y="1280160"/>
            <a:ext cx="3291840" cy="2194560"/>
          </a:xfrm>
          <a:prstGeom prst="rect">
            <a:avLst/>
          </a:prstGeom>
          <a:solidFill>
            <a:srgbClr val="FFFFFF"/>
          </a:solidFill>
          <a:ln w="12700">
            <a:solidFill>
              <a:srgbClr val="E2E8F0"/>
            </a:solidFill>
            <a:prstDash val="solid"/>
          </a:ln>
        </p:spPr>
        <p:txBody>
          <a:bodyPr/>
          <a:lstStyle/>
          <a:p>
            <a:endParaRPr lang="en-US"/>
          </a:p>
        </p:txBody>
      </p:sp>
      <p:sp>
        <p:nvSpPr>
          <p:cNvPr id="14" name="Shape 12"/>
          <p:cNvSpPr/>
          <p:nvPr/>
        </p:nvSpPr>
        <p:spPr>
          <a:xfrm>
            <a:off x="5623560" y="1280160"/>
            <a:ext cx="73152" cy="2194560"/>
          </a:xfrm>
          <a:prstGeom prst="rect">
            <a:avLst/>
          </a:prstGeom>
          <a:solidFill>
            <a:srgbClr val="14B8A6"/>
          </a:solidFill>
          <a:ln w="12700">
            <a:solidFill>
              <a:srgbClr val="14B8A6"/>
            </a:solidFill>
            <a:prstDash val="solid"/>
          </a:ln>
        </p:spPr>
        <p:txBody>
          <a:bodyPr/>
          <a:lstStyle/>
          <a:p>
            <a:endParaRPr lang="en-US"/>
          </a:p>
        </p:txBody>
      </p:sp>
      <p:sp>
        <p:nvSpPr>
          <p:cNvPr id="15" name="Text 13"/>
          <p:cNvSpPr/>
          <p:nvPr/>
        </p:nvSpPr>
        <p:spPr>
          <a:xfrm>
            <a:off x="5806440" y="1389888"/>
            <a:ext cx="3017520" cy="228600"/>
          </a:xfrm>
          <a:prstGeom prst="rect">
            <a:avLst/>
          </a:prstGeom>
          <a:noFill/>
          <a:ln/>
        </p:spPr>
        <p:txBody>
          <a:bodyPr wrap="square" lIns="0" tIns="0" rIns="0" bIns="0" rtlCol="0" anchor="ctr"/>
          <a:lstStyle/>
          <a:p>
            <a:pPr marL="0" indent="0">
              <a:buNone/>
            </a:pPr>
            <a:r>
              <a:rPr lang="en-US" sz="900" b="1" kern="0" spc="300" dirty="0">
                <a:solidFill>
                  <a:srgbClr val="14B8A6"/>
                </a:solidFill>
                <a:latin typeface="Calibri" pitchFamily="34" charset="0"/>
                <a:ea typeface="Calibri" pitchFamily="34" charset="-122"/>
                <a:cs typeface="Calibri" pitchFamily="34" charset="-120"/>
              </a:rPr>
              <a:t>SPRINT 5</a:t>
            </a:r>
            <a:endParaRPr lang="en-US" sz="900" dirty="0"/>
          </a:p>
        </p:txBody>
      </p:sp>
      <p:sp>
        <p:nvSpPr>
          <p:cNvPr id="16" name="Text 14"/>
          <p:cNvSpPr/>
          <p:nvPr/>
        </p:nvSpPr>
        <p:spPr>
          <a:xfrm>
            <a:off x="5806440" y="1600200"/>
            <a:ext cx="301752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WEEKS 11–12</a:t>
            </a:r>
            <a:endParaRPr lang="en-US" sz="900" dirty="0"/>
          </a:p>
        </p:txBody>
      </p:sp>
      <p:sp>
        <p:nvSpPr>
          <p:cNvPr id="17" name="Text 15"/>
          <p:cNvSpPr/>
          <p:nvPr/>
        </p:nvSpPr>
        <p:spPr>
          <a:xfrm>
            <a:off x="5806440" y="1828800"/>
            <a:ext cx="3017520" cy="36576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Employee Experience &amp; Automation</a:t>
            </a:r>
            <a:endParaRPr lang="en-US" sz="1300" dirty="0"/>
          </a:p>
        </p:txBody>
      </p:sp>
      <p:sp>
        <p:nvSpPr>
          <p:cNvPr id="18" name="Text 16"/>
          <p:cNvSpPr/>
          <p:nvPr/>
        </p:nvSpPr>
        <p:spPr>
          <a:xfrm>
            <a:off x="5806440" y="2240280"/>
            <a:ext cx="3017520" cy="114300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Stand up Employee Center</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Virtual Agent + AI Search</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Knowledge Management workflow &amp; ported articles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Initial Predictive Intelligence configuration</a:t>
            </a:r>
            <a:endParaRPr lang="en-US" sz="950" dirty="0"/>
          </a:p>
        </p:txBody>
      </p:sp>
      <p:sp>
        <p:nvSpPr>
          <p:cNvPr id="19" name="Shape 17"/>
          <p:cNvSpPr/>
          <p:nvPr/>
        </p:nvSpPr>
        <p:spPr>
          <a:xfrm>
            <a:off x="365760" y="4069080"/>
            <a:ext cx="8412480" cy="685800"/>
          </a:xfrm>
          <a:prstGeom prst="rect">
            <a:avLst/>
          </a:prstGeom>
          <a:solidFill>
            <a:srgbClr val="F8FAFC"/>
          </a:solidFill>
          <a:ln w="12700">
            <a:solidFill>
              <a:srgbClr val="E2E8F0"/>
            </a:solidFill>
            <a:prstDash val="solid"/>
          </a:ln>
        </p:spPr>
        <p:txBody>
          <a:bodyPr/>
          <a:lstStyle/>
          <a:p>
            <a:endParaRPr lang="en-US"/>
          </a:p>
        </p:txBody>
      </p:sp>
      <p:sp>
        <p:nvSpPr>
          <p:cNvPr id="20" name="Text 18"/>
          <p:cNvSpPr/>
          <p:nvPr/>
        </p:nvSpPr>
        <p:spPr>
          <a:xfrm>
            <a:off x="502920" y="4069080"/>
            <a:ext cx="8183880" cy="685800"/>
          </a:xfrm>
          <a:prstGeom prst="rect">
            <a:avLst/>
          </a:prstGeom>
          <a:noFill/>
          <a:ln/>
        </p:spPr>
        <p:txBody>
          <a:bodyPr wrap="square" lIns="0" tIns="0" rIns="0" bIns="0" rtlCol="0" anchor="ctr"/>
          <a:lstStyle/>
          <a:p>
            <a:pPr marL="0" indent="0">
              <a:buNone/>
            </a:pPr>
            <a:r>
              <a:rPr lang="en-US" sz="1000" b="1" i="1" kern="0" spc="300" dirty="0">
                <a:solidFill>
                  <a:srgbClr val="14B8A6"/>
                </a:solidFill>
                <a:latin typeface="Calibri" pitchFamily="34" charset="0"/>
                <a:ea typeface="Calibri" pitchFamily="34" charset="-122"/>
                <a:cs typeface="Calibri" pitchFamily="34" charset="-120"/>
              </a:rPr>
              <a:t>FOCUS  ·  </a:t>
            </a:r>
            <a:r>
              <a:rPr lang="en-US" sz="1000" i="1" dirty="0">
                <a:solidFill>
                  <a:srgbClr val="1E293B"/>
                </a:solidFill>
                <a:latin typeface="Calibri" pitchFamily="34" charset="0"/>
                <a:ea typeface="Calibri" pitchFamily="34" charset="-122"/>
                <a:cs typeface="Calibri" pitchFamily="34" charset="-120"/>
              </a:rPr>
              <a:t>Replace customized legacy processes with streamlined OOTB workflows; drive ticket deflection on the front end.</a:t>
            </a:r>
            <a:endParaRPr lang="en-US" sz="1000" dirty="0"/>
          </a:p>
        </p:txBody>
      </p:sp>
      <p:sp>
        <p:nvSpPr>
          <p:cNvPr id="21" name="Shape 19"/>
          <p:cNvSpPr/>
          <p:nvPr/>
        </p:nvSpPr>
        <p:spPr>
          <a:xfrm>
            <a:off x="0" y="4818888"/>
            <a:ext cx="9144000" cy="324612"/>
          </a:xfrm>
          <a:prstGeom prst="rect">
            <a:avLst/>
          </a:prstGeom>
          <a:solidFill>
            <a:srgbClr val="0B1F3A"/>
          </a:solidFill>
          <a:ln w="12700">
            <a:solidFill>
              <a:srgbClr val="0B1F3A"/>
            </a:solidFill>
            <a:prstDash val="solid"/>
          </a:ln>
        </p:spPr>
        <p:txBody>
          <a:bodyPr/>
          <a:lstStyle/>
          <a:p>
            <a:endParaRPr lang="en-US"/>
          </a:p>
        </p:txBody>
      </p:sp>
      <p:pic>
        <p:nvPicPr>
          <p:cNvPr id="22" name="Image 0" descr="/sessions/laughing-cool-lovelace/mnt/outputs/deck/everforth_ecs_federal_white.png"/>
          <p:cNvPicPr>
            <a:picLocks noChangeAspect="1"/>
          </p:cNvPicPr>
          <p:nvPr/>
        </p:nvPicPr>
        <p:blipFill>
          <a:blip r:embed="rId3"/>
          <a:stretch>
            <a:fillRect/>
          </a:stretch>
        </p:blipFill>
        <p:spPr>
          <a:xfrm>
            <a:off x="365760" y="4873752"/>
            <a:ext cx="1188720" cy="220855"/>
          </a:xfrm>
          <a:prstGeom prst="rect">
            <a:avLst/>
          </a:prstGeom>
        </p:spPr>
      </p:pic>
      <p:sp>
        <p:nvSpPr>
          <p:cNvPr id="23" name="Text 20"/>
          <p:cNvSpPr/>
          <p:nvPr/>
        </p:nvSpPr>
        <p:spPr>
          <a:xfrm>
            <a:off x="1828800" y="4910328"/>
            <a:ext cx="5486400" cy="146304"/>
          </a:xfrm>
          <a:prstGeom prst="rect">
            <a:avLst/>
          </a:prstGeom>
          <a:noFill/>
          <a:ln/>
        </p:spPr>
        <p:txBody>
          <a:bodyPr wrap="square" lIns="0" tIns="0" rIns="0" bIns="0" rtlCol="0" anchor="ctr"/>
          <a:lstStyle/>
          <a:p>
            <a:pPr marL="0" indent="0">
              <a:buNone/>
            </a:pPr>
            <a:r>
              <a:rPr lang="en-US" sz="750" kern="0" spc="400" dirty="0">
                <a:solidFill>
                  <a:srgbClr val="CBD5E1"/>
                </a:solidFill>
                <a:latin typeface="Calibri" pitchFamily="34" charset="0"/>
                <a:ea typeface="Calibri" pitchFamily="34" charset="-122"/>
                <a:cs typeface="Calibri" pitchFamily="34" charset="-120"/>
              </a:rPr>
              <a:t>ECS  ·  PC CONNECTION  ·  SERVICENOW RE-IMPLEMENTATION</a:t>
            </a:r>
            <a:endParaRPr lang="en-US" sz="750" dirty="0"/>
          </a:p>
        </p:txBody>
      </p:sp>
      <p:sp>
        <p:nvSpPr>
          <p:cNvPr id="24" name="Text 21"/>
          <p:cNvSpPr/>
          <p:nvPr/>
        </p:nvSpPr>
        <p:spPr>
          <a:xfrm>
            <a:off x="7863840" y="4910328"/>
            <a:ext cx="914400" cy="146304"/>
          </a:xfrm>
          <a:prstGeom prst="rect">
            <a:avLst/>
          </a:prstGeom>
          <a:noFill/>
          <a:ln/>
        </p:spPr>
        <p:txBody>
          <a:bodyPr wrap="square" lIns="0" tIns="0" rIns="0" bIns="0" rtlCol="0" anchor="ctr"/>
          <a:lstStyle/>
          <a:p>
            <a:pPr marL="0" indent="0" algn="r">
              <a:buNone/>
            </a:pPr>
            <a:r>
              <a:rPr lang="en-US" sz="750" dirty="0">
                <a:solidFill>
                  <a:srgbClr val="CBD5E1"/>
                </a:solidFill>
                <a:latin typeface="Calibri" pitchFamily="34" charset="0"/>
                <a:ea typeface="Calibri" pitchFamily="34" charset="-122"/>
                <a:cs typeface="Calibri" pitchFamily="34" charset="-120"/>
              </a:rPr>
              <a:t>12 / 19</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92608"/>
            <a:ext cx="8412480" cy="228600"/>
          </a:xfrm>
          <a:prstGeom prst="rect">
            <a:avLst/>
          </a:prstGeom>
          <a:noFill/>
          <a:ln/>
        </p:spPr>
        <p:txBody>
          <a:bodyPr wrap="square" lIns="0" tIns="0" rIns="0" bIns="0" rtlCol="0" anchor="ctr"/>
          <a:lstStyle/>
          <a:p>
            <a:pPr marL="0" indent="0">
              <a:buNone/>
            </a:pPr>
            <a:r>
              <a:rPr lang="en-US" sz="900" b="1" kern="0" spc="600" dirty="0">
                <a:solidFill>
                  <a:srgbClr val="14B8A6"/>
                </a:solidFill>
                <a:latin typeface="Calibri" pitchFamily="34" charset="0"/>
                <a:ea typeface="Calibri" pitchFamily="34" charset="-122"/>
                <a:cs typeface="Calibri" pitchFamily="34" charset="-120"/>
              </a:rPr>
              <a:t>12  ·  STAGE 3  ·  DELIVER</a:t>
            </a:r>
            <a:endParaRPr lang="en-US" sz="900" dirty="0"/>
          </a:p>
        </p:txBody>
      </p:sp>
      <p:sp>
        <p:nvSpPr>
          <p:cNvPr id="3" name="Text 1"/>
          <p:cNvSpPr/>
          <p:nvPr/>
        </p:nvSpPr>
        <p:spPr>
          <a:xfrm>
            <a:off x="365760" y="502920"/>
            <a:ext cx="8412480" cy="502920"/>
          </a:xfrm>
          <a:prstGeom prst="rect">
            <a:avLst/>
          </a:prstGeom>
          <a:noFill/>
          <a:ln/>
        </p:spPr>
        <p:txBody>
          <a:bodyPr wrap="square" lIns="0" tIns="0" rIns="0" bIns="0" rtlCol="0" anchor="ctr"/>
          <a:lstStyle/>
          <a:p>
            <a:pPr marL="0" indent="0">
              <a:buNone/>
            </a:pPr>
            <a:r>
              <a:rPr lang="en-US" sz="2200" b="1" dirty="0">
                <a:solidFill>
                  <a:srgbClr val="0B1F3A"/>
                </a:solidFill>
                <a:latin typeface="Calibri" pitchFamily="34" charset="0"/>
                <a:ea typeface="Calibri" pitchFamily="34" charset="-122"/>
                <a:cs typeface="Calibri" pitchFamily="34" charset="-120"/>
              </a:rPr>
              <a:t>Sprints 6–7  ·  Weeks 13–16  ·  Validation, readiness &amp; Go-Live</a:t>
            </a:r>
            <a:endParaRPr lang="en-US" sz="2200" dirty="0"/>
          </a:p>
        </p:txBody>
      </p:sp>
      <p:sp>
        <p:nvSpPr>
          <p:cNvPr id="4" name="Shape 2"/>
          <p:cNvSpPr/>
          <p:nvPr/>
        </p:nvSpPr>
        <p:spPr>
          <a:xfrm>
            <a:off x="365760" y="1325880"/>
            <a:ext cx="1645920" cy="1645920"/>
          </a:xfrm>
          <a:prstGeom prst="ellipse">
            <a:avLst/>
          </a:prstGeom>
          <a:solidFill>
            <a:srgbClr val="071427"/>
          </a:solidFill>
          <a:ln w="12700">
            <a:solidFill>
              <a:srgbClr val="071427"/>
            </a:solidFill>
            <a:prstDash val="solid"/>
          </a:ln>
        </p:spPr>
        <p:txBody>
          <a:bodyPr/>
          <a:lstStyle/>
          <a:p>
            <a:endParaRPr lang="en-US"/>
          </a:p>
        </p:txBody>
      </p:sp>
      <p:sp>
        <p:nvSpPr>
          <p:cNvPr id="5" name="Text 3"/>
          <p:cNvSpPr/>
          <p:nvPr/>
        </p:nvSpPr>
        <p:spPr>
          <a:xfrm>
            <a:off x="365760" y="1508760"/>
            <a:ext cx="1645920" cy="274320"/>
          </a:xfrm>
          <a:prstGeom prst="rect">
            <a:avLst/>
          </a:prstGeom>
          <a:noFill/>
          <a:ln/>
        </p:spPr>
        <p:txBody>
          <a:bodyPr wrap="square" lIns="0" tIns="0" rIns="0" bIns="0" rtlCol="0" anchor="ctr"/>
          <a:lstStyle/>
          <a:p>
            <a:pPr marL="0" indent="0" algn="ctr">
              <a:buNone/>
            </a:pPr>
            <a:r>
              <a:rPr lang="en-US" sz="900" b="1" kern="0" spc="400" dirty="0">
                <a:solidFill>
                  <a:srgbClr val="5EEAD4"/>
                </a:solidFill>
                <a:latin typeface="Calibri" pitchFamily="34" charset="0"/>
                <a:ea typeface="Calibri" pitchFamily="34" charset="-122"/>
                <a:cs typeface="Calibri" pitchFamily="34" charset="-120"/>
              </a:rPr>
              <a:t>STAGE</a:t>
            </a:r>
            <a:endParaRPr lang="en-US" sz="900" dirty="0"/>
          </a:p>
        </p:txBody>
      </p:sp>
      <p:sp>
        <p:nvSpPr>
          <p:cNvPr id="6" name="Text 4"/>
          <p:cNvSpPr/>
          <p:nvPr/>
        </p:nvSpPr>
        <p:spPr>
          <a:xfrm>
            <a:off x="365760" y="1783080"/>
            <a:ext cx="1645920" cy="777240"/>
          </a:xfrm>
          <a:prstGeom prst="rect">
            <a:avLst/>
          </a:prstGeom>
          <a:noFill/>
          <a:ln/>
        </p:spPr>
        <p:txBody>
          <a:bodyPr wrap="square" lIns="0" tIns="0" rIns="0" bIns="0"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03</a:t>
            </a:r>
            <a:endParaRPr lang="en-US" sz="5600" dirty="0"/>
          </a:p>
        </p:txBody>
      </p:sp>
      <p:sp>
        <p:nvSpPr>
          <p:cNvPr id="7" name="Shape 5"/>
          <p:cNvSpPr/>
          <p:nvPr/>
        </p:nvSpPr>
        <p:spPr>
          <a:xfrm>
            <a:off x="2194560" y="1280160"/>
            <a:ext cx="3291840" cy="2194560"/>
          </a:xfrm>
          <a:prstGeom prst="rect">
            <a:avLst/>
          </a:prstGeom>
          <a:solidFill>
            <a:srgbClr val="FFFFFF"/>
          </a:solidFill>
          <a:ln w="12700">
            <a:solidFill>
              <a:srgbClr val="E2E8F0"/>
            </a:solidFill>
            <a:prstDash val="solid"/>
          </a:ln>
        </p:spPr>
        <p:txBody>
          <a:bodyPr/>
          <a:lstStyle/>
          <a:p>
            <a:endParaRPr lang="en-US"/>
          </a:p>
        </p:txBody>
      </p:sp>
      <p:sp>
        <p:nvSpPr>
          <p:cNvPr id="8" name="Shape 6"/>
          <p:cNvSpPr/>
          <p:nvPr/>
        </p:nvSpPr>
        <p:spPr>
          <a:xfrm>
            <a:off x="2194560" y="1280160"/>
            <a:ext cx="73152" cy="2194560"/>
          </a:xfrm>
          <a:prstGeom prst="rect">
            <a:avLst/>
          </a:prstGeom>
          <a:solidFill>
            <a:srgbClr val="14B8A6"/>
          </a:solidFill>
          <a:ln w="12700">
            <a:solidFill>
              <a:srgbClr val="14B8A6"/>
            </a:solidFill>
            <a:prstDash val="solid"/>
          </a:ln>
        </p:spPr>
        <p:txBody>
          <a:bodyPr/>
          <a:lstStyle/>
          <a:p>
            <a:endParaRPr lang="en-US"/>
          </a:p>
        </p:txBody>
      </p:sp>
      <p:sp>
        <p:nvSpPr>
          <p:cNvPr id="9" name="Text 7"/>
          <p:cNvSpPr/>
          <p:nvPr/>
        </p:nvSpPr>
        <p:spPr>
          <a:xfrm>
            <a:off x="2377440" y="1389888"/>
            <a:ext cx="3017520" cy="228600"/>
          </a:xfrm>
          <a:prstGeom prst="rect">
            <a:avLst/>
          </a:prstGeom>
          <a:noFill/>
          <a:ln/>
        </p:spPr>
        <p:txBody>
          <a:bodyPr wrap="square" lIns="0" tIns="0" rIns="0" bIns="0" rtlCol="0" anchor="ctr"/>
          <a:lstStyle/>
          <a:p>
            <a:pPr marL="0" indent="0">
              <a:buNone/>
            </a:pPr>
            <a:r>
              <a:rPr lang="en-US" sz="900" b="1" kern="0" spc="300" dirty="0">
                <a:solidFill>
                  <a:srgbClr val="14B8A6"/>
                </a:solidFill>
                <a:latin typeface="Calibri" pitchFamily="34" charset="0"/>
                <a:ea typeface="Calibri" pitchFamily="34" charset="-122"/>
                <a:cs typeface="Calibri" pitchFamily="34" charset="-120"/>
              </a:rPr>
              <a:t>SPRINT 6</a:t>
            </a:r>
            <a:endParaRPr lang="en-US" sz="900" dirty="0"/>
          </a:p>
        </p:txBody>
      </p:sp>
      <p:sp>
        <p:nvSpPr>
          <p:cNvPr id="10" name="Text 8"/>
          <p:cNvSpPr/>
          <p:nvPr/>
        </p:nvSpPr>
        <p:spPr>
          <a:xfrm>
            <a:off x="2377440" y="1600200"/>
            <a:ext cx="301752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WEEKS 13–14</a:t>
            </a:r>
            <a:endParaRPr lang="en-US" sz="900" dirty="0"/>
          </a:p>
        </p:txBody>
      </p:sp>
      <p:sp>
        <p:nvSpPr>
          <p:cNvPr id="11" name="Text 9"/>
          <p:cNvSpPr/>
          <p:nvPr/>
        </p:nvSpPr>
        <p:spPr>
          <a:xfrm>
            <a:off x="2377440" y="1828800"/>
            <a:ext cx="3017520" cy="36576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Testing &amp; Analytics</a:t>
            </a:r>
            <a:endParaRPr lang="en-US" sz="1300" dirty="0"/>
          </a:p>
        </p:txBody>
      </p:sp>
      <p:sp>
        <p:nvSpPr>
          <p:cNvPr id="12" name="Text 10"/>
          <p:cNvSpPr/>
          <p:nvPr/>
        </p:nvSpPr>
        <p:spPr>
          <a:xfrm>
            <a:off x="2377440" y="2240280"/>
            <a:ext cx="3017520" cy="114300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System Integration Testing (SIT)</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User Acceptance Testing (UAT) cycles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Finalize Performance Analytics dashboards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MTTR, SLA &amp; change-success tracking standup</a:t>
            </a:r>
            <a:endParaRPr lang="en-US" sz="950" dirty="0"/>
          </a:p>
        </p:txBody>
      </p:sp>
      <p:sp>
        <p:nvSpPr>
          <p:cNvPr id="13" name="Shape 11"/>
          <p:cNvSpPr/>
          <p:nvPr/>
        </p:nvSpPr>
        <p:spPr>
          <a:xfrm>
            <a:off x="5623560" y="1280160"/>
            <a:ext cx="3291840" cy="2194560"/>
          </a:xfrm>
          <a:prstGeom prst="rect">
            <a:avLst/>
          </a:prstGeom>
          <a:solidFill>
            <a:srgbClr val="FFFFFF"/>
          </a:solidFill>
          <a:ln w="12700">
            <a:solidFill>
              <a:srgbClr val="E2E8F0"/>
            </a:solidFill>
            <a:prstDash val="solid"/>
          </a:ln>
        </p:spPr>
        <p:txBody>
          <a:bodyPr/>
          <a:lstStyle/>
          <a:p>
            <a:endParaRPr lang="en-US"/>
          </a:p>
        </p:txBody>
      </p:sp>
      <p:sp>
        <p:nvSpPr>
          <p:cNvPr id="14" name="Shape 12"/>
          <p:cNvSpPr/>
          <p:nvPr/>
        </p:nvSpPr>
        <p:spPr>
          <a:xfrm>
            <a:off x="5623560" y="1280160"/>
            <a:ext cx="73152" cy="2194560"/>
          </a:xfrm>
          <a:prstGeom prst="rect">
            <a:avLst/>
          </a:prstGeom>
          <a:solidFill>
            <a:srgbClr val="14B8A6"/>
          </a:solidFill>
          <a:ln w="12700">
            <a:solidFill>
              <a:srgbClr val="14B8A6"/>
            </a:solidFill>
            <a:prstDash val="solid"/>
          </a:ln>
        </p:spPr>
        <p:txBody>
          <a:bodyPr/>
          <a:lstStyle/>
          <a:p>
            <a:endParaRPr lang="en-US"/>
          </a:p>
        </p:txBody>
      </p:sp>
      <p:sp>
        <p:nvSpPr>
          <p:cNvPr id="15" name="Text 13"/>
          <p:cNvSpPr/>
          <p:nvPr/>
        </p:nvSpPr>
        <p:spPr>
          <a:xfrm>
            <a:off x="5806440" y="1389888"/>
            <a:ext cx="3017520" cy="228600"/>
          </a:xfrm>
          <a:prstGeom prst="rect">
            <a:avLst/>
          </a:prstGeom>
          <a:noFill/>
          <a:ln/>
        </p:spPr>
        <p:txBody>
          <a:bodyPr wrap="square" lIns="0" tIns="0" rIns="0" bIns="0" rtlCol="0" anchor="ctr"/>
          <a:lstStyle/>
          <a:p>
            <a:pPr marL="0" indent="0">
              <a:buNone/>
            </a:pPr>
            <a:r>
              <a:rPr lang="en-US" sz="900" b="1" kern="0" spc="300" dirty="0">
                <a:solidFill>
                  <a:srgbClr val="14B8A6"/>
                </a:solidFill>
                <a:latin typeface="Calibri" pitchFamily="34" charset="0"/>
                <a:ea typeface="Calibri" pitchFamily="34" charset="-122"/>
                <a:cs typeface="Calibri" pitchFamily="34" charset="-120"/>
              </a:rPr>
              <a:t>SPRINT 7</a:t>
            </a:r>
            <a:endParaRPr lang="en-US" sz="900" dirty="0"/>
          </a:p>
        </p:txBody>
      </p:sp>
      <p:sp>
        <p:nvSpPr>
          <p:cNvPr id="16" name="Text 14"/>
          <p:cNvSpPr/>
          <p:nvPr/>
        </p:nvSpPr>
        <p:spPr>
          <a:xfrm>
            <a:off x="5806440" y="1600200"/>
            <a:ext cx="3017520" cy="22860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WEEKS 15–16</a:t>
            </a:r>
            <a:endParaRPr lang="en-US" sz="900" dirty="0"/>
          </a:p>
        </p:txBody>
      </p:sp>
      <p:sp>
        <p:nvSpPr>
          <p:cNvPr id="17" name="Text 15"/>
          <p:cNvSpPr/>
          <p:nvPr/>
        </p:nvSpPr>
        <p:spPr>
          <a:xfrm>
            <a:off x="5806440" y="1828800"/>
            <a:ext cx="3017520" cy="36576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Training, Cutover &amp; Hypercare</a:t>
            </a:r>
            <a:endParaRPr lang="en-US" sz="1300" dirty="0"/>
          </a:p>
        </p:txBody>
      </p:sp>
      <p:sp>
        <p:nvSpPr>
          <p:cNvPr id="18" name="Text 16"/>
          <p:cNvSpPr/>
          <p:nvPr/>
        </p:nvSpPr>
        <p:spPr>
          <a:xfrm>
            <a:off x="5806440" y="2240280"/>
            <a:ext cx="3017520" cy="114300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Deliver KT sessions &amp; train-the-trainer materials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Execute governed migration to new instance</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Provide post-launch Hypercare support</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Confirm clean exit from legacy env.</a:t>
            </a:r>
            <a:endParaRPr lang="en-US" sz="950" dirty="0"/>
          </a:p>
        </p:txBody>
      </p:sp>
      <p:sp>
        <p:nvSpPr>
          <p:cNvPr id="19" name="Shape 17"/>
          <p:cNvSpPr/>
          <p:nvPr/>
        </p:nvSpPr>
        <p:spPr>
          <a:xfrm>
            <a:off x="365760" y="4069080"/>
            <a:ext cx="8412480" cy="685800"/>
          </a:xfrm>
          <a:prstGeom prst="rect">
            <a:avLst/>
          </a:prstGeom>
          <a:solidFill>
            <a:srgbClr val="F8FAFC"/>
          </a:solidFill>
          <a:ln w="12700">
            <a:solidFill>
              <a:srgbClr val="E2E8F0"/>
            </a:solidFill>
            <a:prstDash val="solid"/>
          </a:ln>
        </p:spPr>
        <p:txBody>
          <a:bodyPr/>
          <a:lstStyle/>
          <a:p>
            <a:endParaRPr lang="en-US"/>
          </a:p>
        </p:txBody>
      </p:sp>
      <p:sp>
        <p:nvSpPr>
          <p:cNvPr id="20" name="Text 18"/>
          <p:cNvSpPr/>
          <p:nvPr/>
        </p:nvSpPr>
        <p:spPr>
          <a:xfrm>
            <a:off x="502920" y="4069080"/>
            <a:ext cx="8183880" cy="685800"/>
          </a:xfrm>
          <a:prstGeom prst="rect">
            <a:avLst/>
          </a:prstGeom>
          <a:noFill/>
          <a:ln/>
        </p:spPr>
        <p:txBody>
          <a:bodyPr wrap="square" lIns="0" tIns="0" rIns="0" bIns="0" rtlCol="0" anchor="ctr"/>
          <a:lstStyle/>
          <a:p>
            <a:pPr marL="0" indent="0">
              <a:buNone/>
            </a:pPr>
            <a:r>
              <a:rPr lang="en-US" sz="1000" b="1" i="1" kern="0" spc="300" dirty="0">
                <a:solidFill>
                  <a:srgbClr val="14B8A6"/>
                </a:solidFill>
                <a:latin typeface="Calibri" pitchFamily="34" charset="0"/>
                <a:ea typeface="Calibri" pitchFamily="34" charset="-122"/>
                <a:cs typeface="Calibri" pitchFamily="34" charset="-120"/>
              </a:rPr>
              <a:t>FOCUS  ·  </a:t>
            </a:r>
            <a:r>
              <a:rPr lang="en-US" sz="1000" i="1" dirty="0">
                <a:solidFill>
                  <a:srgbClr val="1E293B"/>
                </a:solidFill>
                <a:latin typeface="Calibri" pitchFamily="34" charset="0"/>
                <a:ea typeface="Calibri" pitchFamily="34" charset="-122"/>
                <a:cs typeface="Calibri" pitchFamily="34" charset="-120"/>
              </a:rPr>
              <a:t>Deliverables: UAT/SIT Report  ·  Go-Live Checklist  ·  Cutover Runbook</a:t>
            </a:r>
            <a:endParaRPr lang="en-US" sz="1000" dirty="0"/>
          </a:p>
        </p:txBody>
      </p:sp>
      <p:sp>
        <p:nvSpPr>
          <p:cNvPr id="21" name="Shape 19"/>
          <p:cNvSpPr/>
          <p:nvPr/>
        </p:nvSpPr>
        <p:spPr>
          <a:xfrm>
            <a:off x="0" y="4818888"/>
            <a:ext cx="9144000" cy="324612"/>
          </a:xfrm>
          <a:prstGeom prst="rect">
            <a:avLst/>
          </a:prstGeom>
          <a:solidFill>
            <a:srgbClr val="0B1F3A"/>
          </a:solidFill>
          <a:ln w="12700">
            <a:solidFill>
              <a:srgbClr val="0B1F3A"/>
            </a:solidFill>
            <a:prstDash val="solid"/>
          </a:ln>
        </p:spPr>
        <p:txBody>
          <a:bodyPr/>
          <a:lstStyle/>
          <a:p>
            <a:endParaRPr lang="en-US"/>
          </a:p>
        </p:txBody>
      </p:sp>
      <p:pic>
        <p:nvPicPr>
          <p:cNvPr id="22" name="Image 0" descr="/sessions/laughing-cool-lovelace/mnt/outputs/deck/everforth_ecs_federal_white.png"/>
          <p:cNvPicPr>
            <a:picLocks noChangeAspect="1"/>
          </p:cNvPicPr>
          <p:nvPr/>
        </p:nvPicPr>
        <p:blipFill>
          <a:blip r:embed="rId3"/>
          <a:stretch>
            <a:fillRect/>
          </a:stretch>
        </p:blipFill>
        <p:spPr>
          <a:xfrm>
            <a:off x="365760" y="4873752"/>
            <a:ext cx="1188720" cy="220855"/>
          </a:xfrm>
          <a:prstGeom prst="rect">
            <a:avLst/>
          </a:prstGeom>
        </p:spPr>
      </p:pic>
      <p:sp>
        <p:nvSpPr>
          <p:cNvPr id="23" name="Text 20"/>
          <p:cNvSpPr/>
          <p:nvPr/>
        </p:nvSpPr>
        <p:spPr>
          <a:xfrm>
            <a:off x="1828800" y="4910328"/>
            <a:ext cx="5486400" cy="146304"/>
          </a:xfrm>
          <a:prstGeom prst="rect">
            <a:avLst/>
          </a:prstGeom>
          <a:noFill/>
          <a:ln/>
        </p:spPr>
        <p:txBody>
          <a:bodyPr wrap="square" lIns="0" tIns="0" rIns="0" bIns="0" rtlCol="0" anchor="ctr"/>
          <a:lstStyle/>
          <a:p>
            <a:pPr marL="0" indent="0">
              <a:buNone/>
            </a:pPr>
            <a:r>
              <a:rPr lang="en-US" sz="750" kern="0" spc="400" dirty="0">
                <a:solidFill>
                  <a:srgbClr val="CBD5E1"/>
                </a:solidFill>
                <a:latin typeface="Calibri" pitchFamily="34" charset="0"/>
                <a:ea typeface="Calibri" pitchFamily="34" charset="-122"/>
                <a:cs typeface="Calibri" pitchFamily="34" charset="-120"/>
              </a:rPr>
              <a:t>ECS  ·  PC CONNECTION  ·  SERVICENOW RE-IMPLEMENTATION</a:t>
            </a:r>
            <a:endParaRPr lang="en-US" sz="750" dirty="0"/>
          </a:p>
        </p:txBody>
      </p:sp>
      <p:sp>
        <p:nvSpPr>
          <p:cNvPr id="24" name="Text 21"/>
          <p:cNvSpPr/>
          <p:nvPr/>
        </p:nvSpPr>
        <p:spPr>
          <a:xfrm>
            <a:off x="7863840" y="4910328"/>
            <a:ext cx="914400" cy="146304"/>
          </a:xfrm>
          <a:prstGeom prst="rect">
            <a:avLst/>
          </a:prstGeom>
          <a:noFill/>
          <a:ln/>
        </p:spPr>
        <p:txBody>
          <a:bodyPr wrap="square" lIns="0" tIns="0" rIns="0" bIns="0" rtlCol="0" anchor="ctr"/>
          <a:lstStyle/>
          <a:p>
            <a:pPr marL="0" indent="0" algn="r">
              <a:buNone/>
            </a:pPr>
            <a:r>
              <a:rPr lang="en-US" sz="750" dirty="0">
                <a:solidFill>
                  <a:srgbClr val="CBD5E1"/>
                </a:solidFill>
                <a:latin typeface="Calibri" pitchFamily="34" charset="0"/>
                <a:ea typeface="Calibri" pitchFamily="34" charset="-122"/>
                <a:cs typeface="Calibri" pitchFamily="34" charset="-120"/>
              </a:rPr>
              <a:t>13 / 19</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92608"/>
            <a:ext cx="8412480" cy="228600"/>
          </a:xfrm>
          <a:prstGeom prst="rect">
            <a:avLst/>
          </a:prstGeom>
          <a:noFill/>
          <a:ln/>
        </p:spPr>
        <p:txBody>
          <a:bodyPr wrap="square" lIns="0" tIns="0" rIns="0" bIns="0" rtlCol="0" anchor="ctr"/>
          <a:lstStyle/>
          <a:p>
            <a:pPr marL="0" indent="0">
              <a:buNone/>
            </a:pPr>
            <a:r>
              <a:rPr lang="en-US" sz="900" b="1" kern="0" spc="600" dirty="0">
                <a:solidFill>
                  <a:srgbClr val="14B8A6"/>
                </a:solidFill>
                <a:latin typeface="Calibri" pitchFamily="34" charset="0"/>
                <a:ea typeface="Calibri" pitchFamily="34" charset="-122"/>
                <a:cs typeface="Calibri" pitchFamily="34" charset="-120"/>
              </a:rPr>
              <a:t>13  ·  STAGE 4  ·  CLOSE</a:t>
            </a:r>
            <a:endParaRPr lang="en-US" sz="900" dirty="0"/>
          </a:p>
        </p:txBody>
      </p:sp>
      <p:sp>
        <p:nvSpPr>
          <p:cNvPr id="3" name="Text 1"/>
          <p:cNvSpPr/>
          <p:nvPr/>
        </p:nvSpPr>
        <p:spPr>
          <a:xfrm>
            <a:off x="365760" y="502920"/>
            <a:ext cx="8412480" cy="502920"/>
          </a:xfrm>
          <a:prstGeom prst="rect">
            <a:avLst/>
          </a:prstGeom>
          <a:noFill/>
          <a:ln/>
        </p:spPr>
        <p:txBody>
          <a:bodyPr wrap="square" lIns="0" tIns="0" rIns="0" bIns="0" rtlCol="0" anchor="ctr"/>
          <a:lstStyle/>
          <a:p>
            <a:pPr marL="0" indent="0">
              <a:buNone/>
            </a:pPr>
            <a:r>
              <a:rPr lang="en-US" sz="2400" b="1" dirty="0">
                <a:solidFill>
                  <a:srgbClr val="0B1F3A"/>
                </a:solidFill>
                <a:latin typeface="Calibri" pitchFamily="34" charset="0"/>
                <a:ea typeface="Calibri" pitchFamily="34" charset="-122"/>
                <a:cs typeface="Calibri" pitchFamily="34" charset="-120"/>
              </a:rPr>
              <a:t>Sprint 8  ·  Weeks 17–18  ·  Hypercare &amp; strategic handover</a:t>
            </a:r>
            <a:endParaRPr lang="en-US" sz="2400" dirty="0"/>
          </a:p>
        </p:txBody>
      </p:sp>
      <p:sp>
        <p:nvSpPr>
          <p:cNvPr id="4" name="Shape 2"/>
          <p:cNvSpPr/>
          <p:nvPr/>
        </p:nvSpPr>
        <p:spPr>
          <a:xfrm>
            <a:off x="365760" y="1325880"/>
            <a:ext cx="1645920" cy="1645920"/>
          </a:xfrm>
          <a:prstGeom prst="ellipse">
            <a:avLst/>
          </a:prstGeom>
          <a:solidFill>
            <a:srgbClr val="071427"/>
          </a:solidFill>
          <a:ln w="12700">
            <a:solidFill>
              <a:srgbClr val="071427"/>
            </a:solidFill>
            <a:prstDash val="solid"/>
          </a:ln>
        </p:spPr>
        <p:txBody>
          <a:bodyPr/>
          <a:lstStyle/>
          <a:p>
            <a:endParaRPr lang="en-US"/>
          </a:p>
        </p:txBody>
      </p:sp>
      <p:sp>
        <p:nvSpPr>
          <p:cNvPr id="5" name="Text 3"/>
          <p:cNvSpPr/>
          <p:nvPr/>
        </p:nvSpPr>
        <p:spPr>
          <a:xfrm>
            <a:off x="365760" y="1508760"/>
            <a:ext cx="1645920" cy="274320"/>
          </a:xfrm>
          <a:prstGeom prst="rect">
            <a:avLst/>
          </a:prstGeom>
          <a:noFill/>
          <a:ln/>
        </p:spPr>
        <p:txBody>
          <a:bodyPr wrap="square" lIns="0" tIns="0" rIns="0" bIns="0" rtlCol="0" anchor="ctr"/>
          <a:lstStyle/>
          <a:p>
            <a:pPr marL="0" indent="0" algn="ctr">
              <a:buNone/>
            </a:pPr>
            <a:r>
              <a:rPr lang="en-US" sz="900" b="1" kern="0" spc="400" dirty="0">
                <a:solidFill>
                  <a:srgbClr val="5EEAD4"/>
                </a:solidFill>
                <a:latin typeface="Calibri" pitchFamily="34" charset="0"/>
                <a:ea typeface="Calibri" pitchFamily="34" charset="-122"/>
                <a:cs typeface="Calibri" pitchFamily="34" charset="-120"/>
              </a:rPr>
              <a:t>STAGE</a:t>
            </a:r>
            <a:endParaRPr lang="en-US" sz="900" dirty="0"/>
          </a:p>
        </p:txBody>
      </p:sp>
      <p:sp>
        <p:nvSpPr>
          <p:cNvPr id="6" name="Text 4"/>
          <p:cNvSpPr/>
          <p:nvPr/>
        </p:nvSpPr>
        <p:spPr>
          <a:xfrm>
            <a:off x="365760" y="1783080"/>
            <a:ext cx="1645920" cy="777240"/>
          </a:xfrm>
          <a:prstGeom prst="rect">
            <a:avLst/>
          </a:prstGeom>
          <a:noFill/>
          <a:ln/>
        </p:spPr>
        <p:txBody>
          <a:bodyPr wrap="square" lIns="0" tIns="0" rIns="0" bIns="0"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04</a:t>
            </a:r>
            <a:endParaRPr lang="en-US" sz="5600" dirty="0"/>
          </a:p>
        </p:txBody>
      </p:sp>
      <p:sp>
        <p:nvSpPr>
          <p:cNvPr id="7" name="Shape 5"/>
          <p:cNvSpPr/>
          <p:nvPr/>
        </p:nvSpPr>
        <p:spPr>
          <a:xfrm>
            <a:off x="2194560" y="1280160"/>
            <a:ext cx="6583680" cy="1417320"/>
          </a:xfrm>
          <a:prstGeom prst="rect">
            <a:avLst/>
          </a:prstGeom>
          <a:solidFill>
            <a:srgbClr val="FFFFFF"/>
          </a:solidFill>
          <a:ln w="12700">
            <a:solidFill>
              <a:srgbClr val="E2E8F0"/>
            </a:solidFill>
            <a:prstDash val="solid"/>
          </a:ln>
        </p:spPr>
        <p:txBody>
          <a:bodyPr/>
          <a:lstStyle/>
          <a:p>
            <a:endParaRPr lang="en-US"/>
          </a:p>
        </p:txBody>
      </p:sp>
      <p:sp>
        <p:nvSpPr>
          <p:cNvPr id="8" name="Shape 6"/>
          <p:cNvSpPr/>
          <p:nvPr/>
        </p:nvSpPr>
        <p:spPr>
          <a:xfrm>
            <a:off x="2194560" y="1280160"/>
            <a:ext cx="73152" cy="1417320"/>
          </a:xfrm>
          <a:prstGeom prst="rect">
            <a:avLst/>
          </a:prstGeom>
          <a:solidFill>
            <a:srgbClr val="14B8A6"/>
          </a:solidFill>
          <a:ln w="12700">
            <a:solidFill>
              <a:srgbClr val="14B8A6"/>
            </a:solidFill>
            <a:prstDash val="solid"/>
          </a:ln>
        </p:spPr>
        <p:txBody>
          <a:bodyPr/>
          <a:lstStyle/>
          <a:p>
            <a:endParaRPr lang="en-US"/>
          </a:p>
        </p:txBody>
      </p:sp>
      <p:sp>
        <p:nvSpPr>
          <p:cNvPr id="9" name="Text 7"/>
          <p:cNvSpPr/>
          <p:nvPr/>
        </p:nvSpPr>
        <p:spPr>
          <a:xfrm>
            <a:off x="2377440" y="1371600"/>
            <a:ext cx="6309360" cy="228600"/>
          </a:xfrm>
          <a:prstGeom prst="rect">
            <a:avLst/>
          </a:prstGeom>
          <a:noFill/>
          <a:ln/>
        </p:spPr>
        <p:txBody>
          <a:bodyPr wrap="square" lIns="0" tIns="0" rIns="0" bIns="0" rtlCol="0" anchor="ctr"/>
          <a:lstStyle/>
          <a:p>
            <a:pPr marL="0" indent="0">
              <a:buNone/>
            </a:pPr>
            <a:r>
              <a:rPr lang="en-US" sz="900" b="1" kern="0" spc="300" dirty="0">
                <a:solidFill>
                  <a:srgbClr val="14B8A6"/>
                </a:solidFill>
                <a:latin typeface="Calibri" pitchFamily="34" charset="0"/>
                <a:ea typeface="Calibri" pitchFamily="34" charset="-122"/>
                <a:cs typeface="Calibri" pitchFamily="34" charset="-120"/>
              </a:rPr>
              <a:t>KEY ACTIVITIES</a:t>
            </a:r>
            <a:endParaRPr lang="en-US" sz="900" dirty="0"/>
          </a:p>
        </p:txBody>
      </p:sp>
      <p:sp>
        <p:nvSpPr>
          <p:cNvPr id="10" name="Shape 8"/>
          <p:cNvSpPr/>
          <p:nvPr/>
        </p:nvSpPr>
        <p:spPr>
          <a:xfrm>
            <a:off x="2423160" y="1691640"/>
            <a:ext cx="365760" cy="365760"/>
          </a:xfrm>
          <a:prstGeom prst="ellipse">
            <a:avLst/>
          </a:prstGeom>
          <a:solidFill>
            <a:srgbClr val="14B8A6"/>
          </a:solidFill>
          <a:ln w="12700">
            <a:solidFill>
              <a:srgbClr val="14B8A6"/>
            </a:solidFill>
            <a:prstDash val="solid"/>
          </a:ln>
        </p:spPr>
        <p:txBody>
          <a:bodyPr/>
          <a:lstStyle/>
          <a:p>
            <a:endParaRPr lang="en-US"/>
          </a:p>
        </p:txBody>
      </p:sp>
      <p:sp>
        <p:nvSpPr>
          <p:cNvPr id="11" name="Text 9"/>
          <p:cNvSpPr/>
          <p:nvPr/>
        </p:nvSpPr>
        <p:spPr>
          <a:xfrm>
            <a:off x="2423160" y="16916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2880360" y="1645920"/>
            <a:ext cx="1691640" cy="274320"/>
          </a:xfrm>
          <a:prstGeom prst="rect">
            <a:avLst/>
          </a:prstGeom>
          <a:noFill/>
          <a:ln/>
        </p:spPr>
        <p:txBody>
          <a:bodyPr wrap="square" lIns="0" tIns="0" rIns="0" bIns="0" rtlCol="0" anchor="ctr"/>
          <a:lstStyle/>
          <a:p>
            <a:pPr marL="0" indent="0">
              <a:buNone/>
            </a:pPr>
            <a:r>
              <a:rPr lang="en-US" sz="1050" b="1" dirty="0">
                <a:solidFill>
                  <a:srgbClr val="0B1F3A"/>
                </a:solidFill>
                <a:latin typeface="Calibri" pitchFamily="34" charset="0"/>
                <a:ea typeface="Calibri" pitchFamily="34" charset="-122"/>
                <a:cs typeface="Calibri" pitchFamily="34" charset="-120"/>
              </a:rPr>
              <a:t>Stabilize Production</a:t>
            </a:r>
            <a:endParaRPr lang="en-US" sz="1050" dirty="0"/>
          </a:p>
        </p:txBody>
      </p:sp>
      <p:sp>
        <p:nvSpPr>
          <p:cNvPr id="13" name="Text 11"/>
          <p:cNvSpPr/>
          <p:nvPr/>
        </p:nvSpPr>
        <p:spPr>
          <a:xfrm>
            <a:off x="2880360" y="1920240"/>
            <a:ext cx="1691640" cy="640080"/>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Finalize post-go-live Hypercare; stabilize the live environment.</a:t>
            </a:r>
            <a:endParaRPr lang="en-US" sz="850" dirty="0"/>
          </a:p>
        </p:txBody>
      </p:sp>
      <p:sp>
        <p:nvSpPr>
          <p:cNvPr id="14" name="Shape 12"/>
          <p:cNvSpPr/>
          <p:nvPr/>
        </p:nvSpPr>
        <p:spPr>
          <a:xfrm>
            <a:off x="4572000" y="1691640"/>
            <a:ext cx="365760" cy="365760"/>
          </a:xfrm>
          <a:prstGeom prst="ellipse">
            <a:avLst/>
          </a:prstGeom>
          <a:solidFill>
            <a:srgbClr val="14B8A6"/>
          </a:solidFill>
          <a:ln w="12700">
            <a:solidFill>
              <a:srgbClr val="14B8A6"/>
            </a:solidFill>
            <a:prstDash val="solid"/>
          </a:ln>
        </p:spPr>
        <p:txBody>
          <a:bodyPr/>
          <a:lstStyle/>
          <a:p>
            <a:endParaRPr lang="en-US"/>
          </a:p>
        </p:txBody>
      </p:sp>
      <p:sp>
        <p:nvSpPr>
          <p:cNvPr id="15" name="Text 13"/>
          <p:cNvSpPr/>
          <p:nvPr/>
        </p:nvSpPr>
        <p:spPr>
          <a:xfrm>
            <a:off x="4572000" y="16916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5029200" y="1645920"/>
            <a:ext cx="1691640" cy="274320"/>
          </a:xfrm>
          <a:prstGeom prst="rect">
            <a:avLst/>
          </a:prstGeom>
          <a:noFill/>
          <a:ln/>
        </p:spPr>
        <p:txBody>
          <a:bodyPr wrap="square" lIns="0" tIns="0" rIns="0" bIns="0" rtlCol="0" anchor="ctr"/>
          <a:lstStyle/>
          <a:p>
            <a:pPr marL="0" indent="0">
              <a:buNone/>
            </a:pPr>
            <a:r>
              <a:rPr lang="en-US" sz="1050" b="1" dirty="0">
                <a:solidFill>
                  <a:srgbClr val="0B1F3A"/>
                </a:solidFill>
                <a:latin typeface="Calibri" pitchFamily="34" charset="0"/>
                <a:ea typeface="Calibri" pitchFamily="34" charset="-122"/>
                <a:cs typeface="Calibri" pitchFamily="34" charset="-120"/>
              </a:rPr>
              <a:t>Formal Project Closeout</a:t>
            </a:r>
            <a:endParaRPr lang="en-US" sz="1050" dirty="0"/>
          </a:p>
        </p:txBody>
      </p:sp>
      <p:sp>
        <p:nvSpPr>
          <p:cNvPr id="17" name="Text 15"/>
          <p:cNvSpPr/>
          <p:nvPr/>
        </p:nvSpPr>
        <p:spPr>
          <a:xfrm>
            <a:off x="5029200" y="1920240"/>
            <a:ext cx="1691640" cy="640080"/>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Archive artifacts, sign off on deliverables, conduct Lessons Learned.</a:t>
            </a:r>
            <a:endParaRPr lang="en-US" sz="850" dirty="0"/>
          </a:p>
        </p:txBody>
      </p:sp>
      <p:sp>
        <p:nvSpPr>
          <p:cNvPr id="18" name="Shape 16"/>
          <p:cNvSpPr/>
          <p:nvPr/>
        </p:nvSpPr>
        <p:spPr>
          <a:xfrm>
            <a:off x="6720840" y="1691640"/>
            <a:ext cx="365760" cy="365760"/>
          </a:xfrm>
          <a:prstGeom prst="ellipse">
            <a:avLst/>
          </a:prstGeom>
          <a:solidFill>
            <a:srgbClr val="14B8A6"/>
          </a:solidFill>
          <a:ln w="12700">
            <a:solidFill>
              <a:srgbClr val="14B8A6"/>
            </a:solidFill>
            <a:prstDash val="solid"/>
          </a:ln>
        </p:spPr>
        <p:txBody>
          <a:bodyPr/>
          <a:lstStyle/>
          <a:p>
            <a:endParaRPr lang="en-US"/>
          </a:p>
        </p:txBody>
      </p:sp>
      <p:sp>
        <p:nvSpPr>
          <p:cNvPr id="19" name="Text 17"/>
          <p:cNvSpPr/>
          <p:nvPr/>
        </p:nvSpPr>
        <p:spPr>
          <a:xfrm>
            <a:off x="6720840" y="16916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7178040" y="1645920"/>
            <a:ext cx="1691640" cy="274320"/>
          </a:xfrm>
          <a:prstGeom prst="rect">
            <a:avLst/>
          </a:prstGeom>
          <a:noFill/>
          <a:ln/>
        </p:spPr>
        <p:txBody>
          <a:bodyPr wrap="square" lIns="0" tIns="0" rIns="0" bIns="0" rtlCol="0" anchor="ctr"/>
          <a:lstStyle/>
          <a:p>
            <a:pPr marL="0" indent="0">
              <a:buNone/>
            </a:pPr>
            <a:r>
              <a:rPr lang="en-US" sz="1050" b="1" dirty="0">
                <a:solidFill>
                  <a:srgbClr val="0B1F3A"/>
                </a:solidFill>
                <a:latin typeface="Calibri" pitchFamily="34" charset="0"/>
                <a:ea typeface="Calibri" pitchFamily="34" charset="-122"/>
                <a:cs typeface="Calibri" pitchFamily="34" charset="-120"/>
              </a:rPr>
              <a:t>Roadmap Review</a:t>
            </a:r>
            <a:endParaRPr lang="en-US" sz="1050" dirty="0"/>
          </a:p>
        </p:txBody>
      </p:sp>
      <p:sp>
        <p:nvSpPr>
          <p:cNvPr id="21" name="Text 19"/>
          <p:cNvSpPr/>
          <p:nvPr/>
        </p:nvSpPr>
        <p:spPr>
          <a:xfrm>
            <a:off x="7178040" y="1920240"/>
            <a:ext cx="1691640" cy="640080"/>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Align on long-term vision; transition operations to internal team.</a:t>
            </a:r>
            <a:endParaRPr lang="en-US" sz="850" dirty="0"/>
          </a:p>
        </p:txBody>
      </p:sp>
      <p:sp>
        <p:nvSpPr>
          <p:cNvPr id="22" name="Shape 20"/>
          <p:cNvSpPr/>
          <p:nvPr/>
        </p:nvSpPr>
        <p:spPr>
          <a:xfrm>
            <a:off x="2194560" y="2788920"/>
            <a:ext cx="6583680" cy="1280160"/>
          </a:xfrm>
          <a:prstGeom prst="rect">
            <a:avLst/>
          </a:prstGeom>
          <a:solidFill>
            <a:srgbClr val="0B1F3A"/>
          </a:solidFill>
          <a:ln w="12700">
            <a:solidFill>
              <a:srgbClr val="0B1F3A"/>
            </a:solidFill>
            <a:prstDash val="solid"/>
          </a:ln>
        </p:spPr>
        <p:txBody>
          <a:bodyPr/>
          <a:lstStyle/>
          <a:p>
            <a:endParaRPr lang="en-US"/>
          </a:p>
        </p:txBody>
      </p:sp>
      <p:sp>
        <p:nvSpPr>
          <p:cNvPr id="23" name="Text 21"/>
          <p:cNvSpPr/>
          <p:nvPr/>
        </p:nvSpPr>
        <p:spPr>
          <a:xfrm>
            <a:off x="2377440" y="2880360"/>
            <a:ext cx="6309360" cy="228600"/>
          </a:xfrm>
          <a:prstGeom prst="rect">
            <a:avLst/>
          </a:prstGeom>
          <a:noFill/>
          <a:ln/>
        </p:spPr>
        <p:txBody>
          <a:bodyPr wrap="square" lIns="0" tIns="0" rIns="0" bIns="0" rtlCol="0" anchor="ctr"/>
          <a:lstStyle/>
          <a:p>
            <a:pPr marL="0" indent="0">
              <a:buNone/>
            </a:pPr>
            <a:r>
              <a:rPr lang="en-US" sz="900" b="1" kern="0" spc="300" dirty="0">
                <a:solidFill>
                  <a:srgbClr val="5EEAD4"/>
                </a:solidFill>
                <a:latin typeface="Calibri" pitchFamily="34" charset="0"/>
                <a:ea typeface="Calibri" pitchFamily="34" charset="-122"/>
                <a:cs typeface="Calibri" pitchFamily="34" charset="-120"/>
              </a:rPr>
              <a:t>CLOSE DELIVERABLES</a:t>
            </a:r>
            <a:endParaRPr lang="en-US" sz="900" dirty="0"/>
          </a:p>
        </p:txBody>
      </p:sp>
      <p:sp>
        <p:nvSpPr>
          <p:cNvPr id="24" name="Text 22"/>
          <p:cNvSpPr/>
          <p:nvPr/>
        </p:nvSpPr>
        <p:spPr>
          <a:xfrm>
            <a:off x="2377440" y="3154680"/>
            <a:ext cx="31089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Knowledge Transfer Library</a:t>
            </a:r>
            <a:endParaRPr lang="en-US" sz="1200" dirty="0"/>
          </a:p>
        </p:txBody>
      </p:sp>
      <p:sp>
        <p:nvSpPr>
          <p:cNvPr id="25" name="Text 23"/>
          <p:cNvSpPr/>
          <p:nvPr/>
        </p:nvSpPr>
        <p:spPr>
          <a:xfrm>
            <a:off x="2377440" y="3429000"/>
            <a:ext cx="3108960" cy="54864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SOPs, Admin 101 guides, train-the –trainer workshops and material.</a:t>
            </a:r>
            <a:endParaRPr lang="en-US" sz="950" dirty="0"/>
          </a:p>
        </p:txBody>
      </p:sp>
      <p:sp>
        <p:nvSpPr>
          <p:cNvPr id="26" name="Text 24"/>
          <p:cNvSpPr/>
          <p:nvPr/>
        </p:nvSpPr>
        <p:spPr>
          <a:xfrm>
            <a:off x="5577840" y="3154680"/>
            <a:ext cx="31089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Lessons Learned &amp; Closeout Report</a:t>
            </a:r>
            <a:endParaRPr lang="en-US" sz="1200" dirty="0"/>
          </a:p>
        </p:txBody>
      </p:sp>
      <p:sp>
        <p:nvSpPr>
          <p:cNvPr id="27" name="Text 25"/>
          <p:cNvSpPr/>
          <p:nvPr/>
        </p:nvSpPr>
        <p:spPr>
          <a:xfrm>
            <a:off x="5577840" y="3429000"/>
            <a:ext cx="3108960" cy="54864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Final KPIs, OOTB wins, and 12-month strategic roadmap.</a:t>
            </a:r>
            <a:endParaRPr lang="en-US" sz="950" dirty="0"/>
          </a:p>
        </p:txBody>
      </p:sp>
      <p:sp>
        <p:nvSpPr>
          <p:cNvPr id="28" name="Shape 26"/>
          <p:cNvSpPr/>
          <p:nvPr/>
        </p:nvSpPr>
        <p:spPr>
          <a:xfrm>
            <a:off x="365760" y="4206240"/>
            <a:ext cx="8412480" cy="548640"/>
          </a:xfrm>
          <a:prstGeom prst="rect">
            <a:avLst/>
          </a:prstGeom>
          <a:solidFill>
            <a:srgbClr val="F8FAFC"/>
          </a:solidFill>
          <a:ln w="12700">
            <a:solidFill>
              <a:srgbClr val="E2E8F0"/>
            </a:solidFill>
            <a:prstDash val="solid"/>
          </a:ln>
        </p:spPr>
        <p:txBody>
          <a:bodyPr/>
          <a:lstStyle/>
          <a:p>
            <a:endParaRPr lang="en-US"/>
          </a:p>
        </p:txBody>
      </p:sp>
      <p:sp>
        <p:nvSpPr>
          <p:cNvPr id="29" name="Text 27"/>
          <p:cNvSpPr/>
          <p:nvPr/>
        </p:nvSpPr>
        <p:spPr>
          <a:xfrm>
            <a:off x="365760" y="4206240"/>
            <a:ext cx="8412480" cy="548640"/>
          </a:xfrm>
          <a:prstGeom prst="rect">
            <a:avLst/>
          </a:prstGeom>
          <a:noFill/>
          <a:ln/>
        </p:spPr>
        <p:txBody>
          <a:bodyPr wrap="square" lIns="0" tIns="0" rIns="0" bIns="0" rtlCol="0" anchor="ctr"/>
          <a:lstStyle/>
          <a:p>
            <a:pPr marL="0" indent="0" algn="ctr">
              <a:buNone/>
            </a:pPr>
            <a:r>
              <a:rPr lang="en-US" sz="1100" i="1" dirty="0">
                <a:solidFill>
                  <a:srgbClr val="0B1F3A"/>
                </a:solidFill>
                <a:latin typeface="Calibri" pitchFamily="34" charset="0"/>
                <a:ea typeface="Calibri" pitchFamily="34" charset="-122"/>
                <a:cs typeface="Calibri" pitchFamily="34" charset="-120"/>
              </a:rPr>
              <a:t>A clean transition. A documented handover. A roadmap for what's next.</a:t>
            </a:r>
            <a:endParaRPr lang="en-US" sz="1100" dirty="0"/>
          </a:p>
        </p:txBody>
      </p:sp>
      <p:sp>
        <p:nvSpPr>
          <p:cNvPr id="30" name="Shape 28"/>
          <p:cNvSpPr/>
          <p:nvPr/>
        </p:nvSpPr>
        <p:spPr>
          <a:xfrm>
            <a:off x="0" y="4818888"/>
            <a:ext cx="9144000" cy="324612"/>
          </a:xfrm>
          <a:prstGeom prst="rect">
            <a:avLst/>
          </a:prstGeom>
          <a:solidFill>
            <a:srgbClr val="0B1F3A"/>
          </a:solidFill>
          <a:ln w="12700">
            <a:solidFill>
              <a:srgbClr val="0B1F3A"/>
            </a:solidFill>
            <a:prstDash val="solid"/>
          </a:ln>
        </p:spPr>
        <p:txBody>
          <a:bodyPr/>
          <a:lstStyle/>
          <a:p>
            <a:endParaRPr lang="en-US"/>
          </a:p>
        </p:txBody>
      </p:sp>
      <p:pic>
        <p:nvPicPr>
          <p:cNvPr id="31" name="Image 0" descr="/sessions/laughing-cool-lovelace/mnt/outputs/deck/everforth_ecs_federal_white.png"/>
          <p:cNvPicPr>
            <a:picLocks noChangeAspect="1"/>
          </p:cNvPicPr>
          <p:nvPr/>
        </p:nvPicPr>
        <p:blipFill>
          <a:blip r:embed="rId3"/>
          <a:stretch>
            <a:fillRect/>
          </a:stretch>
        </p:blipFill>
        <p:spPr>
          <a:xfrm>
            <a:off x="365760" y="4873752"/>
            <a:ext cx="1188720" cy="220855"/>
          </a:xfrm>
          <a:prstGeom prst="rect">
            <a:avLst/>
          </a:prstGeom>
        </p:spPr>
      </p:pic>
      <p:sp>
        <p:nvSpPr>
          <p:cNvPr id="32" name="Text 29"/>
          <p:cNvSpPr/>
          <p:nvPr/>
        </p:nvSpPr>
        <p:spPr>
          <a:xfrm>
            <a:off x="1828800" y="4910328"/>
            <a:ext cx="5486400" cy="146304"/>
          </a:xfrm>
          <a:prstGeom prst="rect">
            <a:avLst/>
          </a:prstGeom>
          <a:noFill/>
          <a:ln/>
        </p:spPr>
        <p:txBody>
          <a:bodyPr wrap="square" lIns="0" tIns="0" rIns="0" bIns="0" rtlCol="0" anchor="ctr"/>
          <a:lstStyle/>
          <a:p>
            <a:pPr marL="0" indent="0">
              <a:buNone/>
            </a:pPr>
            <a:r>
              <a:rPr lang="en-US" sz="750" kern="0" spc="400" dirty="0">
                <a:solidFill>
                  <a:srgbClr val="CBD5E1"/>
                </a:solidFill>
                <a:latin typeface="Calibri" pitchFamily="34" charset="0"/>
                <a:ea typeface="Calibri" pitchFamily="34" charset="-122"/>
                <a:cs typeface="Calibri" pitchFamily="34" charset="-120"/>
              </a:rPr>
              <a:t>ECS  ·  PC CONNECTION  ·  SERVICENOW RE-IMPLEMENTATION</a:t>
            </a:r>
            <a:endParaRPr lang="en-US" sz="750" dirty="0"/>
          </a:p>
        </p:txBody>
      </p:sp>
      <p:sp>
        <p:nvSpPr>
          <p:cNvPr id="33" name="Text 30"/>
          <p:cNvSpPr/>
          <p:nvPr/>
        </p:nvSpPr>
        <p:spPr>
          <a:xfrm>
            <a:off x="7863840" y="4910328"/>
            <a:ext cx="914400" cy="146304"/>
          </a:xfrm>
          <a:prstGeom prst="rect">
            <a:avLst/>
          </a:prstGeom>
          <a:noFill/>
          <a:ln/>
        </p:spPr>
        <p:txBody>
          <a:bodyPr wrap="square" lIns="0" tIns="0" rIns="0" bIns="0" rtlCol="0" anchor="ctr"/>
          <a:lstStyle/>
          <a:p>
            <a:pPr marL="0" indent="0" algn="r">
              <a:buNone/>
            </a:pPr>
            <a:r>
              <a:rPr lang="en-US" sz="750" dirty="0">
                <a:solidFill>
                  <a:srgbClr val="CBD5E1"/>
                </a:solidFill>
                <a:latin typeface="Calibri" pitchFamily="34" charset="0"/>
                <a:ea typeface="Calibri" pitchFamily="34" charset="-122"/>
                <a:cs typeface="Calibri" pitchFamily="34" charset="-120"/>
              </a:rPr>
              <a:t>14 / 19</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92608"/>
            <a:ext cx="8412480" cy="228600"/>
          </a:xfrm>
          <a:prstGeom prst="rect">
            <a:avLst/>
          </a:prstGeom>
          <a:noFill/>
          <a:ln/>
        </p:spPr>
        <p:txBody>
          <a:bodyPr wrap="square" lIns="0" tIns="0" rIns="0" bIns="0" rtlCol="0" anchor="ctr"/>
          <a:lstStyle/>
          <a:p>
            <a:pPr marL="0" indent="0">
              <a:buNone/>
            </a:pPr>
            <a:r>
              <a:rPr lang="en-US" sz="900" b="1" kern="0" spc="600" dirty="0">
                <a:solidFill>
                  <a:srgbClr val="14B8A6"/>
                </a:solidFill>
                <a:latin typeface="Calibri" pitchFamily="34" charset="0"/>
                <a:ea typeface="Calibri" pitchFamily="34" charset="-122"/>
                <a:cs typeface="Calibri" pitchFamily="34" charset="-120"/>
              </a:rPr>
              <a:t>14  ·  PROGRAM RECAP</a:t>
            </a:r>
            <a:endParaRPr lang="en-US" sz="900" dirty="0"/>
          </a:p>
        </p:txBody>
      </p:sp>
      <p:sp>
        <p:nvSpPr>
          <p:cNvPr id="3" name="Text 1"/>
          <p:cNvSpPr/>
          <p:nvPr/>
        </p:nvSpPr>
        <p:spPr>
          <a:xfrm>
            <a:off x="365760" y="502920"/>
            <a:ext cx="8412480" cy="502920"/>
          </a:xfrm>
          <a:prstGeom prst="rect">
            <a:avLst/>
          </a:prstGeom>
          <a:noFill/>
          <a:ln/>
        </p:spPr>
        <p:txBody>
          <a:bodyPr wrap="square" lIns="0" tIns="0" rIns="0" bIns="0" rtlCol="0" anchor="ctr"/>
          <a:lstStyle/>
          <a:p>
            <a:pPr marL="0" indent="0">
              <a:buNone/>
            </a:pPr>
            <a:r>
              <a:rPr lang="en-US" sz="2400" b="1" dirty="0">
                <a:solidFill>
                  <a:srgbClr val="0B1F3A"/>
                </a:solidFill>
                <a:latin typeface="Calibri" pitchFamily="34" charset="0"/>
                <a:ea typeface="Calibri" pitchFamily="34" charset="-122"/>
                <a:cs typeface="Calibri" pitchFamily="34" charset="-120"/>
              </a:rPr>
              <a:t>Phase 1  ·  Foundation &amp; Core</a:t>
            </a:r>
            <a:endParaRPr lang="en-US" sz="2400" dirty="0"/>
          </a:p>
        </p:txBody>
      </p:sp>
      <p:sp>
        <p:nvSpPr>
          <p:cNvPr id="4" name="Shape 2"/>
          <p:cNvSpPr/>
          <p:nvPr/>
        </p:nvSpPr>
        <p:spPr>
          <a:xfrm>
            <a:off x="365760" y="1097280"/>
            <a:ext cx="8412480" cy="502920"/>
          </a:xfrm>
          <a:prstGeom prst="rect">
            <a:avLst/>
          </a:prstGeom>
          <a:solidFill>
            <a:srgbClr val="0B1F3A"/>
          </a:solidFill>
          <a:ln w="12700">
            <a:solidFill>
              <a:srgbClr val="0B1F3A"/>
            </a:solidFill>
            <a:prstDash val="solid"/>
          </a:ln>
        </p:spPr>
        <p:txBody>
          <a:bodyPr/>
          <a:lstStyle/>
          <a:p>
            <a:endParaRPr lang="en-US" dirty="0"/>
          </a:p>
        </p:txBody>
      </p:sp>
      <p:sp>
        <p:nvSpPr>
          <p:cNvPr id="5" name="Text 3"/>
          <p:cNvSpPr/>
          <p:nvPr/>
        </p:nvSpPr>
        <p:spPr>
          <a:xfrm>
            <a:off x="548640" y="1097280"/>
            <a:ext cx="8229600" cy="502920"/>
          </a:xfrm>
          <a:prstGeom prst="rect">
            <a:avLst/>
          </a:prstGeom>
          <a:noFill/>
          <a:ln/>
        </p:spPr>
        <p:txBody>
          <a:bodyPr wrap="square" lIns="0" tIns="0" rIns="0" bIns="0" rtlCol="0" anchor="ctr"/>
          <a:lstStyle/>
          <a:p>
            <a:pPr marL="0" indent="0">
              <a:buNone/>
            </a:pPr>
            <a:r>
              <a:rPr lang="en-US" sz="1100" b="1" kern="0" spc="300" dirty="0">
                <a:solidFill>
                  <a:srgbClr val="5EEAD4"/>
                </a:solidFill>
                <a:latin typeface="Calibri" pitchFamily="34" charset="0"/>
                <a:ea typeface="Calibri" pitchFamily="34" charset="-122"/>
                <a:cs typeface="Calibri" pitchFamily="34" charset="-120"/>
              </a:rPr>
              <a:t>PHASE 1 TIMELINE  </a:t>
            </a:r>
            <a:r>
              <a:rPr lang="en-US" sz="1100" b="1" dirty="0">
                <a:solidFill>
                  <a:srgbClr val="FFFFFF"/>
                </a:solidFill>
                <a:latin typeface="Calibri" pitchFamily="34" charset="0"/>
                <a:ea typeface="Calibri" pitchFamily="34" charset="-122"/>
                <a:cs typeface="Calibri" pitchFamily="34" charset="-120"/>
              </a:rPr>
              <a:t>16 weeks build  +  2 weeks Hypercare</a:t>
            </a:r>
            <a:r>
              <a:rPr lang="en-US" sz="1100" b="1" kern="0" spc="300" dirty="0">
                <a:solidFill>
                  <a:srgbClr val="5EEAD4"/>
                </a:solidFill>
                <a:latin typeface="Calibri" pitchFamily="34" charset="0"/>
                <a:ea typeface="Calibri" pitchFamily="34" charset="-122"/>
                <a:cs typeface="Calibri" pitchFamily="34" charset="-120"/>
              </a:rPr>
              <a:t>          ROM  </a:t>
            </a:r>
            <a:r>
              <a:rPr lang="en-US" sz="1100" b="1" dirty="0">
                <a:solidFill>
                  <a:srgbClr val="FFFFFF"/>
                </a:solidFill>
                <a:latin typeface="Calibri" pitchFamily="34" charset="0"/>
                <a:ea typeface="Calibri" pitchFamily="34" charset="-122"/>
                <a:cs typeface="Calibri" pitchFamily="34" charset="-120"/>
              </a:rPr>
              <a:t>$350,000 </a:t>
            </a:r>
            <a:endParaRPr lang="en-US" sz="1100" dirty="0"/>
          </a:p>
        </p:txBody>
      </p:sp>
      <p:sp>
        <p:nvSpPr>
          <p:cNvPr id="6" name="Shape 4"/>
          <p:cNvSpPr/>
          <p:nvPr/>
        </p:nvSpPr>
        <p:spPr>
          <a:xfrm>
            <a:off x="365760" y="1783080"/>
            <a:ext cx="2697480" cy="1234440"/>
          </a:xfrm>
          <a:prstGeom prst="rect">
            <a:avLst/>
          </a:prstGeom>
          <a:solidFill>
            <a:srgbClr val="F8FAFC"/>
          </a:solidFill>
          <a:ln w="12700">
            <a:solidFill>
              <a:srgbClr val="E2E8F0"/>
            </a:solidFill>
            <a:prstDash val="solid"/>
          </a:ln>
        </p:spPr>
        <p:txBody>
          <a:bodyPr/>
          <a:lstStyle/>
          <a:p>
            <a:endParaRPr lang="en-US"/>
          </a:p>
        </p:txBody>
      </p:sp>
      <p:sp>
        <p:nvSpPr>
          <p:cNvPr id="7" name="Shape 5"/>
          <p:cNvSpPr/>
          <p:nvPr/>
        </p:nvSpPr>
        <p:spPr>
          <a:xfrm>
            <a:off x="365760" y="1783080"/>
            <a:ext cx="54864" cy="1234440"/>
          </a:xfrm>
          <a:prstGeom prst="rect">
            <a:avLst/>
          </a:prstGeom>
          <a:solidFill>
            <a:srgbClr val="14B8A6"/>
          </a:solidFill>
          <a:ln w="12700">
            <a:solidFill>
              <a:srgbClr val="14B8A6"/>
            </a:solidFill>
            <a:prstDash val="solid"/>
          </a:ln>
        </p:spPr>
        <p:txBody>
          <a:bodyPr/>
          <a:lstStyle/>
          <a:p>
            <a:endParaRPr lang="en-US"/>
          </a:p>
        </p:txBody>
      </p:sp>
      <p:sp>
        <p:nvSpPr>
          <p:cNvPr id="8" name="Text 6"/>
          <p:cNvSpPr/>
          <p:nvPr/>
        </p:nvSpPr>
        <p:spPr>
          <a:xfrm>
            <a:off x="530352" y="1892808"/>
            <a:ext cx="246888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ITSM Core &amp; Modernized Change</a:t>
            </a:r>
            <a:endParaRPr lang="en-US" sz="1100" dirty="0"/>
          </a:p>
        </p:txBody>
      </p:sp>
      <p:sp>
        <p:nvSpPr>
          <p:cNvPr id="9" name="Text 7"/>
          <p:cNvSpPr/>
          <p:nvPr/>
        </p:nvSpPr>
        <p:spPr>
          <a:xfrm>
            <a:off x="530352" y="2167128"/>
            <a:ext cx="2468880" cy="77724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Incident, Request, Problem, Change/CAB, Major Incident running in Service Operations Workspace, with CI-driven change risk scoring and the CAB Workbench.</a:t>
            </a:r>
            <a:endParaRPr lang="en-US" sz="900" dirty="0"/>
          </a:p>
        </p:txBody>
      </p:sp>
      <p:sp>
        <p:nvSpPr>
          <p:cNvPr id="10" name="Shape 8"/>
          <p:cNvSpPr/>
          <p:nvPr/>
        </p:nvSpPr>
        <p:spPr>
          <a:xfrm>
            <a:off x="3200400" y="1783080"/>
            <a:ext cx="2697480" cy="1234440"/>
          </a:xfrm>
          <a:prstGeom prst="rect">
            <a:avLst/>
          </a:prstGeom>
          <a:solidFill>
            <a:srgbClr val="F8FAFC"/>
          </a:solidFill>
          <a:ln w="12700">
            <a:solidFill>
              <a:srgbClr val="E2E8F0"/>
            </a:solidFill>
            <a:prstDash val="solid"/>
          </a:ln>
        </p:spPr>
        <p:txBody>
          <a:bodyPr/>
          <a:lstStyle/>
          <a:p>
            <a:endParaRPr lang="en-US"/>
          </a:p>
        </p:txBody>
      </p:sp>
      <p:sp>
        <p:nvSpPr>
          <p:cNvPr id="11" name="Shape 9"/>
          <p:cNvSpPr/>
          <p:nvPr/>
        </p:nvSpPr>
        <p:spPr>
          <a:xfrm>
            <a:off x="3200400" y="1783080"/>
            <a:ext cx="54864" cy="1234440"/>
          </a:xfrm>
          <a:prstGeom prst="rect">
            <a:avLst/>
          </a:prstGeom>
          <a:solidFill>
            <a:srgbClr val="14B8A6"/>
          </a:solidFill>
          <a:ln w="12700">
            <a:solidFill>
              <a:srgbClr val="14B8A6"/>
            </a:solidFill>
            <a:prstDash val="solid"/>
          </a:ln>
        </p:spPr>
        <p:txBody>
          <a:bodyPr/>
          <a:lstStyle/>
          <a:p>
            <a:endParaRPr lang="en-US"/>
          </a:p>
        </p:txBody>
      </p:sp>
      <p:sp>
        <p:nvSpPr>
          <p:cNvPr id="12" name="Text 10"/>
          <p:cNvSpPr/>
          <p:nvPr/>
        </p:nvSpPr>
        <p:spPr>
          <a:xfrm>
            <a:off x="3364992" y="1892808"/>
            <a:ext cx="246888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CSDM-Aligned CMDB</a:t>
            </a:r>
            <a:endParaRPr lang="en-US" sz="1100" dirty="0"/>
          </a:p>
        </p:txBody>
      </p:sp>
      <p:sp>
        <p:nvSpPr>
          <p:cNvPr id="13" name="Text 11"/>
          <p:cNvSpPr/>
          <p:nvPr/>
        </p:nvSpPr>
        <p:spPr>
          <a:xfrm>
            <a:off x="3364992" y="2167128"/>
            <a:ext cx="2468880" cy="77724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OOTB CSDM 5.0 model with normalized class hierarchy. Discovery and Service Graph Connectors (SCCM, Intune) populating clean, AI-ready CI data.</a:t>
            </a:r>
            <a:endParaRPr lang="en-US" sz="900" dirty="0"/>
          </a:p>
        </p:txBody>
      </p:sp>
      <p:sp>
        <p:nvSpPr>
          <p:cNvPr id="14" name="Shape 12"/>
          <p:cNvSpPr/>
          <p:nvPr/>
        </p:nvSpPr>
        <p:spPr>
          <a:xfrm>
            <a:off x="6035040" y="1783080"/>
            <a:ext cx="2697480" cy="1234440"/>
          </a:xfrm>
          <a:prstGeom prst="rect">
            <a:avLst/>
          </a:prstGeom>
          <a:solidFill>
            <a:srgbClr val="F8FAFC"/>
          </a:solidFill>
          <a:ln w="12700">
            <a:solidFill>
              <a:srgbClr val="E2E8F0"/>
            </a:solidFill>
            <a:prstDash val="solid"/>
          </a:ln>
        </p:spPr>
        <p:txBody>
          <a:bodyPr/>
          <a:lstStyle/>
          <a:p>
            <a:endParaRPr lang="en-US"/>
          </a:p>
        </p:txBody>
      </p:sp>
      <p:sp>
        <p:nvSpPr>
          <p:cNvPr id="15" name="Shape 13"/>
          <p:cNvSpPr/>
          <p:nvPr/>
        </p:nvSpPr>
        <p:spPr>
          <a:xfrm>
            <a:off x="6035040" y="1783080"/>
            <a:ext cx="54864" cy="1234440"/>
          </a:xfrm>
          <a:prstGeom prst="rect">
            <a:avLst/>
          </a:prstGeom>
          <a:solidFill>
            <a:srgbClr val="14B8A6"/>
          </a:solidFill>
          <a:ln w="12700">
            <a:solidFill>
              <a:srgbClr val="14B8A6"/>
            </a:solidFill>
            <a:prstDash val="solid"/>
          </a:ln>
        </p:spPr>
        <p:txBody>
          <a:bodyPr/>
          <a:lstStyle/>
          <a:p>
            <a:endParaRPr lang="en-US"/>
          </a:p>
        </p:txBody>
      </p:sp>
      <p:sp>
        <p:nvSpPr>
          <p:cNvPr id="16" name="Text 14"/>
          <p:cNvSpPr/>
          <p:nvPr/>
        </p:nvSpPr>
        <p:spPr>
          <a:xfrm>
            <a:off x="6199632" y="1892808"/>
            <a:ext cx="246888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Initial Service Catalog</a:t>
            </a:r>
            <a:endParaRPr lang="en-US" sz="1100" dirty="0"/>
          </a:p>
        </p:txBody>
      </p:sp>
      <p:sp>
        <p:nvSpPr>
          <p:cNvPr id="17" name="Text 15"/>
          <p:cNvSpPr/>
          <p:nvPr/>
        </p:nvSpPr>
        <p:spPr>
          <a:xfrm>
            <a:off x="6199632" y="2167128"/>
            <a:ext cx="2468880" cy="77724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10–15 most impactful items + 2–3 generic items so every service has a path on day one. Documented activities, workflows, and approvals.</a:t>
            </a:r>
            <a:endParaRPr lang="en-US" sz="900" dirty="0"/>
          </a:p>
        </p:txBody>
      </p:sp>
      <p:sp>
        <p:nvSpPr>
          <p:cNvPr id="18" name="Shape 16"/>
          <p:cNvSpPr/>
          <p:nvPr/>
        </p:nvSpPr>
        <p:spPr>
          <a:xfrm>
            <a:off x="365760" y="3154680"/>
            <a:ext cx="2697480" cy="1234440"/>
          </a:xfrm>
          <a:prstGeom prst="rect">
            <a:avLst/>
          </a:prstGeom>
          <a:solidFill>
            <a:srgbClr val="F8FAFC"/>
          </a:solidFill>
          <a:ln w="12700">
            <a:solidFill>
              <a:srgbClr val="E2E8F0"/>
            </a:solidFill>
            <a:prstDash val="solid"/>
          </a:ln>
        </p:spPr>
        <p:txBody>
          <a:bodyPr/>
          <a:lstStyle/>
          <a:p>
            <a:endParaRPr lang="en-US"/>
          </a:p>
        </p:txBody>
      </p:sp>
      <p:sp>
        <p:nvSpPr>
          <p:cNvPr id="19" name="Shape 17"/>
          <p:cNvSpPr/>
          <p:nvPr/>
        </p:nvSpPr>
        <p:spPr>
          <a:xfrm>
            <a:off x="365760" y="3154680"/>
            <a:ext cx="54864" cy="1234440"/>
          </a:xfrm>
          <a:prstGeom prst="rect">
            <a:avLst/>
          </a:prstGeom>
          <a:solidFill>
            <a:srgbClr val="14B8A6"/>
          </a:solidFill>
          <a:ln w="12700">
            <a:solidFill>
              <a:srgbClr val="14B8A6"/>
            </a:solidFill>
            <a:prstDash val="solid"/>
          </a:ln>
        </p:spPr>
        <p:txBody>
          <a:bodyPr/>
          <a:lstStyle/>
          <a:p>
            <a:endParaRPr lang="en-US"/>
          </a:p>
        </p:txBody>
      </p:sp>
      <p:sp>
        <p:nvSpPr>
          <p:cNvPr id="20" name="Text 18"/>
          <p:cNvSpPr/>
          <p:nvPr/>
        </p:nvSpPr>
        <p:spPr>
          <a:xfrm>
            <a:off x="530352" y="3264408"/>
            <a:ext cx="246888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Employee Experience</a:t>
            </a:r>
            <a:endParaRPr lang="en-US" sz="1100" dirty="0"/>
          </a:p>
        </p:txBody>
      </p:sp>
      <p:sp>
        <p:nvSpPr>
          <p:cNvPr id="21" name="Text 19"/>
          <p:cNvSpPr/>
          <p:nvPr/>
        </p:nvSpPr>
        <p:spPr>
          <a:xfrm>
            <a:off x="530352" y="3538728"/>
            <a:ext cx="2468880" cy="77724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Employee Center, Virtual Agent + AI Search, Knowledge Management — driving deflection and reducing friction at the front end.</a:t>
            </a:r>
            <a:endParaRPr lang="en-US" sz="900" dirty="0"/>
          </a:p>
        </p:txBody>
      </p:sp>
      <p:sp>
        <p:nvSpPr>
          <p:cNvPr id="22" name="Shape 20"/>
          <p:cNvSpPr/>
          <p:nvPr/>
        </p:nvSpPr>
        <p:spPr>
          <a:xfrm>
            <a:off x="3200400" y="3154680"/>
            <a:ext cx="2697480" cy="1234440"/>
          </a:xfrm>
          <a:prstGeom prst="rect">
            <a:avLst/>
          </a:prstGeom>
          <a:solidFill>
            <a:srgbClr val="F8FAFC"/>
          </a:solidFill>
          <a:ln w="12700">
            <a:solidFill>
              <a:srgbClr val="E2E8F0"/>
            </a:solidFill>
            <a:prstDash val="solid"/>
          </a:ln>
        </p:spPr>
        <p:txBody>
          <a:bodyPr/>
          <a:lstStyle/>
          <a:p>
            <a:endParaRPr lang="en-US"/>
          </a:p>
        </p:txBody>
      </p:sp>
      <p:sp>
        <p:nvSpPr>
          <p:cNvPr id="23" name="Shape 21"/>
          <p:cNvSpPr/>
          <p:nvPr/>
        </p:nvSpPr>
        <p:spPr>
          <a:xfrm>
            <a:off x="3200400" y="3154680"/>
            <a:ext cx="54864" cy="1234440"/>
          </a:xfrm>
          <a:prstGeom prst="rect">
            <a:avLst/>
          </a:prstGeom>
          <a:solidFill>
            <a:srgbClr val="14B8A6"/>
          </a:solidFill>
          <a:ln w="12700">
            <a:solidFill>
              <a:srgbClr val="14B8A6"/>
            </a:solidFill>
            <a:prstDash val="solid"/>
          </a:ln>
        </p:spPr>
        <p:txBody>
          <a:bodyPr/>
          <a:lstStyle/>
          <a:p>
            <a:endParaRPr lang="en-US"/>
          </a:p>
        </p:txBody>
      </p:sp>
      <p:sp>
        <p:nvSpPr>
          <p:cNvPr id="24" name="Text 22"/>
          <p:cNvSpPr/>
          <p:nvPr/>
        </p:nvSpPr>
        <p:spPr>
          <a:xfrm>
            <a:off x="3364992" y="3264408"/>
            <a:ext cx="246888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Analytics &amp; AI Foundations</a:t>
            </a:r>
            <a:endParaRPr lang="en-US" sz="1100" dirty="0"/>
          </a:p>
        </p:txBody>
      </p:sp>
      <p:sp>
        <p:nvSpPr>
          <p:cNvPr id="25" name="Text 23"/>
          <p:cNvSpPr/>
          <p:nvPr/>
        </p:nvSpPr>
        <p:spPr>
          <a:xfrm>
            <a:off x="3364992" y="3538728"/>
            <a:ext cx="2468880" cy="77724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Performance Analytics dashboards live; Predictive Intelligence configured. MTTR, SLA attainment, and change-success tracking standing up.</a:t>
            </a:r>
            <a:endParaRPr lang="en-US" sz="900" dirty="0"/>
          </a:p>
        </p:txBody>
      </p:sp>
      <p:sp>
        <p:nvSpPr>
          <p:cNvPr id="26" name="Shape 24"/>
          <p:cNvSpPr/>
          <p:nvPr/>
        </p:nvSpPr>
        <p:spPr>
          <a:xfrm>
            <a:off x="6035040" y="3154680"/>
            <a:ext cx="2697480" cy="1234440"/>
          </a:xfrm>
          <a:prstGeom prst="rect">
            <a:avLst/>
          </a:prstGeom>
          <a:solidFill>
            <a:srgbClr val="F8FAFC"/>
          </a:solidFill>
          <a:ln w="12700">
            <a:solidFill>
              <a:srgbClr val="E2E8F0"/>
            </a:solidFill>
            <a:prstDash val="solid"/>
          </a:ln>
        </p:spPr>
        <p:txBody>
          <a:bodyPr/>
          <a:lstStyle/>
          <a:p>
            <a:endParaRPr lang="en-US"/>
          </a:p>
        </p:txBody>
      </p:sp>
      <p:sp>
        <p:nvSpPr>
          <p:cNvPr id="27" name="Shape 25"/>
          <p:cNvSpPr/>
          <p:nvPr/>
        </p:nvSpPr>
        <p:spPr>
          <a:xfrm>
            <a:off x="6035040" y="3154680"/>
            <a:ext cx="54864" cy="1234440"/>
          </a:xfrm>
          <a:prstGeom prst="rect">
            <a:avLst/>
          </a:prstGeom>
          <a:solidFill>
            <a:srgbClr val="14B8A6"/>
          </a:solidFill>
          <a:ln w="12700">
            <a:solidFill>
              <a:srgbClr val="14B8A6"/>
            </a:solidFill>
            <a:prstDash val="solid"/>
          </a:ln>
        </p:spPr>
        <p:txBody>
          <a:bodyPr/>
          <a:lstStyle/>
          <a:p>
            <a:endParaRPr lang="en-US"/>
          </a:p>
        </p:txBody>
      </p:sp>
      <p:sp>
        <p:nvSpPr>
          <p:cNvPr id="28" name="Text 26"/>
          <p:cNvSpPr/>
          <p:nvPr/>
        </p:nvSpPr>
        <p:spPr>
          <a:xfrm>
            <a:off x="6199632" y="3264408"/>
            <a:ext cx="246888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HAM, &amp; Integrations</a:t>
            </a:r>
            <a:endParaRPr lang="en-US" sz="1100" dirty="0"/>
          </a:p>
        </p:txBody>
      </p:sp>
      <p:sp>
        <p:nvSpPr>
          <p:cNvPr id="29" name="Text 27"/>
          <p:cNvSpPr/>
          <p:nvPr/>
        </p:nvSpPr>
        <p:spPr>
          <a:xfrm>
            <a:off x="6199632" y="3538728"/>
            <a:ext cx="2468880" cy="77724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HAM Foundations + Stockrooms,, AD/SSO, SCCM and Intune and the Agile delivery framework for the platform team.</a:t>
            </a:r>
            <a:endParaRPr lang="en-US" sz="900" dirty="0"/>
          </a:p>
        </p:txBody>
      </p:sp>
      <p:sp>
        <p:nvSpPr>
          <p:cNvPr id="30" name="Shape 28"/>
          <p:cNvSpPr/>
          <p:nvPr/>
        </p:nvSpPr>
        <p:spPr>
          <a:xfrm>
            <a:off x="365760" y="4370832"/>
            <a:ext cx="8412480" cy="384048"/>
          </a:xfrm>
          <a:prstGeom prst="rect">
            <a:avLst/>
          </a:prstGeom>
          <a:solidFill>
            <a:srgbClr val="071427"/>
          </a:solidFill>
          <a:ln w="12700">
            <a:solidFill>
              <a:srgbClr val="071427"/>
            </a:solidFill>
            <a:prstDash val="solid"/>
          </a:ln>
        </p:spPr>
        <p:txBody>
          <a:bodyPr/>
          <a:lstStyle/>
          <a:p>
            <a:endParaRPr lang="en-US"/>
          </a:p>
        </p:txBody>
      </p:sp>
      <p:sp>
        <p:nvSpPr>
          <p:cNvPr id="31" name="Text 29"/>
          <p:cNvSpPr/>
          <p:nvPr/>
        </p:nvSpPr>
        <p:spPr>
          <a:xfrm>
            <a:off x="365760" y="4370832"/>
            <a:ext cx="8412480" cy="384048"/>
          </a:xfrm>
          <a:prstGeom prst="rect">
            <a:avLst/>
          </a:prstGeom>
          <a:noFill/>
          <a:ln/>
        </p:spPr>
        <p:txBody>
          <a:bodyPr wrap="square" lIns="0" tIns="0" rIns="0" bIns="0" rtlCol="0" anchor="ctr"/>
          <a:lstStyle/>
          <a:p>
            <a:pPr marL="0" indent="0" algn="ctr">
              <a:buNone/>
            </a:pPr>
            <a:r>
              <a:rPr lang="en-US" sz="1000" b="1" kern="0" spc="300" dirty="0">
                <a:solidFill>
                  <a:srgbClr val="5EEAD4"/>
                </a:solidFill>
                <a:latin typeface="Calibri" pitchFamily="34" charset="0"/>
                <a:ea typeface="Calibri" pitchFamily="34" charset="-122"/>
                <a:cs typeface="Calibri" pitchFamily="34" charset="-120"/>
              </a:rPr>
              <a:t>AT END OF PHASE 1   ·   </a:t>
            </a:r>
            <a:r>
              <a:rPr lang="en-US" sz="1000" dirty="0">
                <a:solidFill>
                  <a:srgbClr val="FFFFFF"/>
                </a:solidFill>
                <a:latin typeface="Calibri" pitchFamily="34" charset="0"/>
                <a:ea typeface="Calibri" pitchFamily="34" charset="-122"/>
                <a:cs typeface="Calibri" pitchFamily="34" charset="-120"/>
              </a:rPr>
              <a:t>Connection is operating on a clean, OOTB-aligned ServiceNow foundation — ready for the Phase 2 expansion roadmap.</a:t>
            </a:r>
            <a:endParaRPr lang="en-US" sz="1000" dirty="0"/>
          </a:p>
        </p:txBody>
      </p:sp>
      <p:sp>
        <p:nvSpPr>
          <p:cNvPr id="32" name="Shape 30"/>
          <p:cNvSpPr/>
          <p:nvPr/>
        </p:nvSpPr>
        <p:spPr>
          <a:xfrm>
            <a:off x="0" y="4818888"/>
            <a:ext cx="9144000" cy="324612"/>
          </a:xfrm>
          <a:prstGeom prst="rect">
            <a:avLst/>
          </a:prstGeom>
          <a:solidFill>
            <a:srgbClr val="0B1F3A"/>
          </a:solidFill>
          <a:ln w="12700">
            <a:solidFill>
              <a:srgbClr val="0B1F3A"/>
            </a:solidFill>
            <a:prstDash val="solid"/>
          </a:ln>
        </p:spPr>
        <p:txBody>
          <a:bodyPr/>
          <a:lstStyle/>
          <a:p>
            <a:endParaRPr lang="en-US"/>
          </a:p>
        </p:txBody>
      </p:sp>
      <p:pic>
        <p:nvPicPr>
          <p:cNvPr id="33" name="Image 0" descr="/sessions/laughing-cool-lovelace/mnt/outputs/deck/everforth_ecs_federal_white.png"/>
          <p:cNvPicPr>
            <a:picLocks noChangeAspect="1"/>
          </p:cNvPicPr>
          <p:nvPr/>
        </p:nvPicPr>
        <p:blipFill>
          <a:blip r:embed="rId3"/>
          <a:stretch>
            <a:fillRect/>
          </a:stretch>
        </p:blipFill>
        <p:spPr>
          <a:xfrm>
            <a:off x="365760" y="4873752"/>
            <a:ext cx="1188720" cy="220855"/>
          </a:xfrm>
          <a:prstGeom prst="rect">
            <a:avLst/>
          </a:prstGeom>
        </p:spPr>
      </p:pic>
      <p:sp>
        <p:nvSpPr>
          <p:cNvPr id="34" name="Text 31"/>
          <p:cNvSpPr/>
          <p:nvPr/>
        </p:nvSpPr>
        <p:spPr>
          <a:xfrm>
            <a:off x="1828800" y="4910328"/>
            <a:ext cx="5486400" cy="146304"/>
          </a:xfrm>
          <a:prstGeom prst="rect">
            <a:avLst/>
          </a:prstGeom>
          <a:noFill/>
          <a:ln/>
        </p:spPr>
        <p:txBody>
          <a:bodyPr wrap="square" lIns="0" tIns="0" rIns="0" bIns="0" rtlCol="0" anchor="ctr"/>
          <a:lstStyle/>
          <a:p>
            <a:pPr marL="0" indent="0">
              <a:buNone/>
            </a:pPr>
            <a:r>
              <a:rPr lang="en-US" sz="750" kern="0" spc="400" dirty="0">
                <a:solidFill>
                  <a:srgbClr val="CBD5E1"/>
                </a:solidFill>
                <a:latin typeface="Calibri" pitchFamily="34" charset="0"/>
                <a:ea typeface="Calibri" pitchFamily="34" charset="-122"/>
                <a:cs typeface="Calibri" pitchFamily="34" charset="-120"/>
              </a:rPr>
              <a:t>ECS  ·  PC CONNECTION  ·  SERVICENOW RE-IMPLEMENTATION</a:t>
            </a:r>
            <a:endParaRPr lang="en-US" sz="750" dirty="0"/>
          </a:p>
        </p:txBody>
      </p:sp>
      <p:sp>
        <p:nvSpPr>
          <p:cNvPr id="35" name="Text 32"/>
          <p:cNvSpPr/>
          <p:nvPr/>
        </p:nvSpPr>
        <p:spPr>
          <a:xfrm>
            <a:off x="7863840" y="4910328"/>
            <a:ext cx="914400" cy="146304"/>
          </a:xfrm>
          <a:prstGeom prst="rect">
            <a:avLst/>
          </a:prstGeom>
          <a:noFill/>
          <a:ln/>
        </p:spPr>
        <p:txBody>
          <a:bodyPr wrap="square" lIns="0" tIns="0" rIns="0" bIns="0" rtlCol="0" anchor="ctr"/>
          <a:lstStyle/>
          <a:p>
            <a:pPr marL="0" indent="0" algn="r">
              <a:buNone/>
            </a:pPr>
            <a:r>
              <a:rPr lang="en-US" sz="750" dirty="0">
                <a:solidFill>
                  <a:srgbClr val="CBD5E1"/>
                </a:solidFill>
                <a:latin typeface="Calibri" pitchFamily="34" charset="0"/>
                <a:ea typeface="Calibri" pitchFamily="34" charset="-122"/>
                <a:cs typeface="Calibri" pitchFamily="34" charset="-120"/>
              </a:rPr>
              <a:t>15 / 19</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92608"/>
            <a:ext cx="8412480" cy="228600"/>
          </a:xfrm>
          <a:prstGeom prst="rect">
            <a:avLst/>
          </a:prstGeom>
          <a:noFill/>
          <a:ln/>
        </p:spPr>
        <p:txBody>
          <a:bodyPr wrap="square" lIns="0" tIns="0" rIns="0" bIns="0" rtlCol="0" anchor="ctr"/>
          <a:lstStyle/>
          <a:p>
            <a:pPr marL="0" indent="0">
              <a:buNone/>
            </a:pPr>
            <a:r>
              <a:rPr lang="en-US" sz="900" b="1" kern="0" spc="600" dirty="0">
                <a:solidFill>
                  <a:srgbClr val="14B8A6"/>
                </a:solidFill>
                <a:latin typeface="Calibri" pitchFamily="34" charset="0"/>
                <a:ea typeface="Calibri" pitchFamily="34" charset="-122"/>
                <a:cs typeface="Calibri" pitchFamily="34" charset="-120"/>
              </a:rPr>
              <a:t>15  ·  LONG-TERM ROADMAP</a:t>
            </a:r>
            <a:endParaRPr lang="en-US" sz="900" dirty="0"/>
          </a:p>
        </p:txBody>
      </p:sp>
      <p:sp>
        <p:nvSpPr>
          <p:cNvPr id="3" name="Text 1"/>
          <p:cNvSpPr/>
          <p:nvPr/>
        </p:nvSpPr>
        <p:spPr>
          <a:xfrm>
            <a:off x="365760" y="502920"/>
            <a:ext cx="8412480" cy="502920"/>
          </a:xfrm>
          <a:prstGeom prst="rect">
            <a:avLst/>
          </a:prstGeom>
          <a:noFill/>
          <a:ln/>
        </p:spPr>
        <p:txBody>
          <a:bodyPr wrap="square" lIns="0" tIns="0" rIns="0" bIns="0" rtlCol="0" anchor="ctr"/>
          <a:lstStyle/>
          <a:p>
            <a:pPr marL="0" indent="0">
              <a:buNone/>
            </a:pPr>
            <a:r>
              <a:rPr lang="en-US" sz="2400" b="1" dirty="0">
                <a:solidFill>
                  <a:srgbClr val="0B1F3A"/>
                </a:solidFill>
                <a:latin typeface="Calibri" pitchFamily="34" charset="0"/>
                <a:ea typeface="Calibri" pitchFamily="34" charset="-122"/>
                <a:cs typeface="Calibri" pitchFamily="34" charset="-120"/>
              </a:rPr>
              <a:t>Phase 2  ·  Baseline expansion &amp; enhanced experience</a:t>
            </a:r>
            <a:endParaRPr lang="en-US" sz="2400" dirty="0"/>
          </a:p>
        </p:txBody>
      </p:sp>
      <p:sp>
        <p:nvSpPr>
          <p:cNvPr id="4" name="Shape 2"/>
          <p:cNvSpPr/>
          <p:nvPr/>
        </p:nvSpPr>
        <p:spPr>
          <a:xfrm>
            <a:off x="365760" y="1097280"/>
            <a:ext cx="8412480" cy="502920"/>
          </a:xfrm>
          <a:prstGeom prst="rect">
            <a:avLst/>
          </a:prstGeom>
          <a:solidFill>
            <a:srgbClr val="0B1F3A"/>
          </a:solidFill>
          <a:ln w="12700">
            <a:solidFill>
              <a:srgbClr val="0B1F3A"/>
            </a:solidFill>
            <a:prstDash val="solid"/>
          </a:ln>
        </p:spPr>
        <p:txBody>
          <a:bodyPr/>
          <a:lstStyle/>
          <a:p>
            <a:endParaRPr lang="en-US"/>
          </a:p>
        </p:txBody>
      </p:sp>
      <p:sp>
        <p:nvSpPr>
          <p:cNvPr id="5" name="Text 3"/>
          <p:cNvSpPr/>
          <p:nvPr/>
        </p:nvSpPr>
        <p:spPr>
          <a:xfrm>
            <a:off x="548640" y="1097280"/>
            <a:ext cx="8229600" cy="502920"/>
          </a:xfrm>
          <a:prstGeom prst="rect">
            <a:avLst/>
          </a:prstGeom>
          <a:noFill/>
          <a:ln/>
        </p:spPr>
        <p:txBody>
          <a:bodyPr wrap="square" lIns="0" tIns="0" rIns="0" bIns="0" rtlCol="0" anchor="ctr"/>
          <a:lstStyle/>
          <a:p>
            <a:pPr marL="0" indent="0">
              <a:buNone/>
            </a:pPr>
            <a:r>
              <a:rPr lang="en-US" sz="1100" b="1" kern="0" spc="300" dirty="0">
                <a:solidFill>
                  <a:srgbClr val="5EEAD4"/>
                </a:solidFill>
                <a:latin typeface="Calibri" pitchFamily="34" charset="0"/>
                <a:ea typeface="Calibri" pitchFamily="34" charset="-122"/>
                <a:cs typeface="Calibri" pitchFamily="34" charset="-120"/>
              </a:rPr>
              <a:t>PHASE 2 TIMELINE  </a:t>
            </a:r>
            <a:r>
              <a:rPr lang="en-US" sz="1100" b="1" dirty="0">
                <a:solidFill>
                  <a:srgbClr val="FFFFFF"/>
                </a:solidFill>
                <a:latin typeface="Calibri" pitchFamily="34" charset="0"/>
                <a:ea typeface="Calibri" pitchFamily="34" charset="-122"/>
                <a:cs typeface="Calibri" pitchFamily="34" charset="-120"/>
              </a:rPr>
              <a:t>12–14 weeks</a:t>
            </a:r>
            <a:r>
              <a:rPr lang="en-US" sz="1100" b="1" kern="0" spc="300" dirty="0">
                <a:solidFill>
                  <a:srgbClr val="5EEAD4"/>
                </a:solidFill>
                <a:latin typeface="Calibri" pitchFamily="34" charset="0"/>
                <a:ea typeface="Calibri" pitchFamily="34" charset="-122"/>
                <a:cs typeface="Calibri" pitchFamily="34" charset="-120"/>
              </a:rPr>
              <a:t>                  ROM  </a:t>
            </a:r>
            <a:r>
              <a:rPr lang="en-US" sz="1100" b="1" dirty="0">
                <a:solidFill>
                  <a:srgbClr val="FFFFFF"/>
                </a:solidFill>
                <a:latin typeface="Calibri" pitchFamily="34" charset="0"/>
                <a:ea typeface="Calibri" pitchFamily="34" charset="-122"/>
                <a:cs typeface="Calibri" pitchFamily="34" charset="-120"/>
              </a:rPr>
              <a:t>$150K – $185K</a:t>
            </a:r>
            <a:endParaRPr lang="en-US" sz="1100" dirty="0"/>
          </a:p>
        </p:txBody>
      </p:sp>
      <p:sp>
        <p:nvSpPr>
          <p:cNvPr id="6" name="Shape 4"/>
          <p:cNvSpPr/>
          <p:nvPr/>
        </p:nvSpPr>
        <p:spPr>
          <a:xfrm>
            <a:off x="365760" y="1783080"/>
            <a:ext cx="2697480" cy="1234440"/>
          </a:xfrm>
          <a:prstGeom prst="rect">
            <a:avLst/>
          </a:prstGeom>
          <a:solidFill>
            <a:srgbClr val="F8FAFC"/>
          </a:solidFill>
          <a:ln w="12700">
            <a:solidFill>
              <a:srgbClr val="E2E8F0"/>
            </a:solidFill>
            <a:prstDash val="solid"/>
          </a:ln>
        </p:spPr>
        <p:txBody>
          <a:bodyPr/>
          <a:lstStyle/>
          <a:p>
            <a:endParaRPr lang="en-US"/>
          </a:p>
        </p:txBody>
      </p:sp>
      <p:sp>
        <p:nvSpPr>
          <p:cNvPr id="7" name="Shape 5"/>
          <p:cNvSpPr/>
          <p:nvPr/>
        </p:nvSpPr>
        <p:spPr>
          <a:xfrm>
            <a:off x="365760" y="1783080"/>
            <a:ext cx="54864" cy="1234440"/>
          </a:xfrm>
          <a:prstGeom prst="rect">
            <a:avLst/>
          </a:prstGeom>
          <a:solidFill>
            <a:srgbClr val="14B8A6"/>
          </a:solidFill>
          <a:ln w="12700">
            <a:solidFill>
              <a:srgbClr val="14B8A6"/>
            </a:solidFill>
            <a:prstDash val="solid"/>
          </a:ln>
        </p:spPr>
        <p:txBody>
          <a:bodyPr/>
          <a:lstStyle/>
          <a:p>
            <a:endParaRPr lang="en-US"/>
          </a:p>
        </p:txBody>
      </p:sp>
      <p:sp>
        <p:nvSpPr>
          <p:cNvPr id="8" name="Text 6"/>
          <p:cNvSpPr/>
          <p:nvPr/>
        </p:nvSpPr>
        <p:spPr>
          <a:xfrm>
            <a:off x="530352" y="1892808"/>
            <a:ext cx="246888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Full Service Catalog</a:t>
            </a:r>
            <a:endParaRPr lang="en-US" sz="1100" dirty="0"/>
          </a:p>
        </p:txBody>
      </p:sp>
      <p:sp>
        <p:nvSpPr>
          <p:cNvPr id="9" name="Text 7"/>
          <p:cNvSpPr/>
          <p:nvPr/>
        </p:nvSpPr>
        <p:spPr>
          <a:xfrm>
            <a:off x="530352" y="2167128"/>
            <a:ext cx="2468880" cy="77724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Expand to 18–20 Business/Technical Services + 50–70 catalog items with documented workflows.</a:t>
            </a:r>
            <a:endParaRPr lang="en-US" sz="900" dirty="0"/>
          </a:p>
        </p:txBody>
      </p:sp>
      <p:sp>
        <p:nvSpPr>
          <p:cNvPr id="10" name="Shape 8"/>
          <p:cNvSpPr/>
          <p:nvPr/>
        </p:nvSpPr>
        <p:spPr>
          <a:xfrm>
            <a:off x="3200400" y="1783080"/>
            <a:ext cx="2697480" cy="1234440"/>
          </a:xfrm>
          <a:prstGeom prst="rect">
            <a:avLst/>
          </a:prstGeom>
          <a:solidFill>
            <a:srgbClr val="F8FAFC"/>
          </a:solidFill>
          <a:ln w="12700">
            <a:solidFill>
              <a:srgbClr val="E2E8F0"/>
            </a:solidFill>
            <a:prstDash val="solid"/>
          </a:ln>
        </p:spPr>
        <p:txBody>
          <a:bodyPr/>
          <a:lstStyle/>
          <a:p>
            <a:endParaRPr lang="en-US"/>
          </a:p>
        </p:txBody>
      </p:sp>
      <p:sp>
        <p:nvSpPr>
          <p:cNvPr id="11" name="Shape 9"/>
          <p:cNvSpPr/>
          <p:nvPr/>
        </p:nvSpPr>
        <p:spPr>
          <a:xfrm>
            <a:off x="3200400" y="1783080"/>
            <a:ext cx="54864" cy="1234440"/>
          </a:xfrm>
          <a:prstGeom prst="rect">
            <a:avLst/>
          </a:prstGeom>
          <a:solidFill>
            <a:srgbClr val="14B8A6"/>
          </a:solidFill>
          <a:ln w="12700">
            <a:solidFill>
              <a:srgbClr val="14B8A6"/>
            </a:solidFill>
            <a:prstDash val="solid"/>
          </a:ln>
        </p:spPr>
        <p:txBody>
          <a:bodyPr/>
          <a:lstStyle/>
          <a:p>
            <a:endParaRPr lang="en-US"/>
          </a:p>
        </p:txBody>
      </p:sp>
      <p:sp>
        <p:nvSpPr>
          <p:cNvPr id="12" name="Text 10"/>
          <p:cNvSpPr/>
          <p:nvPr/>
        </p:nvSpPr>
        <p:spPr>
          <a:xfrm>
            <a:off x="3364992" y="1892808"/>
            <a:ext cx="246888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Virtual Agent Expansion</a:t>
            </a:r>
            <a:endParaRPr lang="en-US" sz="1100" dirty="0"/>
          </a:p>
        </p:txBody>
      </p:sp>
      <p:sp>
        <p:nvSpPr>
          <p:cNvPr id="13" name="Text 11"/>
          <p:cNvSpPr/>
          <p:nvPr/>
        </p:nvSpPr>
        <p:spPr>
          <a:xfrm>
            <a:off x="3364992" y="2167128"/>
            <a:ext cx="2468880" cy="77724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Tune VA accuracy with Keyword Aliases, Topic Discovery; route to automation or live agents.</a:t>
            </a:r>
            <a:endParaRPr lang="en-US" sz="900" dirty="0"/>
          </a:p>
        </p:txBody>
      </p:sp>
      <p:sp>
        <p:nvSpPr>
          <p:cNvPr id="14" name="Shape 12"/>
          <p:cNvSpPr/>
          <p:nvPr/>
        </p:nvSpPr>
        <p:spPr>
          <a:xfrm>
            <a:off x="6035040" y="1783080"/>
            <a:ext cx="2697480" cy="1234440"/>
          </a:xfrm>
          <a:prstGeom prst="rect">
            <a:avLst/>
          </a:prstGeom>
          <a:solidFill>
            <a:srgbClr val="F8FAFC"/>
          </a:solidFill>
          <a:ln w="12700">
            <a:solidFill>
              <a:srgbClr val="E2E8F0"/>
            </a:solidFill>
            <a:prstDash val="solid"/>
          </a:ln>
        </p:spPr>
        <p:txBody>
          <a:bodyPr/>
          <a:lstStyle/>
          <a:p>
            <a:endParaRPr lang="en-US"/>
          </a:p>
        </p:txBody>
      </p:sp>
      <p:sp>
        <p:nvSpPr>
          <p:cNvPr id="15" name="Shape 13"/>
          <p:cNvSpPr/>
          <p:nvPr/>
        </p:nvSpPr>
        <p:spPr>
          <a:xfrm>
            <a:off x="6035040" y="1783080"/>
            <a:ext cx="54864" cy="1234440"/>
          </a:xfrm>
          <a:prstGeom prst="rect">
            <a:avLst/>
          </a:prstGeom>
          <a:solidFill>
            <a:srgbClr val="14B8A6"/>
          </a:solidFill>
          <a:ln w="12700">
            <a:solidFill>
              <a:srgbClr val="14B8A6"/>
            </a:solidFill>
            <a:prstDash val="solid"/>
          </a:ln>
        </p:spPr>
        <p:txBody>
          <a:bodyPr/>
          <a:lstStyle/>
          <a:p>
            <a:endParaRPr lang="en-US"/>
          </a:p>
        </p:txBody>
      </p:sp>
      <p:sp>
        <p:nvSpPr>
          <p:cNvPr id="16" name="Text 14"/>
          <p:cNvSpPr/>
          <p:nvPr/>
        </p:nvSpPr>
        <p:spPr>
          <a:xfrm>
            <a:off x="6199632" y="1892808"/>
            <a:ext cx="246888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On-Call Scheduling</a:t>
            </a:r>
            <a:endParaRPr lang="en-US" sz="1100" dirty="0"/>
          </a:p>
        </p:txBody>
      </p:sp>
      <p:sp>
        <p:nvSpPr>
          <p:cNvPr id="17" name="Text 15"/>
          <p:cNvSpPr/>
          <p:nvPr/>
        </p:nvSpPr>
        <p:spPr>
          <a:xfrm>
            <a:off x="6199632" y="2167128"/>
            <a:ext cx="2468880" cy="77724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Compliant On-Call Wizard setup — schedules, rotations, escalations, communication triggers.</a:t>
            </a:r>
            <a:endParaRPr lang="en-US" sz="900" dirty="0"/>
          </a:p>
        </p:txBody>
      </p:sp>
      <p:sp>
        <p:nvSpPr>
          <p:cNvPr id="18" name="Shape 16"/>
          <p:cNvSpPr/>
          <p:nvPr/>
        </p:nvSpPr>
        <p:spPr>
          <a:xfrm>
            <a:off x="365760" y="3154680"/>
            <a:ext cx="2697480" cy="1234440"/>
          </a:xfrm>
          <a:prstGeom prst="rect">
            <a:avLst/>
          </a:prstGeom>
          <a:solidFill>
            <a:srgbClr val="F8FAFC"/>
          </a:solidFill>
          <a:ln w="12700">
            <a:solidFill>
              <a:srgbClr val="E2E8F0"/>
            </a:solidFill>
            <a:prstDash val="solid"/>
          </a:ln>
        </p:spPr>
        <p:txBody>
          <a:bodyPr/>
          <a:lstStyle/>
          <a:p>
            <a:endParaRPr lang="en-US"/>
          </a:p>
        </p:txBody>
      </p:sp>
      <p:sp>
        <p:nvSpPr>
          <p:cNvPr id="19" name="Shape 17"/>
          <p:cNvSpPr/>
          <p:nvPr/>
        </p:nvSpPr>
        <p:spPr>
          <a:xfrm>
            <a:off x="365760" y="3154680"/>
            <a:ext cx="54864" cy="1234440"/>
          </a:xfrm>
          <a:prstGeom prst="rect">
            <a:avLst/>
          </a:prstGeom>
          <a:solidFill>
            <a:srgbClr val="14B8A6"/>
          </a:solidFill>
          <a:ln w="12700">
            <a:solidFill>
              <a:srgbClr val="14B8A6"/>
            </a:solidFill>
            <a:prstDash val="solid"/>
          </a:ln>
        </p:spPr>
        <p:txBody>
          <a:bodyPr/>
          <a:lstStyle/>
          <a:p>
            <a:endParaRPr lang="en-US"/>
          </a:p>
        </p:txBody>
      </p:sp>
      <p:sp>
        <p:nvSpPr>
          <p:cNvPr id="20" name="Text 18"/>
          <p:cNvSpPr/>
          <p:nvPr/>
        </p:nvSpPr>
        <p:spPr>
          <a:xfrm>
            <a:off x="530352" y="3264408"/>
            <a:ext cx="246888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HAM Expansion</a:t>
            </a:r>
            <a:endParaRPr lang="en-US" sz="1100" dirty="0"/>
          </a:p>
        </p:txBody>
      </p:sp>
      <p:sp>
        <p:nvSpPr>
          <p:cNvPr id="21" name="Text 19"/>
          <p:cNvSpPr/>
          <p:nvPr/>
        </p:nvSpPr>
        <p:spPr>
          <a:xfrm>
            <a:off x="530352" y="3538728"/>
            <a:ext cx="2468880" cy="77724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Lifecycle automation via Context Service + 6 OOTB asset workflows tied to INC and CHG.</a:t>
            </a:r>
            <a:endParaRPr lang="en-US" sz="900" dirty="0"/>
          </a:p>
        </p:txBody>
      </p:sp>
      <p:sp>
        <p:nvSpPr>
          <p:cNvPr id="22" name="Shape 20"/>
          <p:cNvSpPr/>
          <p:nvPr/>
        </p:nvSpPr>
        <p:spPr>
          <a:xfrm>
            <a:off x="3200400" y="3154680"/>
            <a:ext cx="2697480" cy="1234440"/>
          </a:xfrm>
          <a:prstGeom prst="rect">
            <a:avLst/>
          </a:prstGeom>
          <a:solidFill>
            <a:srgbClr val="F8FAFC"/>
          </a:solidFill>
          <a:ln w="12700">
            <a:solidFill>
              <a:srgbClr val="E2E8F0"/>
            </a:solidFill>
            <a:prstDash val="solid"/>
          </a:ln>
        </p:spPr>
        <p:txBody>
          <a:bodyPr/>
          <a:lstStyle/>
          <a:p>
            <a:endParaRPr lang="en-US"/>
          </a:p>
        </p:txBody>
      </p:sp>
      <p:sp>
        <p:nvSpPr>
          <p:cNvPr id="23" name="Shape 21"/>
          <p:cNvSpPr/>
          <p:nvPr/>
        </p:nvSpPr>
        <p:spPr>
          <a:xfrm>
            <a:off x="3200400" y="3154680"/>
            <a:ext cx="54864" cy="1234440"/>
          </a:xfrm>
          <a:prstGeom prst="rect">
            <a:avLst/>
          </a:prstGeom>
          <a:solidFill>
            <a:srgbClr val="14B8A6"/>
          </a:solidFill>
          <a:ln w="12700">
            <a:solidFill>
              <a:srgbClr val="14B8A6"/>
            </a:solidFill>
            <a:prstDash val="solid"/>
          </a:ln>
        </p:spPr>
        <p:txBody>
          <a:bodyPr/>
          <a:lstStyle/>
          <a:p>
            <a:endParaRPr lang="en-US"/>
          </a:p>
        </p:txBody>
      </p:sp>
      <p:sp>
        <p:nvSpPr>
          <p:cNvPr id="24" name="Text 22"/>
          <p:cNvSpPr/>
          <p:nvPr/>
        </p:nvSpPr>
        <p:spPr>
          <a:xfrm>
            <a:off x="3364992" y="3264408"/>
            <a:ext cx="246888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SAM Foundation</a:t>
            </a:r>
            <a:endParaRPr lang="en-US" sz="1100" dirty="0"/>
          </a:p>
        </p:txBody>
      </p:sp>
      <p:sp>
        <p:nvSpPr>
          <p:cNvPr id="25" name="Text 23"/>
          <p:cNvSpPr/>
          <p:nvPr/>
        </p:nvSpPr>
        <p:spPr>
          <a:xfrm>
            <a:off x="3364992" y="3538728"/>
            <a:ext cx="2468880" cy="77724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Visibility + normalization through Context Service &amp; Library — your software baseline.</a:t>
            </a:r>
            <a:endParaRPr lang="en-US" sz="900" dirty="0"/>
          </a:p>
        </p:txBody>
      </p:sp>
      <p:sp>
        <p:nvSpPr>
          <p:cNvPr id="26" name="Shape 24"/>
          <p:cNvSpPr/>
          <p:nvPr/>
        </p:nvSpPr>
        <p:spPr>
          <a:xfrm>
            <a:off x="6035040" y="3154680"/>
            <a:ext cx="2697480" cy="1234440"/>
          </a:xfrm>
          <a:prstGeom prst="rect">
            <a:avLst/>
          </a:prstGeom>
          <a:solidFill>
            <a:srgbClr val="F8FAFC"/>
          </a:solidFill>
          <a:ln w="12700">
            <a:solidFill>
              <a:srgbClr val="E2E8F0"/>
            </a:solidFill>
            <a:prstDash val="solid"/>
          </a:ln>
        </p:spPr>
        <p:txBody>
          <a:bodyPr/>
          <a:lstStyle/>
          <a:p>
            <a:endParaRPr lang="en-US"/>
          </a:p>
        </p:txBody>
      </p:sp>
      <p:sp>
        <p:nvSpPr>
          <p:cNvPr id="27" name="Shape 25"/>
          <p:cNvSpPr/>
          <p:nvPr/>
        </p:nvSpPr>
        <p:spPr>
          <a:xfrm>
            <a:off x="6035040" y="3154680"/>
            <a:ext cx="54864" cy="1234440"/>
          </a:xfrm>
          <a:prstGeom prst="rect">
            <a:avLst/>
          </a:prstGeom>
          <a:solidFill>
            <a:srgbClr val="14B8A6"/>
          </a:solidFill>
          <a:ln w="12700">
            <a:solidFill>
              <a:srgbClr val="14B8A6"/>
            </a:solidFill>
            <a:prstDash val="solid"/>
          </a:ln>
        </p:spPr>
        <p:txBody>
          <a:bodyPr/>
          <a:lstStyle/>
          <a:p>
            <a:endParaRPr lang="en-US"/>
          </a:p>
        </p:txBody>
      </p:sp>
      <p:sp>
        <p:nvSpPr>
          <p:cNvPr id="28" name="Text 26"/>
          <p:cNvSpPr/>
          <p:nvPr/>
        </p:nvSpPr>
        <p:spPr>
          <a:xfrm>
            <a:off x="6199632" y="3264408"/>
            <a:ext cx="2468880" cy="27432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Service Graph Connectors</a:t>
            </a:r>
            <a:endParaRPr lang="en-US" sz="1100" dirty="0"/>
          </a:p>
        </p:txBody>
      </p:sp>
      <p:sp>
        <p:nvSpPr>
          <p:cNvPr id="29" name="Text 27"/>
          <p:cNvSpPr/>
          <p:nvPr/>
        </p:nvSpPr>
        <p:spPr>
          <a:xfrm>
            <a:off x="6199632" y="3538728"/>
            <a:ext cx="2468880" cy="77724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Vonage integration; discovery around Boomi &amp; Databricks for future Workflow Data Fabric strategy.</a:t>
            </a:r>
            <a:endParaRPr lang="en-US" sz="900" dirty="0"/>
          </a:p>
        </p:txBody>
      </p:sp>
      <p:sp>
        <p:nvSpPr>
          <p:cNvPr id="30" name="Text 28"/>
          <p:cNvSpPr/>
          <p:nvPr/>
        </p:nvSpPr>
        <p:spPr>
          <a:xfrm>
            <a:off x="365760" y="4572000"/>
            <a:ext cx="8412480" cy="182880"/>
          </a:xfrm>
          <a:prstGeom prst="rect">
            <a:avLst/>
          </a:prstGeom>
          <a:noFill/>
          <a:ln/>
        </p:spPr>
        <p:txBody>
          <a:bodyPr wrap="square" lIns="0" tIns="0" rIns="0" bIns="0" rtlCol="0" anchor="ctr"/>
          <a:lstStyle/>
          <a:p>
            <a:pPr marL="0" indent="0">
              <a:buNone/>
            </a:pPr>
            <a:r>
              <a:rPr lang="en-US" sz="800" i="1" dirty="0">
                <a:solidFill>
                  <a:srgbClr val="475569"/>
                </a:solidFill>
                <a:latin typeface="Calibri" pitchFamily="34" charset="0"/>
                <a:ea typeface="Calibri" pitchFamily="34" charset="-122"/>
                <a:cs typeface="Calibri" pitchFamily="34" charset="-120"/>
              </a:rPr>
              <a:t>* Final estimate depends on additional evaluation of the catalog consolidation effort.</a:t>
            </a:r>
            <a:endParaRPr lang="en-US" sz="800" dirty="0"/>
          </a:p>
        </p:txBody>
      </p:sp>
      <p:sp>
        <p:nvSpPr>
          <p:cNvPr id="31" name="Shape 29"/>
          <p:cNvSpPr/>
          <p:nvPr/>
        </p:nvSpPr>
        <p:spPr>
          <a:xfrm>
            <a:off x="0" y="4818888"/>
            <a:ext cx="9144000" cy="324612"/>
          </a:xfrm>
          <a:prstGeom prst="rect">
            <a:avLst/>
          </a:prstGeom>
          <a:solidFill>
            <a:srgbClr val="0B1F3A"/>
          </a:solidFill>
          <a:ln w="12700">
            <a:solidFill>
              <a:srgbClr val="0B1F3A"/>
            </a:solidFill>
            <a:prstDash val="solid"/>
          </a:ln>
        </p:spPr>
        <p:txBody>
          <a:bodyPr/>
          <a:lstStyle/>
          <a:p>
            <a:endParaRPr lang="en-US"/>
          </a:p>
        </p:txBody>
      </p:sp>
      <p:pic>
        <p:nvPicPr>
          <p:cNvPr id="32" name="Image 0" descr="/sessions/laughing-cool-lovelace/mnt/outputs/deck/everforth_ecs_federal_white.png"/>
          <p:cNvPicPr>
            <a:picLocks noChangeAspect="1"/>
          </p:cNvPicPr>
          <p:nvPr/>
        </p:nvPicPr>
        <p:blipFill>
          <a:blip r:embed="rId3"/>
          <a:stretch>
            <a:fillRect/>
          </a:stretch>
        </p:blipFill>
        <p:spPr>
          <a:xfrm>
            <a:off x="365760" y="4873752"/>
            <a:ext cx="1188720" cy="220855"/>
          </a:xfrm>
          <a:prstGeom prst="rect">
            <a:avLst/>
          </a:prstGeom>
        </p:spPr>
      </p:pic>
      <p:sp>
        <p:nvSpPr>
          <p:cNvPr id="33" name="Text 30"/>
          <p:cNvSpPr/>
          <p:nvPr/>
        </p:nvSpPr>
        <p:spPr>
          <a:xfrm>
            <a:off x="1828800" y="4910328"/>
            <a:ext cx="5486400" cy="146304"/>
          </a:xfrm>
          <a:prstGeom prst="rect">
            <a:avLst/>
          </a:prstGeom>
          <a:noFill/>
          <a:ln/>
        </p:spPr>
        <p:txBody>
          <a:bodyPr wrap="square" lIns="0" tIns="0" rIns="0" bIns="0" rtlCol="0" anchor="ctr"/>
          <a:lstStyle/>
          <a:p>
            <a:pPr marL="0" indent="0">
              <a:buNone/>
            </a:pPr>
            <a:r>
              <a:rPr lang="en-US" sz="750" kern="0" spc="400" dirty="0">
                <a:solidFill>
                  <a:srgbClr val="CBD5E1"/>
                </a:solidFill>
                <a:latin typeface="Calibri" pitchFamily="34" charset="0"/>
                <a:ea typeface="Calibri" pitchFamily="34" charset="-122"/>
                <a:cs typeface="Calibri" pitchFamily="34" charset="-120"/>
              </a:rPr>
              <a:t>ECS  ·  PC CONNECTION  ·  SERVICENOW RE-IMPLEMENTATION</a:t>
            </a:r>
            <a:endParaRPr lang="en-US" sz="750" dirty="0"/>
          </a:p>
        </p:txBody>
      </p:sp>
      <p:sp>
        <p:nvSpPr>
          <p:cNvPr id="34" name="Text 31"/>
          <p:cNvSpPr/>
          <p:nvPr/>
        </p:nvSpPr>
        <p:spPr>
          <a:xfrm>
            <a:off x="7863840" y="4910328"/>
            <a:ext cx="914400" cy="146304"/>
          </a:xfrm>
          <a:prstGeom prst="rect">
            <a:avLst/>
          </a:prstGeom>
          <a:noFill/>
          <a:ln/>
        </p:spPr>
        <p:txBody>
          <a:bodyPr wrap="square" lIns="0" tIns="0" rIns="0" bIns="0" rtlCol="0" anchor="ctr"/>
          <a:lstStyle/>
          <a:p>
            <a:pPr marL="0" indent="0" algn="r">
              <a:buNone/>
            </a:pPr>
            <a:r>
              <a:rPr lang="en-US" sz="750" dirty="0">
                <a:solidFill>
                  <a:srgbClr val="CBD5E1"/>
                </a:solidFill>
                <a:latin typeface="Calibri" pitchFamily="34" charset="0"/>
                <a:ea typeface="Calibri" pitchFamily="34" charset="-122"/>
                <a:cs typeface="Calibri" pitchFamily="34" charset="-120"/>
              </a:rPr>
              <a:t>18 / 19</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92608"/>
            <a:ext cx="8412480" cy="228600"/>
          </a:xfrm>
          <a:prstGeom prst="rect">
            <a:avLst/>
          </a:prstGeom>
          <a:noFill/>
          <a:ln/>
        </p:spPr>
        <p:txBody>
          <a:bodyPr wrap="square" lIns="0" tIns="0" rIns="0" bIns="0" rtlCol="0" anchor="ctr"/>
          <a:lstStyle/>
          <a:p>
            <a:pPr marL="0" indent="0">
              <a:buNone/>
            </a:pPr>
            <a:r>
              <a:rPr lang="en-US" sz="900" b="1" kern="0" spc="600" dirty="0">
                <a:solidFill>
                  <a:srgbClr val="14B8A6"/>
                </a:solidFill>
                <a:latin typeface="Calibri" pitchFamily="34" charset="0"/>
                <a:ea typeface="Calibri" pitchFamily="34" charset="-122"/>
                <a:cs typeface="Calibri" pitchFamily="34" charset="-120"/>
              </a:rPr>
              <a:t>16  ·  LONG-TERM ROADMAP</a:t>
            </a:r>
            <a:endParaRPr lang="en-US" sz="900" dirty="0"/>
          </a:p>
        </p:txBody>
      </p:sp>
      <p:sp>
        <p:nvSpPr>
          <p:cNvPr id="3" name="Text 1"/>
          <p:cNvSpPr/>
          <p:nvPr/>
        </p:nvSpPr>
        <p:spPr>
          <a:xfrm>
            <a:off x="365760" y="502920"/>
            <a:ext cx="8412480" cy="502920"/>
          </a:xfrm>
          <a:prstGeom prst="rect">
            <a:avLst/>
          </a:prstGeom>
          <a:noFill/>
          <a:ln/>
        </p:spPr>
        <p:txBody>
          <a:bodyPr wrap="square" lIns="0" tIns="0" rIns="0" bIns="0" rtlCol="0" anchor="ctr"/>
          <a:lstStyle/>
          <a:p>
            <a:pPr marL="0" indent="0">
              <a:buNone/>
            </a:pPr>
            <a:r>
              <a:rPr lang="en-US" sz="2400" b="1" dirty="0">
                <a:solidFill>
                  <a:srgbClr val="0B1F3A"/>
                </a:solidFill>
                <a:latin typeface="Calibri" pitchFamily="34" charset="0"/>
                <a:ea typeface="Calibri" pitchFamily="34" charset="-122"/>
                <a:cs typeface="Calibri" pitchFamily="34" charset="-120"/>
              </a:rPr>
              <a:t>Phase 3  ·  ITOM, intelligence &amp; the AI horizon</a:t>
            </a:r>
            <a:endParaRPr lang="en-US" sz="2400" dirty="0"/>
          </a:p>
        </p:txBody>
      </p:sp>
      <p:sp>
        <p:nvSpPr>
          <p:cNvPr id="4" name="Shape 2"/>
          <p:cNvSpPr/>
          <p:nvPr/>
        </p:nvSpPr>
        <p:spPr>
          <a:xfrm>
            <a:off x="365760" y="1097280"/>
            <a:ext cx="8412480" cy="502920"/>
          </a:xfrm>
          <a:prstGeom prst="rect">
            <a:avLst/>
          </a:prstGeom>
          <a:solidFill>
            <a:srgbClr val="0B1F3A"/>
          </a:solidFill>
          <a:ln w="12700">
            <a:solidFill>
              <a:srgbClr val="0B1F3A"/>
            </a:solidFill>
            <a:prstDash val="solid"/>
          </a:ln>
        </p:spPr>
        <p:txBody>
          <a:bodyPr/>
          <a:lstStyle/>
          <a:p>
            <a:endParaRPr lang="en-US"/>
          </a:p>
        </p:txBody>
      </p:sp>
      <p:sp>
        <p:nvSpPr>
          <p:cNvPr id="5" name="Text 3"/>
          <p:cNvSpPr/>
          <p:nvPr/>
        </p:nvSpPr>
        <p:spPr>
          <a:xfrm>
            <a:off x="548640" y="1097280"/>
            <a:ext cx="8229600" cy="502920"/>
          </a:xfrm>
          <a:prstGeom prst="rect">
            <a:avLst/>
          </a:prstGeom>
          <a:noFill/>
          <a:ln/>
        </p:spPr>
        <p:txBody>
          <a:bodyPr wrap="square" lIns="0" tIns="0" rIns="0" bIns="0" rtlCol="0" anchor="ctr"/>
          <a:lstStyle/>
          <a:p>
            <a:pPr marL="0" indent="0">
              <a:buNone/>
            </a:pPr>
            <a:r>
              <a:rPr lang="en-US" sz="1100" b="1" kern="0" spc="300" dirty="0">
                <a:solidFill>
                  <a:srgbClr val="5EEAD4"/>
                </a:solidFill>
                <a:latin typeface="Calibri" pitchFamily="34" charset="0"/>
                <a:ea typeface="Calibri" pitchFamily="34" charset="-122"/>
                <a:cs typeface="Calibri" pitchFamily="34" charset="-120"/>
              </a:rPr>
              <a:t>PHASE 3 TIMELINE  </a:t>
            </a:r>
            <a:r>
              <a:rPr lang="en-US" sz="1100" b="1" dirty="0">
                <a:solidFill>
                  <a:srgbClr val="FFFFFF"/>
                </a:solidFill>
                <a:latin typeface="Calibri" pitchFamily="34" charset="0"/>
                <a:ea typeface="Calibri" pitchFamily="34" charset="-122"/>
                <a:cs typeface="Calibri" pitchFamily="34" charset="-120"/>
              </a:rPr>
              <a:t>12–14 weeks</a:t>
            </a:r>
            <a:r>
              <a:rPr lang="en-US" sz="1100" b="1" kern="0" spc="300" dirty="0">
                <a:solidFill>
                  <a:srgbClr val="5EEAD4"/>
                </a:solidFill>
                <a:latin typeface="Calibri" pitchFamily="34" charset="0"/>
                <a:ea typeface="Calibri" pitchFamily="34" charset="-122"/>
                <a:cs typeface="Calibri" pitchFamily="34" charset="-120"/>
              </a:rPr>
              <a:t>                  ROM  </a:t>
            </a:r>
            <a:r>
              <a:rPr lang="en-US" sz="1100" b="1" dirty="0">
                <a:solidFill>
                  <a:srgbClr val="FFFFFF"/>
                </a:solidFill>
                <a:latin typeface="Calibri" pitchFamily="34" charset="0"/>
                <a:ea typeface="Calibri" pitchFamily="34" charset="-122"/>
                <a:cs typeface="Calibri" pitchFamily="34" charset="-120"/>
              </a:rPr>
              <a:t>$100K – $125K</a:t>
            </a:r>
            <a:endParaRPr lang="en-US" sz="1100" dirty="0"/>
          </a:p>
        </p:txBody>
      </p:sp>
      <p:sp>
        <p:nvSpPr>
          <p:cNvPr id="6" name="Shape 4"/>
          <p:cNvSpPr/>
          <p:nvPr/>
        </p:nvSpPr>
        <p:spPr>
          <a:xfrm>
            <a:off x="365760" y="1783080"/>
            <a:ext cx="2697480" cy="1828800"/>
          </a:xfrm>
          <a:prstGeom prst="rect">
            <a:avLst/>
          </a:prstGeom>
          <a:solidFill>
            <a:srgbClr val="FFFFFF"/>
          </a:solidFill>
          <a:ln w="12700">
            <a:solidFill>
              <a:srgbClr val="E2E8F0"/>
            </a:solidFill>
            <a:prstDash val="solid"/>
          </a:ln>
        </p:spPr>
        <p:txBody>
          <a:bodyPr/>
          <a:lstStyle/>
          <a:p>
            <a:endParaRPr lang="en-US"/>
          </a:p>
        </p:txBody>
      </p:sp>
      <p:sp>
        <p:nvSpPr>
          <p:cNvPr id="7" name="Shape 5"/>
          <p:cNvSpPr/>
          <p:nvPr/>
        </p:nvSpPr>
        <p:spPr>
          <a:xfrm>
            <a:off x="365760" y="1783080"/>
            <a:ext cx="2697480" cy="54864"/>
          </a:xfrm>
          <a:prstGeom prst="rect">
            <a:avLst/>
          </a:prstGeom>
          <a:solidFill>
            <a:srgbClr val="14B8A6"/>
          </a:solidFill>
          <a:ln w="12700">
            <a:solidFill>
              <a:srgbClr val="14B8A6"/>
            </a:solidFill>
            <a:prstDash val="solid"/>
          </a:ln>
        </p:spPr>
        <p:txBody>
          <a:bodyPr/>
          <a:lstStyle/>
          <a:p>
            <a:endParaRPr lang="en-US"/>
          </a:p>
        </p:txBody>
      </p:sp>
      <p:sp>
        <p:nvSpPr>
          <p:cNvPr id="8" name="Text 6"/>
          <p:cNvSpPr/>
          <p:nvPr/>
        </p:nvSpPr>
        <p:spPr>
          <a:xfrm>
            <a:off x="530352" y="1920240"/>
            <a:ext cx="2468880" cy="36576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Event Management</a:t>
            </a:r>
            <a:endParaRPr lang="en-US" sz="1300" dirty="0"/>
          </a:p>
        </p:txBody>
      </p:sp>
      <p:sp>
        <p:nvSpPr>
          <p:cNvPr id="9" name="Text 7"/>
          <p:cNvSpPr/>
          <p:nvPr/>
        </p:nvSpPr>
        <p:spPr>
          <a:xfrm>
            <a:off x="530352" y="2331720"/>
            <a:ext cx="2468880" cy="12344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Bi-directional integration to event sources (SolarWinds, AWS); deduplication, event rules bound to a CSDM-clean CMDB; correlation rules to prevent alert storms.</a:t>
            </a:r>
            <a:endParaRPr lang="en-US" sz="1000" dirty="0"/>
          </a:p>
        </p:txBody>
      </p:sp>
      <p:sp>
        <p:nvSpPr>
          <p:cNvPr id="10" name="Shape 8"/>
          <p:cNvSpPr/>
          <p:nvPr/>
        </p:nvSpPr>
        <p:spPr>
          <a:xfrm>
            <a:off x="3200400" y="1783080"/>
            <a:ext cx="2697480" cy="1828800"/>
          </a:xfrm>
          <a:prstGeom prst="rect">
            <a:avLst/>
          </a:prstGeom>
          <a:solidFill>
            <a:srgbClr val="FFFFFF"/>
          </a:solidFill>
          <a:ln w="12700">
            <a:solidFill>
              <a:srgbClr val="E2E8F0"/>
            </a:solidFill>
            <a:prstDash val="solid"/>
          </a:ln>
        </p:spPr>
        <p:txBody>
          <a:bodyPr/>
          <a:lstStyle/>
          <a:p>
            <a:endParaRPr lang="en-US"/>
          </a:p>
        </p:txBody>
      </p:sp>
      <p:sp>
        <p:nvSpPr>
          <p:cNvPr id="11" name="Shape 9"/>
          <p:cNvSpPr/>
          <p:nvPr/>
        </p:nvSpPr>
        <p:spPr>
          <a:xfrm>
            <a:off x="3200400" y="1783080"/>
            <a:ext cx="2697480" cy="54864"/>
          </a:xfrm>
          <a:prstGeom prst="rect">
            <a:avLst/>
          </a:prstGeom>
          <a:solidFill>
            <a:srgbClr val="14B8A6"/>
          </a:solidFill>
          <a:ln w="12700">
            <a:solidFill>
              <a:srgbClr val="14B8A6"/>
            </a:solidFill>
            <a:prstDash val="solid"/>
          </a:ln>
        </p:spPr>
        <p:txBody>
          <a:bodyPr/>
          <a:lstStyle/>
          <a:p>
            <a:endParaRPr lang="en-US"/>
          </a:p>
        </p:txBody>
      </p:sp>
      <p:sp>
        <p:nvSpPr>
          <p:cNvPr id="12" name="Text 10"/>
          <p:cNvSpPr/>
          <p:nvPr/>
        </p:nvSpPr>
        <p:spPr>
          <a:xfrm>
            <a:off x="3364992" y="1920240"/>
            <a:ext cx="2468880" cy="36576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Service Mapping</a:t>
            </a:r>
            <a:endParaRPr lang="en-US" sz="1300" dirty="0"/>
          </a:p>
        </p:txBody>
      </p:sp>
      <p:sp>
        <p:nvSpPr>
          <p:cNvPr id="13" name="Text 11"/>
          <p:cNvSpPr/>
          <p:nvPr/>
        </p:nvSpPr>
        <p:spPr>
          <a:xfrm>
            <a:off x="3364992" y="2331720"/>
            <a:ext cx="2468880" cy="12344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Built on a mature CMDB. Leverage ServiceNow OOTB patterns; document custom-pattern needs in the backlog for future work.</a:t>
            </a:r>
            <a:endParaRPr lang="en-US" sz="1000" dirty="0"/>
          </a:p>
        </p:txBody>
      </p:sp>
      <p:sp>
        <p:nvSpPr>
          <p:cNvPr id="14" name="Shape 12"/>
          <p:cNvSpPr/>
          <p:nvPr/>
        </p:nvSpPr>
        <p:spPr>
          <a:xfrm>
            <a:off x="6035040" y="1783080"/>
            <a:ext cx="2697480" cy="1828800"/>
          </a:xfrm>
          <a:prstGeom prst="rect">
            <a:avLst/>
          </a:prstGeom>
          <a:solidFill>
            <a:srgbClr val="FFFFFF"/>
          </a:solidFill>
          <a:ln w="12700">
            <a:solidFill>
              <a:srgbClr val="E2E8F0"/>
            </a:solidFill>
            <a:prstDash val="solid"/>
          </a:ln>
        </p:spPr>
        <p:txBody>
          <a:bodyPr/>
          <a:lstStyle/>
          <a:p>
            <a:endParaRPr lang="en-US"/>
          </a:p>
        </p:txBody>
      </p:sp>
      <p:sp>
        <p:nvSpPr>
          <p:cNvPr id="15" name="Shape 13"/>
          <p:cNvSpPr/>
          <p:nvPr/>
        </p:nvSpPr>
        <p:spPr>
          <a:xfrm>
            <a:off x="6035040" y="1783080"/>
            <a:ext cx="2697480" cy="54864"/>
          </a:xfrm>
          <a:prstGeom prst="rect">
            <a:avLst/>
          </a:prstGeom>
          <a:solidFill>
            <a:srgbClr val="14B8A6"/>
          </a:solidFill>
          <a:ln w="12700">
            <a:solidFill>
              <a:srgbClr val="14B8A6"/>
            </a:solidFill>
            <a:prstDash val="solid"/>
          </a:ln>
        </p:spPr>
        <p:txBody>
          <a:bodyPr/>
          <a:lstStyle/>
          <a:p>
            <a:endParaRPr lang="en-US"/>
          </a:p>
        </p:txBody>
      </p:sp>
      <p:sp>
        <p:nvSpPr>
          <p:cNvPr id="16" name="Text 14"/>
          <p:cNvSpPr/>
          <p:nvPr/>
        </p:nvSpPr>
        <p:spPr>
          <a:xfrm>
            <a:off x="6199632" y="1920240"/>
            <a:ext cx="2468880" cy="36576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SAM Expansion</a:t>
            </a:r>
            <a:endParaRPr lang="en-US" sz="1300" dirty="0"/>
          </a:p>
        </p:txBody>
      </p:sp>
      <p:sp>
        <p:nvSpPr>
          <p:cNvPr id="17" name="Text 15"/>
          <p:cNvSpPr/>
          <p:nvPr/>
        </p:nvSpPr>
        <p:spPr>
          <a:xfrm>
            <a:off x="6199632" y="2331720"/>
            <a:ext cx="2468880" cy="123444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Tie entitlements (what is owned) to installed software — true license position, optimization, true-up needs and audit-risk reduction.</a:t>
            </a:r>
            <a:endParaRPr lang="en-US" sz="1000" dirty="0"/>
          </a:p>
        </p:txBody>
      </p:sp>
      <p:sp>
        <p:nvSpPr>
          <p:cNvPr id="18" name="Shape 16"/>
          <p:cNvSpPr/>
          <p:nvPr/>
        </p:nvSpPr>
        <p:spPr>
          <a:xfrm>
            <a:off x="365760" y="3794760"/>
            <a:ext cx="8412480" cy="960120"/>
          </a:xfrm>
          <a:prstGeom prst="rect">
            <a:avLst/>
          </a:prstGeom>
          <a:solidFill>
            <a:srgbClr val="071427"/>
          </a:solidFill>
          <a:ln w="12700">
            <a:solidFill>
              <a:srgbClr val="071427"/>
            </a:solidFill>
            <a:prstDash val="solid"/>
          </a:ln>
        </p:spPr>
        <p:txBody>
          <a:bodyPr/>
          <a:lstStyle/>
          <a:p>
            <a:endParaRPr lang="en-US"/>
          </a:p>
        </p:txBody>
      </p:sp>
      <p:sp>
        <p:nvSpPr>
          <p:cNvPr id="19" name="Text 17"/>
          <p:cNvSpPr/>
          <p:nvPr/>
        </p:nvSpPr>
        <p:spPr>
          <a:xfrm>
            <a:off x="548640" y="3886200"/>
            <a:ext cx="8046720" cy="228600"/>
          </a:xfrm>
          <a:prstGeom prst="rect">
            <a:avLst/>
          </a:prstGeom>
          <a:noFill/>
          <a:ln/>
        </p:spPr>
        <p:txBody>
          <a:bodyPr wrap="square" lIns="0" tIns="0" rIns="0" bIns="0" rtlCol="0" anchor="ctr"/>
          <a:lstStyle/>
          <a:p>
            <a:pPr marL="0" indent="0">
              <a:buNone/>
            </a:pPr>
            <a:r>
              <a:rPr lang="en-US" sz="900" b="1" kern="0" spc="400" dirty="0">
                <a:solidFill>
                  <a:srgbClr val="5EEAD4"/>
                </a:solidFill>
                <a:latin typeface="Calibri" pitchFamily="34" charset="0"/>
                <a:ea typeface="Calibri" pitchFamily="34" charset="-122"/>
                <a:cs typeface="Calibri" pitchFamily="34" charset="-120"/>
              </a:rPr>
              <a:t>FUTURE  ·  ENHANCED AI &amp; ADVANCED AUTOMATION</a:t>
            </a:r>
            <a:endParaRPr lang="en-US" sz="900" dirty="0"/>
          </a:p>
        </p:txBody>
      </p:sp>
      <p:sp>
        <p:nvSpPr>
          <p:cNvPr id="20" name="Text 18"/>
          <p:cNvSpPr/>
          <p:nvPr/>
        </p:nvSpPr>
        <p:spPr>
          <a:xfrm>
            <a:off x="548640" y="4160520"/>
            <a:ext cx="8046720" cy="548640"/>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With three phases complete on a clean OOTB foundation, the door opens to Now Assist / Agentic Agents and Workflow Data Fabric — "zero-copy" integration across Boomi, Databricks, Atlassian, UKG, and E1 to power AI-driven decisions without ingesting external data.</a:t>
            </a:r>
            <a:endParaRPr lang="en-US" sz="1000" dirty="0"/>
          </a:p>
        </p:txBody>
      </p:sp>
      <p:sp>
        <p:nvSpPr>
          <p:cNvPr id="21" name="Shape 19"/>
          <p:cNvSpPr/>
          <p:nvPr/>
        </p:nvSpPr>
        <p:spPr>
          <a:xfrm>
            <a:off x="0" y="4818888"/>
            <a:ext cx="9144000" cy="324612"/>
          </a:xfrm>
          <a:prstGeom prst="rect">
            <a:avLst/>
          </a:prstGeom>
          <a:solidFill>
            <a:srgbClr val="0B1F3A"/>
          </a:solidFill>
          <a:ln w="12700">
            <a:solidFill>
              <a:srgbClr val="0B1F3A"/>
            </a:solidFill>
            <a:prstDash val="solid"/>
          </a:ln>
        </p:spPr>
        <p:txBody>
          <a:bodyPr/>
          <a:lstStyle/>
          <a:p>
            <a:endParaRPr lang="en-US"/>
          </a:p>
        </p:txBody>
      </p:sp>
      <p:pic>
        <p:nvPicPr>
          <p:cNvPr id="22" name="Image 0" descr="/sessions/laughing-cool-lovelace/mnt/outputs/deck/everforth_ecs_federal_white.png"/>
          <p:cNvPicPr>
            <a:picLocks noChangeAspect="1"/>
          </p:cNvPicPr>
          <p:nvPr/>
        </p:nvPicPr>
        <p:blipFill>
          <a:blip r:embed="rId3"/>
          <a:stretch>
            <a:fillRect/>
          </a:stretch>
        </p:blipFill>
        <p:spPr>
          <a:xfrm>
            <a:off x="365760" y="4873752"/>
            <a:ext cx="1188720" cy="220855"/>
          </a:xfrm>
          <a:prstGeom prst="rect">
            <a:avLst/>
          </a:prstGeom>
        </p:spPr>
      </p:pic>
      <p:sp>
        <p:nvSpPr>
          <p:cNvPr id="23" name="Text 20"/>
          <p:cNvSpPr/>
          <p:nvPr/>
        </p:nvSpPr>
        <p:spPr>
          <a:xfrm>
            <a:off x="1828800" y="4910328"/>
            <a:ext cx="5486400" cy="146304"/>
          </a:xfrm>
          <a:prstGeom prst="rect">
            <a:avLst/>
          </a:prstGeom>
          <a:noFill/>
          <a:ln/>
        </p:spPr>
        <p:txBody>
          <a:bodyPr wrap="square" lIns="0" tIns="0" rIns="0" bIns="0" rtlCol="0" anchor="ctr"/>
          <a:lstStyle/>
          <a:p>
            <a:pPr marL="0" indent="0">
              <a:buNone/>
            </a:pPr>
            <a:r>
              <a:rPr lang="en-US" sz="750" kern="0" spc="400" dirty="0">
                <a:solidFill>
                  <a:srgbClr val="CBD5E1"/>
                </a:solidFill>
                <a:latin typeface="Calibri" pitchFamily="34" charset="0"/>
                <a:ea typeface="Calibri" pitchFamily="34" charset="-122"/>
                <a:cs typeface="Calibri" pitchFamily="34" charset="-120"/>
              </a:rPr>
              <a:t>ECS  ·  PC CONNECTION  ·  SERVICENOW RE-IMPLEMENTATION</a:t>
            </a:r>
            <a:endParaRPr lang="en-US" sz="750" dirty="0"/>
          </a:p>
        </p:txBody>
      </p:sp>
      <p:sp>
        <p:nvSpPr>
          <p:cNvPr id="24" name="Text 21"/>
          <p:cNvSpPr/>
          <p:nvPr/>
        </p:nvSpPr>
        <p:spPr>
          <a:xfrm>
            <a:off x="7863840" y="4910328"/>
            <a:ext cx="914400" cy="146304"/>
          </a:xfrm>
          <a:prstGeom prst="rect">
            <a:avLst/>
          </a:prstGeom>
          <a:noFill/>
          <a:ln/>
        </p:spPr>
        <p:txBody>
          <a:bodyPr wrap="square" lIns="0" tIns="0" rIns="0" bIns="0" rtlCol="0" anchor="ctr"/>
          <a:lstStyle/>
          <a:p>
            <a:pPr marL="0" indent="0" algn="r">
              <a:buNone/>
            </a:pPr>
            <a:r>
              <a:rPr lang="en-US" sz="750" dirty="0">
                <a:solidFill>
                  <a:srgbClr val="CBD5E1"/>
                </a:solidFill>
                <a:latin typeface="Calibri" pitchFamily="34" charset="0"/>
                <a:ea typeface="Calibri" pitchFamily="34" charset="-122"/>
                <a:cs typeface="Calibri" pitchFamily="34" charset="-120"/>
              </a:rPr>
              <a:t>18 / 19</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92608"/>
            <a:ext cx="8412480" cy="228600"/>
          </a:xfrm>
          <a:prstGeom prst="rect">
            <a:avLst/>
          </a:prstGeom>
          <a:noFill/>
          <a:ln/>
        </p:spPr>
        <p:txBody>
          <a:bodyPr wrap="square" lIns="0" tIns="0" rIns="0" bIns="0" rtlCol="0" anchor="ctr"/>
          <a:lstStyle/>
          <a:p>
            <a:pPr marL="0" indent="0">
              <a:buNone/>
            </a:pPr>
            <a:r>
              <a:rPr lang="en-US" sz="900" b="1" kern="0" spc="600" dirty="0">
                <a:solidFill>
                  <a:srgbClr val="14B8A6"/>
                </a:solidFill>
                <a:latin typeface="Calibri" pitchFamily="34" charset="0"/>
                <a:ea typeface="Calibri" pitchFamily="34" charset="-122"/>
                <a:cs typeface="Calibri" pitchFamily="34" charset="-120"/>
              </a:rPr>
              <a:t>17  ·  ENGAGEMENT MODEL</a:t>
            </a:r>
            <a:endParaRPr lang="en-US" sz="900" dirty="0"/>
          </a:p>
        </p:txBody>
      </p:sp>
      <p:sp>
        <p:nvSpPr>
          <p:cNvPr id="3" name="Text 1"/>
          <p:cNvSpPr/>
          <p:nvPr/>
        </p:nvSpPr>
        <p:spPr>
          <a:xfrm>
            <a:off x="365760" y="502920"/>
            <a:ext cx="8412480" cy="502920"/>
          </a:xfrm>
          <a:prstGeom prst="rect">
            <a:avLst/>
          </a:prstGeom>
          <a:noFill/>
          <a:ln/>
        </p:spPr>
        <p:txBody>
          <a:bodyPr wrap="square" lIns="0" tIns="0" rIns="0" bIns="0" rtlCol="0" anchor="ctr"/>
          <a:lstStyle/>
          <a:p>
            <a:pPr marL="0" indent="0">
              <a:buNone/>
            </a:pPr>
            <a:r>
              <a:rPr lang="en-US" sz="2400" b="1" dirty="0">
                <a:solidFill>
                  <a:srgbClr val="0B1F3A"/>
                </a:solidFill>
                <a:latin typeface="Calibri" pitchFamily="34" charset="0"/>
                <a:ea typeface="Calibri" pitchFamily="34" charset="-122"/>
                <a:cs typeface="Calibri" pitchFamily="34" charset="-120"/>
              </a:rPr>
              <a:t>Roles &amp; responsibilities — ECS and Connection</a:t>
            </a:r>
            <a:endParaRPr lang="en-US" sz="2400" dirty="0"/>
          </a:p>
        </p:txBody>
      </p:sp>
      <p:sp>
        <p:nvSpPr>
          <p:cNvPr id="4" name="Shape 2"/>
          <p:cNvSpPr/>
          <p:nvPr/>
        </p:nvSpPr>
        <p:spPr>
          <a:xfrm>
            <a:off x="365760" y="1188720"/>
            <a:ext cx="4114800" cy="640080"/>
          </a:xfrm>
          <a:prstGeom prst="rect">
            <a:avLst/>
          </a:prstGeom>
          <a:solidFill>
            <a:srgbClr val="0B1F3A"/>
          </a:solidFill>
          <a:ln w="12700">
            <a:solidFill>
              <a:srgbClr val="0B1F3A"/>
            </a:solidFill>
            <a:prstDash val="solid"/>
          </a:ln>
        </p:spPr>
        <p:txBody>
          <a:bodyPr/>
          <a:lstStyle/>
          <a:p>
            <a:endParaRPr lang="en-US"/>
          </a:p>
        </p:txBody>
      </p:sp>
      <p:sp>
        <p:nvSpPr>
          <p:cNvPr id="5" name="Text 3"/>
          <p:cNvSpPr/>
          <p:nvPr/>
        </p:nvSpPr>
        <p:spPr>
          <a:xfrm>
            <a:off x="594360" y="1234440"/>
            <a:ext cx="3657600" cy="274320"/>
          </a:xfrm>
          <a:prstGeom prst="rect">
            <a:avLst/>
          </a:prstGeom>
          <a:noFill/>
          <a:ln/>
        </p:spPr>
        <p:txBody>
          <a:bodyPr wrap="square" lIns="0" tIns="0" rIns="0" bIns="0" rtlCol="0" anchor="ctr"/>
          <a:lstStyle/>
          <a:p>
            <a:pPr marL="0" indent="0">
              <a:buNone/>
            </a:pPr>
            <a:r>
              <a:rPr lang="en-US" sz="1600" b="1" kern="0" spc="300" dirty="0">
                <a:solidFill>
                  <a:srgbClr val="FFFFFF"/>
                </a:solidFill>
                <a:latin typeface="Calibri" pitchFamily="34" charset="0"/>
                <a:ea typeface="Calibri" pitchFamily="34" charset="-122"/>
                <a:cs typeface="Calibri" pitchFamily="34" charset="-120"/>
              </a:rPr>
              <a:t>ECS</a:t>
            </a:r>
            <a:endParaRPr lang="en-US" sz="1600" dirty="0"/>
          </a:p>
        </p:txBody>
      </p:sp>
      <p:sp>
        <p:nvSpPr>
          <p:cNvPr id="6" name="Text 4"/>
          <p:cNvSpPr/>
          <p:nvPr/>
        </p:nvSpPr>
        <p:spPr>
          <a:xfrm>
            <a:off x="594360" y="1508760"/>
            <a:ext cx="3657600" cy="274320"/>
          </a:xfrm>
          <a:prstGeom prst="rect">
            <a:avLst/>
          </a:prstGeom>
          <a:noFill/>
          <a:ln/>
        </p:spPr>
        <p:txBody>
          <a:bodyPr wrap="square" lIns="0" tIns="0" rIns="0" bIns="0" rtlCol="0" anchor="ctr"/>
          <a:lstStyle/>
          <a:p>
            <a:pPr marL="0" indent="0">
              <a:buNone/>
            </a:pPr>
            <a:r>
              <a:rPr lang="en-US" sz="1000" i="1" dirty="0">
                <a:solidFill>
                  <a:srgbClr val="5EEAD4"/>
                </a:solidFill>
                <a:latin typeface="Calibri" pitchFamily="34" charset="0"/>
                <a:ea typeface="Calibri" pitchFamily="34" charset="-122"/>
                <a:cs typeface="Calibri" pitchFamily="34" charset="-120"/>
              </a:rPr>
              <a:t>Delivery, configuration &amp; demonstration</a:t>
            </a:r>
            <a:endParaRPr lang="en-US" sz="1000" dirty="0"/>
          </a:p>
        </p:txBody>
      </p:sp>
      <p:sp>
        <p:nvSpPr>
          <p:cNvPr id="7" name="Shape 5"/>
          <p:cNvSpPr/>
          <p:nvPr/>
        </p:nvSpPr>
        <p:spPr>
          <a:xfrm>
            <a:off x="365760" y="1828800"/>
            <a:ext cx="4114800" cy="2788920"/>
          </a:xfrm>
          <a:prstGeom prst="rect">
            <a:avLst/>
          </a:prstGeom>
          <a:solidFill>
            <a:srgbClr val="FFFFFF"/>
          </a:solidFill>
          <a:ln w="12700">
            <a:solidFill>
              <a:srgbClr val="E2E8F0"/>
            </a:solidFill>
            <a:prstDash val="solid"/>
          </a:ln>
        </p:spPr>
        <p:txBody>
          <a:bodyPr/>
          <a:lstStyle/>
          <a:p>
            <a:endParaRPr lang="en-US"/>
          </a:p>
        </p:txBody>
      </p:sp>
      <p:sp>
        <p:nvSpPr>
          <p:cNvPr id="8" name="Shape 6"/>
          <p:cNvSpPr/>
          <p:nvPr/>
        </p:nvSpPr>
        <p:spPr>
          <a:xfrm>
            <a:off x="548640" y="2039112"/>
            <a:ext cx="164592" cy="164592"/>
          </a:xfrm>
          <a:prstGeom prst="ellipse">
            <a:avLst/>
          </a:prstGeom>
          <a:solidFill>
            <a:srgbClr val="0B1F3A"/>
          </a:solidFill>
          <a:ln w="12700">
            <a:solidFill>
              <a:srgbClr val="0B1F3A"/>
            </a:solidFill>
            <a:prstDash val="solid"/>
          </a:ln>
        </p:spPr>
        <p:txBody>
          <a:bodyPr/>
          <a:lstStyle/>
          <a:p>
            <a:endParaRPr lang="en-US"/>
          </a:p>
        </p:txBody>
      </p:sp>
      <p:sp>
        <p:nvSpPr>
          <p:cNvPr id="9" name="Text 7"/>
          <p:cNvSpPr/>
          <p:nvPr/>
        </p:nvSpPr>
        <p:spPr>
          <a:xfrm>
            <a:off x="822960" y="1965960"/>
            <a:ext cx="356616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Workshop facilitation &amp; demonstration environment</a:t>
            </a:r>
            <a:endParaRPr lang="en-US" sz="1000" dirty="0"/>
          </a:p>
        </p:txBody>
      </p:sp>
      <p:sp>
        <p:nvSpPr>
          <p:cNvPr id="10" name="Shape 8"/>
          <p:cNvSpPr/>
          <p:nvPr/>
        </p:nvSpPr>
        <p:spPr>
          <a:xfrm>
            <a:off x="548640" y="2450592"/>
            <a:ext cx="164592" cy="164592"/>
          </a:xfrm>
          <a:prstGeom prst="ellipse">
            <a:avLst/>
          </a:prstGeom>
          <a:solidFill>
            <a:srgbClr val="0B1F3A"/>
          </a:solidFill>
          <a:ln w="12700">
            <a:solidFill>
              <a:srgbClr val="0B1F3A"/>
            </a:solidFill>
            <a:prstDash val="solid"/>
          </a:ln>
        </p:spPr>
        <p:txBody>
          <a:bodyPr/>
          <a:lstStyle/>
          <a:p>
            <a:endParaRPr lang="en-US"/>
          </a:p>
        </p:txBody>
      </p:sp>
      <p:sp>
        <p:nvSpPr>
          <p:cNvPr id="11" name="Text 9"/>
          <p:cNvSpPr/>
          <p:nvPr/>
        </p:nvSpPr>
        <p:spPr>
          <a:xfrm>
            <a:off x="822960" y="2377440"/>
            <a:ext cx="356616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ECS Accelerator Pack templates &amp; cadence</a:t>
            </a:r>
            <a:endParaRPr lang="en-US" sz="1000" dirty="0"/>
          </a:p>
        </p:txBody>
      </p:sp>
      <p:sp>
        <p:nvSpPr>
          <p:cNvPr id="12" name="Shape 10"/>
          <p:cNvSpPr/>
          <p:nvPr/>
        </p:nvSpPr>
        <p:spPr>
          <a:xfrm>
            <a:off x="548640" y="2862072"/>
            <a:ext cx="164592" cy="164592"/>
          </a:xfrm>
          <a:prstGeom prst="ellipse">
            <a:avLst/>
          </a:prstGeom>
          <a:solidFill>
            <a:srgbClr val="0B1F3A"/>
          </a:solidFill>
          <a:ln w="12700">
            <a:solidFill>
              <a:srgbClr val="0B1F3A"/>
            </a:solidFill>
            <a:prstDash val="solid"/>
          </a:ln>
        </p:spPr>
        <p:txBody>
          <a:bodyPr/>
          <a:lstStyle/>
          <a:p>
            <a:endParaRPr lang="en-US"/>
          </a:p>
        </p:txBody>
      </p:sp>
      <p:sp>
        <p:nvSpPr>
          <p:cNvPr id="13" name="Text 11"/>
          <p:cNvSpPr/>
          <p:nvPr/>
        </p:nvSpPr>
        <p:spPr>
          <a:xfrm>
            <a:off x="822960" y="2788920"/>
            <a:ext cx="356616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ServiceNow-side configuration, integration &amp; build</a:t>
            </a:r>
            <a:endParaRPr lang="en-US" sz="1000" dirty="0"/>
          </a:p>
        </p:txBody>
      </p:sp>
      <p:sp>
        <p:nvSpPr>
          <p:cNvPr id="14" name="Shape 12"/>
          <p:cNvSpPr/>
          <p:nvPr/>
        </p:nvSpPr>
        <p:spPr>
          <a:xfrm>
            <a:off x="548640" y="3273552"/>
            <a:ext cx="164592" cy="164592"/>
          </a:xfrm>
          <a:prstGeom prst="ellipse">
            <a:avLst/>
          </a:prstGeom>
          <a:solidFill>
            <a:srgbClr val="0B1F3A"/>
          </a:solidFill>
          <a:ln w="12700">
            <a:solidFill>
              <a:srgbClr val="0B1F3A"/>
            </a:solidFill>
            <a:prstDash val="solid"/>
          </a:ln>
        </p:spPr>
        <p:txBody>
          <a:bodyPr/>
          <a:lstStyle/>
          <a:p>
            <a:endParaRPr lang="en-US"/>
          </a:p>
        </p:txBody>
      </p:sp>
      <p:sp>
        <p:nvSpPr>
          <p:cNvPr id="15" name="Text 13"/>
          <p:cNvSpPr/>
          <p:nvPr/>
        </p:nvSpPr>
        <p:spPr>
          <a:xfrm>
            <a:off x="822960" y="3200400"/>
            <a:ext cx="356616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Sprint reviews, governance triage, definition of done</a:t>
            </a:r>
            <a:endParaRPr lang="en-US" sz="1000" dirty="0"/>
          </a:p>
        </p:txBody>
      </p:sp>
      <p:sp>
        <p:nvSpPr>
          <p:cNvPr id="16" name="Shape 14"/>
          <p:cNvSpPr/>
          <p:nvPr/>
        </p:nvSpPr>
        <p:spPr>
          <a:xfrm>
            <a:off x="548640" y="3685032"/>
            <a:ext cx="164592" cy="164592"/>
          </a:xfrm>
          <a:prstGeom prst="ellipse">
            <a:avLst/>
          </a:prstGeom>
          <a:solidFill>
            <a:srgbClr val="0B1F3A"/>
          </a:solidFill>
          <a:ln w="12700">
            <a:solidFill>
              <a:srgbClr val="0B1F3A"/>
            </a:solidFill>
            <a:prstDash val="solid"/>
          </a:ln>
        </p:spPr>
        <p:txBody>
          <a:bodyPr/>
          <a:lstStyle/>
          <a:p>
            <a:endParaRPr lang="en-US"/>
          </a:p>
        </p:txBody>
      </p:sp>
      <p:sp>
        <p:nvSpPr>
          <p:cNvPr id="17" name="Text 15"/>
          <p:cNvSpPr/>
          <p:nvPr/>
        </p:nvSpPr>
        <p:spPr>
          <a:xfrm>
            <a:off x="822960" y="3611880"/>
            <a:ext cx="356616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UAT support, KT sessions, train-the-trainer materials</a:t>
            </a:r>
            <a:endParaRPr lang="en-US" sz="1000" dirty="0"/>
          </a:p>
        </p:txBody>
      </p:sp>
      <p:sp>
        <p:nvSpPr>
          <p:cNvPr id="18" name="Shape 16"/>
          <p:cNvSpPr/>
          <p:nvPr/>
        </p:nvSpPr>
        <p:spPr>
          <a:xfrm>
            <a:off x="548640" y="4096512"/>
            <a:ext cx="164592" cy="164592"/>
          </a:xfrm>
          <a:prstGeom prst="ellipse">
            <a:avLst/>
          </a:prstGeom>
          <a:solidFill>
            <a:srgbClr val="0B1F3A"/>
          </a:solidFill>
          <a:ln w="12700">
            <a:solidFill>
              <a:srgbClr val="0B1F3A"/>
            </a:solidFill>
            <a:prstDash val="solid"/>
          </a:ln>
        </p:spPr>
        <p:txBody>
          <a:bodyPr/>
          <a:lstStyle/>
          <a:p>
            <a:endParaRPr lang="en-US"/>
          </a:p>
        </p:txBody>
      </p:sp>
      <p:sp>
        <p:nvSpPr>
          <p:cNvPr id="19" name="Text 17"/>
          <p:cNvSpPr/>
          <p:nvPr/>
        </p:nvSpPr>
        <p:spPr>
          <a:xfrm>
            <a:off x="822960" y="4023360"/>
            <a:ext cx="356616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Hypercare support, closeout report, 12-month roadmap</a:t>
            </a:r>
            <a:endParaRPr lang="en-US" sz="1000" dirty="0"/>
          </a:p>
        </p:txBody>
      </p:sp>
      <p:sp>
        <p:nvSpPr>
          <p:cNvPr id="20" name="Shape 18"/>
          <p:cNvSpPr/>
          <p:nvPr/>
        </p:nvSpPr>
        <p:spPr>
          <a:xfrm>
            <a:off x="4663440" y="1188720"/>
            <a:ext cx="4114800" cy="640080"/>
          </a:xfrm>
          <a:prstGeom prst="rect">
            <a:avLst/>
          </a:prstGeom>
          <a:solidFill>
            <a:srgbClr val="14B8A6"/>
          </a:solidFill>
          <a:ln w="12700">
            <a:solidFill>
              <a:srgbClr val="14B8A6"/>
            </a:solidFill>
            <a:prstDash val="solid"/>
          </a:ln>
        </p:spPr>
        <p:txBody>
          <a:bodyPr/>
          <a:lstStyle/>
          <a:p>
            <a:endParaRPr lang="en-US"/>
          </a:p>
        </p:txBody>
      </p:sp>
      <p:sp>
        <p:nvSpPr>
          <p:cNvPr id="21" name="Text 19"/>
          <p:cNvSpPr/>
          <p:nvPr/>
        </p:nvSpPr>
        <p:spPr>
          <a:xfrm>
            <a:off x="4892040" y="1234440"/>
            <a:ext cx="3657600" cy="274320"/>
          </a:xfrm>
          <a:prstGeom prst="rect">
            <a:avLst/>
          </a:prstGeom>
          <a:noFill/>
          <a:ln/>
        </p:spPr>
        <p:txBody>
          <a:bodyPr wrap="square" lIns="0" tIns="0" rIns="0" bIns="0" rtlCol="0" anchor="ctr"/>
          <a:lstStyle/>
          <a:p>
            <a:pPr marL="0" indent="0">
              <a:buNone/>
            </a:pPr>
            <a:r>
              <a:rPr lang="en-US" sz="1600" b="1" kern="0" spc="300" dirty="0">
                <a:solidFill>
                  <a:srgbClr val="FFFFFF"/>
                </a:solidFill>
                <a:latin typeface="Calibri" pitchFamily="34" charset="0"/>
                <a:ea typeface="Calibri" pitchFamily="34" charset="-122"/>
                <a:cs typeface="Calibri" pitchFamily="34" charset="-120"/>
              </a:rPr>
              <a:t>CONNECTION</a:t>
            </a:r>
            <a:endParaRPr lang="en-US" sz="1600" dirty="0"/>
          </a:p>
        </p:txBody>
      </p:sp>
      <p:sp>
        <p:nvSpPr>
          <p:cNvPr id="22" name="Text 20"/>
          <p:cNvSpPr/>
          <p:nvPr/>
        </p:nvSpPr>
        <p:spPr>
          <a:xfrm>
            <a:off x="4892040" y="1508760"/>
            <a:ext cx="3657600" cy="274320"/>
          </a:xfrm>
          <a:prstGeom prst="rect">
            <a:avLst/>
          </a:prstGeom>
          <a:noFill/>
          <a:ln/>
        </p:spPr>
        <p:txBody>
          <a:bodyPr wrap="square" lIns="0" tIns="0" rIns="0" bIns="0" rtlCol="0" anchor="ctr"/>
          <a:lstStyle/>
          <a:p>
            <a:pPr marL="0" indent="0">
              <a:buNone/>
            </a:pPr>
            <a:r>
              <a:rPr lang="en-US" sz="1000" i="1" dirty="0">
                <a:solidFill>
                  <a:srgbClr val="071427"/>
                </a:solidFill>
                <a:latin typeface="Calibri" pitchFamily="34" charset="0"/>
                <a:ea typeface="Calibri" pitchFamily="34" charset="-122"/>
                <a:cs typeface="Calibri" pitchFamily="34" charset="-120"/>
              </a:rPr>
              <a:t>Decisions, data &amp; domain knowledge</a:t>
            </a:r>
            <a:endParaRPr lang="en-US" sz="1000" dirty="0"/>
          </a:p>
        </p:txBody>
      </p:sp>
      <p:sp>
        <p:nvSpPr>
          <p:cNvPr id="23" name="Shape 21"/>
          <p:cNvSpPr/>
          <p:nvPr/>
        </p:nvSpPr>
        <p:spPr>
          <a:xfrm>
            <a:off x="4663440" y="1828800"/>
            <a:ext cx="4114800" cy="2788920"/>
          </a:xfrm>
          <a:prstGeom prst="rect">
            <a:avLst/>
          </a:prstGeom>
          <a:solidFill>
            <a:srgbClr val="FFFFFF"/>
          </a:solidFill>
          <a:ln w="12700">
            <a:solidFill>
              <a:srgbClr val="E2E8F0"/>
            </a:solidFill>
            <a:prstDash val="solid"/>
          </a:ln>
        </p:spPr>
        <p:txBody>
          <a:bodyPr/>
          <a:lstStyle/>
          <a:p>
            <a:endParaRPr lang="en-US"/>
          </a:p>
        </p:txBody>
      </p:sp>
      <p:sp>
        <p:nvSpPr>
          <p:cNvPr id="24" name="Shape 22"/>
          <p:cNvSpPr/>
          <p:nvPr/>
        </p:nvSpPr>
        <p:spPr>
          <a:xfrm>
            <a:off x="4846320" y="2039112"/>
            <a:ext cx="164592" cy="164592"/>
          </a:xfrm>
          <a:prstGeom prst="ellipse">
            <a:avLst/>
          </a:prstGeom>
          <a:solidFill>
            <a:srgbClr val="14B8A6"/>
          </a:solidFill>
          <a:ln w="12700">
            <a:solidFill>
              <a:srgbClr val="14B8A6"/>
            </a:solidFill>
            <a:prstDash val="solid"/>
          </a:ln>
        </p:spPr>
        <p:txBody>
          <a:bodyPr/>
          <a:lstStyle/>
          <a:p>
            <a:endParaRPr lang="en-US"/>
          </a:p>
        </p:txBody>
      </p:sp>
      <p:sp>
        <p:nvSpPr>
          <p:cNvPr id="25" name="Text 23"/>
          <p:cNvSpPr/>
          <p:nvPr/>
        </p:nvSpPr>
        <p:spPr>
          <a:xfrm>
            <a:off x="5120640" y="1965960"/>
            <a:ext cx="356616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Empowered process owners with decision authority</a:t>
            </a:r>
            <a:endParaRPr lang="en-US" sz="1000" dirty="0"/>
          </a:p>
        </p:txBody>
      </p:sp>
      <p:sp>
        <p:nvSpPr>
          <p:cNvPr id="26" name="Shape 24"/>
          <p:cNvSpPr/>
          <p:nvPr/>
        </p:nvSpPr>
        <p:spPr>
          <a:xfrm>
            <a:off x="4846320" y="2450592"/>
            <a:ext cx="164592" cy="164592"/>
          </a:xfrm>
          <a:prstGeom prst="ellipse">
            <a:avLst/>
          </a:prstGeom>
          <a:solidFill>
            <a:srgbClr val="14B8A6"/>
          </a:solidFill>
          <a:ln w="12700">
            <a:solidFill>
              <a:srgbClr val="14B8A6"/>
            </a:solidFill>
            <a:prstDash val="solid"/>
          </a:ln>
        </p:spPr>
        <p:txBody>
          <a:bodyPr/>
          <a:lstStyle/>
          <a:p>
            <a:endParaRPr lang="en-US"/>
          </a:p>
        </p:txBody>
      </p:sp>
      <p:sp>
        <p:nvSpPr>
          <p:cNvPr id="27" name="Text 25"/>
          <p:cNvSpPr/>
          <p:nvPr/>
        </p:nvSpPr>
        <p:spPr>
          <a:xfrm>
            <a:off x="5120640" y="2377440"/>
            <a:ext cx="356616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Timely SME availability for workshops &amp; sprint reviews</a:t>
            </a:r>
            <a:endParaRPr lang="en-US" sz="1000" dirty="0"/>
          </a:p>
        </p:txBody>
      </p:sp>
      <p:sp>
        <p:nvSpPr>
          <p:cNvPr id="28" name="Shape 26"/>
          <p:cNvSpPr/>
          <p:nvPr/>
        </p:nvSpPr>
        <p:spPr>
          <a:xfrm>
            <a:off x="4846320" y="2862072"/>
            <a:ext cx="164592" cy="164592"/>
          </a:xfrm>
          <a:prstGeom prst="ellipse">
            <a:avLst/>
          </a:prstGeom>
          <a:solidFill>
            <a:srgbClr val="14B8A6"/>
          </a:solidFill>
          <a:ln w="12700">
            <a:solidFill>
              <a:srgbClr val="14B8A6"/>
            </a:solidFill>
            <a:prstDash val="solid"/>
          </a:ln>
        </p:spPr>
        <p:txBody>
          <a:bodyPr/>
          <a:lstStyle/>
          <a:p>
            <a:endParaRPr lang="en-US"/>
          </a:p>
        </p:txBody>
      </p:sp>
      <p:sp>
        <p:nvSpPr>
          <p:cNvPr id="29" name="Text 27"/>
          <p:cNvSpPr/>
          <p:nvPr/>
        </p:nvSpPr>
        <p:spPr>
          <a:xfrm>
            <a:off x="5120640" y="2788920"/>
            <a:ext cx="356616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Source-system access, credentials &amp; counterpart engineers</a:t>
            </a:r>
            <a:endParaRPr lang="en-US" sz="1000" dirty="0"/>
          </a:p>
        </p:txBody>
      </p:sp>
      <p:sp>
        <p:nvSpPr>
          <p:cNvPr id="30" name="Shape 28"/>
          <p:cNvSpPr/>
          <p:nvPr/>
        </p:nvSpPr>
        <p:spPr>
          <a:xfrm>
            <a:off x="4846320" y="3273552"/>
            <a:ext cx="164592" cy="164592"/>
          </a:xfrm>
          <a:prstGeom prst="ellipse">
            <a:avLst/>
          </a:prstGeom>
          <a:solidFill>
            <a:srgbClr val="14B8A6"/>
          </a:solidFill>
          <a:ln w="12700">
            <a:solidFill>
              <a:srgbClr val="14B8A6"/>
            </a:solidFill>
            <a:prstDash val="solid"/>
          </a:ln>
        </p:spPr>
        <p:txBody>
          <a:bodyPr/>
          <a:lstStyle/>
          <a:p>
            <a:endParaRPr lang="en-US"/>
          </a:p>
        </p:txBody>
      </p:sp>
      <p:sp>
        <p:nvSpPr>
          <p:cNvPr id="31" name="Text 29"/>
          <p:cNvSpPr/>
          <p:nvPr/>
        </p:nvSpPr>
        <p:spPr>
          <a:xfrm>
            <a:off x="5120640" y="3200400"/>
            <a:ext cx="356616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Workshop output sign-off feeding the active sprint backlog</a:t>
            </a:r>
            <a:endParaRPr lang="en-US" sz="1000" dirty="0"/>
          </a:p>
        </p:txBody>
      </p:sp>
      <p:sp>
        <p:nvSpPr>
          <p:cNvPr id="32" name="Shape 30"/>
          <p:cNvSpPr/>
          <p:nvPr/>
        </p:nvSpPr>
        <p:spPr>
          <a:xfrm>
            <a:off x="4846320" y="3685032"/>
            <a:ext cx="164592" cy="164592"/>
          </a:xfrm>
          <a:prstGeom prst="ellipse">
            <a:avLst/>
          </a:prstGeom>
          <a:solidFill>
            <a:srgbClr val="14B8A6"/>
          </a:solidFill>
          <a:ln w="12700">
            <a:solidFill>
              <a:srgbClr val="14B8A6"/>
            </a:solidFill>
            <a:prstDash val="solid"/>
          </a:ln>
        </p:spPr>
        <p:txBody>
          <a:bodyPr/>
          <a:lstStyle/>
          <a:p>
            <a:endParaRPr lang="en-US"/>
          </a:p>
        </p:txBody>
      </p:sp>
      <p:sp>
        <p:nvSpPr>
          <p:cNvPr id="33" name="Text 31"/>
          <p:cNvSpPr/>
          <p:nvPr/>
        </p:nvSpPr>
        <p:spPr>
          <a:xfrm>
            <a:off x="5120640" y="3611880"/>
            <a:ext cx="356616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UAT execution and stakeholder approval at each gate</a:t>
            </a:r>
            <a:endParaRPr lang="en-US" sz="1000" dirty="0"/>
          </a:p>
        </p:txBody>
      </p:sp>
      <p:sp>
        <p:nvSpPr>
          <p:cNvPr id="34" name="Shape 32"/>
          <p:cNvSpPr/>
          <p:nvPr/>
        </p:nvSpPr>
        <p:spPr>
          <a:xfrm>
            <a:off x="4846320" y="4096512"/>
            <a:ext cx="164592" cy="164592"/>
          </a:xfrm>
          <a:prstGeom prst="ellipse">
            <a:avLst/>
          </a:prstGeom>
          <a:solidFill>
            <a:srgbClr val="14B8A6"/>
          </a:solidFill>
          <a:ln w="12700">
            <a:solidFill>
              <a:srgbClr val="14B8A6"/>
            </a:solidFill>
            <a:prstDash val="solid"/>
          </a:ln>
        </p:spPr>
        <p:txBody>
          <a:bodyPr/>
          <a:lstStyle/>
          <a:p>
            <a:endParaRPr lang="en-US"/>
          </a:p>
        </p:txBody>
      </p:sp>
      <p:sp>
        <p:nvSpPr>
          <p:cNvPr id="35" name="Text 33"/>
          <p:cNvSpPr/>
          <p:nvPr/>
        </p:nvSpPr>
        <p:spPr>
          <a:xfrm>
            <a:off x="5120640" y="4023360"/>
            <a:ext cx="3566160" cy="365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Operations hand-off and post-Hypercare ownership</a:t>
            </a:r>
            <a:endParaRPr lang="en-US" sz="1000" dirty="0"/>
          </a:p>
        </p:txBody>
      </p:sp>
      <p:sp>
        <p:nvSpPr>
          <p:cNvPr id="36" name="Shape 34"/>
          <p:cNvSpPr/>
          <p:nvPr/>
        </p:nvSpPr>
        <p:spPr>
          <a:xfrm>
            <a:off x="0" y="4818888"/>
            <a:ext cx="9144000" cy="324612"/>
          </a:xfrm>
          <a:prstGeom prst="rect">
            <a:avLst/>
          </a:prstGeom>
          <a:solidFill>
            <a:srgbClr val="0B1F3A"/>
          </a:solidFill>
          <a:ln w="12700">
            <a:solidFill>
              <a:srgbClr val="0B1F3A"/>
            </a:solidFill>
            <a:prstDash val="solid"/>
          </a:ln>
        </p:spPr>
        <p:txBody>
          <a:bodyPr/>
          <a:lstStyle/>
          <a:p>
            <a:endParaRPr lang="en-US"/>
          </a:p>
        </p:txBody>
      </p:sp>
      <p:pic>
        <p:nvPicPr>
          <p:cNvPr id="37" name="Image 0" descr="/sessions/laughing-cool-lovelace/mnt/outputs/deck/everforth_ecs_federal_white.png"/>
          <p:cNvPicPr>
            <a:picLocks noChangeAspect="1"/>
          </p:cNvPicPr>
          <p:nvPr/>
        </p:nvPicPr>
        <p:blipFill>
          <a:blip r:embed="rId3"/>
          <a:stretch>
            <a:fillRect/>
          </a:stretch>
        </p:blipFill>
        <p:spPr>
          <a:xfrm>
            <a:off x="365760" y="4873752"/>
            <a:ext cx="1188720" cy="220855"/>
          </a:xfrm>
          <a:prstGeom prst="rect">
            <a:avLst/>
          </a:prstGeom>
        </p:spPr>
      </p:pic>
      <p:sp>
        <p:nvSpPr>
          <p:cNvPr id="38" name="Text 35"/>
          <p:cNvSpPr/>
          <p:nvPr/>
        </p:nvSpPr>
        <p:spPr>
          <a:xfrm>
            <a:off x="1828800" y="4910328"/>
            <a:ext cx="5486400" cy="146304"/>
          </a:xfrm>
          <a:prstGeom prst="rect">
            <a:avLst/>
          </a:prstGeom>
          <a:noFill/>
          <a:ln/>
        </p:spPr>
        <p:txBody>
          <a:bodyPr wrap="square" lIns="0" tIns="0" rIns="0" bIns="0" rtlCol="0" anchor="ctr"/>
          <a:lstStyle/>
          <a:p>
            <a:pPr marL="0" indent="0">
              <a:buNone/>
            </a:pPr>
            <a:r>
              <a:rPr lang="en-US" sz="750" kern="0" spc="400" dirty="0">
                <a:solidFill>
                  <a:srgbClr val="CBD5E1"/>
                </a:solidFill>
                <a:latin typeface="Calibri" pitchFamily="34" charset="0"/>
                <a:ea typeface="Calibri" pitchFamily="34" charset="-122"/>
                <a:cs typeface="Calibri" pitchFamily="34" charset="-120"/>
              </a:rPr>
              <a:t>ECS  ·  PC CONNECTION  ·  SERVICENOW RE-IMPLEMENTATION</a:t>
            </a:r>
            <a:endParaRPr lang="en-US" sz="750" dirty="0"/>
          </a:p>
        </p:txBody>
      </p:sp>
      <p:sp>
        <p:nvSpPr>
          <p:cNvPr id="39" name="Text 36"/>
          <p:cNvSpPr/>
          <p:nvPr/>
        </p:nvSpPr>
        <p:spPr>
          <a:xfrm>
            <a:off x="7863840" y="4910328"/>
            <a:ext cx="914400" cy="146304"/>
          </a:xfrm>
          <a:prstGeom prst="rect">
            <a:avLst/>
          </a:prstGeom>
          <a:noFill/>
          <a:ln/>
        </p:spPr>
        <p:txBody>
          <a:bodyPr wrap="square" lIns="0" tIns="0" rIns="0" bIns="0" rtlCol="0" anchor="ctr"/>
          <a:lstStyle/>
          <a:p>
            <a:pPr marL="0" indent="0" algn="r">
              <a:buNone/>
            </a:pPr>
            <a:r>
              <a:rPr lang="en-US" sz="750" dirty="0">
                <a:solidFill>
                  <a:srgbClr val="CBD5E1"/>
                </a:solidFill>
                <a:latin typeface="Calibri" pitchFamily="34" charset="0"/>
                <a:ea typeface="Calibri" pitchFamily="34" charset="-122"/>
                <a:cs typeface="Calibri" pitchFamily="34" charset="-120"/>
              </a:rPr>
              <a:t>18 / 19</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92608"/>
            <a:ext cx="8412480" cy="228600"/>
          </a:xfrm>
          <a:prstGeom prst="rect">
            <a:avLst/>
          </a:prstGeom>
          <a:noFill/>
          <a:ln/>
        </p:spPr>
        <p:txBody>
          <a:bodyPr wrap="square" lIns="0" tIns="0" rIns="0" bIns="0" rtlCol="0" anchor="ctr"/>
          <a:lstStyle/>
          <a:p>
            <a:pPr marL="0" indent="0">
              <a:buNone/>
            </a:pPr>
            <a:r>
              <a:rPr lang="en-US" sz="900" b="1" kern="0" spc="600" dirty="0">
                <a:solidFill>
                  <a:srgbClr val="14B8A6"/>
                </a:solidFill>
                <a:latin typeface="Calibri" pitchFamily="34" charset="0"/>
                <a:ea typeface="Calibri" pitchFamily="34" charset="-122"/>
                <a:cs typeface="Calibri" pitchFamily="34" charset="-120"/>
              </a:rPr>
              <a:t>PROGRAM ROM  ·  ROUGH ORDER OF MAGNITUDE</a:t>
            </a:r>
            <a:endParaRPr lang="en-US" sz="900" dirty="0"/>
          </a:p>
        </p:txBody>
      </p:sp>
      <p:sp>
        <p:nvSpPr>
          <p:cNvPr id="3" name="Text 1"/>
          <p:cNvSpPr/>
          <p:nvPr/>
        </p:nvSpPr>
        <p:spPr>
          <a:xfrm>
            <a:off x="365760" y="502920"/>
            <a:ext cx="8412480" cy="502920"/>
          </a:xfrm>
          <a:prstGeom prst="rect">
            <a:avLst/>
          </a:prstGeom>
          <a:noFill/>
          <a:ln/>
        </p:spPr>
        <p:txBody>
          <a:bodyPr wrap="square" lIns="0" tIns="0" rIns="0" bIns="0" rtlCol="0" anchor="ctr"/>
          <a:lstStyle/>
          <a:p>
            <a:pPr marL="0" indent="0">
              <a:buNone/>
            </a:pPr>
            <a:r>
              <a:rPr lang="en-US" sz="2400" b="1" dirty="0">
                <a:solidFill>
                  <a:srgbClr val="0B1F3A"/>
                </a:solidFill>
                <a:latin typeface="Calibri" pitchFamily="34" charset="0"/>
                <a:ea typeface="Calibri" pitchFamily="34" charset="-122"/>
                <a:cs typeface="Calibri" pitchFamily="34" charset="-120"/>
              </a:rPr>
              <a:t>Estimated cost by phase</a:t>
            </a:r>
            <a:endParaRPr lang="en-US" sz="2400" dirty="0"/>
          </a:p>
        </p:txBody>
      </p:sp>
      <p:sp>
        <p:nvSpPr>
          <p:cNvPr id="4" name="Shape 2"/>
          <p:cNvSpPr/>
          <p:nvPr/>
        </p:nvSpPr>
        <p:spPr>
          <a:xfrm>
            <a:off x="365760" y="1097280"/>
            <a:ext cx="2743200" cy="3017520"/>
          </a:xfrm>
          <a:prstGeom prst="rect">
            <a:avLst/>
          </a:prstGeom>
          <a:solidFill>
            <a:srgbClr val="FFFFFF"/>
          </a:solidFill>
          <a:ln w="12700">
            <a:solidFill>
              <a:srgbClr val="E2E8F0"/>
            </a:solidFill>
            <a:prstDash val="solid"/>
          </a:ln>
        </p:spPr>
        <p:txBody>
          <a:bodyPr/>
          <a:lstStyle/>
          <a:p>
            <a:endParaRPr lang="en-US"/>
          </a:p>
        </p:txBody>
      </p:sp>
      <p:sp>
        <p:nvSpPr>
          <p:cNvPr id="5" name="Shape 3"/>
          <p:cNvSpPr/>
          <p:nvPr/>
        </p:nvSpPr>
        <p:spPr>
          <a:xfrm>
            <a:off x="365760" y="1097280"/>
            <a:ext cx="2743200" cy="777240"/>
          </a:xfrm>
          <a:prstGeom prst="rect">
            <a:avLst/>
          </a:prstGeom>
          <a:solidFill>
            <a:srgbClr val="0B1F3A"/>
          </a:solidFill>
          <a:ln w="12700">
            <a:solidFill>
              <a:srgbClr val="0B1F3A"/>
            </a:solidFill>
            <a:prstDash val="solid"/>
          </a:ln>
        </p:spPr>
        <p:txBody>
          <a:bodyPr/>
          <a:lstStyle/>
          <a:p>
            <a:endParaRPr lang="en-US"/>
          </a:p>
        </p:txBody>
      </p:sp>
      <p:sp>
        <p:nvSpPr>
          <p:cNvPr id="6" name="Text 4"/>
          <p:cNvSpPr/>
          <p:nvPr/>
        </p:nvSpPr>
        <p:spPr>
          <a:xfrm>
            <a:off x="548640" y="1170432"/>
            <a:ext cx="2468880" cy="274320"/>
          </a:xfrm>
          <a:prstGeom prst="rect">
            <a:avLst/>
          </a:prstGeom>
          <a:noFill/>
          <a:ln/>
        </p:spPr>
        <p:txBody>
          <a:bodyPr wrap="square" lIns="0" tIns="0" rIns="0" bIns="0" rtlCol="0" anchor="ctr"/>
          <a:lstStyle/>
          <a:p>
            <a:pPr marL="0" indent="0">
              <a:buNone/>
            </a:pPr>
            <a:r>
              <a:rPr lang="en-US" sz="1000" b="1" kern="0" spc="400" dirty="0">
                <a:solidFill>
                  <a:srgbClr val="5EEAD4"/>
                </a:solidFill>
                <a:latin typeface="Calibri" pitchFamily="34" charset="0"/>
                <a:ea typeface="Calibri" pitchFamily="34" charset="-122"/>
                <a:cs typeface="Calibri" pitchFamily="34" charset="-120"/>
              </a:rPr>
              <a:t>PHASE 1</a:t>
            </a:r>
            <a:endParaRPr lang="en-US" sz="1000" dirty="0"/>
          </a:p>
        </p:txBody>
      </p:sp>
      <p:sp>
        <p:nvSpPr>
          <p:cNvPr id="7" name="Text 5"/>
          <p:cNvSpPr/>
          <p:nvPr/>
        </p:nvSpPr>
        <p:spPr>
          <a:xfrm>
            <a:off x="548640" y="1426464"/>
            <a:ext cx="246888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Foundation &amp; Core</a:t>
            </a:r>
            <a:endParaRPr lang="en-US" sz="1600" dirty="0"/>
          </a:p>
        </p:txBody>
      </p:sp>
      <p:sp>
        <p:nvSpPr>
          <p:cNvPr id="8" name="Text 6"/>
          <p:cNvSpPr/>
          <p:nvPr/>
        </p:nvSpPr>
        <p:spPr>
          <a:xfrm>
            <a:off x="548640" y="1965960"/>
            <a:ext cx="2468880" cy="274320"/>
          </a:xfrm>
          <a:prstGeom prst="rect">
            <a:avLst/>
          </a:prstGeom>
          <a:noFill/>
          <a:ln/>
        </p:spPr>
        <p:txBody>
          <a:bodyPr wrap="square" lIns="0" tIns="0" rIns="0" bIns="0" rtlCol="0" anchor="ctr"/>
          <a:lstStyle/>
          <a:p>
            <a:pPr marL="0" indent="0">
              <a:buNone/>
            </a:pPr>
            <a:r>
              <a:rPr lang="en-US" sz="950" i="1" dirty="0">
                <a:solidFill>
                  <a:srgbClr val="475569"/>
                </a:solidFill>
                <a:latin typeface="Calibri" pitchFamily="34" charset="0"/>
                <a:ea typeface="Calibri" pitchFamily="34" charset="-122"/>
                <a:cs typeface="Calibri" pitchFamily="34" charset="-120"/>
              </a:rPr>
              <a:t>16 weeks  +  2 weeks Hypercare</a:t>
            </a:r>
            <a:endParaRPr lang="en-US" sz="950" dirty="0"/>
          </a:p>
        </p:txBody>
      </p:sp>
      <p:sp>
        <p:nvSpPr>
          <p:cNvPr id="9" name="Text 7"/>
          <p:cNvSpPr/>
          <p:nvPr/>
        </p:nvSpPr>
        <p:spPr>
          <a:xfrm>
            <a:off x="548640" y="2286000"/>
            <a:ext cx="2468880" cy="594360"/>
          </a:xfrm>
          <a:prstGeom prst="rect">
            <a:avLst/>
          </a:prstGeom>
          <a:noFill/>
          <a:ln/>
        </p:spPr>
        <p:txBody>
          <a:bodyPr wrap="square" lIns="0" tIns="0" rIns="0" bIns="0" rtlCol="0" anchor="ctr"/>
          <a:lstStyle/>
          <a:p>
            <a:pPr marL="0" indent="0">
              <a:buNone/>
            </a:pPr>
            <a:r>
              <a:rPr lang="en-US" sz="2800" b="1" dirty="0">
                <a:solidFill>
                  <a:srgbClr val="0B1F3A"/>
                </a:solidFill>
                <a:latin typeface="Calibri" pitchFamily="34" charset="0"/>
                <a:ea typeface="Calibri" pitchFamily="34" charset="-122"/>
                <a:cs typeface="Calibri" pitchFamily="34" charset="-120"/>
              </a:rPr>
              <a:t>$350,000</a:t>
            </a:r>
            <a:endParaRPr lang="en-US" sz="2800" dirty="0"/>
          </a:p>
        </p:txBody>
      </p:sp>
      <p:sp>
        <p:nvSpPr>
          <p:cNvPr id="10" name="Text 8"/>
          <p:cNvSpPr/>
          <p:nvPr/>
        </p:nvSpPr>
        <p:spPr>
          <a:xfrm>
            <a:off x="548640" y="2880360"/>
            <a:ext cx="2468880" cy="228600"/>
          </a:xfrm>
          <a:prstGeom prst="rect">
            <a:avLst/>
          </a:prstGeom>
          <a:noFill/>
          <a:ln/>
        </p:spPr>
        <p:txBody>
          <a:bodyPr wrap="square" lIns="0" tIns="0" rIns="0" bIns="0" rtlCol="0" anchor="ctr"/>
          <a:lstStyle/>
          <a:p>
            <a:pPr marL="0" indent="0">
              <a:buNone/>
            </a:pPr>
            <a:r>
              <a:rPr lang="en-US" sz="900" b="1" kern="0" spc="200" dirty="0">
                <a:solidFill>
                  <a:srgbClr val="0B1F3A"/>
                </a:solidFill>
                <a:latin typeface="Calibri" pitchFamily="34" charset="0"/>
                <a:ea typeface="Calibri" pitchFamily="34" charset="-122"/>
                <a:cs typeface="Calibri" pitchFamily="34" charset="-120"/>
              </a:rPr>
              <a:t>Fixed ROM</a:t>
            </a:r>
            <a:endParaRPr lang="en-US" sz="900" dirty="0"/>
          </a:p>
        </p:txBody>
      </p:sp>
      <p:sp>
        <p:nvSpPr>
          <p:cNvPr id="11" name="Shape 9"/>
          <p:cNvSpPr/>
          <p:nvPr/>
        </p:nvSpPr>
        <p:spPr>
          <a:xfrm>
            <a:off x="548640" y="3200400"/>
            <a:ext cx="2377440" cy="18288"/>
          </a:xfrm>
          <a:prstGeom prst="rect">
            <a:avLst/>
          </a:prstGeom>
          <a:solidFill>
            <a:srgbClr val="E2E8F0"/>
          </a:solidFill>
          <a:ln w="12700">
            <a:solidFill>
              <a:srgbClr val="E2E8F0"/>
            </a:solidFill>
            <a:prstDash val="solid"/>
          </a:ln>
        </p:spPr>
        <p:txBody>
          <a:bodyPr/>
          <a:lstStyle/>
          <a:p>
            <a:endParaRPr lang="en-US"/>
          </a:p>
        </p:txBody>
      </p:sp>
      <p:sp>
        <p:nvSpPr>
          <p:cNvPr id="12" name="Text 10"/>
          <p:cNvSpPr/>
          <p:nvPr/>
        </p:nvSpPr>
        <p:spPr>
          <a:xfrm>
            <a:off x="548640" y="3291840"/>
            <a:ext cx="2468880" cy="228600"/>
          </a:xfrm>
          <a:prstGeom prst="rect">
            <a:avLst/>
          </a:prstGeom>
          <a:noFill/>
          <a:ln/>
        </p:spPr>
        <p:txBody>
          <a:bodyPr wrap="square" lIns="0" tIns="0" rIns="0" bIns="0" rtlCol="0" anchor="ctr"/>
          <a:lstStyle/>
          <a:p>
            <a:pPr marL="0" indent="0">
              <a:buNone/>
            </a:pPr>
            <a:r>
              <a:rPr lang="en-US" sz="850" b="1" kern="0" spc="300" dirty="0">
                <a:solidFill>
                  <a:srgbClr val="14B8A6"/>
                </a:solidFill>
                <a:latin typeface="Calibri" pitchFamily="34" charset="0"/>
                <a:ea typeface="Calibri" pitchFamily="34" charset="-122"/>
                <a:cs typeface="Calibri" pitchFamily="34" charset="-120"/>
              </a:rPr>
              <a:t>KEY SCOPE</a:t>
            </a:r>
            <a:endParaRPr lang="en-US" sz="850" dirty="0"/>
          </a:p>
        </p:txBody>
      </p:sp>
      <p:sp>
        <p:nvSpPr>
          <p:cNvPr id="13" name="Text 11"/>
          <p:cNvSpPr/>
          <p:nvPr/>
        </p:nvSpPr>
        <p:spPr>
          <a:xfrm>
            <a:off x="548640" y="3520440"/>
            <a:ext cx="2377440" cy="640080"/>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ITSM Core · CSDM/CMDB · Employee Center · Virtual Agent · AI Search · Performance Analytics · Discovery · HAM Foundations</a:t>
            </a:r>
            <a:endParaRPr lang="en-US" sz="850" dirty="0"/>
          </a:p>
        </p:txBody>
      </p:sp>
      <p:sp>
        <p:nvSpPr>
          <p:cNvPr id="14" name="Shape 12"/>
          <p:cNvSpPr/>
          <p:nvPr/>
        </p:nvSpPr>
        <p:spPr>
          <a:xfrm>
            <a:off x="3246120" y="1097280"/>
            <a:ext cx="2743200" cy="3017520"/>
          </a:xfrm>
          <a:prstGeom prst="rect">
            <a:avLst/>
          </a:prstGeom>
          <a:solidFill>
            <a:srgbClr val="FFFFFF"/>
          </a:solidFill>
          <a:ln w="12700">
            <a:solidFill>
              <a:srgbClr val="E2E8F0"/>
            </a:solidFill>
            <a:prstDash val="solid"/>
          </a:ln>
        </p:spPr>
        <p:txBody>
          <a:bodyPr/>
          <a:lstStyle/>
          <a:p>
            <a:endParaRPr lang="en-US"/>
          </a:p>
        </p:txBody>
      </p:sp>
      <p:sp>
        <p:nvSpPr>
          <p:cNvPr id="15" name="Shape 13"/>
          <p:cNvSpPr/>
          <p:nvPr/>
        </p:nvSpPr>
        <p:spPr>
          <a:xfrm>
            <a:off x="3246120" y="1097280"/>
            <a:ext cx="2743200" cy="777240"/>
          </a:xfrm>
          <a:prstGeom prst="rect">
            <a:avLst/>
          </a:prstGeom>
          <a:solidFill>
            <a:srgbClr val="14B8A6"/>
          </a:solidFill>
          <a:ln w="12700">
            <a:solidFill>
              <a:srgbClr val="14B8A6"/>
            </a:solidFill>
            <a:prstDash val="solid"/>
          </a:ln>
        </p:spPr>
        <p:txBody>
          <a:bodyPr/>
          <a:lstStyle/>
          <a:p>
            <a:endParaRPr lang="en-US"/>
          </a:p>
        </p:txBody>
      </p:sp>
      <p:sp>
        <p:nvSpPr>
          <p:cNvPr id="16" name="Text 14"/>
          <p:cNvSpPr/>
          <p:nvPr/>
        </p:nvSpPr>
        <p:spPr>
          <a:xfrm>
            <a:off x="3429000" y="1170432"/>
            <a:ext cx="2468880" cy="274320"/>
          </a:xfrm>
          <a:prstGeom prst="rect">
            <a:avLst/>
          </a:prstGeom>
          <a:noFill/>
          <a:ln/>
        </p:spPr>
        <p:txBody>
          <a:bodyPr wrap="square" lIns="0" tIns="0" rIns="0" bIns="0" rtlCol="0" anchor="ctr"/>
          <a:lstStyle/>
          <a:p>
            <a:pPr marL="0" indent="0">
              <a:buNone/>
            </a:pPr>
            <a:r>
              <a:rPr lang="en-US" sz="1000" b="1" kern="0" spc="400" dirty="0">
                <a:solidFill>
                  <a:srgbClr val="071427"/>
                </a:solidFill>
                <a:latin typeface="Calibri" pitchFamily="34" charset="0"/>
                <a:ea typeface="Calibri" pitchFamily="34" charset="-122"/>
                <a:cs typeface="Calibri" pitchFamily="34" charset="-120"/>
              </a:rPr>
              <a:t>PHASE 2</a:t>
            </a:r>
            <a:endParaRPr lang="en-US" sz="1000" dirty="0"/>
          </a:p>
        </p:txBody>
      </p:sp>
      <p:sp>
        <p:nvSpPr>
          <p:cNvPr id="17" name="Text 15"/>
          <p:cNvSpPr/>
          <p:nvPr/>
        </p:nvSpPr>
        <p:spPr>
          <a:xfrm>
            <a:off x="3429000" y="1426464"/>
            <a:ext cx="246888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Baseline Expansion</a:t>
            </a:r>
            <a:endParaRPr lang="en-US" sz="1600" dirty="0"/>
          </a:p>
        </p:txBody>
      </p:sp>
      <p:sp>
        <p:nvSpPr>
          <p:cNvPr id="18" name="Text 16"/>
          <p:cNvSpPr/>
          <p:nvPr/>
        </p:nvSpPr>
        <p:spPr>
          <a:xfrm>
            <a:off x="3429000" y="1965960"/>
            <a:ext cx="2468880" cy="274320"/>
          </a:xfrm>
          <a:prstGeom prst="rect">
            <a:avLst/>
          </a:prstGeom>
          <a:noFill/>
          <a:ln/>
        </p:spPr>
        <p:txBody>
          <a:bodyPr wrap="square" lIns="0" tIns="0" rIns="0" bIns="0" rtlCol="0" anchor="ctr"/>
          <a:lstStyle/>
          <a:p>
            <a:pPr marL="0" indent="0">
              <a:buNone/>
            </a:pPr>
            <a:r>
              <a:rPr lang="en-US" sz="950" i="1" dirty="0">
                <a:solidFill>
                  <a:srgbClr val="475569"/>
                </a:solidFill>
                <a:latin typeface="Calibri" pitchFamily="34" charset="0"/>
                <a:ea typeface="Calibri" pitchFamily="34" charset="-122"/>
                <a:cs typeface="Calibri" pitchFamily="34" charset="-120"/>
              </a:rPr>
              <a:t>12–14 weeks</a:t>
            </a:r>
            <a:endParaRPr lang="en-US" sz="950" dirty="0"/>
          </a:p>
        </p:txBody>
      </p:sp>
      <p:sp>
        <p:nvSpPr>
          <p:cNvPr id="19" name="Text 17"/>
          <p:cNvSpPr/>
          <p:nvPr/>
        </p:nvSpPr>
        <p:spPr>
          <a:xfrm>
            <a:off x="3429000" y="2286000"/>
            <a:ext cx="2468880" cy="594360"/>
          </a:xfrm>
          <a:prstGeom prst="rect">
            <a:avLst/>
          </a:prstGeom>
          <a:noFill/>
          <a:ln/>
        </p:spPr>
        <p:txBody>
          <a:bodyPr wrap="square" lIns="0" tIns="0" rIns="0" bIns="0" rtlCol="0" anchor="ctr"/>
          <a:lstStyle/>
          <a:p>
            <a:pPr marL="0" indent="0">
              <a:buNone/>
            </a:pPr>
            <a:r>
              <a:rPr lang="en-US" sz="2800" b="1" dirty="0">
                <a:solidFill>
                  <a:srgbClr val="0B1F3A"/>
                </a:solidFill>
                <a:latin typeface="Calibri" pitchFamily="34" charset="0"/>
                <a:ea typeface="Calibri" pitchFamily="34" charset="-122"/>
                <a:cs typeface="Calibri" pitchFamily="34" charset="-120"/>
              </a:rPr>
              <a:t>$150K – $185K</a:t>
            </a:r>
            <a:endParaRPr lang="en-US" sz="2800" dirty="0"/>
          </a:p>
        </p:txBody>
      </p:sp>
      <p:sp>
        <p:nvSpPr>
          <p:cNvPr id="20" name="Text 18"/>
          <p:cNvSpPr/>
          <p:nvPr/>
        </p:nvSpPr>
        <p:spPr>
          <a:xfrm>
            <a:off x="3429000" y="2880360"/>
            <a:ext cx="2468880" cy="228600"/>
          </a:xfrm>
          <a:prstGeom prst="rect">
            <a:avLst/>
          </a:prstGeom>
          <a:noFill/>
          <a:ln/>
        </p:spPr>
        <p:txBody>
          <a:bodyPr wrap="square" lIns="0" tIns="0" rIns="0" bIns="0" rtlCol="0" anchor="ctr"/>
          <a:lstStyle/>
          <a:p>
            <a:pPr marL="0" indent="0">
              <a:buNone/>
            </a:pPr>
            <a:r>
              <a:rPr lang="en-US" sz="900" b="1" kern="0" spc="200" dirty="0">
                <a:solidFill>
                  <a:srgbClr val="14B8A6"/>
                </a:solidFill>
                <a:latin typeface="Calibri" pitchFamily="34" charset="0"/>
                <a:ea typeface="Calibri" pitchFamily="34" charset="-122"/>
                <a:cs typeface="Calibri" pitchFamily="34" charset="-120"/>
              </a:rPr>
              <a:t>ROM range *</a:t>
            </a:r>
            <a:endParaRPr lang="en-US" sz="900" dirty="0"/>
          </a:p>
        </p:txBody>
      </p:sp>
      <p:sp>
        <p:nvSpPr>
          <p:cNvPr id="21" name="Shape 19"/>
          <p:cNvSpPr/>
          <p:nvPr/>
        </p:nvSpPr>
        <p:spPr>
          <a:xfrm>
            <a:off x="3429000" y="3200400"/>
            <a:ext cx="2377440" cy="18288"/>
          </a:xfrm>
          <a:prstGeom prst="rect">
            <a:avLst/>
          </a:prstGeom>
          <a:solidFill>
            <a:srgbClr val="E2E8F0"/>
          </a:solidFill>
          <a:ln w="12700">
            <a:solidFill>
              <a:srgbClr val="E2E8F0"/>
            </a:solidFill>
            <a:prstDash val="solid"/>
          </a:ln>
        </p:spPr>
        <p:txBody>
          <a:bodyPr/>
          <a:lstStyle/>
          <a:p>
            <a:endParaRPr lang="en-US"/>
          </a:p>
        </p:txBody>
      </p:sp>
      <p:sp>
        <p:nvSpPr>
          <p:cNvPr id="22" name="Text 20"/>
          <p:cNvSpPr/>
          <p:nvPr/>
        </p:nvSpPr>
        <p:spPr>
          <a:xfrm>
            <a:off x="3429000" y="3291840"/>
            <a:ext cx="2468880" cy="228600"/>
          </a:xfrm>
          <a:prstGeom prst="rect">
            <a:avLst/>
          </a:prstGeom>
          <a:noFill/>
          <a:ln/>
        </p:spPr>
        <p:txBody>
          <a:bodyPr wrap="square" lIns="0" tIns="0" rIns="0" bIns="0" rtlCol="0" anchor="ctr"/>
          <a:lstStyle/>
          <a:p>
            <a:pPr marL="0" indent="0">
              <a:buNone/>
            </a:pPr>
            <a:r>
              <a:rPr lang="en-US" sz="850" b="1" kern="0" spc="300" dirty="0">
                <a:solidFill>
                  <a:srgbClr val="14B8A6"/>
                </a:solidFill>
                <a:latin typeface="Calibri" pitchFamily="34" charset="0"/>
                <a:ea typeface="Calibri" pitchFamily="34" charset="-122"/>
                <a:cs typeface="Calibri" pitchFamily="34" charset="-120"/>
              </a:rPr>
              <a:t>KEY SCOPE</a:t>
            </a:r>
            <a:endParaRPr lang="en-US" sz="850" dirty="0"/>
          </a:p>
        </p:txBody>
      </p:sp>
      <p:sp>
        <p:nvSpPr>
          <p:cNvPr id="23" name="Text 21"/>
          <p:cNvSpPr/>
          <p:nvPr/>
        </p:nvSpPr>
        <p:spPr>
          <a:xfrm>
            <a:off x="3429000" y="3520440"/>
            <a:ext cx="2377440" cy="640080"/>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Full Catalog · VA Expansion · On-Call · HAM Expansion · SAM Foundation · Additional Service Graph Connectors</a:t>
            </a:r>
            <a:endParaRPr lang="en-US" sz="850" dirty="0"/>
          </a:p>
        </p:txBody>
      </p:sp>
      <p:sp>
        <p:nvSpPr>
          <p:cNvPr id="24" name="Shape 22"/>
          <p:cNvSpPr/>
          <p:nvPr/>
        </p:nvSpPr>
        <p:spPr>
          <a:xfrm>
            <a:off x="6126480" y="1097280"/>
            <a:ext cx="2743200" cy="3017520"/>
          </a:xfrm>
          <a:prstGeom prst="rect">
            <a:avLst/>
          </a:prstGeom>
          <a:solidFill>
            <a:srgbClr val="FFFFFF"/>
          </a:solidFill>
          <a:ln w="12700">
            <a:solidFill>
              <a:srgbClr val="E2E8F0"/>
            </a:solidFill>
            <a:prstDash val="solid"/>
          </a:ln>
        </p:spPr>
        <p:txBody>
          <a:bodyPr/>
          <a:lstStyle/>
          <a:p>
            <a:endParaRPr lang="en-US"/>
          </a:p>
        </p:txBody>
      </p:sp>
      <p:sp>
        <p:nvSpPr>
          <p:cNvPr id="25" name="Shape 23"/>
          <p:cNvSpPr/>
          <p:nvPr/>
        </p:nvSpPr>
        <p:spPr>
          <a:xfrm>
            <a:off x="6126480" y="1097280"/>
            <a:ext cx="2743200" cy="777240"/>
          </a:xfrm>
          <a:prstGeom prst="rect">
            <a:avLst/>
          </a:prstGeom>
          <a:solidFill>
            <a:srgbClr val="F59E0B"/>
          </a:solidFill>
          <a:ln w="12700">
            <a:solidFill>
              <a:srgbClr val="F59E0B"/>
            </a:solidFill>
            <a:prstDash val="solid"/>
          </a:ln>
        </p:spPr>
        <p:txBody>
          <a:bodyPr/>
          <a:lstStyle/>
          <a:p>
            <a:endParaRPr lang="en-US"/>
          </a:p>
        </p:txBody>
      </p:sp>
      <p:sp>
        <p:nvSpPr>
          <p:cNvPr id="26" name="Text 24"/>
          <p:cNvSpPr/>
          <p:nvPr/>
        </p:nvSpPr>
        <p:spPr>
          <a:xfrm>
            <a:off x="6309360" y="1170432"/>
            <a:ext cx="2468880" cy="274320"/>
          </a:xfrm>
          <a:prstGeom prst="rect">
            <a:avLst/>
          </a:prstGeom>
          <a:noFill/>
          <a:ln/>
        </p:spPr>
        <p:txBody>
          <a:bodyPr wrap="square" lIns="0" tIns="0" rIns="0" bIns="0" rtlCol="0" anchor="ctr"/>
          <a:lstStyle/>
          <a:p>
            <a:pPr marL="0" indent="0">
              <a:buNone/>
            </a:pPr>
            <a:r>
              <a:rPr lang="en-US" sz="1000" b="1" kern="0" spc="400" dirty="0">
                <a:solidFill>
                  <a:srgbClr val="071427"/>
                </a:solidFill>
                <a:latin typeface="Calibri" pitchFamily="34" charset="0"/>
                <a:ea typeface="Calibri" pitchFamily="34" charset="-122"/>
                <a:cs typeface="Calibri" pitchFamily="34" charset="-120"/>
              </a:rPr>
              <a:t>PHASE 3</a:t>
            </a:r>
            <a:endParaRPr lang="en-US" sz="1000" dirty="0"/>
          </a:p>
        </p:txBody>
      </p:sp>
      <p:sp>
        <p:nvSpPr>
          <p:cNvPr id="27" name="Text 25"/>
          <p:cNvSpPr/>
          <p:nvPr/>
        </p:nvSpPr>
        <p:spPr>
          <a:xfrm>
            <a:off x="6309360" y="1426464"/>
            <a:ext cx="246888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ITOM &amp; Intelligence</a:t>
            </a:r>
            <a:endParaRPr lang="en-US" sz="1600" dirty="0"/>
          </a:p>
        </p:txBody>
      </p:sp>
      <p:sp>
        <p:nvSpPr>
          <p:cNvPr id="28" name="Text 26"/>
          <p:cNvSpPr/>
          <p:nvPr/>
        </p:nvSpPr>
        <p:spPr>
          <a:xfrm>
            <a:off x="6309360" y="1965960"/>
            <a:ext cx="2468880" cy="274320"/>
          </a:xfrm>
          <a:prstGeom prst="rect">
            <a:avLst/>
          </a:prstGeom>
          <a:noFill/>
          <a:ln/>
        </p:spPr>
        <p:txBody>
          <a:bodyPr wrap="square" lIns="0" tIns="0" rIns="0" bIns="0" rtlCol="0" anchor="ctr"/>
          <a:lstStyle/>
          <a:p>
            <a:pPr marL="0" indent="0">
              <a:buNone/>
            </a:pPr>
            <a:r>
              <a:rPr lang="en-US" sz="950" i="1" dirty="0">
                <a:solidFill>
                  <a:srgbClr val="475569"/>
                </a:solidFill>
                <a:latin typeface="Calibri" pitchFamily="34" charset="0"/>
                <a:ea typeface="Calibri" pitchFamily="34" charset="-122"/>
                <a:cs typeface="Calibri" pitchFamily="34" charset="-120"/>
              </a:rPr>
              <a:t>12–14 weeks</a:t>
            </a:r>
            <a:endParaRPr lang="en-US" sz="950" dirty="0"/>
          </a:p>
        </p:txBody>
      </p:sp>
      <p:sp>
        <p:nvSpPr>
          <p:cNvPr id="29" name="Text 27"/>
          <p:cNvSpPr/>
          <p:nvPr/>
        </p:nvSpPr>
        <p:spPr>
          <a:xfrm>
            <a:off x="6309360" y="2286000"/>
            <a:ext cx="2468880" cy="594360"/>
          </a:xfrm>
          <a:prstGeom prst="rect">
            <a:avLst/>
          </a:prstGeom>
          <a:noFill/>
          <a:ln/>
        </p:spPr>
        <p:txBody>
          <a:bodyPr wrap="square" lIns="0" tIns="0" rIns="0" bIns="0" rtlCol="0" anchor="ctr"/>
          <a:lstStyle/>
          <a:p>
            <a:pPr marL="0" indent="0">
              <a:buNone/>
            </a:pPr>
            <a:r>
              <a:rPr lang="en-US" sz="2800" b="1" dirty="0">
                <a:solidFill>
                  <a:srgbClr val="0B1F3A"/>
                </a:solidFill>
                <a:latin typeface="Calibri" pitchFamily="34" charset="0"/>
                <a:ea typeface="Calibri" pitchFamily="34" charset="-122"/>
                <a:cs typeface="Calibri" pitchFamily="34" charset="-120"/>
              </a:rPr>
              <a:t>$100K – $125K</a:t>
            </a:r>
            <a:endParaRPr lang="en-US" sz="2800" dirty="0"/>
          </a:p>
        </p:txBody>
      </p:sp>
      <p:sp>
        <p:nvSpPr>
          <p:cNvPr id="30" name="Text 28"/>
          <p:cNvSpPr/>
          <p:nvPr/>
        </p:nvSpPr>
        <p:spPr>
          <a:xfrm>
            <a:off x="6309360" y="2880360"/>
            <a:ext cx="2468880" cy="228600"/>
          </a:xfrm>
          <a:prstGeom prst="rect">
            <a:avLst/>
          </a:prstGeom>
          <a:noFill/>
          <a:ln/>
        </p:spPr>
        <p:txBody>
          <a:bodyPr wrap="square" lIns="0" tIns="0" rIns="0" bIns="0" rtlCol="0" anchor="ctr"/>
          <a:lstStyle/>
          <a:p>
            <a:pPr marL="0" indent="0">
              <a:buNone/>
            </a:pPr>
            <a:r>
              <a:rPr lang="en-US" sz="900" b="1" kern="0" spc="200" dirty="0">
                <a:solidFill>
                  <a:srgbClr val="F59E0B"/>
                </a:solidFill>
                <a:latin typeface="Calibri" pitchFamily="34" charset="0"/>
                <a:ea typeface="Calibri" pitchFamily="34" charset="-122"/>
                <a:cs typeface="Calibri" pitchFamily="34" charset="-120"/>
              </a:rPr>
              <a:t>ROM range **</a:t>
            </a:r>
            <a:endParaRPr lang="en-US" sz="900" dirty="0"/>
          </a:p>
        </p:txBody>
      </p:sp>
      <p:sp>
        <p:nvSpPr>
          <p:cNvPr id="31" name="Shape 29"/>
          <p:cNvSpPr/>
          <p:nvPr/>
        </p:nvSpPr>
        <p:spPr>
          <a:xfrm>
            <a:off x="6309360" y="3200400"/>
            <a:ext cx="2377440" cy="18288"/>
          </a:xfrm>
          <a:prstGeom prst="rect">
            <a:avLst/>
          </a:prstGeom>
          <a:solidFill>
            <a:srgbClr val="E2E8F0"/>
          </a:solidFill>
          <a:ln w="12700">
            <a:solidFill>
              <a:srgbClr val="E2E8F0"/>
            </a:solidFill>
            <a:prstDash val="solid"/>
          </a:ln>
        </p:spPr>
        <p:txBody>
          <a:bodyPr/>
          <a:lstStyle/>
          <a:p>
            <a:endParaRPr lang="en-US"/>
          </a:p>
        </p:txBody>
      </p:sp>
      <p:sp>
        <p:nvSpPr>
          <p:cNvPr id="32" name="Text 30"/>
          <p:cNvSpPr/>
          <p:nvPr/>
        </p:nvSpPr>
        <p:spPr>
          <a:xfrm>
            <a:off x="6309360" y="3291840"/>
            <a:ext cx="2468880" cy="228600"/>
          </a:xfrm>
          <a:prstGeom prst="rect">
            <a:avLst/>
          </a:prstGeom>
          <a:noFill/>
          <a:ln/>
        </p:spPr>
        <p:txBody>
          <a:bodyPr wrap="square" lIns="0" tIns="0" rIns="0" bIns="0" rtlCol="0" anchor="ctr"/>
          <a:lstStyle/>
          <a:p>
            <a:pPr marL="0" indent="0">
              <a:buNone/>
            </a:pPr>
            <a:r>
              <a:rPr lang="en-US" sz="850" b="1" kern="0" spc="300" dirty="0">
                <a:solidFill>
                  <a:srgbClr val="14B8A6"/>
                </a:solidFill>
                <a:latin typeface="Calibri" pitchFamily="34" charset="0"/>
                <a:ea typeface="Calibri" pitchFamily="34" charset="-122"/>
                <a:cs typeface="Calibri" pitchFamily="34" charset="-120"/>
              </a:rPr>
              <a:t>KEY SCOPE</a:t>
            </a:r>
            <a:endParaRPr lang="en-US" sz="850" dirty="0"/>
          </a:p>
        </p:txBody>
      </p:sp>
      <p:sp>
        <p:nvSpPr>
          <p:cNvPr id="33" name="Text 31"/>
          <p:cNvSpPr/>
          <p:nvPr/>
        </p:nvSpPr>
        <p:spPr>
          <a:xfrm>
            <a:off x="6309360" y="3520440"/>
            <a:ext cx="2377440" cy="640080"/>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Event Management · Service Mapping · SAM Expansion (entitlements + license position)</a:t>
            </a:r>
            <a:endParaRPr lang="en-US" sz="850" dirty="0"/>
          </a:p>
        </p:txBody>
      </p:sp>
      <p:sp>
        <p:nvSpPr>
          <p:cNvPr id="34" name="Shape 32"/>
          <p:cNvSpPr/>
          <p:nvPr/>
        </p:nvSpPr>
        <p:spPr>
          <a:xfrm>
            <a:off x="365760" y="4160520"/>
            <a:ext cx="8412480" cy="365760"/>
          </a:xfrm>
          <a:prstGeom prst="rect">
            <a:avLst/>
          </a:prstGeom>
          <a:solidFill>
            <a:srgbClr val="071427"/>
          </a:solidFill>
          <a:ln w="12700">
            <a:solidFill>
              <a:srgbClr val="071427"/>
            </a:solidFill>
            <a:prstDash val="solid"/>
          </a:ln>
        </p:spPr>
        <p:txBody>
          <a:bodyPr/>
          <a:lstStyle/>
          <a:p>
            <a:endParaRPr lang="en-US"/>
          </a:p>
        </p:txBody>
      </p:sp>
      <p:sp>
        <p:nvSpPr>
          <p:cNvPr id="35" name="Text 33"/>
          <p:cNvSpPr/>
          <p:nvPr/>
        </p:nvSpPr>
        <p:spPr>
          <a:xfrm>
            <a:off x="365760" y="4160520"/>
            <a:ext cx="8412480" cy="365760"/>
          </a:xfrm>
          <a:prstGeom prst="rect">
            <a:avLst/>
          </a:prstGeom>
          <a:noFill/>
          <a:ln/>
        </p:spPr>
        <p:txBody>
          <a:bodyPr wrap="square" lIns="0" tIns="0" rIns="0" bIns="0" rtlCol="0" anchor="ctr"/>
          <a:lstStyle/>
          <a:p>
            <a:pPr marL="0" indent="0" algn="ctr">
              <a:buNone/>
            </a:pPr>
            <a:r>
              <a:rPr lang="en-US" sz="1000" b="1" kern="0" spc="300" dirty="0">
                <a:solidFill>
                  <a:srgbClr val="5EEAD4"/>
                </a:solidFill>
                <a:latin typeface="Calibri" pitchFamily="34" charset="0"/>
                <a:ea typeface="Calibri" pitchFamily="34" charset="-122"/>
                <a:cs typeface="Calibri" pitchFamily="34" charset="-120"/>
              </a:rPr>
              <a:t>TOTAL THREE-PHASE PROGRAM ESTIMATE   </a:t>
            </a:r>
            <a:r>
              <a:rPr lang="en-US" sz="1200" b="1" dirty="0">
                <a:solidFill>
                  <a:srgbClr val="FFFFFF"/>
                </a:solidFill>
                <a:latin typeface="Calibri" pitchFamily="34" charset="0"/>
                <a:ea typeface="Calibri" pitchFamily="34" charset="-122"/>
                <a:cs typeface="Calibri" pitchFamily="34" charset="-120"/>
              </a:rPr>
              <a:t>$600,000 – $660,000</a:t>
            </a:r>
            <a:r>
              <a:rPr lang="en-US" sz="1000" dirty="0">
                <a:solidFill>
                  <a:srgbClr val="CBD5E1"/>
                </a:solidFill>
                <a:latin typeface="Calibri" pitchFamily="34" charset="0"/>
                <a:ea typeface="Calibri" pitchFamily="34" charset="-122"/>
                <a:cs typeface="Calibri" pitchFamily="34" charset="-120"/>
              </a:rPr>
              <a:t>    ·    ~10–11 months of build, all phases</a:t>
            </a:r>
            <a:endParaRPr lang="en-US" sz="1000" dirty="0"/>
          </a:p>
        </p:txBody>
      </p:sp>
      <p:sp>
        <p:nvSpPr>
          <p:cNvPr id="36" name="Text 34"/>
          <p:cNvSpPr/>
          <p:nvPr/>
        </p:nvSpPr>
        <p:spPr>
          <a:xfrm>
            <a:off x="365760" y="4572000"/>
            <a:ext cx="8412480" cy="164592"/>
          </a:xfrm>
          <a:prstGeom prst="rect">
            <a:avLst/>
          </a:prstGeom>
          <a:noFill/>
          <a:ln/>
        </p:spPr>
        <p:txBody>
          <a:bodyPr wrap="square" lIns="0" tIns="0" rIns="0" bIns="0" rtlCol="0" anchor="ctr"/>
          <a:lstStyle/>
          <a:p>
            <a:pPr marL="0" indent="0" algn="ctr">
              <a:buNone/>
            </a:pPr>
            <a:r>
              <a:rPr lang="en-US" sz="750" i="1" dirty="0">
                <a:solidFill>
                  <a:srgbClr val="475569"/>
                </a:solidFill>
                <a:latin typeface="Calibri" pitchFamily="34" charset="0"/>
                <a:ea typeface="Calibri" pitchFamily="34" charset="-122"/>
                <a:cs typeface="Calibri" pitchFamily="34" charset="-120"/>
              </a:rPr>
              <a:t>*  Phase 2 final estimate pending catalog consolidation evaluation.    **  Phase 3 final pricing pending entitlements discovery.</a:t>
            </a:r>
            <a:endParaRPr lang="en-US" sz="750" dirty="0"/>
          </a:p>
        </p:txBody>
      </p:sp>
      <p:sp>
        <p:nvSpPr>
          <p:cNvPr id="37" name="Shape 35"/>
          <p:cNvSpPr/>
          <p:nvPr/>
        </p:nvSpPr>
        <p:spPr>
          <a:xfrm>
            <a:off x="0" y="4818888"/>
            <a:ext cx="9144000" cy="324612"/>
          </a:xfrm>
          <a:prstGeom prst="rect">
            <a:avLst/>
          </a:prstGeom>
          <a:solidFill>
            <a:srgbClr val="0B1F3A"/>
          </a:solidFill>
          <a:ln w="12700">
            <a:solidFill>
              <a:srgbClr val="0B1F3A"/>
            </a:solidFill>
            <a:prstDash val="solid"/>
          </a:ln>
        </p:spPr>
        <p:txBody>
          <a:bodyPr/>
          <a:lstStyle/>
          <a:p>
            <a:endParaRPr lang="en-US"/>
          </a:p>
        </p:txBody>
      </p:sp>
      <p:pic>
        <p:nvPicPr>
          <p:cNvPr id="38" name="Image 0" descr="/sessions/laughing-cool-lovelace/mnt/outputs/deck/everforth_ecs_federal_white.png"/>
          <p:cNvPicPr>
            <a:picLocks noChangeAspect="1"/>
          </p:cNvPicPr>
          <p:nvPr/>
        </p:nvPicPr>
        <p:blipFill>
          <a:blip r:embed="rId3"/>
          <a:stretch>
            <a:fillRect/>
          </a:stretch>
        </p:blipFill>
        <p:spPr>
          <a:xfrm>
            <a:off x="365760" y="4873752"/>
            <a:ext cx="1188720" cy="220855"/>
          </a:xfrm>
          <a:prstGeom prst="rect">
            <a:avLst/>
          </a:prstGeom>
        </p:spPr>
      </p:pic>
      <p:sp>
        <p:nvSpPr>
          <p:cNvPr id="39" name="Text 36"/>
          <p:cNvSpPr/>
          <p:nvPr/>
        </p:nvSpPr>
        <p:spPr>
          <a:xfrm>
            <a:off x="1828800" y="4910328"/>
            <a:ext cx="5486400" cy="146304"/>
          </a:xfrm>
          <a:prstGeom prst="rect">
            <a:avLst/>
          </a:prstGeom>
          <a:noFill/>
          <a:ln/>
        </p:spPr>
        <p:txBody>
          <a:bodyPr wrap="square" lIns="0" tIns="0" rIns="0" bIns="0" rtlCol="0" anchor="ctr"/>
          <a:lstStyle/>
          <a:p>
            <a:pPr marL="0" indent="0">
              <a:buNone/>
            </a:pPr>
            <a:r>
              <a:rPr lang="en-US" sz="750" kern="0" spc="400" dirty="0">
                <a:solidFill>
                  <a:srgbClr val="CBD5E1"/>
                </a:solidFill>
                <a:latin typeface="Calibri" pitchFamily="34" charset="0"/>
                <a:ea typeface="Calibri" pitchFamily="34" charset="-122"/>
                <a:cs typeface="Calibri" pitchFamily="34" charset="-120"/>
              </a:rPr>
              <a:t>ECS  ·  PC CONNECTION  ·  SERVICENOW RE-IMPLEMENTATION</a:t>
            </a:r>
            <a:endParaRPr lang="en-US" sz="750" dirty="0"/>
          </a:p>
        </p:txBody>
      </p:sp>
      <p:sp>
        <p:nvSpPr>
          <p:cNvPr id="40" name="Text 37"/>
          <p:cNvSpPr/>
          <p:nvPr/>
        </p:nvSpPr>
        <p:spPr>
          <a:xfrm>
            <a:off x="7863840" y="4910328"/>
            <a:ext cx="914400" cy="146304"/>
          </a:xfrm>
          <a:prstGeom prst="rect">
            <a:avLst/>
          </a:prstGeom>
          <a:noFill/>
          <a:ln/>
        </p:spPr>
        <p:txBody>
          <a:bodyPr wrap="square" lIns="0" tIns="0" rIns="0" bIns="0" rtlCol="0" anchor="ctr"/>
          <a:lstStyle/>
          <a:p>
            <a:pPr marL="0" indent="0" algn="r">
              <a:buNone/>
            </a:pPr>
            <a:r>
              <a:rPr lang="en-US" sz="750" dirty="0">
                <a:solidFill>
                  <a:srgbClr val="CBD5E1"/>
                </a:solidFill>
                <a:latin typeface="Calibri" pitchFamily="34" charset="0"/>
                <a:ea typeface="Calibri" pitchFamily="34" charset="-122"/>
                <a:cs typeface="Calibri" pitchFamily="34" charset="-120"/>
              </a:rPr>
              <a:t>19 / 19</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N_x0020_Document_x0020_ID xmlns="d1ffb523-bb88-49c4-b429-725e751bd64a" xsi:nil="true"/>
    <TaxCatchAll xmlns="ea10e7c1-45f6-45a6-9220-470b2ac38f45" xsi:nil="true"/>
    <lcf76f155ced4ddcb4097134ff3c332f xmlns="d1ffb523-bb88-49c4-b429-725e751bd64a">
      <Terms xmlns="http://schemas.microsoft.com/office/infopath/2007/PartnerControls"/>
    </lcf76f155ced4ddcb4097134ff3c332f>
    <_dlc_DocId xmlns="ea10e7c1-45f6-45a6-9220-470b2ac38f45">DOCID-202112391-25572</_dlc_DocId>
    <_dlc_DocIdUrl xmlns="ea10e7c1-45f6-45a6-9220-470b2ac38f45">
      <Url>https://itecsfederal.sharepoint.com/teams/MissionSolutions/ISM/_layouts/15/DocIdRedir.aspx?ID=DOCID-202112391-25572</Url>
      <Description>DOCID-202112391-25572</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C18AF536E63484A9B73CECC96E010FF" ma:contentTypeVersion="19" ma:contentTypeDescription="Create a new document." ma:contentTypeScope="" ma:versionID="33422ae79d2a315b8c303e9c27e5a991">
  <xsd:schema xmlns:xsd="http://www.w3.org/2001/XMLSchema" xmlns:xs="http://www.w3.org/2001/XMLSchema" xmlns:p="http://schemas.microsoft.com/office/2006/metadata/properties" xmlns:ns2="d1ffb523-bb88-49c4-b429-725e751bd64a" xmlns:ns3="ea10e7c1-45f6-45a6-9220-470b2ac38f45" targetNamespace="http://schemas.microsoft.com/office/2006/metadata/properties" ma:root="true" ma:fieldsID="02f734f998161832bfcf327b16e32379" ns2:_="" ns3:_="">
    <xsd:import namespace="d1ffb523-bb88-49c4-b429-725e751bd64a"/>
    <xsd:import namespace="ea10e7c1-45f6-45a6-9220-470b2ac38f4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ServiceDateTaken" minOccurs="0"/>
                <xsd:element ref="ns2:MediaServiceLocation" minOccurs="0"/>
                <xsd:element ref="ns2:MediaLengthInSeconds" minOccurs="0"/>
                <xsd:element ref="ns2:SN_x0020_Document_x0020_ID"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3:_dlc_DocId" minOccurs="0"/>
                <xsd:element ref="ns3:_dlc_DocIdUrl" minOccurs="0"/>
                <xsd:element ref="ns3:_dlc_DocIdPersistI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ffb523-bb88-49c4-b429-725e751bd64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SN_x0020_Document_x0020_ID" ma:index="19" nillable="true" ma:displayName="SN Document ID" ma:internalName="SN_x0020_Document_x0020_ID">
      <xsd:simpleType>
        <xsd:restriction base="dms:Text">
          <xsd:maxLength value="255"/>
        </xsd:restrictio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4d9e1cf0-734a-42bd-bffb-729eb9a511c1" ma:termSetId="09814cd3-568e-fe90-9814-8d621ff8fb84" ma:anchorId="fba54fb3-c3e1-fe81-a776-ca4b69148c4d" ma:open="true" ma:isKeyword="false">
      <xsd:complexType>
        <xsd:sequence>
          <xsd:element ref="pc:Terms" minOccurs="0" maxOccurs="1"/>
        </xsd:sequence>
      </xsd:complex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a10e7c1-45f6-45a6-9220-470b2ac38f45"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fd7da812-b143-4bf6-b650-654521c20479}" ma:internalName="TaxCatchAll" ma:showField="CatchAllData" ma:web="ea10e7c1-45f6-45a6-9220-470b2ac38f45">
      <xsd:complexType>
        <xsd:complexContent>
          <xsd:extension base="dms:MultiChoiceLookup">
            <xsd:sequence>
              <xsd:element name="Value" type="dms:Lookup" maxOccurs="unbounded" minOccurs="0" nillable="true"/>
            </xsd:sequence>
          </xsd:extension>
        </xsd:complexContent>
      </xsd:complexType>
    </xsd:element>
    <xsd:element name="_dlc_DocId" ma:index="26" nillable="true" ma:displayName="Document ID Value" ma:description="The value of the document ID assigned to this item." ma:indexed="true" ma:internalName="_dlc_DocId" ma:readOnly="true">
      <xsd:simpleType>
        <xsd:restriction base="dms:Text"/>
      </xsd:simpleType>
    </xsd:element>
    <xsd:element name="_dlc_DocIdUrl" ma:index="27"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8"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C9F49080-1CEB-4601-BFBA-1D0FA01FF9F0}">
  <ds:schemaRefs>
    <ds:schemaRef ds:uri="http://schemas.microsoft.com/sharepoint/v3/contenttype/forms"/>
  </ds:schemaRefs>
</ds:datastoreItem>
</file>

<file path=customXml/itemProps2.xml><?xml version="1.0" encoding="utf-8"?>
<ds:datastoreItem xmlns:ds="http://schemas.openxmlformats.org/officeDocument/2006/customXml" ds:itemID="{84675F68-F7BE-469F-9898-2D8BE18029AF}">
  <ds:schemaRefs>
    <ds:schemaRef ds:uri="http://schemas.microsoft.com/office/2006/metadata/properties"/>
    <ds:schemaRef ds:uri="http://schemas.microsoft.com/office/infopath/2007/PartnerControls"/>
    <ds:schemaRef ds:uri="d1ffb523-bb88-49c4-b429-725e751bd64a"/>
    <ds:schemaRef ds:uri="ea10e7c1-45f6-45a6-9220-470b2ac38f45"/>
  </ds:schemaRefs>
</ds:datastoreItem>
</file>

<file path=customXml/itemProps3.xml><?xml version="1.0" encoding="utf-8"?>
<ds:datastoreItem xmlns:ds="http://schemas.openxmlformats.org/officeDocument/2006/customXml" ds:itemID="{7484EBC7-E055-4DC9-BC3D-FC84B9C6E4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ffb523-bb88-49c4-b429-725e751bd64a"/>
    <ds:schemaRef ds:uri="ea10e7c1-45f6-45a6-9220-470b2ac38f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5890E52D-7903-4634-A93A-C1CC5F3575A8}">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otalTime>137</TotalTime>
  <Words>2722</Words>
  <Application>Microsoft Office PowerPoint</Application>
  <PresentationFormat>On-screen Show (16:9)</PresentationFormat>
  <Paragraphs>389</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Modernizing the Core — ServiceNow Reimplementation</dc:title>
  <dc:subject>PptxGenJS Presentation</dc:subject>
  <dc:creator>ECS</dc:creator>
  <cp:lastModifiedBy>Tim Hislop</cp:lastModifiedBy>
  <cp:revision>22</cp:revision>
  <dcterms:created xsi:type="dcterms:W3CDTF">2026-05-01T04:05:49Z</dcterms:created>
  <dcterms:modified xsi:type="dcterms:W3CDTF">2026-05-01T18:14:33Z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0x010100DC18AF536E63484A9B73CECC96E010FF</vt:lpwstr>
  </property>
  <property fmtid="{D5CDD505-2E9C-101B-9397-08002B2CF9AE}" pid="3" name="_dlc_DocIdItemGuid">
    <vt:lpwstr>1e886b81-9cf2-4d04-a226-a519d5f06702</vt:lpwstr>
  </property>
  <property fmtid="{D5CDD505-2E9C-101B-9397-08002B2CF9AE}" pid="4" name="MediaServiceImageTags">
    <vt:lpwstr/>
  </property>
</Properties>
</file>