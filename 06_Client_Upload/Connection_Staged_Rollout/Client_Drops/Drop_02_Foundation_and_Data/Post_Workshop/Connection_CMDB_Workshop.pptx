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Shape 0"/>
          <p:cNvSpPr/>
          <p:nvPr/>
        </p:nvSpPr>
        <p:spPr>
          <a:xfrm>
            <a:off x="457200" y="1554480"/>
            <a:ext cx="64008" cy="2194560"/>
          </a:xfrm>
          <a:prstGeom prst="rect">
            <a:avLst/>
          </a:prstGeom>
          <a:solidFill>
            <a:srgbClr val="14B8A6"/>
          </a:solidFill>
          <a:ln w="12700">
            <a:solidFill>
              <a:srgbClr val="14B8A6"/>
            </a:solidFill>
            <a:prstDash val="solid"/>
          </a:ln>
        </p:spPr>
        <p:txBody>
          <a:bodyPr/>
          <a:p/>
        </p:txBody>
      </p:sp>
      <p:sp>
        <p:nvSpPr>
          <p:cNvPr id="4" name="Text 1"/>
          <p:cNvSpPr/>
          <p:nvPr/>
        </p:nvSpPr>
        <p:spPr>
          <a:xfrm>
            <a:off x="685800" y="1417320"/>
            <a:ext cx="9601200" cy="1371600"/>
          </a:xfrm>
          <a:prstGeom prst="rect">
            <a:avLst/>
          </a:prstGeom>
          <a:noFill/>
          <a:ln/>
        </p:spPr>
        <p:txBody>
          <a:bodyPr wrap="square"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Modernizing the Core</a:t>
            </a:r>
            <a:endParaRPr lang="en-US" sz="4600" dirty="0"/>
          </a:p>
        </p:txBody>
      </p:sp>
      <p:sp>
        <p:nvSpPr>
          <p:cNvPr id="5" name="Text 2"/>
          <p:cNvSpPr/>
          <p:nvPr/>
        </p:nvSpPr>
        <p:spPr>
          <a:xfrm>
            <a:off x="685800" y="2880360"/>
            <a:ext cx="9601200" cy="640080"/>
          </a:xfrm>
          <a:prstGeom prst="rect">
            <a:avLst/>
          </a:prstGeom>
          <a:noFill/>
          <a:ln/>
        </p:spPr>
        <p:txBody>
          <a:bodyPr wrap="square" rtlCol="0" anchor="ctr"/>
          <a:lstStyle/>
          <a:p>
            <a:pPr indent="0" marL="0">
              <a:buNone/>
            </a:pPr>
            <a:r>
              <a:rPr lang="en-US" sz="3000" dirty="0">
                <a:solidFill>
                  <a:srgbClr val="14B8A6"/>
                </a:solidFill>
                <a:latin typeface="Trebuchet MS" pitchFamily="34" charset="0"/>
                <a:ea typeface="Trebuchet MS" pitchFamily="34" charset="-122"/>
                <a:cs typeface="Trebuchet MS" pitchFamily="34" charset="-120"/>
              </a:rPr>
              <a:t>CMDB</a:t>
            </a:r>
            <a:endParaRPr lang="en-US" sz="3000" dirty="0"/>
          </a:p>
        </p:txBody>
      </p:sp>
      <p:sp>
        <p:nvSpPr>
          <p:cNvPr id="6" name="Text 3"/>
          <p:cNvSpPr/>
          <p:nvPr/>
        </p:nvSpPr>
        <p:spPr>
          <a:xfrm>
            <a:off x="685800" y="3611880"/>
            <a:ext cx="9601200" cy="411480"/>
          </a:xfrm>
          <a:prstGeom prst="rect">
            <a:avLst/>
          </a:prstGeom>
          <a:noFill/>
          <a:ln/>
        </p:spPr>
        <p:txBody>
          <a:bodyPr wrap="square" rtlCol="0" anchor="ctr"/>
          <a:lstStyle/>
          <a:p>
            <a:pPr indent="0" marL="0">
              <a:buNone/>
            </a:pPr>
            <a:r>
              <a:rPr lang="en-US" sz="1500" i="1" dirty="0">
                <a:solidFill>
                  <a:srgbClr val="9CB8D8"/>
                </a:solidFill>
                <a:latin typeface="Calibri" pitchFamily="34" charset="0"/>
                <a:ea typeface="Calibri" pitchFamily="34" charset="-122"/>
                <a:cs typeface="Calibri" pitchFamily="34" charset="-120"/>
              </a:rPr>
              <a:t>Building the Configuration Data Foundation for Service Visibility and AI Accuracy</a:t>
            </a:r>
            <a:endParaRPr lang="en-US" sz="1500" dirty="0"/>
          </a:p>
        </p:txBody>
      </p:sp>
      <p:sp>
        <p:nvSpPr>
          <p:cNvPr id="7" name="Text 4"/>
          <p:cNvSpPr/>
          <p:nvPr/>
        </p:nvSpPr>
        <p:spPr>
          <a:xfrm>
            <a:off x="457200" y="6263640"/>
            <a:ext cx="9144000" cy="256032"/>
          </a:xfrm>
          <a:prstGeom prst="rect">
            <a:avLst/>
          </a:prstGeom>
          <a:noFill/>
          <a:ln/>
        </p:spPr>
        <p:txBody>
          <a:bodyPr wrap="square" rtlCol="0" anchor="ctr"/>
          <a:lstStyle/>
          <a:p>
            <a:pPr indent="0" marL="0">
              <a:buNone/>
            </a:pPr>
            <a:r>
              <a:rPr lang="en-US" sz="900" dirty="0">
                <a:solidFill>
                  <a:srgbClr val="3A5A7F"/>
                </a:solidFill>
              </a:rPr>
              <a:t>Prepared by Everforth ECS Federal  ·  ServiceNow Practice  ·  Confidential</a:t>
            </a:r>
            <a:endParaRPr lang="en-US" sz="900" dirty="0"/>
          </a:p>
        </p:txBody>
      </p:sp>
      <p:sp>
        <p:nvSpPr>
          <p:cNvPr id="8" name="Shape 5"/>
          <p:cNvSpPr/>
          <p:nvPr/>
        </p:nvSpPr>
        <p:spPr>
          <a:xfrm>
            <a:off x="365760" y="6556248"/>
            <a:ext cx="11430000" cy="0"/>
          </a:xfrm>
          <a:prstGeom prst="line">
            <a:avLst/>
          </a:prstGeom>
          <a:noFill/>
          <a:ln w="6350">
            <a:solidFill>
              <a:srgbClr val="2A4A70"/>
            </a:solidFill>
            <a:prstDash val="solid"/>
          </a:ln>
        </p:spPr>
        <p:txBody>
          <a:bodyPr/>
          <a:p/>
        </p:txBody>
      </p:sp>
      <p:sp>
        <p:nvSpPr>
          <p:cNvPr id="9" name="Text 6"/>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5A7A9F"/>
                </a:solidFill>
              </a:rPr>
              <a:t>Everforth ECS Federal</a:t>
            </a:r>
            <a:endParaRPr lang="en-US" sz="800" dirty="0"/>
          </a:p>
        </p:txBody>
      </p:sp>
      <p:sp>
        <p:nvSpPr>
          <p:cNvPr id="10" name="Text 7"/>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5A7A9F"/>
                </a:solidFill>
              </a:rPr>
              <a:t>CONNECTION  ·  MODERNIZING THE CORE  ·  CMDB</a:t>
            </a:r>
            <a:endParaRPr lang="en-US" sz="800" dirty="0"/>
          </a:p>
        </p:txBody>
      </p:sp>
      <p:sp>
        <p:nvSpPr>
          <p:cNvPr id="11" name="Text 8"/>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5A7A9F"/>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AGENDA</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2</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What We'll Cover Today</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txBody>
          <a:bodyPr/>
          <a:p/>
        </p:txBody>
      </p:sp>
      <p:sp>
        <p:nvSpPr>
          <p:cNvPr id="10" name="Shape 7"/>
          <p:cNvSpPr/>
          <p:nvPr/>
        </p:nvSpPr>
        <p:spPr>
          <a:xfrm>
            <a:off x="457200" y="1371600"/>
            <a:ext cx="5394960" cy="896112"/>
          </a:xfrm>
          <a:prstGeom prst="rect">
            <a:avLst/>
          </a:prstGeom>
          <a:solidFill>
            <a:srgbClr val="F7F9FC"/>
          </a:solidFill>
          <a:ln w="12700">
            <a:solidFill>
              <a:srgbClr val="E2E8F0"/>
            </a:solidFill>
            <a:prstDash val="solid"/>
          </a:ln>
        </p:spPr>
        <p:txBody>
          <a:bodyPr/>
          <a:p/>
        </p:txBody>
      </p:sp>
      <p:sp>
        <p:nvSpPr>
          <p:cNvPr id="11" name="Shape 8"/>
          <p:cNvSpPr/>
          <p:nvPr/>
        </p:nvSpPr>
        <p:spPr>
          <a:xfrm>
            <a:off x="457200" y="1371600"/>
            <a:ext cx="438912" cy="896112"/>
          </a:xfrm>
          <a:prstGeom prst="rect">
            <a:avLst/>
          </a:prstGeom>
          <a:solidFill>
            <a:srgbClr val="0D9488"/>
          </a:solidFill>
          <a:ln w="12700">
            <a:solidFill>
              <a:srgbClr val="0D9488"/>
            </a:solidFill>
            <a:prstDash val="solid"/>
          </a:ln>
        </p:spPr>
        <p:txBody>
          <a:bodyPr/>
          <a:p/>
        </p:txBody>
      </p:sp>
      <p:sp>
        <p:nvSpPr>
          <p:cNvPr id="12" name="Text 9"/>
          <p:cNvSpPr/>
          <p:nvPr/>
        </p:nvSpPr>
        <p:spPr>
          <a:xfrm>
            <a:off x="457200" y="1371600"/>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13" name="Text 10"/>
          <p:cNvSpPr/>
          <p:nvPr/>
        </p:nvSpPr>
        <p:spPr>
          <a:xfrm>
            <a:off x="987552" y="1426464"/>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The OOTB-First Frame</a:t>
            </a:r>
            <a:endParaRPr lang="en-US" sz="1200" dirty="0"/>
          </a:p>
        </p:txBody>
      </p:sp>
      <p:sp>
        <p:nvSpPr>
          <p:cNvPr id="14" name="Text 11"/>
          <p:cNvSpPr/>
          <p:nvPr/>
        </p:nvSpPr>
        <p:spPr>
          <a:xfrm>
            <a:off x="987552" y="1737360"/>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Why this engagement commits to OOTB — and what it means in the room</a:t>
            </a:r>
            <a:endParaRPr lang="en-US" sz="1000" dirty="0"/>
          </a:p>
        </p:txBody>
      </p:sp>
      <p:sp>
        <p:nvSpPr>
          <p:cNvPr id="15" name="Shape 12"/>
          <p:cNvSpPr/>
          <p:nvPr/>
        </p:nvSpPr>
        <p:spPr>
          <a:xfrm>
            <a:off x="6236208" y="1371600"/>
            <a:ext cx="5394960" cy="896112"/>
          </a:xfrm>
          <a:prstGeom prst="rect">
            <a:avLst/>
          </a:prstGeom>
          <a:solidFill>
            <a:srgbClr val="F7F9FC"/>
          </a:solidFill>
          <a:ln w="12700">
            <a:solidFill>
              <a:srgbClr val="E2E8F0"/>
            </a:solidFill>
            <a:prstDash val="solid"/>
          </a:ln>
        </p:spPr>
        <p:txBody>
          <a:bodyPr/>
          <a:p/>
        </p:txBody>
      </p:sp>
      <p:sp>
        <p:nvSpPr>
          <p:cNvPr id="16" name="Shape 13"/>
          <p:cNvSpPr/>
          <p:nvPr/>
        </p:nvSpPr>
        <p:spPr>
          <a:xfrm>
            <a:off x="6236208" y="1371600"/>
            <a:ext cx="438912" cy="896112"/>
          </a:xfrm>
          <a:prstGeom prst="rect">
            <a:avLst/>
          </a:prstGeom>
          <a:solidFill>
            <a:srgbClr val="0D9488"/>
          </a:solidFill>
          <a:ln w="12700">
            <a:solidFill>
              <a:srgbClr val="0D9488"/>
            </a:solidFill>
            <a:prstDash val="solid"/>
          </a:ln>
        </p:spPr>
        <p:txBody>
          <a:bodyPr/>
          <a:p/>
        </p:txBody>
      </p:sp>
      <p:sp>
        <p:nvSpPr>
          <p:cNvPr id="17" name="Text 14"/>
          <p:cNvSpPr/>
          <p:nvPr/>
        </p:nvSpPr>
        <p:spPr>
          <a:xfrm>
            <a:off x="6236208" y="1371600"/>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8" name="Text 15"/>
          <p:cNvSpPr/>
          <p:nvPr/>
        </p:nvSpPr>
        <p:spPr>
          <a:xfrm>
            <a:off x="6766560" y="1426464"/>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What a Customization Is (and Isn't)</a:t>
            </a:r>
            <a:endParaRPr lang="en-US" sz="1200" dirty="0"/>
          </a:p>
        </p:txBody>
      </p:sp>
      <p:sp>
        <p:nvSpPr>
          <p:cNvPr id="19" name="Text 16"/>
          <p:cNvSpPr/>
          <p:nvPr/>
        </p:nvSpPr>
        <p:spPr>
          <a:xfrm>
            <a:off x="6766560" y="1737360"/>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Configuration vs. customization — with examples relevant to CMDB</a:t>
            </a:r>
            <a:endParaRPr lang="en-US" sz="1000" dirty="0"/>
          </a:p>
        </p:txBody>
      </p:sp>
      <p:sp>
        <p:nvSpPr>
          <p:cNvPr id="20" name="Shape 17"/>
          <p:cNvSpPr/>
          <p:nvPr/>
        </p:nvSpPr>
        <p:spPr>
          <a:xfrm>
            <a:off x="457200" y="2487168"/>
            <a:ext cx="5394960" cy="896112"/>
          </a:xfrm>
          <a:prstGeom prst="rect">
            <a:avLst/>
          </a:prstGeom>
          <a:solidFill>
            <a:srgbClr val="F7F9FC"/>
          </a:solidFill>
          <a:ln w="12700">
            <a:solidFill>
              <a:srgbClr val="E2E8F0"/>
            </a:solidFill>
            <a:prstDash val="solid"/>
          </a:ln>
        </p:spPr>
        <p:txBody>
          <a:bodyPr/>
          <a:p/>
        </p:txBody>
      </p:sp>
      <p:sp>
        <p:nvSpPr>
          <p:cNvPr id="21" name="Shape 18"/>
          <p:cNvSpPr/>
          <p:nvPr/>
        </p:nvSpPr>
        <p:spPr>
          <a:xfrm>
            <a:off x="457200" y="2487168"/>
            <a:ext cx="438912" cy="896112"/>
          </a:xfrm>
          <a:prstGeom prst="rect">
            <a:avLst/>
          </a:prstGeom>
          <a:solidFill>
            <a:srgbClr val="0D9488"/>
          </a:solidFill>
          <a:ln w="12700">
            <a:solidFill>
              <a:srgbClr val="0D9488"/>
            </a:solidFill>
            <a:prstDash val="solid"/>
          </a:ln>
        </p:spPr>
        <p:txBody>
          <a:bodyPr/>
          <a:p/>
        </p:txBody>
      </p:sp>
      <p:sp>
        <p:nvSpPr>
          <p:cNvPr id="22" name="Text 19"/>
          <p:cNvSpPr/>
          <p:nvPr/>
        </p:nvSpPr>
        <p:spPr>
          <a:xfrm>
            <a:off x="457200" y="2487168"/>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23" name="Text 20"/>
          <p:cNvSpPr/>
          <p:nvPr/>
        </p:nvSpPr>
        <p:spPr>
          <a:xfrm>
            <a:off x="987552" y="2542032"/>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OOTB CMDB Architecture</a:t>
            </a:r>
            <a:endParaRPr lang="en-US" sz="1200" dirty="0"/>
          </a:p>
        </p:txBody>
      </p:sp>
      <p:sp>
        <p:nvSpPr>
          <p:cNvPr id="24" name="Text 21"/>
          <p:cNvSpPr/>
          <p:nvPr/>
        </p:nvSpPr>
        <p:spPr>
          <a:xfrm>
            <a:off x="987552" y="2852928"/>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CI classes, relationship model, CMDB health framework, and the path from Discovery to operational service map</a:t>
            </a:r>
            <a:endParaRPr lang="en-US" sz="1000" dirty="0"/>
          </a:p>
        </p:txBody>
      </p:sp>
      <p:sp>
        <p:nvSpPr>
          <p:cNvPr id="25" name="Shape 22"/>
          <p:cNvSpPr/>
          <p:nvPr/>
        </p:nvSpPr>
        <p:spPr>
          <a:xfrm>
            <a:off x="6236208" y="2487168"/>
            <a:ext cx="5394960" cy="896112"/>
          </a:xfrm>
          <a:prstGeom prst="rect">
            <a:avLst/>
          </a:prstGeom>
          <a:solidFill>
            <a:srgbClr val="F7F9FC"/>
          </a:solidFill>
          <a:ln w="12700">
            <a:solidFill>
              <a:srgbClr val="E2E8F0"/>
            </a:solidFill>
            <a:prstDash val="solid"/>
          </a:ln>
        </p:spPr>
        <p:txBody>
          <a:bodyPr/>
          <a:p/>
        </p:txBody>
      </p:sp>
      <p:sp>
        <p:nvSpPr>
          <p:cNvPr id="26" name="Shape 23"/>
          <p:cNvSpPr/>
          <p:nvPr/>
        </p:nvSpPr>
        <p:spPr>
          <a:xfrm>
            <a:off x="6236208" y="2487168"/>
            <a:ext cx="438912" cy="896112"/>
          </a:xfrm>
          <a:prstGeom prst="rect">
            <a:avLst/>
          </a:prstGeom>
          <a:solidFill>
            <a:srgbClr val="0D9488"/>
          </a:solidFill>
          <a:ln w="12700">
            <a:solidFill>
              <a:srgbClr val="0D9488"/>
            </a:solidFill>
            <a:prstDash val="solid"/>
          </a:ln>
        </p:spPr>
        <p:txBody>
          <a:bodyPr/>
          <a:p/>
        </p:txBody>
      </p:sp>
      <p:sp>
        <p:nvSpPr>
          <p:cNvPr id="27" name="Text 24"/>
          <p:cNvSpPr/>
          <p:nvPr/>
        </p:nvSpPr>
        <p:spPr>
          <a:xfrm>
            <a:off x="6236208" y="2487168"/>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8" name="Text 25"/>
          <p:cNvSpPr/>
          <p:nvPr/>
        </p:nvSpPr>
        <p:spPr>
          <a:xfrm>
            <a:off x="6766560" y="2542032"/>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Key Decisions #1–#8</a:t>
            </a:r>
            <a:endParaRPr lang="en-US" sz="1200" dirty="0"/>
          </a:p>
        </p:txBody>
      </p:sp>
      <p:sp>
        <p:nvSpPr>
          <p:cNvPr id="29" name="Text 26"/>
          <p:cNvSpPr/>
          <p:nvPr/>
        </p:nvSpPr>
        <p:spPr>
          <a:xfrm>
            <a:off x="6766560" y="2852928"/>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Key Decisions #1–#8  ·  CI class scope, CI boundaries, relationships, health targets, source of record, lifecycle, ownership, Change integration</a:t>
            </a:r>
            <a:endParaRPr lang="en-US" sz="1000" dirty="0"/>
          </a:p>
        </p:txBody>
      </p:sp>
      <p:sp>
        <p:nvSpPr>
          <p:cNvPr id="30" name="Shape 27"/>
          <p:cNvSpPr/>
          <p:nvPr/>
        </p:nvSpPr>
        <p:spPr>
          <a:xfrm>
            <a:off x="457200" y="3602736"/>
            <a:ext cx="5394960" cy="896112"/>
          </a:xfrm>
          <a:prstGeom prst="rect">
            <a:avLst/>
          </a:prstGeom>
          <a:solidFill>
            <a:srgbClr val="F7F9FC"/>
          </a:solidFill>
          <a:ln w="12700">
            <a:solidFill>
              <a:srgbClr val="E2E8F0"/>
            </a:solidFill>
            <a:prstDash val="solid"/>
          </a:ln>
        </p:spPr>
        <p:txBody>
          <a:bodyPr/>
          <a:p/>
        </p:txBody>
      </p:sp>
      <p:sp>
        <p:nvSpPr>
          <p:cNvPr id="31" name="Shape 28"/>
          <p:cNvSpPr/>
          <p:nvPr/>
        </p:nvSpPr>
        <p:spPr>
          <a:xfrm>
            <a:off x="457200" y="3602736"/>
            <a:ext cx="438912" cy="896112"/>
          </a:xfrm>
          <a:prstGeom prst="rect">
            <a:avLst/>
          </a:prstGeom>
          <a:solidFill>
            <a:srgbClr val="0D9488"/>
          </a:solidFill>
          <a:ln w="12700">
            <a:solidFill>
              <a:srgbClr val="0D9488"/>
            </a:solidFill>
            <a:prstDash val="solid"/>
          </a:ln>
        </p:spPr>
        <p:txBody>
          <a:bodyPr/>
          <a:p/>
        </p:txBody>
      </p:sp>
      <p:sp>
        <p:nvSpPr>
          <p:cNvPr id="32" name="Text 29"/>
          <p:cNvSpPr/>
          <p:nvPr/>
        </p:nvSpPr>
        <p:spPr>
          <a:xfrm>
            <a:off x="457200" y="3602736"/>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33" name="Text 30"/>
          <p:cNvSpPr/>
          <p:nvPr/>
        </p:nvSpPr>
        <p:spPr>
          <a:xfrm>
            <a:off x="987552" y="3657600"/>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Decision Log</a:t>
            </a:r>
            <a:endParaRPr lang="en-US" sz="1200" dirty="0"/>
          </a:p>
        </p:txBody>
      </p:sp>
      <p:sp>
        <p:nvSpPr>
          <p:cNvPr id="34" name="Text 31"/>
          <p:cNvSpPr/>
          <p:nvPr/>
        </p:nvSpPr>
        <p:spPr>
          <a:xfrm>
            <a:off x="987552" y="3968496"/>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Every decision is recorded before we leave this room</a:t>
            </a:r>
            <a:endParaRPr lang="en-US" sz="1000" dirty="0"/>
          </a:p>
        </p:txBody>
      </p:sp>
      <p:sp>
        <p:nvSpPr>
          <p:cNvPr id="35" name="Shape 32"/>
          <p:cNvSpPr/>
          <p:nvPr/>
        </p:nvSpPr>
        <p:spPr>
          <a:xfrm>
            <a:off x="6236208" y="3602736"/>
            <a:ext cx="5394960" cy="896112"/>
          </a:xfrm>
          <a:prstGeom prst="rect">
            <a:avLst/>
          </a:prstGeom>
          <a:solidFill>
            <a:srgbClr val="F7F9FC"/>
          </a:solidFill>
          <a:ln w="12700">
            <a:solidFill>
              <a:srgbClr val="E2E8F0"/>
            </a:solidFill>
            <a:prstDash val="solid"/>
          </a:ln>
        </p:spPr>
        <p:txBody>
          <a:bodyPr/>
          <a:p/>
        </p:txBody>
      </p:sp>
      <p:sp>
        <p:nvSpPr>
          <p:cNvPr id="36" name="Shape 33"/>
          <p:cNvSpPr/>
          <p:nvPr/>
        </p:nvSpPr>
        <p:spPr>
          <a:xfrm>
            <a:off x="6236208" y="3602736"/>
            <a:ext cx="438912" cy="896112"/>
          </a:xfrm>
          <a:prstGeom prst="rect">
            <a:avLst/>
          </a:prstGeom>
          <a:solidFill>
            <a:srgbClr val="0D9488"/>
          </a:solidFill>
          <a:ln w="12700">
            <a:solidFill>
              <a:srgbClr val="0D9488"/>
            </a:solidFill>
            <a:prstDash val="solid"/>
          </a:ln>
        </p:spPr>
        <p:txBody>
          <a:bodyPr/>
          <a:p/>
        </p:txBody>
      </p:sp>
      <p:sp>
        <p:nvSpPr>
          <p:cNvPr id="37" name="Text 34"/>
          <p:cNvSpPr/>
          <p:nvPr/>
        </p:nvSpPr>
        <p:spPr>
          <a:xfrm>
            <a:off x="6236208" y="3602736"/>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8" name="Text 35"/>
          <p:cNvSpPr/>
          <p:nvPr/>
        </p:nvSpPr>
        <p:spPr>
          <a:xfrm>
            <a:off x="6766560" y="3657600"/>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What Comes Next</a:t>
            </a:r>
            <a:endParaRPr lang="en-US" sz="1200" dirty="0"/>
          </a:p>
        </p:txBody>
      </p:sp>
      <p:sp>
        <p:nvSpPr>
          <p:cNvPr id="39" name="Text 36"/>
          <p:cNvSpPr/>
          <p:nvPr/>
        </p:nvSpPr>
        <p:spPr>
          <a:xfrm>
            <a:off x="6766560" y="3968496"/>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Accelerator Pack workbook, configuration sprint, live ServiceNow demo</a:t>
            </a:r>
            <a:endParaRPr lang="en-US" sz="1000" dirty="0"/>
          </a:p>
        </p:txBody>
      </p:sp>
      <p:sp>
        <p:nvSpPr>
          <p:cNvPr id="40" name="Shape 37"/>
          <p:cNvSpPr/>
          <p:nvPr/>
        </p:nvSpPr>
        <p:spPr>
          <a:xfrm>
            <a:off x="457200" y="4663440"/>
            <a:ext cx="11247120" cy="502920"/>
          </a:xfrm>
          <a:prstGeom prst="rect">
            <a:avLst/>
          </a:prstGeom>
          <a:solidFill>
            <a:srgbClr val="F0FDFA"/>
          </a:solidFill>
          <a:ln w="12700">
            <a:solidFill>
              <a:srgbClr val="CCF0EA"/>
            </a:solidFill>
            <a:prstDash val="solid"/>
          </a:ln>
        </p:spPr>
        <p:txBody>
          <a:bodyPr/>
          <a:p/>
        </p:txBody>
      </p:sp>
      <p:sp>
        <p:nvSpPr>
          <p:cNvPr id="41" name="Text 38"/>
          <p:cNvSpPr/>
          <p:nvPr/>
        </p:nvSpPr>
        <p:spPr>
          <a:xfrm>
            <a:off x="594360" y="4709160"/>
            <a:ext cx="10972800" cy="41148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Ground rule:  </a:t>
            </a:r>
            <a:pPr indent="0" marL="0">
              <a:buNone/>
            </a:pPr>
            <a:r>
              <a:rPr lang="en-US" sz="1100" dirty="0">
                <a:solidFill>
                  <a:srgbClr val="334155"/>
                </a:solidFill>
                <a:latin typeface="Calibri" pitchFamily="34" charset="0"/>
                <a:ea typeface="Calibri" pitchFamily="34" charset="-122"/>
                <a:cs typeface="Calibri" pitchFamily="34" charset="-120"/>
              </a:rPr>
              <a:t>Decisions get made in this room. The OOTB recommendation is pre-populated. Your team's job is to confirm, adjust, or document the exception.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THE APPROACH</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3</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OOTB-first is not a constraint — it is the AI strategy</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txBody>
          <a:bodyPr/>
          <a:p/>
        </p:txBody>
      </p:sp>
      <p:sp>
        <p:nvSpPr>
          <p:cNvPr id="10" name="Shape 7"/>
          <p:cNvSpPr/>
          <p:nvPr/>
        </p:nvSpPr>
        <p:spPr>
          <a:xfrm>
            <a:off x="457200" y="1371600"/>
            <a:ext cx="5394960" cy="347472"/>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71600"/>
            <a:ext cx="5394960" cy="347472"/>
          </a:xfrm>
          <a:prstGeom prst="rect">
            <a:avLst/>
          </a:prstGeom>
          <a:noFill/>
          <a:ln/>
        </p:spPr>
        <p:txBody>
          <a:bodyPr wrap="square" lIns="0" tIns="0" rIns="0" bIns="0" rtlCol="0" anchor="ctr"/>
          <a:lstStyle/>
          <a:p>
            <a:pPr algn="ctr" indent="0" marL="0">
              <a:buNone/>
            </a:pPr>
            <a:r>
              <a:rPr lang="en-US" sz="1000" b="1" dirty="0">
                <a:solidFill>
                  <a:srgbClr val="FFFFFF"/>
                </a:solidFill>
              </a:rPr>
              <a:t>What OOTB-First Means</a:t>
            </a:r>
            <a:endParaRPr lang="en-US" sz="1000" dirty="0"/>
          </a:p>
        </p:txBody>
      </p:sp>
      <p:sp>
        <p:nvSpPr>
          <p:cNvPr id="12" name="Shape 9"/>
          <p:cNvSpPr/>
          <p:nvPr/>
        </p:nvSpPr>
        <p:spPr>
          <a:xfrm>
            <a:off x="457200" y="1719072"/>
            <a:ext cx="5394960" cy="420624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28800"/>
            <a:ext cx="5120640" cy="4023360"/>
          </a:xfrm>
          <a:prstGeom prst="rect">
            <a:avLst/>
          </a:prstGeom>
          <a:noFill/>
          <a:ln/>
        </p:spPr>
        <p:txBody>
          <a:bodyPr wrap="square"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Every decision starts with the OOTB CMDB capability — not the legacy system pattern.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Configuration (activating features, setting values, building taxonomies, writing rules) is always available — it is how OOTB is tailored to your organization.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Customization (code changes, new database fields, custom scripts) requires a documented business case and Customization Council sign-off.</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The 18-week engagement is scoped and priced for OOTB execution. Customization expands scope.</a:t>
            </a:r>
            <a:endParaRPr lang="en-US" sz="1200" dirty="0"/>
          </a:p>
        </p:txBody>
      </p:sp>
      <p:sp>
        <p:nvSpPr>
          <p:cNvPr id="14" name="Shape 11"/>
          <p:cNvSpPr/>
          <p:nvPr/>
        </p:nvSpPr>
        <p:spPr>
          <a:xfrm>
            <a:off x="6236208" y="1371600"/>
            <a:ext cx="5486400" cy="347472"/>
          </a:xfrm>
          <a:prstGeom prst="rect">
            <a:avLst/>
          </a:prstGeom>
          <a:solidFill>
            <a:srgbClr val="1E3A5F"/>
          </a:solidFill>
          <a:ln w="12700">
            <a:solidFill>
              <a:srgbClr val="1E3A5F"/>
            </a:solidFill>
            <a:prstDash val="solid"/>
          </a:ln>
        </p:spPr>
        <p:txBody>
          <a:bodyPr/>
          <a:p/>
        </p:txBody>
      </p:sp>
      <p:sp>
        <p:nvSpPr>
          <p:cNvPr id="15" name="Text 12"/>
          <p:cNvSpPr/>
          <p:nvPr/>
        </p:nvSpPr>
        <p:spPr>
          <a:xfrm>
            <a:off x="6236208" y="1371600"/>
            <a:ext cx="5486400" cy="347472"/>
          </a:xfrm>
          <a:prstGeom prst="rect">
            <a:avLst/>
          </a:prstGeom>
          <a:noFill/>
          <a:ln/>
        </p:spPr>
        <p:txBody>
          <a:bodyPr wrap="square" lIns="0" tIns="0" rIns="0" bIns="0" rtlCol="0" anchor="ctr"/>
          <a:lstStyle/>
          <a:p>
            <a:pPr algn="ctr" indent="0" marL="0">
              <a:buNone/>
            </a:pPr>
            <a:r>
              <a:rPr lang="en-US" sz="1000" b="1" dirty="0">
                <a:solidFill>
                  <a:srgbClr val="FFFFFF"/>
                </a:solidFill>
              </a:rPr>
              <a:t>What It Protects</a:t>
            </a:r>
            <a:endParaRPr lang="en-US" sz="1000" dirty="0"/>
          </a:p>
        </p:txBody>
      </p:sp>
      <p:sp>
        <p:nvSpPr>
          <p:cNvPr id="16" name="Shape 13"/>
          <p:cNvSpPr/>
          <p:nvPr/>
        </p:nvSpPr>
        <p:spPr>
          <a:xfrm>
            <a:off x="6236208" y="1719072"/>
            <a:ext cx="5486400" cy="4206240"/>
          </a:xfrm>
          <a:prstGeom prst="rect">
            <a:avLst/>
          </a:prstGeom>
          <a:solidFill>
            <a:srgbClr val="F7F9FC"/>
          </a:solidFill>
          <a:ln w="12700">
            <a:solidFill>
              <a:srgbClr val="E2E8F0"/>
            </a:solidFill>
            <a:prstDash val="solid"/>
          </a:ln>
        </p:spPr>
        <p:txBody>
          <a:bodyPr/>
          <a:p/>
        </p:txBody>
      </p:sp>
      <p:sp>
        <p:nvSpPr>
          <p:cNvPr id="17" name="Text 14"/>
          <p:cNvSpPr/>
          <p:nvPr/>
        </p:nvSpPr>
        <p:spPr>
          <a:xfrm>
            <a:off x="6373368" y="1828800"/>
            <a:ext cx="5212080" cy="4023360"/>
          </a:xfrm>
          <a:prstGeom prst="rect">
            <a:avLst/>
          </a:prstGeom>
          <a:noFill/>
          <a:ln/>
        </p:spPr>
        <p:txBody>
          <a:bodyPr wrap="square"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AI features — Predictive Intelligence, Now Assist, Virtual Agent — require clean OOTB-aligned data and process structures. Custom fields and non-standard models reduce AI accuracy or block activation entirely.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Future upgrade paths. Customizations break on upgrades. OOTB patterns survive upgrades automatically with no remediation cost.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Technical debt elimination. The Governance Triage Log captures every exception — it is managed and addressed iteratively. Nothing is lost; everything is governed.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THE LINE</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4</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What a customization is — and what it isn't</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txBody>
          <a:bodyPr/>
          <a:p/>
        </p:txBody>
      </p:sp>
      <p:sp>
        <p:nvSpPr>
          <p:cNvPr id="10" name="Shape 7"/>
          <p:cNvSpPr/>
          <p:nvPr/>
        </p:nvSpPr>
        <p:spPr>
          <a:xfrm>
            <a:off x="457200" y="1371600"/>
            <a:ext cx="5394960" cy="347472"/>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71600"/>
            <a:ext cx="5394960" cy="347472"/>
          </a:xfrm>
          <a:prstGeom prst="rect">
            <a:avLst/>
          </a:prstGeom>
          <a:noFill/>
          <a:ln/>
        </p:spPr>
        <p:txBody>
          <a:bodyPr wrap="square" lIns="0" tIns="0" rIns="0" bIns="0" rtlCol="0" anchor="ctr"/>
          <a:lstStyle/>
          <a:p>
            <a:pPr algn="ctr" indent="0" marL="0">
              <a:buNone/>
            </a:pPr>
            <a:r>
              <a:rPr lang="en-US" sz="1000" b="1" dirty="0">
                <a:solidFill>
                  <a:srgbClr val="FFFFFF"/>
                </a:solidFill>
              </a:rPr>
              <a:t>CONFIGURATION  —  This is always available</a:t>
            </a:r>
            <a:endParaRPr lang="en-US" sz="1000" dirty="0"/>
          </a:p>
        </p:txBody>
      </p:sp>
      <p:sp>
        <p:nvSpPr>
          <p:cNvPr id="12" name="Shape 9"/>
          <p:cNvSpPr/>
          <p:nvPr/>
        </p:nvSpPr>
        <p:spPr>
          <a:xfrm>
            <a:off x="457200" y="1719072"/>
            <a:ext cx="5394960" cy="393192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28800"/>
            <a:ext cx="5120640" cy="3749040"/>
          </a:xfrm>
          <a:prstGeom prst="rect">
            <a:avLst/>
          </a:prstGeom>
          <a:noFill/>
          <a:ln/>
        </p:spPr>
        <p:txBody>
          <a:bodyPr wrap="square" rtlCol="0" anchor="t"/>
          <a:lstStyle/>
          <a:p>
            <a:r>
              <a:rPr lang="en-US" dirty="0" sz="1100">
                <a:solidFill>
                  <a:srgbClr val="16A34A"/>
                </a:solidFill>
                <a:latin typeface="Calibri"/>
              </a:rPr>
              <a:t>✓  </a:t>
            </a:r>
            <a:r>
              <a:rPr lang="en-US" dirty="0" sz="1100">
                <a:solidFill>
                  <a:srgbClr val="1A1A1A"/>
                </a:solidFill>
                <a:latin typeface="Calibri"/>
              </a:rPr>
              <a:t>Defining in-scope CI classes in CMDB Studio (Server, Database, Network Device, Application, Virtual Machine)</a:t>
            </a:r>
          </a:p>
          <a:p>
            <a:r>
              <a:rPr lang="en-US" dirty="0" sz="1100">
                <a:solidFill>
                  <a:srgbClr val="16A34A"/>
                </a:solidFill>
                <a:latin typeface="Calibri"/>
              </a:rPr>
              <a:t>✓  </a:t>
            </a:r>
            <a:r>
              <a:rPr lang="en-US" dirty="0" sz="1100">
                <a:solidFill>
                  <a:srgbClr val="1A1A1A"/>
                </a:solidFill>
                <a:latin typeface="Calibri"/>
              </a:rPr>
              <a:t>Configuring OOTB CI relationship types (Runs on, Depends on, Virtualized by, Hosted on)</a:t>
            </a:r>
          </a:p>
          <a:p>
            <a:r>
              <a:rPr lang="en-US" dirty="0" sz="1100">
                <a:solidFill>
                  <a:srgbClr val="16A34A"/>
                </a:solidFill>
                <a:latin typeface="Calibri"/>
              </a:rPr>
              <a:t>✓  </a:t>
            </a:r>
            <a:r>
              <a:rPr lang="en-US" dirty="0" sz="1100">
                <a:solidFill>
                  <a:srgbClr val="1A1A1A"/>
                </a:solidFill>
                <a:latin typeface="Calibri"/>
              </a:rPr>
              <a:t>Setting CMDB Health thresholds (completeness %, staleness days, compliance rules)</a:t>
            </a:r>
          </a:p>
          <a:p>
            <a:r>
              <a:rPr lang="en-US" dirty="0" sz="1100">
                <a:solidFill>
                  <a:srgbClr val="16A34A"/>
                </a:solidFill>
                <a:latin typeface="Calibri"/>
              </a:rPr>
              <a:t>✓  </a:t>
            </a:r>
            <a:r>
              <a:rPr lang="en-US" dirty="0" sz="1100">
                <a:solidFill>
                  <a:srgbClr val="1A1A1A"/>
                </a:solidFill>
                <a:latin typeface="Calibri"/>
              </a:rPr>
              <a:t>Configuring Discovery patterns for Windows, Linux, VMware, network devices (OOTB patterns)</a:t>
            </a:r>
          </a:p>
          <a:p>
            <a:r>
              <a:rPr lang="en-US" dirty="0" sz="1100">
                <a:solidFill>
                  <a:srgbClr val="16A34A"/>
                </a:solidFill>
                <a:latin typeface="Calibri"/>
              </a:rPr>
              <a:t>✓  </a:t>
            </a:r>
            <a:r>
              <a:rPr lang="en-US" dirty="0" sz="1100">
                <a:solidFill>
                  <a:srgbClr val="1A1A1A"/>
                </a:solidFill>
                <a:latin typeface="Calibri"/>
              </a:rPr>
              <a:t>Setting normalization rules for hardware and software product names</a:t>
            </a:r>
          </a:p>
          <a:p>
            <a:r>
              <a:rPr lang="en-US" dirty="0" sz="1100">
                <a:solidFill>
                  <a:srgbClr val="16A34A"/>
                </a:solidFill>
                <a:latin typeface="Calibri"/>
              </a:rPr>
              <a:t>✓  </a:t>
            </a:r>
            <a:r>
              <a:rPr lang="en-US" dirty="0" sz="1100">
                <a:solidFill>
                  <a:srgbClr val="1A1A1A"/>
                </a:solidFill>
                <a:latin typeface="Calibri"/>
              </a:rPr>
              <a:t>Configuring CI lifecycle states (Installed, In Maintenance, Retired)</a:t>
            </a:r>
          </a:p>
          <a:p>
            <a:r>
              <a:rPr lang="en-US" dirty="0" sz="1100">
                <a:solidFill>
                  <a:srgbClr val="16A34A"/>
                </a:solidFill>
                <a:latin typeface="Calibri"/>
              </a:rPr>
              <a:t>✓  </a:t>
            </a:r>
            <a:r>
              <a:rPr lang="en-US" dirty="0" sz="1100">
                <a:solidFill>
                  <a:srgbClr val="1A1A1A"/>
                </a:solidFill>
                <a:latin typeface="Calibri"/>
              </a:rPr>
              <a:t>Defining CI ownership and stewardship roles via OOTB CI record fields</a:t>
            </a:r>
          </a:p>
          <a:p>
            <a:r>
              <a:rPr lang="en-US" dirty="0" sz="1100">
                <a:solidFill>
                  <a:srgbClr val="16A34A"/>
                </a:solidFill>
                <a:latin typeface="Calibri"/>
              </a:rPr>
              <a:t>✓  </a:t>
            </a:r>
            <a:r>
              <a:rPr lang="en-US" dirty="0" sz="1100">
                <a:solidFill>
                  <a:srgbClr val="1A1A1A"/>
                </a:solidFill>
                <a:latin typeface="Calibri"/>
              </a:rPr>
              <a:t>Setting up CMDB reconciliation rules for Discovery vs. SGC data sources</a:t>
            </a:r>
          </a:p>
          <a:p>
            <a:r>
              <a:rPr lang="en-US" dirty="0" sz="1100">
                <a:solidFill>
                  <a:srgbClr val="16A34A"/>
                </a:solidFill>
                <a:latin typeface="Calibri"/>
              </a:rPr>
              <a:t>✓  </a:t>
            </a:r>
            <a:r>
              <a:rPr lang="en-US" dirty="0" sz="1100">
                <a:solidFill>
                  <a:srgbClr val="1A1A1A"/>
                </a:solidFill>
                <a:latin typeface="Calibri"/>
              </a:rPr>
              <a:t>Configuring CI class-specific mandatory attributes via CMDB Studio</a:t>
            </a:r>
          </a:p>
          <a:p>
            <a:r>
              <a:rPr lang="en-US" dirty="0" sz="1100">
                <a:solidFill>
                  <a:srgbClr val="16A34A"/>
                </a:solidFill>
                <a:latin typeface="Calibri"/>
              </a:rPr>
              <a:t>✓  </a:t>
            </a:r>
            <a:r>
              <a:rPr lang="en-US" dirty="0" sz="1100">
                <a:solidFill>
                  <a:srgbClr val="1A1A1A"/>
                </a:solidFill>
                <a:latin typeface="Calibri"/>
              </a:rPr>
              <a:t>Enabling OOTB CMDB Health dashboard and compliance scoring</a:t>
            </a:r>
          </a:p>
        </p:txBody>
      </p:sp>
      <p:sp>
        <p:nvSpPr>
          <p:cNvPr id="14" name="Shape 11"/>
          <p:cNvSpPr/>
          <p:nvPr/>
        </p:nvSpPr>
        <p:spPr>
          <a:xfrm>
            <a:off x="6236208" y="1371600"/>
            <a:ext cx="5486400" cy="347472"/>
          </a:xfrm>
          <a:prstGeom prst="rect">
            <a:avLst/>
          </a:prstGeom>
          <a:solidFill>
            <a:srgbClr val="B91C1C"/>
          </a:solidFill>
          <a:ln w="12700">
            <a:solidFill>
              <a:srgbClr val="B91C1C"/>
            </a:solidFill>
            <a:prstDash val="solid"/>
          </a:ln>
        </p:spPr>
        <p:txBody>
          <a:bodyPr/>
          <a:p/>
        </p:txBody>
      </p:sp>
      <p:sp>
        <p:nvSpPr>
          <p:cNvPr id="15" name="Text 12"/>
          <p:cNvSpPr/>
          <p:nvPr/>
        </p:nvSpPr>
        <p:spPr>
          <a:xfrm>
            <a:off x="6236208" y="1371600"/>
            <a:ext cx="5486400" cy="347472"/>
          </a:xfrm>
          <a:prstGeom prst="rect">
            <a:avLst/>
          </a:prstGeom>
          <a:noFill/>
          <a:ln/>
        </p:spPr>
        <p:txBody>
          <a:bodyPr wrap="square" lIns="0" tIns="0" rIns="0" bIns="0" rtlCol="0" anchor="ctr"/>
          <a:lstStyle/>
          <a:p>
            <a:pPr algn="ctr" indent="0" marL="0">
              <a:buNone/>
            </a:pPr>
            <a:r>
              <a:rPr lang="en-US" sz="1000" b="1" dirty="0">
                <a:solidFill>
                  <a:srgbClr val="FFFFFF"/>
                </a:solidFill>
              </a:rPr>
              <a:t>CUSTOMIZATION  —  Requires business case &amp; Council sign-off</a:t>
            </a:r>
            <a:endParaRPr lang="en-US" sz="1000" dirty="0"/>
          </a:p>
        </p:txBody>
      </p:sp>
      <p:sp>
        <p:nvSpPr>
          <p:cNvPr id="16" name="Shape 13"/>
          <p:cNvSpPr/>
          <p:nvPr/>
        </p:nvSpPr>
        <p:spPr>
          <a:xfrm>
            <a:off x="6236208" y="1719072"/>
            <a:ext cx="5486400" cy="3931920"/>
          </a:xfrm>
          <a:prstGeom prst="rect">
            <a:avLst/>
          </a:prstGeom>
          <a:solidFill>
            <a:srgbClr val="FFF1F2"/>
          </a:solidFill>
          <a:ln w="12700">
            <a:solidFill>
              <a:srgbClr val="FECDD3"/>
            </a:solidFill>
            <a:prstDash val="solid"/>
          </a:ln>
        </p:spPr>
        <p:txBody>
          <a:bodyPr/>
          <a:p/>
        </p:txBody>
      </p:sp>
      <p:sp>
        <p:nvSpPr>
          <p:cNvPr id="17" name="Text 14"/>
          <p:cNvSpPr/>
          <p:nvPr/>
        </p:nvSpPr>
        <p:spPr>
          <a:xfrm>
            <a:off x="6373368" y="1828800"/>
            <a:ext cx="5212080" cy="3749040"/>
          </a:xfrm>
          <a:prstGeom prst="rect">
            <a:avLst/>
          </a:prstGeom>
          <a:noFill/>
          <a:ln/>
        </p:spPr>
        <p:txBody>
          <a:bodyPr wrap="square" rtlCol="0" anchor="t"/>
          <a:lstStyle/>
          <a:p>
            <a:r>
              <a:rPr lang="en-US" dirty="0" sz="1100">
                <a:solidFill>
                  <a:srgbClr val="B91C1C"/>
                </a:solidFill>
                <a:latin typeface="Calibri"/>
              </a:rPr>
              <a:t>✗  </a:t>
            </a:r>
            <a:r>
              <a:rPr lang="en-US" dirty="0" sz="1100">
                <a:solidFill>
                  <a:srgbClr val="1A1A1A"/>
                </a:solidFill>
                <a:latin typeface="Calibri"/>
              </a:rPr>
              <a:t>Custom CI class tables outside the OOTB cmdb_ci hierarchy</a:t>
            </a:r>
          </a:p>
          <a:p>
            <a:r>
              <a:rPr lang="en-US" dirty="0" sz="1100">
                <a:solidFill>
                  <a:srgbClr val="B91C1C"/>
                </a:solidFill>
                <a:latin typeface="Calibri"/>
              </a:rPr>
              <a:t>✗  </a:t>
            </a:r>
            <a:r>
              <a:rPr lang="en-US" dirty="0" sz="1100">
                <a:solidFill>
                  <a:srgbClr val="1A1A1A"/>
                </a:solidFill>
                <a:latin typeface="Calibri"/>
              </a:rPr>
              <a:t>Scripted CI relationship population from external data sources</a:t>
            </a:r>
          </a:p>
          <a:p>
            <a:r>
              <a:rPr lang="en-US" dirty="0" sz="1100">
                <a:solidFill>
                  <a:srgbClr val="B91C1C"/>
                </a:solidFill>
                <a:latin typeface="Calibri"/>
              </a:rPr>
              <a:t>✗  </a:t>
            </a:r>
            <a:r>
              <a:rPr lang="en-US" dirty="0" sz="1100">
                <a:solidFill>
                  <a:srgbClr val="1A1A1A"/>
                </a:solidFill>
                <a:latin typeface="Calibri"/>
              </a:rPr>
              <a:t>Custom CMDB sync logic overriding OOTB Discovery reconciliation</a:t>
            </a:r>
          </a:p>
          <a:p>
            <a:r>
              <a:rPr lang="en-US" dirty="0" sz="1100">
                <a:solidFill>
                  <a:srgbClr val="B91C1C"/>
                </a:solidFill>
                <a:latin typeface="Calibri"/>
              </a:rPr>
              <a:t>✗  </a:t>
            </a:r>
            <a:r>
              <a:rPr lang="en-US" dirty="0" sz="1100">
                <a:solidFill>
                  <a:srgbClr val="1A1A1A"/>
                </a:solidFill>
                <a:latin typeface="Calibri"/>
              </a:rPr>
              <a:t>Non-OOTB identification and reconciliation rules (IRE)</a:t>
            </a:r>
          </a:p>
          <a:p>
            <a:r>
              <a:rPr lang="en-US" dirty="0" sz="1100">
                <a:solidFill>
                  <a:srgbClr val="B91C1C"/>
                </a:solidFill>
                <a:latin typeface="Calibri"/>
              </a:rPr>
              <a:t>✗  </a:t>
            </a:r>
            <a:r>
              <a:rPr lang="en-US" dirty="0" sz="1100">
                <a:solidFill>
                  <a:srgbClr val="1A1A1A"/>
                </a:solidFill>
                <a:latin typeface="Calibri"/>
              </a:rPr>
              <a:t>Scripted CI health calculations beyond OOTB CMDB Health scoring</a:t>
            </a:r>
          </a:p>
          <a:p>
            <a:r>
              <a:rPr lang="en-US" dirty="0" sz="1100">
                <a:solidFill>
                  <a:srgbClr val="B91C1C"/>
                </a:solidFill>
                <a:latin typeface="Calibri"/>
              </a:rPr>
              <a:t>✗  </a:t>
            </a:r>
            <a:r>
              <a:rPr lang="en-US" dirty="0" sz="1100">
                <a:solidFill>
                  <a:srgbClr val="1A1A1A"/>
                </a:solidFill>
                <a:latin typeface="Calibri"/>
              </a:rPr>
              <a:t>Custom CI decommission workflows beyond OOTB lifecycle management</a:t>
            </a:r>
          </a:p>
          <a:p>
            <a:r>
              <a:rPr lang="en-US" dirty="0" sz="1100">
                <a:solidFill>
                  <a:srgbClr val="B91C1C"/>
                </a:solidFill>
                <a:latin typeface="Calibri"/>
              </a:rPr>
              <a:t>✗  </a:t>
            </a:r>
            <a:r>
              <a:rPr lang="en-US" dirty="0" sz="1100">
                <a:solidFill>
                  <a:srgbClr val="1A1A1A"/>
                </a:solidFill>
                <a:latin typeface="Calibri"/>
              </a:rPr>
              <a:t>External CMDB data sync overriding OOTB Discovery-sourced CIs</a:t>
            </a:r>
          </a:p>
          <a:p>
            <a:r>
              <a:rPr lang="en-US" dirty="0" sz="1100">
                <a:solidFill>
                  <a:srgbClr val="B91C1C"/>
                </a:solidFill>
                <a:latin typeface="Calibri"/>
              </a:rPr>
              <a:t>✗  </a:t>
            </a:r>
            <a:r>
              <a:rPr lang="en-US" dirty="0" sz="1100">
                <a:solidFill>
                  <a:srgbClr val="1A1A1A"/>
                </a:solidFill>
                <a:latin typeface="Calibri"/>
              </a:rPr>
              <a:t>Scripted asset-to-CI linking beyond OOTB HAM/CMDB integration</a:t>
            </a:r>
          </a:p>
          <a:p>
            <a:r>
              <a:rPr lang="en-US" dirty="0" sz="1100">
                <a:solidFill>
                  <a:srgbClr val="B91C1C"/>
                </a:solidFill>
                <a:latin typeface="Calibri"/>
              </a:rPr>
              <a:t>✗  </a:t>
            </a:r>
            <a:r>
              <a:rPr lang="en-US" dirty="0" sz="1100">
                <a:solidFill>
                  <a:srgbClr val="1A1A1A"/>
                </a:solidFill>
                <a:latin typeface="Calibri"/>
              </a:rPr>
              <a:t>Custom CMDB dashboard widgets beyond OOTB Health Dashboard</a:t>
            </a:r>
          </a:p>
          <a:p>
            <a:r>
              <a:rPr lang="en-US" dirty="0" sz="1100">
                <a:solidFill>
                  <a:srgbClr val="B91C1C"/>
                </a:solidFill>
                <a:latin typeface="Calibri"/>
              </a:rPr>
              <a:t>✗  </a:t>
            </a:r>
            <a:r>
              <a:rPr lang="en-US" dirty="0" sz="1100">
                <a:solidFill>
                  <a:srgbClr val="1A1A1A"/>
                </a:solidFill>
                <a:latin typeface="Calibri"/>
              </a:rPr>
              <a:t>Non-standard CI attribute sets outside OOTB class definitions</a:t>
            </a:r>
          </a:p>
        </p:txBody>
      </p:sp>
      <p:sp>
        <p:nvSpPr>
          <p:cNvPr id="18" name="Shape 15"/>
          <p:cNvSpPr/>
          <p:nvPr/>
        </p:nvSpPr>
        <p:spPr>
          <a:xfrm>
            <a:off x="457200" y="5440680"/>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486400"/>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The obligation:  </a:t>
            </a:r>
            <a:pPr indent="0" marL="0">
              <a:buNone/>
            </a:pPr>
            <a:r>
              <a:rPr lang="en-US" sz="1100" dirty="0">
                <a:solidFill>
                  <a:srgbClr val="78350F"/>
                </a:solidFill>
                <a:latin typeface="Calibri" pitchFamily="34" charset="0"/>
                <a:ea typeface="Calibri" pitchFamily="34" charset="-122"/>
                <a:cs typeface="Calibri" pitchFamily="34" charset="-120"/>
              </a:rPr>
              <a:t>Any pattern requiring customization is captured in the Governance Triage Log with a named owner and disposition date — addressed in the current sprint via the Customization Council or deferred to a governed follow-on engagement.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THE PROCESS</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5</a:t>
            </a:r>
            <a:endParaRPr lang="en-US" sz="800" dirty="0"/>
          </a:p>
        </p:txBody>
      </p:sp>
      <p:sp>
        <p:nvSpPr>
          <p:cNvPr id="8" name="Text 5"/>
          <p:cNvSpPr/>
          <p:nvPr/>
        </p:nvSpPr>
        <p:spPr>
          <a:xfrm>
            <a:off x="457200" y="502920"/>
            <a:ext cx="105156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ServiceNow OOTB CMDB — Population Path</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txBody>
          <a:bodyPr/>
          <a:p/>
        </p:txBody>
      </p:sp>
      <p:sp>
        <p:nvSpPr>
          <p:cNvPr id="10" name="Shape 7"/>
          <p:cNvSpPr/>
          <p:nvPr/>
        </p:nvSpPr>
        <p:spPr>
          <a:xfrm>
            <a:off x="457200" y="1371600"/>
            <a:ext cx="1661160" cy="713232"/>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Plan CI Scope</a:t>
            </a:r>
            <a:endParaRPr lang="en-US" sz="1000" dirty="0"/>
          </a:p>
        </p:txBody>
      </p:sp>
      <p:sp>
        <p:nvSpPr>
          <p:cNvPr id="12" name="Shape 9"/>
          <p:cNvSpPr/>
          <p:nvPr/>
        </p:nvSpPr>
        <p:spPr>
          <a:xfrm>
            <a:off x="2118360" y="1691640"/>
            <a:ext cx="256032" cy="73152"/>
          </a:xfrm>
          <a:prstGeom prst="rect">
            <a:avLst/>
          </a:prstGeom>
          <a:solidFill>
            <a:srgbClr val="14B8A6"/>
          </a:solidFill>
          <a:ln w="12700">
            <a:solidFill>
              <a:srgbClr val="14B8A6"/>
            </a:solidFill>
            <a:prstDash val="solid"/>
          </a:ln>
        </p:spPr>
        <p:txBody>
          <a:bodyPr/>
          <a:p/>
        </p:txBody>
      </p:sp>
      <p:sp>
        <p:nvSpPr>
          <p:cNvPr id="13" name="Shape 10"/>
          <p:cNvSpPr/>
          <p:nvPr/>
        </p:nvSpPr>
        <p:spPr>
          <a:xfrm>
            <a:off x="2374392" y="1371600"/>
            <a:ext cx="1661160" cy="713232"/>
          </a:xfrm>
          <a:prstGeom prst="rect">
            <a:avLst/>
          </a:prstGeom>
          <a:solidFill>
            <a:srgbClr val="0D9488"/>
          </a:solidFill>
          <a:ln w="12700">
            <a:solidFill>
              <a:srgbClr val="0D9488"/>
            </a:solidFill>
            <a:prstDash val="solid"/>
          </a:ln>
        </p:spPr>
        <p:txBody>
          <a:bodyPr/>
          <a:p/>
        </p:txBody>
      </p:sp>
      <p:sp>
        <p:nvSpPr>
          <p:cNvPr id="14" name="Text 11"/>
          <p:cNvSpPr/>
          <p:nvPr/>
        </p:nvSpPr>
        <p:spPr>
          <a:xfrm>
            <a:off x="2374392"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Discover / Import</a:t>
            </a:r>
            <a:endParaRPr lang="en-US" sz="1000" dirty="0"/>
          </a:p>
        </p:txBody>
      </p:sp>
      <p:sp>
        <p:nvSpPr>
          <p:cNvPr id="15" name="Shape 12"/>
          <p:cNvSpPr/>
          <p:nvPr/>
        </p:nvSpPr>
        <p:spPr>
          <a:xfrm>
            <a:off x="4035552" y="1691640"/>
            <a:ext cx="256032" cy="73152"/>
          </a:xfrm>
          <a:prstGeom prst="rect">
            <a:avLst/>
          </a:prstGeom>
          <a:solidFill>
            <a:srgbClr val="14B8A6"/>
          </a:solidFill>
          <a:ln w="12700">
            <a:solidFill>
              <a:srgbClr val="14B8A6"/>
            </a:solidFill>
            <a:prstDash val="solid"/>
          </a:ln>
        </p:spPr>
        <p:txBody>
          <a:bodyPr/>
          <a:p/>
        </p:txBody>
      </p:sp>
      <p:sp>
        <p:nvSpPr>
          <p:cNvPr id="16" name="Shape 13"/>
          <p:cNvSpPr/>
          <p:nvPr/>
        </p:nvSpPr>
        <p:spPr>
          <a:xfrm>
            <a:off x="4291584" y="1371600"/>
            <a:ext cx="1661160" cy="713232"/>
          </a:xfrm>
          <a:prstGeom prst="rect">
            <a:avLst/>
          </a:prstGeom>
          <a:solidFill>
            <a:srgbClr val="0D9488"/>
          </a:solidFill>
          <a:ln w="12700">
            <a:solidFill>
              <a:srgbClr val="0D9488"/>
            </a:solidFill>
            <a:prstDash val="solid"/>
          </a:ln>
        </p:spPr>
        <p:txBody>
          <a:bodyPr/>
          <a:p/>
        </p:txBody>
      </p:sp>
      <p:sp>
        <p:nvSpPr>
          <p:cNvPr id="17" name="Text 14"/>
          <p:cNvSpPr/>
          <p:nvPr/>
        </p:nvSpPr>
        <p:spPr>
          <a:xfrm>
            <a:off x="4291584"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Populate CI Classes</a:t>
            </a:r>
            <a:endParaRPr lang="en-US" sz="1000" dirty="0"/>
          </a:p>
        </p:txBody>
      </p:sp>
      <p:sp>
        <p:nvSpPr>
          <p:cNvPr id="18" name="Shape 15"/>
          <p:cNvSpPr/>
          <p:nvPr/>
        </p:nvSpPr>
        <p:spPr>
          <a:xfrm>
            <a:off x="5952744" y="1691640"/>
            <a:ext cx="256032" cy="73152"/>
          </a:xfrm>
          <a:prstGeom prst="rect">
            <a:avLst/>
          </a:prstGeom>
          <a:solidFill>
            <a:srgbClr val="14B8A6"/>
          </a:solidFill>
          <a:ln w="12700">
            <a:solidFill>
              <a:srgbClr val="14B8A6"/>
            </a:solidFill>
            <a:prstDash val="solid"/>
          </a:ln>
        </p:spPr>
        <p:txBody>
          <a:bodyPr/>
          <a:p/>
        </p:txBody>
      </p:sp>
      <p:sp>
        <p:nvSpPr>
          <p:cNvPr id="19" name="Shape 16"/>
          <p:cNvSpPr/>
          <p:nvPr/>
        </p:nvSpPr>
        <p:spPr>
          <a:xfrm>
            <a:off x="6208776" y="1371600"/>
            <a:ext cx="1661160" cy="713232"/>
          </a:xfrm>
          <a:prstGeom prst="rect">
            <a:avLst/>
          </a:prstGeom>
          <a:solidFill>
            <a:srgbClr val="0D9488"/>
          </a:solidFill>
          <a:ln w="12700">
            <a:solidFill>
              <a:srgbClr val="0D9488"/>
            </a:solidFill>
            <a:prstDash val="solid"/>
          </a:ln>
        </p:spPr>
        <p:txBody>
          <a:bodyPr/>
          <a:p/>
        </p:txBody>
      </p:sp>
      <p:sp>
        <p:nvSpPr>
          <p:cNvPr id="20" name="Text 17"/>
          <p:cNvSpPr/>
          <p:nvPr/>
        </p:nvSpPr>
        <p:spPr>
          <a:xfrm>
            <a:off x="6208776"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Build Relationships</a:t>
            </a:r>
            <a:endParaRPr lang="en-US" sz="1000" dirty="0"/>
          </a:p>
        </p:txBody>
      </p:sp>
      <p:sp>
        <p:nvSpPr>
          <p:cNvPr id="21" name="Shape 18"/>
          <p:cNvSpPr/>
          <p:nvPr/>
        </p:nvSpPr>
        <p:spPr>
          <a:xfrm>
            <a:off x="7869936" y="1691640"/>
            <a:ext cx="256032" cy="73152"/>
          </a:xfrm>
          <a:prstGeom prst="rect">
            <a:avLst/>
          </a:prstGeom>
          <a:solidFill>
            <a:srgbClr val="14B8A6"/>
          </a:solidFill>
          <a:ln w="12700">
            <a:solidFill>
              <a:srgbClr val="14B8A6"/>
            </a:solidFill>
            <a:prstDash val="solid"/>
          </a:ln>
        </p:spPr>
        <p:txBody>
          <a:bodyPr/>
          <a:p/>
        </p:txBody>
      </p:sp>
      <p:sp>
        <p:nvSpPr>
          <p:cNvPr id="22" name="Shape 19"/>
          <p:cNvSpPr/>
          <p:nvPr/>
        </p:nvSpPr>
        <p:spPr>
          <a:xfrm>
            <a:off x="8125968" y="1371600"/>
            <a:ext cx="1661160" cy="713232"/>
          </a:xfrm>
          <a:prstGeom prst="rect">
            <a:avLst/>
          </a:prstGeom>
          <a:solidFill>
            <a:srgbClr val="0D9488"/>
          </a:solidFill>
          <a:ln w="12700">
            <a:solidFill>
              <a:srgbClr val="0D9488"/>
            </a:solidFill>
            <a:prstDash val="solid"/>
          </a:ln>
        </p:spPr>
        <p:txBody>
          <a:bodyPr/>
          <a:p/>
        </p:txBody>
      </p:sp>
      <p:sp>
        <p:nvSpPr>
          <p:cNvPr id="23" name="Text 20"/>
          <p:cNvSpPr/>
          <p:nvPr/>
        </p:nvSpPr>
        <p:spPr>
          <a:xfrm>
            <a:off x="8125968"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CMDB Health Check</a:t>
            </a:r>
            <a:endParaRPr lang="en-US" sz="1000" dirty="0"/>
          </a:p>
        </p:txBody>
      </p:sp>
      <p:sp>
        <p:nvSpPr>
          <p:cNvPr id="24" name="Shape 21"/>
          <p:cNvSpPr/>
          <p:nvPr/>
        </p:nvSpPr>
        <p:spPr>
          <a:xfrm>
            <a:off x="9787128" y="1691640"/>
            <a:ext cx="256032" cy="73152"/>
          </a:xfrm>
          <a:prstGeom prst="rect">
            <a:avLst/>
          </a:prstGeom>
          <a:solidFill>
            <a:srgbClr val="14B8A6"/>
          </a:solidFill>
          <a:ln w="12700">
            <a:solidFill>
              <a:srgbClr val="14B8A6"/>
            </a:solidFill>
            <a:prstDash val="solid"/>
          </a:ln>
        </p:spPr>
        <p:txBody>
          <a:bodyPr/>
          <a:p/>
        </p:txBody>
      </p:sp>
      <p:sp>
        <p:nvSpPr>
          <p:cNvPr id="25" name="Shape 22"/>
          <p:cNvSpPr/>
          <p:nvPr/>
        </p:nvSpPr>
        <p:spPr>
          <a:xfrm>
            <a:off x="10043160" y="1371600"/>
            <a:ext cx="1661160" cy="713232"/>
          </a:xfrm>
          <a:prstGeom prst="rect">
            <a:avLst/>
          </a:prstGeom>
          <a:solidFill>
            <a:srgbClr val="0D9488"/>
          </a:solidFill>
          <a:ln w="12700">
            <a:solidFill>
              <a:srgbClr val="0D9488"/>
            </a:solidFill>
            <a:prstDash val="solid"/>
          </a:ln>
        </p:spPr>
        <p:txBody>
          <a:bodyPr/>
          <a:p/>
        </p:txBody>
      </p:sp>
      <p:sp>
        <p:nvSpPr>
          <p:cNvPr id="26" name="Text 23"/>
          <p:cNvSpPr/>
          <p:nvPr/>
        </p:nvSpPr>
        <p:spPr>
          <a:xfrm>
            <a:off x="10043160"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Operational CMDB</a:t>
            </a:r>
            <a:endParaRPr lang="en-US" sz="1000" dirty="0"/>
          </a:p>
        </p:txBody>
      </p:sp>
      <p:sp>
        <p:nvSpPr>
          <p:cNvPr id="27" name="Shape 24"/>
          <p:cNvSpPr/>
          <p:nvPr/>
        </p:nvSpPr>
        <p:spPr>
          <a:xfrm>
            <a:off x="457200" y="2267712"/>
            <a:ext cx="11247120" cy="329184"/>
          </a:xfrm>
          <a:prstGeom prst="rect">
            <a:avLst/>
          </a:prstGeom>
          <a:solidFill>
            <a:srgbClr val="1E3A5F"/>
          </a:solidFill>
          <a:ln w="12700">
            <a:solidFill>
              <a:srgbClr val="1E3A5F"/>
            </a:solidFill>
            <a:prstDash val="solid"/>
          </a:ln>
        </p:spPr>
        <p:txBody>
          <a:bodyPr/>
          <a:p/>
        </p:txBody>
      </p:sp>
      <p:sp>
        <p:nvSpPr>
          <p:cNvPr id="28" name="Text 25"/>
          <p:cNvSpPr/>
          <p:nvPr/>
        </p:nvSpPr>
        <p:spPr>
          <a:xfrm>
            <a:off x="457200" y="2267712"/>
            <a:ext cx="11247120" cy="329184"/>
          </a:xfrm>
          <a:prstGeom prst="rect">
            <a:avLst/>
          </a:prstGeom>
          <a:noFill/>
          <a:ln/>
        </p:spPr>
        <p:txBody>
          <a:bodyPr wrap="square" lIns="0" tIns="0" rIns="0" bIns="0" rtlCol="0" anchor="ctr"/>
          <a:lstStyle/>
          <a:p>
            <a:pPr algn="ctr" indent="0" marL="0">
              <a:buNone/>
            </a:pPr>
            <a:r>
              <a:rPr lang="en-US" sz="1000" b="1" dirty="0">
                <a:solidFill>
                  <a:srgbClr val="FFFFFF"/>
                </a:solidFill>
              </a:rPr>
              <a:t>Key Capabilities &amp; OOTB Features</a:t>
            </a:r>
            <a:endParaRPr lang="en-US" sz="1000" dirty="0"/>
          </a:p>
        </p:txBody>
      </p:sp>
      <p:sp>
        <p:nvSpPr>
          <p:cNvPr id="29" name="Shape 26"/>
          <p:cNvSpPr/>
          <p:nvPr/>
        </p:nvSpPr>
        <p:spPr>
          <a:xfrm>
            <a:off x="457200" y="2596896"/>
            <a:ext cx="3749040" cy="3675888"/>
          </a:xfrm>
          <a:prstGeom prst="rect">
            <a:avLst/>
          </a:prstGeom>
          <a:solidFill>
            <a:srgbClr val="F7F9FC"/>
          </a:solidFill>
          <a:ln w="12700">
            <a:solidFill>
              <a:srgbClr val="E2E8F0"/>
            </a:solidFill>
            <a:prstDash val="solid"/>
          </a:ln>
        </p:spPr>
        <p:txBody>
          <a:bodyPr/>
          <a:p/>
        </p:txBody>
      </p:sp>
      <p:sp>
        <p:nvSpPr>
          <p:cNvPr id="30" name="Text 27"/>
          <p:cNvSpPr/>
          <p:nvPr/>
        </p:nvSpPr>
        <p:spPr>
          <a:xfrm>
            <a:off x="548640" y="2670048"/>
            <a:ext cx="3566160" cy="310896"/>
          </a:xfrm>
          <a:prstGeom prst="rect">
            <a:avLst/>
          </a:prstGeom>
          <a:noFill/>
          <a:ln/>
        </p:spPr>
        <p:txBody>
          <a:bodyPr wrap="square" rtlCol="0" anchor="ctr"/>
          <a:lstStyle/>
          <a:p>
            <a:pPr indent="0" marL="0">
              <a:buNone/>
            </a:pPr>
            <a:r>
              <a:rPr lang="en-US" sz="1100" b="1" dirty="0">
                <a:solidFill>
                  <a:srgbClr val="1E3A5F"/>
                </a:solidFill>
                <a:latin typeface="Trebuchet MS" pitchFamily="34" charset="0"/>
                <a:ea typeface="Trebuchet MS" pitchFamily="34" charset="-122"/>
                <a:cs typeface="Trebuchet MS" pitchFamily="34" charset="-120"/>
              </a:rPr>
              <a:t>OOTB CI Classes</a:t>
            </a:r>
            <a:endParaRPr lang="en-US" sz="1100" dirty="0"/>
          </a:p>
        </p:txBody>
      </p:sp>
      <p:sp>
        <p:nvSpPr>
          <p:cNvPr id="31" name="Text 28"/>
          <p:cNvSpPr/>
          <p:nvPr/>
        </p:nvSpPr>
        <p:spPr>
          <a:xfrm>
            <a:off x="548640" y="3017520"/>
            <a:ext cx="3566160" cy="3090672"/>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ServiceNow ships with 200+ OOTB CI classes organized in a class hierarchy. Sprint 4 focus: Windows/Linux servers, VMware, network devices, databases. All OOTB — no schema extension needed.</a:t>
            </a:r>
            <a:endParaRPr lang="en-US" sz="1000" dirty="0"/>
          </a:p>
        </p:txBody>
      </p:sp>
      <p:sp>
        <p:nvSpPr>
          <p:cNvPr id="32" name="Shape 29"/>
          <p:cNvSpPr/>
          <p:nvPr/>
        </p:nvSpPr>
        <p:spPr>
          <a:xfrm>
            <a:off x="4206240" y="2596896"/>
            <a:ext cx="3749040" cy="3675888"/>
          </a:xfrm>
          <a:prstGeom prst="rect">
            <a:avLst/>
          </a:prstGeom>
          <a:solidFill>
            <a:srgbClr val="F7F9FC"/>
          </a:solidFill>
          <a:ln w="12700">
            <a:solidFill>
              <a:srgbClr val="E2E8F0"/>
            </a:solidFill>
            <a:prstDash val="solid"/>
          </a:ln>
        </p:spPr>
        <p:txBody>
          <a:bodyPr/>
          <a:p/>
        </p:txBody>
      </p:sp>
      <p:sp>
        <p:nvSpPr>
          <p:cNvPr id="33" name="Text 30"/>
          <p:cNvSpPr/>
          <p:nvPr/>
        </p:nvSpPr>
        <p:spPr>
          <a:xfrm>
            <a:off x="4297680" y="2670048"/>
            <a:ext cx="3566160" cy="310896"/>
          </a:xfrm>
          <a:prstGeom prst="rect">
            <a:avLst/>
          </a:prstGeom>
          <a:noFill/>
          <a:ln/>
        </p:spPr>
        <p:txBody>
          <a:bodyPr wrap="square" rtlCol="0" anchor="ctr"/>
          <a:lstStyle/>
          <a:p>
            <a:pPr indent="0" marL="0">
              <a:buNone/>
            </a:pPr>
            <a:r>
              <a:rPr lang="en-US" sz="1100" b="1" dirty="0">
                <a:solidFill>
                  <a:srgbClr val="1E3A5F"/>
                </a:solidFill>
                <a:latin typeface="Trebuchet MS" pitchFamily="34" charset="0"/>
                <a:ea typeface="Trebuchet MS" pitchFamily="34" charset="-122"/>
                <a:cs typeface="Trebuchet MS" pitchFamily="34" charset="-120"/>
              </a:rPr>
              <a:t>CMDB Health Framework</a:t>
            </a:r>
            <a:endParaRPr lang="en-US" sz="1100" dirty="0"/>
          </a:p>
        </p:txBody>
      </p:sp>
      <p:sp>
        <p:nvSpPr>
          <p:cNvPr id="34" name="Text 31"/>
          <p:cNvSpPr/>
          <p:nvPr/>
        </p:nvSpPr>
        <p:spPr>
          <a:xfrm>
            <a:off x="4297680" y="3017520"/>
            <a:ext cx="3566160" cy="3090672"/>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OOTB CMDB Health dashboard tracks Completeness (required fields filled), Compliance (CI count vs expected), and Correctness (data freshness). Targets set per CI class.</a:t>
            </a:r>
            <a:endParaRPr lang="en-US" sz="1000" dirty="0"/>
          </a:p>
        </p:txBody>
      </p:sp>
      <p:sp>
        <p:nvSpPr>
          <p:cNvPr id="35" name="Shape 32"/>
          <p:cNvSpPr/>
          <p:nvPr/>
        </p:nvSpPr>
        <p:spPr>
          <a:xfrm>
            <a:off x="7955280" y="2596896"/>
            <a:ext cx="3749040" cy="3675888"/>
          </a:xfrm>
          <a:prstGeom prst="rect">
            <a:avLst/>
          </a:prstGeom>
          <a:solidFill>
            <a:srgbClr val="F7F9FC"/>
          </a:solidFill>
          <a:ln w="12700">
            <a:solidFill>
              <a:srgbClr val="E2E8F0"/>
            </a:solidFill>
            <a:prstDash val="solid"/>
          </a:ln>
        </p:spPr>
        <p:txBody>
          <a:bodyPr/>
          <a:p/>
        </p:txBody>
      </p:sp>
      <p:sp>
        <p:nvSpPr>
          <p:cNvPr id="36" name="Text 33"/>
          <p:cNvSpPr/>
          <p:nvPr/>
        </p:nvSpPr>
        <p:spPr>
          <a:xfrm>
            <a:off x="8046720" y="2670048"/>
            <a:ext cx="3566160" cy="310896"/>
          </a:xfrm>
          <a:prstGeom prst="rect">
            <a:avLst/>
          </a:prstGeom>
          <a:noFill/>
          <a:ln/>
        </p:spPr>
        <p:txBody>
          <a:bodyPr wrap="square" rtlCol="0" anchor="ctr"/>
          <a:lstStyle/>
          <a:p>
            <a:pPr indent="0" marL="0">
              <a:buNone/>
            </a:pPr>
            <a:r>
              <a:rPr lang="en-US" sz="1100" b="1" dirty="0">
                <a:solidFill>
                  <a:srgbClr val="1E3A5F"/>
                </a:solidFill>
                <a:latin typeface="Trebuchet MS" pitchFamily="34" charset="0"/>
                <a:ea typeface="Trebuchet MS" pitchFamily="34" charset="-122"/>
                <a:cs typeface="Trebuchet MS" pitchFamily="34" charset="-120"/>
              </a:rPr>
              <a:t>AI Enablement</a:t>
            </a:r>
            <a:endParaRPr lang="en-US" sz="1100" dirty="0"/>
          </a:p>
        </p:txBody>
      </p:sp>
      <p:sp>
        <p:nvSpPr>
          <p:cNvPr id="37" name="Text 34"/>
          <p:cNvSpPr/>
          <p:nvPr/>
        </p:nvSpPr>
        <p:spPr>
          <a:xfrm>
            <a:off x="8046720" y="3017520"/>
            <a:ext cx="3566160" cy="3090672"/>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CMDB data feeds Now Assist impact analysis, Predictive Intelligence CI prediction on incidents, and Change risk scoring. Clean, complete CMDB data is a direct AI enabler.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#1</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6</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Which CI classes will be populated at Sprint 4 go-live — and which are deferred?</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Recommended Starting Set: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Windows Server (cmdb_ci_win_server), Linux Server (cmdb_ci_linux_server), VMware ESX Server (cmdb_ci_esx_server), Network Device (cmdb_ci_netgear), Database Instance (cmdb_ci_database).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Phased Approach:</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Sprint 4: infrastructure CIs (servers, VMs, network). Sprint 5 (Service Graph Connectors): endpoint CIs (workstations, laptops via Intune/SCCM). Cloud CIs via cloud connectors.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CI Class Selection Rule: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Only activate classes that have a data source. An empty CI class is worse than no class — it creates false completeness metrics.</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Which CI classes are in scope for Sprint 4 Discovery/import?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What is the estimated CI count per class (order of magnitude)?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Which classes are explicitly deferred to Sprint 5 or beyond?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Are there regulatory or audit requirements that mandate specific CI classes at go-live?</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Activating all 200+ CI classes without data sources produces an empty CMDB with 0% completeness. Start with the 5–8 classes that have Discovery data sources. Expand as data sources are confirmed.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#2</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7</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is the CMDB scope boundary — which systems and networks are in scope?</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Scope Definition: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CMDB scope = the systems and infrastructure that ServiceNow will actively discover and maintain. Scope should match: systems supporting in-scope application services, systems generating incidents in scope, and systems subject to change management.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Out-of-Scope Pattern: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Legacy systems scheduled for retirement, third-party hosted systems (vendor-managed), and lab/development systems are typically excluded from production CMDB scope.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IP Range Definition: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Discovery scope is defined by IP ranges and subnets in the MID Server discovery schedule. Only IPs in the schedule are discovered — providing natural scope control.</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What IP address ranges / subnets are in scope for CMDB population?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Which data centers and cloud environments are in scope?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Are there systems explicitly excluded from CMDB (legacy, vendor-managed, lab)?</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Who approves changes to the CMDB scope boundary post-go-live?</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An unbounded CMDB scope (discover everything) creates volume and noise that degrades CMDB health scores. Define the scope boundary before Discovery runs — not after.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#3</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8</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Which relationship types will be configured — and how will they be maintained?</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Relationship Types: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'Hosted on' (App Service → Server), 'Runs on' (Application → OS), 'Depends on' (App → Database, Network), 'Connected to' (Server → Network Device). All available in the OOTB cmdb_rel_ci table.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Discovery Auto-Relationships: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ServiceNow Discovery automatically creates relationships between discovered CIs based on running processes, port connections, and VMware host-to-guest mappings.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Manual Relationships: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Application Service to CI relationships that Discovery cannot detect (e.g., business-critical application dependencies) are added manually via the CMDB Relationships form.</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Which relationship types are mandatory at Sprint 4 go-live?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Will Discovery auto-relationships be enabled — or will relationships be manually curated?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is responsible for manual relationship maintenance when Discovery does not cover the connection?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review process for validating Discovery-created relationships?</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Custom relationship types require schema extension and Customization Council review. All standard ITIL relationship types exist in the OOTB relationship type taxonomy. Document the required relationship and verify it exists before requesting a new type.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#4</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9</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are the CMDB health targets — completeness, compliance, and correctness?</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CMDB Health Framework:</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Three dimensions: Completeness (required fields populated — target 85%+), Compliance (CI count matches expected inventory — target 90%+), Correctness (CI data refreshed within threshold — target 95%+).</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OOTB Health Dashboard: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CMDB Health dashboard is OOTB — activates immediately. Shows health score per CI class, remediation recommendations, and trend over time. No configuration needed to activate.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Staleness Threshold: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Correctness measures days since last Discovery update. Default threshold: 7 days for servers, 30 days for network devices. Configurable per CI class — not scripting.</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What are the target health scores (completeness, compliance, correctness) at Sprint 4 go-live?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What is the freshness threshold per CI class (how many days before a CI is considered stale)?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owns CMDB health — the Discovery team, the CMDB team, or a shared responsibility?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escalation path when CMDB health drops below target?</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100% CMDB health targets before go-live are not achievable. OOTB recommendation: 80% completeness at go-live, rising to 90%+ in first 30 days post-go-live as Discovery stabilizes.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#5</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10</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is the source of record for each CI class — Discovery, connector, or manual?</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Source Priority Hierarchy: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1st: Discovery (most authoritative — automated, continuous). 2nd: Service Graph Connectors (Intune, SCCM — for endpoint data Discovery cannot reach). 3rd: Import Sets (one-time or scheduled imports). 4th: Manual entry (exception only).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IRE (Identification &amp; Reconciliation Engine):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OOTB IRE resolves conflicts when multiple sources report the same CI. Source priority is configurable per CI class attribute — not scripting.</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No single source covers all:</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Servers: Discovery. Workstations: Intune/SCCM connector. Business applications: CSDM import. Network gear: Discovery + manual for unmanaged devices.</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What is the source of record for each CI class in scope (see list)?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Are SCCM or Intune connectors in scope for Sprint 4 — or Sprint 5?</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How will conflicts between Discovery and connector data be resolved (source priority settings)?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Who manages the IRE reconciliation rule set post-go-live?</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Multiple sources without defined priority rules create duplicate CIs and phantom relationship errors. Define source priority per CI class before activating multiple data sources.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#6</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11</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CI lifecycle states will be used — and how will retired CIs be managed?</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CI Lifecycle States: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Installed, In Maintenance, Stolen, Absent, Disposed, Decommissioned. State changes tracked in CMDB audit log — OOTB, no configuration needed.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State Transitions: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Discovery updates CI state automatically based on scan results: CIs that stop responding move to 'Absent' (configurable threshold). Manual state changes by CMDB admin for planned decommissions.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Retired CI Retention: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OOTB: retired CIs are soft-deleted (Decommissioned state) — not physically removed. Audit trail maintained. Full deletion possible but not recommended — breaks historical reporting.</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Will the OOTB CI lifecycle states be accepted as-is — or are there additional states required?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What is the policy for CIs that stop responding in Discovery (grace period before marking Absent)?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How will planned decommissions be handled (manual state change process, approval required)?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retention policy for decommissioned CI records?</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Custom CI lifecycle states require schema changes and Customization Council review. The OOTB state set covers all standard ITIL lifecycle patterns. If a custom state is requested, verify it is not covered by an existing OOTB state first.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#7</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12</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How will CI ownership be assigned — and what does ownership mean operationally?</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CI Ownership Fields: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'Managed by' (primary owner), 'Owned by' (business owner), 'Support group' (operational assignment). All OOTB fields on the CI form.</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Operational Impact: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Support group on a CI drives incident auto-assignment (if no assignment rule matches, CI support group is used). Managed by receives CMDB health alerts for CIs they own.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Assignment at Scale: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CIs discovered by Discovery can have support groups assigned via Discovery patterns — OOTB, no scripting. Bulk assignment via import set for existing CI inventory.</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Which fields define CI ownership at go-live (Managed by, Owned by, Support group — all, or subset)?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Will support groups be auto-assigned via Discovery patterns — or set manually per CI class?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is responsible for assigning ownership to CIs imported from non-Discovery sources?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governance process for ownership changes (transfers, org changes)?</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Custom CI ownership hierarchies with escalation trees require customization. The OOTB three-field model (Managed by, Owned by, Support group) covers all standard ownership and routing requirements.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#8</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13</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How will CMDB data integrate with Change and Incident Management?</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txBody>
          <a:bodyPr/>
          <a:p/>
        </p:txBody>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txBody>
          <a:bodyPr/>
          <a:p/>
        </p:txBody>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txBody>
          <a:bodyPr/>
          <a:p/>
        </p:txBody>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Incident Integration: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'Configuration item' field on incidents links to CMDB. Predictive Intelligence predicts the CI from incident text after Sprint 4. CI impact analysis (what service is affected) uses CSDM relationships.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Change Integration: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'Affected CIs' field on change records. OOTB risk scoring includes CI criticality. CMDB relationship lookup auto-populates affected Application Services from CSDM service map.</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Why CMDB quality matters here: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Incidents with wrong or missing CIs produce inaccurate PI predictions. Changes without CIs miss risk scoring. Clean CMDB data in Sprint 4 directly improves Incident and Change quality.</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txBody>
          <a:bodyPr/>
          <a:p/>
        </p:txBody>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txBody>
          <a:bodyPr/>
          <a:p/>
        </p:txBody>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Will the CI field on incidents be mandatory at go-live — or optional with progressive enforcement?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Will Predictive Intelligence CI prediction be activated immediately after Sprint 4 go-live?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validates the CI list on change records before CAB review?</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plan for backfilling CI data on historical incidents (if any)?</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txBody>
          <a:bodyPr/>
          <a:p/>
        </p:txBody>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Making CI mandatory on incidents before CMDB is populated creates blank-field submissions and agent frustration. OOTB recommendation: optional at go-live, add validation rule in Sprint 5 after CMDB reaches 80%+ completeness.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A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Shape 0"/>
          <p:cNvSpPr/>
          <p:nvPr/>
        </p:nvSpPr>
        <p:spPr>
          <a:xfrm>
            <a:off x="457200" y="2011680"/>
            <a:ext cx="64008" cy="1645920"/>
          </a:xfrm>
          <a:prstGeom prst="rect">
            <a:avLst/>
          </a:prstGeom>
          <a:solidFill>
            <a:srgbClr val="14B8A6"/>
          </a:solidFill>
          <a:ln w="12700">
            <a:solidFill>
              <a:srgbClr val="14B8A6"/>
            </a:solidFill>
            <a:prstDash val="solid"/>
          </a:ln>
        </p:spPr>
        <p:txBody>
          <a:bodyPr/>
          <a:p/>
        </p:txBody>
      </p:sp>
      <p:sp>
        <p:nvSpPr>
          <p:cNvPr id="4" name="Text 1"/>
          <p:cNvSpPr/>
          <p:nvPr/>
        </p:nvSpPr>
        <p:spPr>
          <a:xfrm>
            <a:off x="685800" y="1920240"/>
            <a:ext cx="10058400" cy="914400"/>
          </a:xfrm>
          <a:prstGeom prst="rect">
            <a:avLst/>
          </a:prstGeom>
          <a:noFill/>
          <a:ln/>
        </p:spPr>
        <p:txBody>
          <a:bodyPr wrap="square"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Decision Log</a:t>
            </a:r>
            <a:endParaRPr lang="en-US" sz="4600" dirty="0"/>
          </a:p>
        </p:txBody>
      </p:sp>
      <p:sp>
        <p:nvSpPr>
          <p:cNvPr id="5" name="Text 2"/>
          <p:cNvSpPr/>
          <p:nvPr/>
        </p:nvSpPr>
        <p:spPr>
          <a:xfrm>
            <a:off x="685800" y="2880360"/>
            <a:ext cx="10058400" cy="640080"/>
          </a:xfrm>
          <a:prstGeom prst="rect">
            <a:avLst/>
          </a:prstGeom>
          <a:noFill/>
          <a:ln/>
        </p:spPr>
        <p:txBody>
          <a:bodyPr wrap="square" rtlCol="0" anchor="ctr"/>
          <a:lstStyle/>
          <a:p>
            <a:pPr indent="0" marL="0">
              <a:buNone/>
            </a:pPr>
            <a:r>
              <a:rPr lang="en-US" sz="2200" dirty="0">
                <a:solidFill>
                  <a:srgbClr val="14B8A6"/>
                </a:solidFill>
                <a:latin typeface="Calibri" pitchFamily="34" charset="0"/>
                <a:ea typeface="Calibri" pitchFamily="34" charset="-122"/>
                <a:cs typeface="Calibri" pitchFamily="34" charset="-120"/>
              </a:rPr>
              <a:t>Every decision on the next page is an action.</a:t>
            </a:r>
            <a:endParaRPr lang="en-US" sz="2200" dirty="0"/>
          </a:p>
        </p:txBody>
      </p:sp>
      <p:sp>
        <p:nvSpPr>
          <p:cNvPr id="6" name="Text 3"/>
          <p:cNvSpPr/>
          <p:nvPr/>
        </p:nvSpPr>
        <p:spPr>
          <a:xfrm>
            <a:off x="685800" y="3611880"/>
            <a:ext cx="10058400" cy="411480"/>
          </a:xfrm>
          <a:prstGeom prst="rect">
            <a:avLst/>
          </a:prstGeom>
          <a:noFill/>
          <a:ln/>
        </p:spPr>
        <p:txBody>
          <a:bodyPr wrap="square" rtlCol="0" anchor="ctr"/>
          <a:lstStyle/>
          <a:p>
            <a:pPr indent="0" marL="0">
              <a:buNone/>
            </a:pPr>
            <a:r>
              <a:rPr lang="en-US" sz="1400" i="1" dirty="0">
                <a:solidFill>
                  <a:srgbClr val="9CB8D8"/>
                </a:solidFill>
                <a:latin typeface="Calibri" pitchFamily="34" charset="0"/>
                <a:ea typeface="Calibri" pitchFamily="34" charset="-122"/>
                <a:cs typeface="Calibri" pitchFamily="34" charset="-120"/>
              </a:rPr>
              <a:t>Decisions left blank leave this room with a named owner and a date. Before we close: no decision is unresolved — it is either made, or owned.</a:t>
            </a:r>
            <a:endParaRPr lang="en-US" sz="1400" dirty="0"/>
          </a:p>
        </p:txBody>
      </p:sp>
      <p:sp>
        <p:nvSpPr>
          <p:cNvPr id="7" name="Shape 4"/>
          <p:cNvSpPr/>
          <p:nvPr/>
        </p:nvSpPr>
        <p:spPr>
          <a:xfrm>
            <a:off x="365760" y="6556248"/>
            <a:ext cx="11430000" cy="0"/>
          </a:xfrm>
          <a:prstGeom prst="line">
            <a:avLst/>
          </a:prstGeom>
          <a:noFill/>
          <a:ln w="6350">
            <a:solidFill>
              <a:srgbClr val="2A4A70"/>
            </a:solidFill>
            <a:prstDash val="solid"/>
          </a:ln>
        </p:spPr>
        <p:txBody>
          <a:bodyPr/>
          <a:p/>
        </p:txBody>
      </p:sp>
      <p:sp>
        <p:nvSpPr>
          <p:cNvPr id="8" name="Text 5"/>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5A7A9F"/>
                </a:solidFill>
              </a:rPr>
              <a:t>Everforth ECS Federal</a:t>
            </a:r>
            <a:endParaRPr lang="en-US" sz="800" dirty="0"/>
          </a:p>
        </p:txBody>
      </p:sp>
      <p:sp>
        <p:nvSpPr>
          <p:cNvPr id="9" name="Text 6"/>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5A7A9F"/>
                </a:solidFill>
              </a:rPr>
              <a:t>CONNECTION  ·  MODERNIZING THE CORE  ·  CMDB</a:t>
            </a:r>
            <a:endParaRPr lang="en-US" sz="800" dirty="0"/>
          </a:p>
        </p:txBody>
      </p:sp>
      <p:sp>
        <p:nvSpPr>
          <p:cNvPr id="10" name="Text 7"/>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5A7A9F"/>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DECISION LOG</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15</a:t>
            </a:r>
            <a:endParaRPr lang="en-US" sz="800" dirty="0"/>
          </a:p>
        </p:txBody>
      </p:sp>
      <p:sp>
        <p:nvSpPr>
          <p:cNvPr id="8" name="Text 5"/>
          <p:cNvSpPr/>
          <p:nvPr/>
        </p:nvSpPr>
        <p:spPr>
          <a:xfrm>
            <a:off x="457200" y="502920"/>
            <a:ext cx="10515600" cy="685800"/>
          </a:xfrm>
          <a:prstGeom prst="rect">
            <a:avLst/>
          </a:prstGeom>
          <a:noFill/>
          <a:ln/>
        </p:spPr>
        <p:txBody>
          <a:bodyPr wrap="square" rtlCol="0" anchor="ctr"/>
          <a:lstStyle/>
          <a:p>
            <a:pPr indent="0" marL="0">
              <a:buNone/>
            </a:pPr>
            <a:r>
              <a:rPr lang="en-US" sz="2400" b="1" dirty="0">
                <a:solidFill>
                  <a:srgbClr val="1E3A5F"/>
                </a:solidFill>
                <a:latin typeface="Trebuchet MS" pitchFamily="34" charset="0"/>
                <a:ea typeface="Trebuchet MS" pitchFamily="34" charset="-122"/>
                <a:cs typeface="Trebuchet MS" pitchFamily="34" charset="-120"/>
              </a:rPr>
              <a:t>CMDB — Decisions Made in This Workshop</a:t>
            </a:r>
            <a:endParaRPr lang="en-US" sz="2400" dirty="0"/>
          </a:p>
        </p:txBody>
      </p:sp>
      <p:sp>
        <p:nvSpPr>
          <p:cNvPr id="9" name="Shape 6"/>
          <p:cNvSpPr/>
          <p:nvPr/>
        </p:nvSpPr>
        <p:spPr>
          <a:xfrm>
            <a:off x="457200" y="1234440"/>
            <a:ext cx="11247120" cy="0"/>
          </a:xfrm>
          <a:prstGeom prst="line">
            <a:avLst/>
          </a:prstGeom>
          <a:noFill/>
          <a:ln w="6350">
            <a:solidFill>
              <a:srgbClr val="E2E8F0"/>
            </a:solidFill>
            <a:prstDash val="solid"/>
          </a:ln>
        </p:spPr>
        <p:txBody>
          <a:bodyPr/>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411480"/>
                <a:gridCol w="2103120"/>
                <a:gridCol w="3657600"/>
                <a:gridCol w="3017520"/>
                <a:gridCol w="18288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 Topic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Scope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 Made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Due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Class Selection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Classes in scope, deferred classes, estimated CI count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CMDB Scope Boundary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IP ranges, data centers, excluded systems, scope governance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Relationship Types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Relationship types, Discovery auto-relationships, manual maintenance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CMDB Health Targets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Completeness, compliance, correctness targets, freshness threshold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Source of Record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Source per CI class, IRE priority, connector sequencing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Lifecycle States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OOTB states accepted, decommission policy, retention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Ownership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Ownership fields, auto-assignment via Discovery, governance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Change &amp; Incident Integration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on incidents (mandatory/optional), PI activation, CAB validation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NEXT STEPS</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txBody>
          <a:bodyPr/>
          <a:p/>
        </p:txBody>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CONNECTION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16</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What happens after this workshop</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txBody>
          <a:bodyPr/>
          <a:p/>
        </p:txBody>
      </p:sp>
      <p:sp>
        <p:nvSpPr>
          <p:cNvPr id="10" name="Shape 7"/>
          <p:cNvSpPr/>
          <p:nvPr/>
        </p:nvSpPr>
        <p:spPr>
          <a:xfrm>
            <a:off x="411480" y="1417320"/>
            <a:ext cx="3611880" cy="4114800"/>
          </a:xfrm>
          <a:prstGeom prst="rect">
            <a:avLst/>
          </a:prstGeom>
          <a:solidFill>
            <a:srgbClr val="F7F9FC"/>
          </a:solidFill>
          <a:ln w="12700">
            <a:solidFill>
              <a:srgbClr val="E2E8F0"/>
            </a:solidFill>
            <a:prstDash val="solid"/>
          </a:ln>
        </p:spPr>
        <p:txBody>
          <a:bodyPr/>
          <a:p/>
        </p:txBody>
      </p:sp>
      <p:sp>
        <p:nvSpPr>
          <p:cNvPr id="11" name="Shape 8"/>
          <p:cNvSpPr/>
          <p:nvPr/>
        </p:nvSpPr>
        <p:spPr>
          <a:xfrm>
            <a:off x="411480" y="1417320"/>
            <a:ext cx="3611880" cy="475488"/>
          </a:xfrm>
          <a:prstGeom prst="rect">
            <a:avLst/>
          </a:prstGeom>
          <a:solidFill>
            <a:srgbClr val="0D9488"/>
          </a:solidFill>
          <a:ln w="12700">
            <a:solidFill>
              <a:srgbClr val="0D9488"/>
            </a:solidFill>
            <a:prstDash val="solid"/>
          </a:ln>
        </p:spPr>
        <p:txBody>
          <a:bodyPr/>
          <a:p/>
        </p:txBody>
      </p:sp>
      <p:sp>
        <p:nvSpPr>
          <p:cNvPr id="12" name="Text 9"/>
          <p:cNvSpPr/>
          <p:nvPr/>
        </p:nvSpPr>
        <p:spPr>
          <a:xfrm>
            <a:off x="502920" y="1417320"/>
            <a:ext cx="475488" cy="475488"/>
          </a:xfrm>
          <a:prstGeom prst="rect">
            <a:avLst/>
          </a:prstGeom>
          <a:noFill/>
          <a:ln/>
        </p:spPr>
        <p:txBody>
          <a:bodyPr wrap="square" lIns="0" tIns="0" rIns="0" bIns="0" rtlCol="0" anchor="ctr"/>
          <a:lstStyle/>
          <a:p>
            <a:pPr indent="0" marL="0">
              <a:buNone/>
            </a:pPr>
            <a:r>
              <a:rPr lang="en-US" sz="1800" b="1" dirty="0">
                <a:solidFill>
                  <a:srgbClr val="FFFFFF"/>
                </a:solidFill>
              </a:rPr>
              <a:t>01</a:t>
            </a:r>
            <a:endParaRPr lang="en-US" sz="1800" dirty="0"/>
          </a:p>
        </p:txBody>
      </p:sp>
      <p:sp>
        <p:nvSpPr>
          <p:cNvPr id="13" name="Text 10"/>
          <p:cNvSpPr/>
          <p:nvPr/>
        </p:nvSpPr>
        <p:spPr>
          <a:xfrm>
            <a:off x="1033272" y="1444752"/>
            <a:ext cx="2880360" cy="420624"/>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Accelerator Pack — Workbook</a:t>
            </a:r>
            <a:endParaRPr lang="en-US" sz="1200" dirty="0"/>
          </a:p>
        </p:txBody>
      </p:sp>
      <p:sp>
        <p:nvSpPr>
          <p:cNvPr id="14" name="Text 11"/>
          <p:cNvSpPr/>
          <p:nvPr/>
        </p:nvSpPr>
        <p:spPr>
          <a:xfrm>
            <a:off x="548640" y="1965960"/>
            <a:ext cx="3337560" cy="237744"/>
          </a:xfrm>
          <a:prstGeom prst="rect">
            <a:avLst/>
          </a:prstGeom>
          <a:noFill/>
          <a:ln/>
        </p:spPr>
        <p:txBody>
          <a:bodyPr wrap="square" rtlCol="0" anchor="ctr"/>
          <a:lstStyle/>
          <a:p>
            <a:pPr indent="0" marL="0">
              <a:buNone/>
            </a:pPr>
            <a:r>
              <a:rPr lang="en-US" sz="900" i="1" dirty="0">
                <a:solidFill>
                  <a:srgbClr val="14B8A6"/>
                </a:solidFill>
                <a:latin typeface="Calibri" pitchFamily="34" charset="0"/>
                <a:ea typeface="Calibri" pitchFamily="34" charset="-122"/>
                <a:cs typeface="Calibri" pitchFamily="34" charset="-120"/>
              </a:rPr>
              <a:t>Immediately after this workshop</a:t>
            </a:r>
            <a:endParaRPr lang="en-US" sz="900" dirty="0"/>
          </a:p>
        </p:txBody>
      </p:sp>
      <p:sp>
        <p:nvSpPr>
          <p:cNvPr id="15" name="Text 12"/>
          <p:cNvSpPr/>
          <p:nvPr/>
        </p:nvSpPr>
        <p:spPr>
          <a:xfrm>
            <a:off x="548640" y="2240280"/>
            <a:ext cx="3337560" cy="32004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Decisions captured today are entered into the CMDB Accelerator Pack workbook. ECS pre-populates the ServiceNow Mapping tab with OOTB field-level configuration specs.</a:t>
            </a:r>
            <a:endParaRPr lang="en-US" sz="1100" dirty="0"/>
          </a:p>
        </p:txBody>
      </p:sp>
      <p:sp>
        <p:nvSpPr>
          <p:cNvPr id="16" name="Shape 13"/>
          <p:cNvSpPr/>
          <p:nvPr/>
        </p:nvSpPr>
        <p:spPr>
          <a:xfrm>
            <a:off x="4251960" y="1417320"/>
            <a:ext cx="3611880" cy="4114800"/>
          </a:xfrm>
          <a:prstGeom prst="rect">
            <a:avLst/>
          </a:prstGeom>
          <a:solidFill>
            <a:srgbClr val="F7F9FC"/>
          </a:solidFill>
          <a:ln w="12700">
            <a:solidFill>
              <a:srgbClr val="E2E8F0"/>
            </a:solidFill>
            <a:prstDash val="solid"/>
          </a:ln>
        </p:spPr>
        <p:txBody>
          <a:bodyPr/>
          <a:p/>
        </p:txBody>
      </p:sp>
      <p:sp>
        <p:nvSpPr>
          <p:cNvPr id="17" name="Shape 14"/>
          <p:cNvSpPr/>
          <p:nvPr/>
        </p:nvSpPr>
        <p:spPr>
          <a:xfrm>
            <a:off x="4251960" y="1417320"/>
            <a:ext cx="3611880" cy="475488"/>
          </a:xfrm>
          <a:prstGeom prst="rect">
            <a:avLst/>
          </a:prstGeom>
          <a:solidFill>
            <a:srgbClr val="0D9488"/>
          </a:solidFill>
          <a:ln w="12700">
            <a:solidFill>
              <a:srgbClr val="0D9488"/>
            </a:solidFill>
            <a:prstDash val="solid"/>
          </a:ln>
        </p:spPr>
        <p:txBody>
          <a:bodyPr/>
          <a:p/>
        </p:txBody>
      </p:sp>
      <p:sp>
        <p:nvSpPr>
          <p:cNvPr id="18" name="Text 15"/>
          <p:cNvSpPr/>
          <p:nvPr/>
        </p:nvSpPr>
        <p:spPr>
          <a:xfrm>
            <a:off x="4343400" y="1417320"/>
            <a:ext cx="475488" cy="475488"/>
          </a:xfrm>
          <a:prstGeom prst="rect">
            <a:avLst/>
          </a:prstGeom>
          <a:noFill/>
          <a:ln/>
        </p:spPr>
        <p:txBody>
          <a:bodyPr wrap="square" lIns="0" tIns="0" rIns="0" bIns="0" rtlCol="0" anchor="ctr"/>
          <a:lstStyle/>
          <a:p>
            <a:pPr indent="0" marL="0">
              <a:buNone/>
            </a:pPr>
            <a:r>
              <a:rPr lang="en-US" sz="1800" b="1" dirty="0">
                <a:solidFill>
                  <a:srgbClr val="FFFFFF"/>
                </a:solidFill>
              </a:rPr>
              <a:t>02</a:t>
            </a:r>
            <a:endParaRPr lang="en-US" sz="1800" dirty="0"/>
          </a:p>
        </p:txBody>
      </p:sp>
      <p:sp>
        <p:nvSpPr>
          <p:cNvPr id="19" name="Text 16"/>
          <p:cNvSpPr/>
          <p:nvPr/>
        </p:nvSpPr>
        <p:spPr>
          <a:xfrm>
            <a:off x="4873752" y="1444752"/>
            <a:ext cx="2880360" cy="420624"/>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Sprint Configuration</a:t>
            </a:r>
            <a:endParaRPr lang="en-US" sz="1200" dirty="0"/>
          </a:p>
        </p:txBody>
      </p:sp>
      <p:sp>
        <p:nvSpPr>
          <p:cNvPr id="20" name="Text 17"/>
          <p:cNvSpPr/>
          <p:nvPr/>
        </p:nvSpPr>
        <p:spPr>
          <a:xfrm>
            <a:off x="4389120" y="1965960"/>
            <a:ext cx="3337560" cy="237744"/>
          </a:xfrm>
          <a:prstGeom prst="rect">
            <a:avLst/>
          </a:prstGeom>
          <a:noFill/>
          <a:ln/>
        </p:spPr>
        <p:txBody>
          <a:bodyPr wrap="square" rtlCol="0" anchor="ctr"/>
          <a:lstStyle/>
          <a:p>
            <a:pPr indent="0" marL="0">
              <a:buNone/>
            </a:pPr>
            <a:r>
              <a:rPr lang="en-US" sz="900" i="1" dirty="0">
                <a:solidFill>
                  <a:srgbClr val="14B8A6"/>
                </a:solidFill>
                <a:latin typeface="Calibri" pitchFamily="34" charset="0"/>
                <a:ea typeface="Calibri" pitchFamily="34" charset="-122"/>
                <a:cs typeface="Calibri" pitchFamily="34" charset="-120"/>
              </a:rPr>
              <a:t>Sprint 4 — Configuration</a:t>
            </a:r>
            <a:endParaRPr lang="en-US" sz="900" dirty="0"/>
          </a:p>
        </p:txBody>
      </p:sp>
      <p:sp>
        <p:nvSpPr>
          <p:cNvPr id="21" name="Text 18"/>
          <p:cNvSpPr/>
          <p:nvPr/>
        </p:nvSpPr>
        <p:spPr>
          <a:xfrm>
            <a:off x="4389120" y="2240280"/>
            <a:ext cx="3337560" cy="32004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ECS configures the process in ServiceNow against the completed Accelerator Pack workbook. Customer SMEs validate configuration against agreed decisions.</a:t>
            </a:r>
            <a:endParaRPr lang="en-US" sz="1100" dirty="0"/>
          </a:p>
        </p:txBody>
      </p:sp>
      <p:sp>
        <p:nvSpPr>
          <p:cNvPr id="22" name="Shape 19"/>
          <p:cNvSpPr/>
          <p:nvPr/>
        </p:nvSpPr>
        <p:spPr>
          <a:xfrm>
            <a:off x="8092440" y="1417320"/>
            <a:ext cx="3611880" cy="4114800"/>
          </a:xfrm>
          <a:prstGeom prst="rect">
            <a:avLst/>
          </a:prstGeom>
          <a:solidFill>
            <a:srgbClr val="F7F9FC"/>
          </a:solidFill>
          <a:ln w="12700">
            <a:solidFill>
              <a:srgbClr val="E2E8F0"/>
            </a:solidFill>
            <a:prstDash val="solid"/>
          </a:ln>
        </p:spPr>
        <p:txBody>
          <a:bodyPr/>
          <a:p/>
        </p:txBody>
      </p:sp>
      <p:sp>
        <p:nvSpPr>
          <p:cNvPr id="23" name="Shape 20"/>
          <p:cNvSpPr/>
          <p:nvPr/>
        </p:nvSpPr>
        <p:spPr>
          <a:xfrm>
            <a:off x="8092440" y="1417320"/>
            <a:ext cx="3611880" cy="475488"/>
          </a:xfrm>
          <a:prstGeom prst="rect">
            <a:avLst/>
          </a:prstGeom>
          <a:solidFill>
            <a:srgbClr val="0D9488"/>
          </a:solidFill>
          <a:ln w="12700">
            <a:solidFill>
              <a:srgbClr val="0D9488"/>
            </a:solidFill>
            <a:prstDash val="solid"/>
          </a:ln>
        </p:spPr>
        <p:txBody>
          <a:bodyPr/>
          <a:p/>
        </p:txBody>
      </p:sp>
      <p:sp>
        <p:nvSpPr>
          <p:cNvPr id="24" name="Text 21"/>
          <p:cNvSpPr/>
          <p:nvPr/>
        </p:nvSpPr>
        <p:spPr>
          <a:xfrm>
            <a:off x="8183880" y="1417320"/>
            <a:ext cx="475488" cy="475488"/>
          </a:xfrm>
          <a:prstGeom prst="rect">
            <a:avLst/>
          </a:prstGeom>
          <a:noFill/>
          <a:ln/>
        </p:spPr>
        <p:txBody>
          <a:bodyPr wrap="square" lIns="0" tIns="0" rIns="0" bIns="0" rtlCol="0" anchor="ctr"/>
          <a:lstStyle/>
          <a:p>
            <a:pPr indent="0" marL="0">
              <a:buNone/>
            </a:pPr>
            <a:r>
              <a:rPr lang="en-US" sz="1800" b="1" dirty="0">
                <a:solidFill>
                  <a:srgbClr val="FFFFFF"/>
                </a:solidFill>
              </a:rPr>
              <a:t>03</a:t>
            </a:r>
            <a:endParaRPr lang="en-US" sz="1800" dirty="0"/>
          </a:p>
        </p:txBody>
      </p:sp>
      <p:sp>
        <p:nvSpPr>
          <p:cNvPr id="25" name="Text 22"/>
          <p:cNvSpPr/>
          <p:nvPr/>
        </p:nvSpPr>
        <p:spPr>
          <a:xfrm>
            <a:off x="8714232" y="1444752"/>
            <a:ext cx="2880360" cy="420624"/>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Live OOTB Walkthrough</a:t>
            </a:r>
            <a:endParaRPr lang="en-US" sz="1200" dirty="0"/>
          </a:p>
        </p:txBody>
      </p:sp>
      <p:sp>
        <p:nvSpPr>
          <p:cNvPr id="26" name="Text 23"/>
          <p:cNvSpPr/>
          <p:nvPr/>
        </p:nvSpPr>
        <p:spPr>
          <a:xfrm>
            <a:off x="8229600" y="1965960"/>
            <a:ext cx="3337560" cy="237744"/>
          </a:xfrm>
          <a:prstGeom prst="rect">
            <a:avLst/>
          </a:prstGeom>
          <a:noFill/>
          <a:ln/>
        </p:spPr>
        <p:txBody>
          <a:bodyPr wrap="square" rtlCol="0" anchor="ctr"/>
          <a:lstStyle/>
          <a:p>
            <a:pPr indent="0" marL="0">
              <a:buNone/>
            </a:pPr>
            <a:r>
              <a:rPr lang="en-US" sz="900" i="1" dirty="0">
                <a:solidFill>
                  <a:srgbClr val="14B8A6"/>
                </a:solidFill>
                <a:latin typeface="Calibri" pitchFamily="34" charset="0"/>
                <a:ea typeface="Calibri" pitchFamily="34" charset="-122"/>
                <a:cs typeface="Calibri" pitchFamily="34" charset="-120"/>
              </a:rPr>
              <a:t>End of sprint demo</a:t>
            </a:r>
            <a:endParaRPr lang="en-US" sz="900" dirty="0"/>
          </a:p>
        </p:txBody>
      </p:sp>
      <p:sp>
        <p:nvSpPr>
          <p:cNvPr id="27" name="Text 24"/>
          <p:cNvSpPr/>
          <p:nvPr/>
        </p:nvSpPr>
        <p:spPr>
          <a:xfrm>
            <a:off x="8229600" y="2240280"/>
            <a:ext cx="3337560" cy="32004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ECS walks the customer through the configured OOTB process in a live ServiceNow instance. Every decision from today is visible in the system.</a:t>
            </a:r>
            <a:endParaRPr lang="en-US" sz="1100" dirty="0"/>
          </a:p>
        </p:txBody>
      </p:sp>
      <p:sp>
        <p:nvSpPr>
          <p:cNvPr id="28" name="Shape 25"/>
          <p:cNvSpPr/>
          <p:nvPr/>
        </p:nvSpPr>
        <p:spPr>
          <a:xfrm>
            <a:off x="457200" y="5650992"/>
            <a:ext cx="11247120" cy="566928"/>
          </a:xfrm>
          <a:prstGeom prst="rect">
            <a:avLst/>
          </a:prstGeom>
          <a:solidFill>
            <a:srgbClr val="F0FDFA"/>
          </a:solidFill>
          <a:ln w="12700">
            <a:solidFill>
              <a:srgbClr val="CCF0EA"/>
            </a:solidFill>
            <a:prstDash val="solid"/>
          </a:ln>
        </p:spPr>
        <p:txBody>
          <a:bodyPr/>
          <a:p/>
        </p:txBody>
      </p:sp>
      <p:sp>
        <p:nvSpPr>
          <p:cNvPr id="29" name="Text 26"/>
          <p:cNvSpPr/>
          <p:nvPr/>
        </p:nvSpPr>
        <p:spPr>
          <a:xfrm>
            <a:off x="594360" y="5696712"/>
            <a:ext cx="10972800" cy="475488"/>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Note:  </a:t>
            </a:r>
            <a:pPr indent="0" marL="0">
              <a:buNone/>
            </a:pPr>
            <a:r>
              <a:rPr lang="en-US" sz="1000" dirty="0">
                <a:solidFill>
                  <a:srgbClr val="334155"/>
                </a:solidFill>
                <a:latin typeface="Calibri" pitchFamily="34" charset="0"/>
                <a:ea typeface="Calibri" pitchFamily="34" charset="-122"/>
                <a:cs typeface="Calibri" pitchFamily="34" charset="-120"/>
              </a:rPr>
              <a:t>This presentation does not replace the Accelerator Pack workbook. The workbook is the living record — decisions formally captured, configuration data collected, and customer sign-off obtained before sprint build begins.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3A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Shape 0"/>
          <p:cNvSpPr/>
          <p:nvPr/>
        </p:nvSpPr>
        <p:spPr>
          <a:xfrm>
            <a:off x="365760" y="6556248"/>
            <a:ext cx="11430000" cy="0"/>
          </a:xfrm>
          <a:prstGeom prst="line">
            <a:avLst/>
          </a:prstGeom>
          <a:noFill/>
          <a:ln w="6350">
            <a:solidFill>
              <a:srgbClr val="2A4A70"/>
            </a:solidFill>
            <a:prstDash val="solid"/>
          </a:ln>
        </p:spPr>
        <p:txBody>
          <a:bodyPr/>
          <a:p/>
        </p:txBody>
      </p:sp>
      <p:sp>
        <p:nvSpPr>
          <p:cNvPr id="4" name="Text 1"/>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5A7A9F"/>
                </a:solidFill>
              </a:rPr>
              <a:t>Everforth ECS Federal</a:t>
            </a:r>
            <a:endParaRPr lang="en-US" sz="800" dirty="0"/>
          </a:p>
        </p:txBody>
      </p:sp>
      <p:sp>
        <p:nvSpPr>
          <p:cNvPr id="5" name="Text 2"/>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5A7A9F"/>
                </a:solidFill>
              </a:rPr>
              <a:t>CONNECTION  ·  MODERNIZING THE CORE  ·  CMDB</a:t>
            </a:r>
            <a:endParaRPr lang="en-US" sz="800" dirty="0"/>
          </a:p>
        </p:txBody>
      </p:sp>
      <p:sp>
        <p:nvSpPr>
          <p:cNvPr id="6" name="Text 3"/>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5A7A9F"/>
                </a:solidFill>
              </a:rPr>
              <a:t>17</a:t>
            </a:r>
            <a:endParaRPr lang="en-US" sz="800" dirty="0"/>
          </a:p>
        </p:txBody>
      </p:sp>
      <p:sp>
        <p:nvSpPr>
          <p:cNvPr id="7" name="Shape 4"/>
          <p:cNvSpPr/>
          <p:nvPr/>
        </p:nvSpPr>
        <p:spPr>
          <a:xfrm>
            <a:off x="457200" y="1737360"/>
            <a:ext cx="64008" cy="1920240"/>
          </a:xfrm>
          <a:prstGeom prst="rect">
            <a:avLst/>
          </a:prstGeom>
          <a:solidFill>
            <a:srgbClr val="14B8A6"/>
          </a:solidFill>
          <a:ln w="12700">
            <a:solidFill>
              <a:srgbClr val="14B8A6"/>
            </a:solidFill>
            <a:prstDash val="solid"/>
          </a:ln>
        </p:spPr>
        <p:txBody>
          <a:bodyPr/>
          <a:p/>
        </p:txBody>
      </p:sp>
      <p:sp>
        <p:nvSpPr>
          <p:cNvPr id="8" name="Text 5"/>
          <p:cNvSpPr/>
          <p:nvPr/>
        </p:nvSpPr>
        <p:spPr>
          <a:xfrm>
            <a:off x="685800" y="1645920"/>
            <a:ext cx="10058400" cy="914400"/>
          </a:xfrm>
          <a:prstGeom prst="rect">
            <a:avLst/>
          </a:prstGeom>
          <a:noFill/>
          <a:ln/>
        </p:spPr>
        <p:txBody>
          <a:bodyPr wrap="square"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Questions?</a:t>
            </a:r>
            <a:endParaRPr lang="en-US" sz="4600" dirty="0"/>
          </a:p>
        </p:txBody>
      </p:sp>
      <p:sp>
        <p:nvSpPr>
          <p:cNvPr id="9" name="Text 6"/>
          <p:cNvSpPr/>
          <p:nvPr/>
        </p:nvSpPr>
        <p:spPr>
          <a:xfrm>
            <a:off x="685800" y="2697480"/>
            <a:ext cx="10058400" cy="502920"/>
          </a:xfrm>
          <a:prstGeom prst="rect">
            <a:avLst/>
          </a:prstGeom>
          <a:noFill/>
          <a:ln/>
        </p:spPr>
        <p:txBody>
          <a:bodyPr wrap="square" rtlCol="0" anchor="ctr"/>
          <a:lstStyle/>
          <a:p>
            <a:pPr indent="0" marL="0">
              <a:buNone/>
            </a:pPr>
            <a:r>
              <a:rPr lang="en-US" sz="2200" dirty="0">
                <a:solidFill>
                  <a:srgbClr val="14B8A6"/>
                </a:solidFill>
                <a:latin typeface="Trebuchet MS" pitchFamily="34" charset="0"/>
                <a:ea typeface="Trebuchet MS" pitchFamily="34" charset="-122"/>
                <a:cs typeface="Trebuchet MS" pitchFamily="34" charset="-120"/>
              </a:rPr>
              <a:t>Let's close the decision log.</a:t>
            </a:r>
            <a:endParaRPr lang="en-US" sz="2200" dirty="0"/>
          </a:p>
        </p:txBody>
      </p:sp>
      <p:sp>
        <p:nvSpPr>
          <p:cNvPr id="10" name="Text 7"/>
          <p:cNvSpPr/>
          <p:nvPr/>
        </p:nvSpPr>
        <p:spPr>
          <a:xfrm>
            <a:off x="685800" y="3337560"/>
            <a:ext cx="10058400" cy="2286000"/>
          </a:xfrm>
          <a:prstGeom prst="rect">
            <a:avLst/>
          </a:prstGeom>
          <a:noFill/>
          <a:ln/>
        </p:spPr>
        <p:txBody>
          <a:bodyPr wrap="square" rtlCol="0" anchor="t"/>
          <a:lstStyle/>
          <a:p>
            <a:pPr indent="0" marL="0">
              <a:buNone/>
            </a:pPr>
            <a:r>
              <a:rPr lang="en-US" sz="1400" b="1" dirty="0">
                <a:solidFill>
                  <a:srgbClr val="9CB8D8"/>
                </a:solidFill>
                <a:latin typeface="Calibri" pitchFamily="34" charset="0"/>
                <a:ea typeface="Calibri" pitchFamily="34" charset="-122"/>
                <a:cs typeface="Calibri" pitchFamily="34" charset="-120"/>
              </a:rPr>
              <a:t>Three questions before we adjourn:
</a:t>
            </a:r>
            <a:endParaRPr lang="en-US" sz="1400" dirty="0"/>
          </a:p>
          <a:p>
            <a:pPr marL="342900" indent="-342900">
              <a:buSzPct val="100000"/>
              <a:buChar char="•"/>
            </a:pPr>
            <a:r>
              <a:rPr lang="en-US" sz="1400" dirty="0">
                <a:solidFill>
                  <a:srgbClr val="C8D8E8"/>
                </a:solidFill>
                <a:latin typeface="Calibri" pitchFamily="34" charset="0"/>
                <a:ea typeface="Calibri" pitchFamily="34" charset="-122"/>
                <a:cs typeface="Calibri" pitchFamily="34" charset="-120"/>
              </a:rPr>
              <a:t>Are all 8 decisions made — or does each open item have a named owner and a date?
</a:t>
            </a:r>
            <a:endParaRPr lang="en-US" sz="1400" dirty="0"/>
          </a:p>
          <a:p>
            <a:pPr marL="342900" indent="-342900">
              <a:buSzPct val="100000"/>
              <a:buChar char="•"/>
            </a:pPr>
            <a:r>
              <a:rPr lang="en-US" sz="1400" dirty="0">
                <a:solidFill>
                  <a:srgbClr val="C8D8E8"/>
                </a:solidFill>
                <a:latin typeface="Calibri" pitchFamily="34" charset="0"/>
                <a:ea typeface="Calibri" pitchFamily="34" charset="-122"/>
                <a:cs typeface="Calibri" pitchFamily="34" charset="-120"/>
              </a:rPr>
              <a:t>Is there anything we captured incorrectly that needs to be corrected before the workbook is updated?
</a:t>
            </a:r>
            <a:endParaRPr lang="en-US" sz="1400" dirty="0"/>
          </a:p>
          <a:p>
            <a:pPr marL="342900" indent="-342900">
              <a:buSzPct val="100000"/>
              <a:buChar char="•"/>
            </a:pPr>
            <a:r>
              <a:rPr lang="en-US" sz="1400" dirty="0">
                <a:solidFill>
                  <a:srgbClr val="C8D8E8"/>
                </a:solidFill>
                <a:latin typeface="Calibri" pitchFamily="34" charset="0"/>
                <a:ea typeface="Calibri" pitchFamily="34" charset="-122"/>
                <a:cs typeface="Calibri" pitchFamily="34" charset="-120"/>
              </a:rPr>
              <a:t>Is there a decision that needs escalation or leadership approval before Sprint 4 configuration begins?</a:t>
            </a:r>
            <a:endParaRPr lang="en-US" sz="1400" dirty="0"/>
          </a:p>
        </p:txBody>
      </p:sp>
      <p:sp>
        <p:nvSpPr>
          <p:cNvPr id="11" name="Text 8"/>
          <p:cNvSpPr/>
          <p:nvPr/>
        </p:nvSpPr>
        <p:spPr>
          <a:xfrm>
            <a:off x="457200" y="6199632"/>
            <a:ext cx="9144000" cy="256032"/>
          </a:xfrm>
          <a:prstGeom prst="rect">
            <a:avLst/>
          </a:prstGeom>
          <a:noFill/>
          <a:ln/>
        </p:spPr>
        <p:txBody>
          <a:bodyPr wrap="square" rtlCol="0" anchor="ctr"/>
          <a:lstStyle/>
          <a:p>
            <a:pPr indent="0" marL="0">
              <a:buNone/>
            </a:pPr>
            <a:r>
              <a:rPr lang="en-US" sz="1000" dirty="0">
                <a:solidFill>
                  <a:srgbClr val="3A5A7F"/>
                </a:solidFill>
              </a:rPr>
              <a:t>Contact your ECS Account Executive  ·  servicenow@ecstech.com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2026-05-12T05:27:11Z</dcterms:created>
  <dcterms:modified xsi:type="dcterms:W3CDTF">2026-05-12T05:27:11Z</dcterms:modified>
</cp:coreProperties>
</file>