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Management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Recurring Incidents and Building a Root Cause Culture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5669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8992" y="120700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78992" y="146304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720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78992" y="2011680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26771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between configuration, extension, and customization — with examples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5720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8992" y="2816352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Problem Process Walkthrough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78992" y="307238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ServiceNow problem lifecycle in OOTB form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78992" y="3621024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78992" y="38770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states, categorization, KEDB, assignment, SLAs, communications, AI, and change linkage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078992" y="4425696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681728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06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78992" y="5230368"/>
            <a:ext cx="10058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78992" y="5486400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6236208"/>
            <a:ext cx="1124712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Decisions get made in this room. The OOTB recommendation is pre-populated. Your job is to confirm, adjust with rationale, or defer with a named owner and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25880"/>
            <a:ext cx="3611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673352"/>
            <a:ext cx="3611880" cy="45902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OOTB ServiceNow capability — not legacy system patterns.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defining taxonomies, building assignment rules) is always available.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206240" y="1325880"/>
            <a:ext cx="36118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20624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206240" y="1673352"/>
            <a:ext cx="3611880" cy="4590288"/>
          </a:xfrm>
          <a:prstGeom prst="rect">
            <a:avLst/>
          </a:prstGeom>
          <a:solidFill>
            <a:srgbClr val="F0F4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34340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 — require clean OOTB-aligned data structures. Custom fields degrade prediction accuracy.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continuity — OOTB configurations survive platform upgrades automatically. Custom scripts do not.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 — the 18-week plan is built around OOTB configuration velocity.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ROI — PI, Virtual Agent, and PA only realize full value on clean OOTB foundations.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55280" y="1325880"/>
            <a:ext cx="3611880" cy="347472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955280" y="13258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Enables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55280" y="1673352"/>
            <a:ext cx="3611880" cy="459028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092440" y="1783080"/>
            <a:ext cx="33375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active from Sprint 3 — category and assignment group prediction at go-live.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problem summarization and AI-generated root cause notes from day one.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on OOTB KPIs — MTTR reduction, recurrence rate, open problem aging — without custom reporting.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incident-to-problem linkage and known error management using OOTB KEDB.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5394960" cy="4526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Approval + Business Case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94360" y="1828800"/>
            <a:ext cx="51206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OOTB problem states and configuring On Hold reasons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problem categories aligned to the incident taxonomy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assignment rules by category, CI, and support group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Creating Known Error records and workaround documentation in KEDB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SLA targets for time-to-root-cause and time-to-resolution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up notification recipients for problem review milestones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Predictive Intelligence for problem categorization and assignment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Activating Performance Analytics dashboards for problem aging and recurrence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Linking problems to incidents and changes using OOTB relationship fields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the Problem Manager and Problem Coordinator roles via OOTB role assignment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55080" y="1828800"/>
            <a:ext cx="52578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custom states to the problem lifecycle (e.g., 'Pending Vendor Review')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a 'severity' field separate from OOTB Priority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Scripts that auto-promote incidents to problems based on recurrence count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KEDB portal views outside the OOTB Employee Center knowledge integration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New notification triggers beyond the OOTB event-based set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approval workflows on problem closure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Business rules that auto-assign root cause categories from incident text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integration scripts for external ITSM tool hand-offs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Modifications to the OOTB problem form layout beyond field visibility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dashboards duplicating OOTB Performance Analytics problem views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6400800"/>
            <a:ext cx="1124712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94360" y="644652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customization bar: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requires a code change, a new database field, or a script — it is a customization. If it can be set through the ServiceNow UI or System Properties — it is configuration.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Problem Lifecycle — End to End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417320"/>
            <a:ext cx="16642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21408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258568" y="1417320"/>
            <a:ext cx="1664208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258568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22776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059936" y="1417320"/>
            <a:ext cx="1664208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059936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ROOT CAUSE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24144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861304" y="1417320"/>
            <a:ext cx="16642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861304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FIX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PROGRESS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25512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662672" y="1417320"/>
            <a:ext cx="1664208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7662672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RESOLVED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326880" y="1709928"/>
            <a:ext cx="137160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9464040" y="1417320"/>
            <a:ext cx="1664208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464040" y="1417320"/>
            <a:ext cx="16642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5084064" cy="438912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94360" y="2286000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Error Database (KEDB):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during Root Cause Analysis. Workaround documented and surfaced to agents and Employee Center.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0" y="2267712"/>
            <a:ext cx="580644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080760" y="228600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Linkage (OOTB):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incidents linked to one problem. Problem closure auto-resolves linked incidents (configurable).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2834640"/>
            <a:ext cx="36576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How Problems Are Created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57200" y="3163824"/>
            <a:ext cx="3657600" cy="3063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594360" y="3255264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creation by Problem Manager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from recurring incident (manual link)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from Major Incident resolution workflow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from CMDB CI anomaly (with Event Management)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251960" y="2834640"/>
            <a:ext cx="3657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4251960" y="28346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Problem Investigation Methods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251960" y="3163824"/>
            <a:ext cx="3657600" cy="3063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389120" y="3255264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 (documented in Work Notes)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Fishbone / Ishikawa (free text, OOTB)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Tree Analysis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reconstruction from linked incidents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046720" y="2834640"/>
            <a:ext cx="3931920" cy="329184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046720" y="28346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Features Active at Go-Live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046720" y="3163824"/>
            <a:ext cx="3931920" cy="3063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8183880" y="3255264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predicts category and assignment group from problem text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generates AI problem summaries and root cause drafts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dashboards: problem aging, recurrence rate, open KEDB count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you use the OOTB problem lifecycle — or require custom states?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Problem States (6):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Assess  →  Root Cause Analysis  →  Fix in Progress  →  Resolved  →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On Hold Reasons: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Vendor  ·  Awaiting Change  ·  Awaiting Procurement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→ Closed after a configurable number of days. Closure can auto-resolve linked incidents (OOTB toggle).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6-state lifecycle maps directly to ITIL problem management stages. PA reporting and PI training are built on these exact state transitions.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Accept all 6 OOTB states without modification? (Strongly recommended)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 3 OOTB On Hold reasons sufficient — or is there a specific hold scenario not covered?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Auto-close threshold: how many days after resolution before automatic closure?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problem closure auto-resolve linked open incidents — or require manual resolution?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has authority to close a problem record — Problem Manager only, or also Problem Coordinator?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states (e.g., 'Pending Vendor Review', 'Escalated') fragment PA lifecycle reporting and require custom workflows. OOTB On Hold + Hold Reason covers 95%+ of use cases without a single line of code.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problem categories align to the incident taxonomy?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categories mirror the incident taxonomy — same top-level categories, same subcategories. This alignment is required for Predictive Intelligence to cross-train on incident and problem data.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Maximum: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top-level categories, 4–8 subcategories each.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CI (Configuration Item) linkage is OOTB — problems attach directly to affected CIs, enabling CMDB-based recurrence trending.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taxonomy enables PI to detect recurring incident patterns and suggest related problems automatically. Diverging taxonomies break this capability.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 incident categories (agreed in the Incident workshop) the right top-level categories for problems?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problem subcategories be identical to incident subcategories — or is a simplified subset preferred?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Will problems be linked to specific CIs at creation — or is CI linkage optional?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recurrence threshold that triggers a problem record? (e.g., 3+ linked incidents within 30 days)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incident and problem taxonomies are the #1 cause of broken PI cross-training. Define the problem taxonomy in the same session as incident categories — not as a follow-on task.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Known Error Database (KEDB) be managed and surfaced?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KEDB Capability: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Error records are created directly from a Problem record in Root Cause Analysis state. The Known Error record includes: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field — visible to service desk agents on linked incidents.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article linkage — KEDB entries can promote to Knowledge articles via OOTB candidacy workflow.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surfacing — OOTB KB search can expose known error workarounds to end users.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Draft → Published → Retired — OOTB KEDB states, no custom workflow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is authorized to create Known Error records — Problem Manager only, or also Problem Coordinator?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workarounds be visible to service desk agents on the incident form — or restricted to Problem team?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KEDB entries be surfaced to end users via Employee Center KB search?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owns KB article promotion from KEDB — Knowledge Manager, Problem Manager, or both?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review cadence for open Known Error records — weekly, monthly, or event-triggered?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KEDB is only valuable if workarounds reach the agents who need them. Define visibility and ownership now — a KEDB with restricted access provides zero incident deflection benefit.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problems be assigned — and who owns the Problem Manager role?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Assignment Engine: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rules based on Category, CI, and Assignment Group — identical engine to Incident Management. First matching rule wins. No scripting required.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Roles: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Manager — owns the problem record, drives investigation, closes.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Coordinator — works under Problem Manager, updates work notes, coordinates vendor.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Layer: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suggests the assignment group based on problem category and CI history — supplementing rules with ML-based routing.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is the named Problem Manager at go-live? (Must be identified before Sprint 4)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assignment groups will own problem investigation — same groups as incident, or a dedicated problem team?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there a Tier 1 / Tier 2 escalation model for problems — or does the Problem Manager own all?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problems be manually assigned (Problem Manager picks the team) or auto-routed by category rule?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Management without a named Problem Manager is the most common reason problem records go stale. The role must be assigned before Sprint 4 begins — not as a post-go-live action item.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your SLA targets and KPIs for problem investigation?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SLA Framework: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problem SLAs measure time-to-root-cause and time-to-resolution by priority. Breach notifications are sent to the Problem Manager — OOTB, no custom scripts.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PA Problem KPIs: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aging (by priority)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recurrence rate (incidents per known error)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root cause (MTTRC)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KEDB coverage rate (% incidents with a linked known error)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closure rate vs. open count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KPIs are PA-native — active at go-live with zero custom reporting.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target time-to-root-cause by priority (P1/P2/P3)?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target time-to-resolution (fix deployed or workaround confirmed) by priority?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receives SLA breach notifications — Problem Manager, Service Owner, or both?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there contractual SLA obligations for problem resolution from any service agreements?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target for KEDB coverage — what % of recurring incidents should have a known error within 30 days?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proliferation — different targets per service, department, or CI — is the #1 source of problem management technical debt. Standardize first. Carve-outs require documented business cases.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gets notified — and when — throughout the problem lifecycle?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Notification Events: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Opened  ·  Assigned  ·  Root Cause Identified  ·  Known Error Created  ·  Resolved  ·  Closed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(OOTB templates — text content configurable) and ServiceNow Workspace activity feed (real-time). No custom notification scripts needed.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Incident Notifications: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Known Error workaround is published, agents on linked incidents are notified automatically — OOTB.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Event-based notifications reduce noise. Workspace provides real-time status for agents.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 the OOTB notification events sufficient — or is there a specific milestone not covered?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service desk agents be notified when a Known Error workaround is published for incidents in their queue?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IT leadership receive a weekly digest of open problems by priority — or is PA dashboard access sufficient?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affected users be notified when a Known Error workaround is published for their incident?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notification on every state change creates notification fatigue. Adopt the OOTB event-based pattern. PA dashboards provide the executive-level visibility most stakeholders actually need.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problems link to Change Requests — and who drives the fix?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Problem → Change Linkage: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Request is created directly from a Problem record in Fix in Progress state. The change inherits the problem's CI, category, and assignment group — OOTB, no scripting.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Relationship: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record tracks the Change Request number. Change closure triggers a notification to the Problem Manager.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On Hold reason: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incidents can be placed 'Awaiting Change' — an OOTB On Hold reason that is cleared automatically when the change closes.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creates the Change Request from a problem — the Problem Manager, or the assigned change team?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Should linked incidents be automatically placed 'Awaiting Change' when a fix change is raised — or is this manual?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is responsible for closing the problem record after the change is implemented and verified?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there a post-implementation review (PIR) process for problems — and who facilitates it?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problem-to-change ownership creates a gap between root cause identification and fix delivery. Establish the handoff point before go-live — not during the first major incident review.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Predictive Intelligence and Now Assist connect to Problem Management?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Category and Assignment Group from problem text at creation. Cross-trains on incident history to surface recurring patterns. Confidence scores visible to Problem Manager.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(OOTB with license):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problem summaries, root cause draft notes, and resolution summaries — active on the OOTB problem form with zero configuration.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(OOTB):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aging, recurrence rate, KEDB coverage, and MTTRC dashboards — active at go-live, no custom reporting build.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Pattern Detection: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 identifies clusters of incidents with similar category/CI patterns and flags them for problem investigation — OOTB.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Enable Predictive Intelligence for problem at Sprint 4 — or defer? (ECS recommendation: Sprint 4, same data model as Incident PI)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Now Assist licensed for this engagement? If yes, confirm it is in scope for problem summarization.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Who reviews AI-generated root cause drafts before they are saved to the problem record?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is the recurrence threshold (count + time window) that PI should use to flag incident clusters for problem creation?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Delaying PI for problem 'until the incident data is cleaner' compounds the incident PI delay error. PI trains on OOTB data from Sprint 3. Problem PI at Sprint 4 uses that training signal — every week of delay is wasted signal.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Management — Decisions Made in This Workshop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5029200"/>
                <a:gridCol w="22860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Decision Topic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Decision Made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 / Due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Problem States &amp; Lifecycle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states accepted / On Hold reasons / auto-close / linked incident resolution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Category Taxonomy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Problem categories aligned to incident taxonomy / CI linkage / recurrence threshold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Known Error Database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KEDB creator roles / agent visibility / employee center surfacing / KB promotion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Assignment &amp; Ownership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Problem Manager named / assignment groups / escalation model / routing method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SLA Targets &amp; KPIs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Time-to-root-cause / time-to-resolution by priority / breach recipients / KPI targets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Notifications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OOTB events accepted / agent workaround alerts / leadership digest / user notifications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Change Linkage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Change request ownership / Awaiting Change toggle / PIR process / problem closure authority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</a:rPr>
                        <a:t>#8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AI &amp; Analytics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PI go-live sprint / Now Assist scope / root cause review owner / incident cluster threshold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34440" y="143560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1764792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34440" y="1984248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Problem Management Accelerator Pack workbook (Process Decisions tab).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pre-populates the ServiceNow Mapping tab with OOTB field-level configuration specs.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 completes any open items in the Configuration Data tab before Sprint 4 begins.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95351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57200" y="3044952"/>
            <a:ext cx="64008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57200" y="3044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234440" y="3063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4 — Configuration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4440" y="3392424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2–3: ITSM Core Build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34440" y="3611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problem process in ServiceNow against the completed Accelerator Pack workbook.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assignment rules, KEDB setup, SLAs, notifications, and PI activation are all executed in Sprint 4.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SMEs validate configuration against agreed decisions in UAT.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58114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57200" y="4672584"/>
            <a:ext cx="640080" cy="640080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57200" y="46725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34440" y="469087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34440" y="5020056"/>
            <a:ext cx="10058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Demo / UAT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234440" y="5239512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problem lifecycle in a live ServiceNow instance.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from this workshop is visible in the system — no black box.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scenarios are drawn directly from the Accelerator Pack and this decision log.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6400800"/>
            <a:ext cx="1124712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94360" y="6446520"/>
            <a:ext cx="10972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 It sets the stage. The workbook is where decisions are formally captured, configuration data is collected, and UAT is tracked.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PROBLEM MANAGEMENT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64008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280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33375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8130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428853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begins?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60350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2026-05-12T00:43:28Z</dcterms:created>
  <dcterms:modified xsi:type="dcterms:W3CDTF">2026-05-12T00:43:28Z</dcterms:modified>
</cp:coreProperties>
</file>