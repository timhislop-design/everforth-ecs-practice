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85800" y="2331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Management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3090672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AI Realization and Optimizing Long-Term Value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2128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72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configuration, extension, and customization — with examples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272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720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728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Incident Process Walkthrough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ServiceNow incident lifecycle in OOTB form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12984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30936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4944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#1–#9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4944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categories, states, channels, SLAs, assignment, major incident, notifications, AI integration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22128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0936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4944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09360" y="31272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3093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94944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5897880"/>
            <a:ext cx="112471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40080" y="594360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job is to confirm, adjust with rationale, or defer with a named owner and date.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298448"/>
            <a:ext cx="35661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OOTB-First Means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3566160" cy="45720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33101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ServiceNow capability — not the legacy system pattern.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category taxonomies, writing assignment rules) is always available — it is how OOTB is tailored to your organization.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0248" y="1298448"/>
            <a:ext cx="35661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70248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Protects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70248" y="1709928"/>
            <a:ext cx="356616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407408" y="1828800"/>
            <a:ext cx="33101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structures to function. Custom fields and states degrade prediction accuracy.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continuity — OOTB configurations survive platform upgrades automatically. Custom code and scripts do not.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— the 18-week plan is built around OOTB configuration velocity. Custom build inserts unknown lead time.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ROI — PI, Virtual Agent, and Performance Analytics only realize full value on clean OOTB foundations.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83296" y="1298448"/>
            <a:ext cx="35661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083296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Enables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83296" y="1709928"/>
            <a:ext cx="3566160" cy="45720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220456" y="1828800"/>
            <a:ext cx="33101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active from Sprint 3 — category, subcategory, and assignment group prediction at go-live.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case summarization and AI-generated resolution notes from day one, with no additional configuration.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on OOTB KPIs — MTTR, FCR rate, SLA attainment, reopen rate — without a custom reporting build.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capability (Virtual Agent deflection, Event Management, Major Incident) without re-platforming.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261872"/>
            <a:ext cx="53949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2618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673352"/>
            <a:ext cx="5394960" cy="39776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01368"/>
            <a:ext cx="512064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the 5 OOTB priority levels and Impact × Urgency matrix values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incident categories and subcategories (names, taxonomy)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groups and auto-assignment rules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SLA response and resolution targets by priority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 recipients and editing email template text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intake channels (Employee Center, Email, Virtual Agent, Walk-up)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the auto-close threshold (e.g., 7 or 14 days)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Predictive Intelligence for category and group prediction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On Hold reasons within the OOTB On Hold framework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Major Incident criteria thresholds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61872"/>
            <a:ext cx="557784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172200" y="12618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CUSTOMIZATION  —  Requires Approval + Business Case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673352"/>
            <a:ext cx="5577840" cy="397764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09360" y="1801368"/>
            <a:ext cx="530352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custom states to the incident lifecycle (e.g., 'Pending Vendor')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a 'severity' field separate from OOTB Impact and Urgency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Scripts that auto-set field values based on caller, CI, or other conditions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email parsing rules that assign categories from subject lines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New notification triggers beyond the OOTB set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Priority levels beyond 5 (e.g., 6, 7, or 8 levels)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approval workflows on incidents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Modifications to the OOTB incident form layout beyond field visibility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Business rules that override Priority auto-calculation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integration scripts for external ticketing hand-offs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760720"/>
            <a:ext cx="1124712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806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bar: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requires a code change, a new database field, or a script — it is a customization. If it can be set through the ServiceNow UI or System Properties — it is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Incident Lifecycle — End to 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115568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HOW INCIDENTS ARE CREATED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4864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2608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92608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Phone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Desk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0352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Email-to-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68096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Virtual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84648" y="1883664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864608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2331720"/>
            <a:ext cx="10972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7200" y="23317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103120" y="2331720"/>
            <a:ext cx="19202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103120" y="2331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PRIORITIZE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2331720"/>
            <a:ext cx="16002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572000" y="23317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ASSIGN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720840" y="2331720"/>
            <a:ext cx="173736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720840" y="23317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006840" y="2331720"/>
            <a:ext cx="14173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006840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954512" y="2331720"/>
            <a:ext cx="9144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954512" y="23317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55448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02336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17220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45820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0424160" y="233172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589520" y="2990088"/>
            <a:ext cx="0" cy="4114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269480" y="29718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↕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720840" y="3401568"/>
            <a:ext cx="173736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720840" y="34015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 HOLD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0" y="400507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Awaiting Caller  ·  Awaiting Change  ·  Awaiting Problem  ·  Awaiting Vendor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56132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Auto-close after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7 days (configurable)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7200" y="4407408"/>
            <a:ext cx="530352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94360" y="449884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 Escalation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+ multi-user impact, named-service outage, or manual declaration triggers a separate Major Incident record with bridge, communication plan, and stakeholder notifications — all OOTB.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17920" y="4407408"/>
            <a:ext cx="55321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6355080" y="449884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Active at Go-Live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begins predicting Category, Subcategory, and Assignment Group from the first submitted incident. Performance Analytics OOTB dashboards (MTTR, FCR, SLA) are live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priority levels — and how will priority be calculated?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Priority Levels (OOTB Default):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  ·  P2 High  ·  P3 Moderate  ·  P4 Low  ·  P5 Planning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(1-3: Enterprise / Department / Individual) × Urgency (1-3: Critical / High / Medium) feeds the OOTB Priority Lookup matrix. Priority is set automatically.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ITIL-aligned, PA-native, and optimized for Predictive Intelligence training. 5 levels cover 99%+ of operational models.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5 OOTB priority levels as-is — or is there a documented business case for a different count?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Accept the OOTB Impact × Urgency matrix — or does the service desk use a different triage model today?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Should any VIP callers, specific CIs, or named services carry an automatic priority modifier (e.g., Executive = auto-P1)?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are the target response and resolution times by priority? (Input to Decision #5 — SLAs)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5 priority levels creates triage ambiguity, fragments PA reporting, and degrades PI prediction accuracy. The OOTB 5-level model is deliberate — not a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categories and subcategories will structure your incident queue?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Recommended Structure: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top-level categories maximum: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·  Software  ·  Network  ·  Account &amp; Access  ·  Other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subcategories per top-level, defined by the customer. Subcategories drive Predictive Intelligence prediction accuracy from the first week.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Category field is a simple dropdown — no scripting required to add or edit. Changes take effect immediately.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5 top-level categories align to your environment? (Review the suggested OOTB set vs. your current taxonomy)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subcategory names go under each top-level? Bring your current list — we will rationalize in this session.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categories used purely for routing to specific assignment groups? (That is a routing rule, not a category — we can discuss)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categories in the legacy system have zero or near-zero ticket volume? Those are candidates for immediate pruning.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legacy category trees (20+ categories, 100+ subcategories) destroy PI prediction accuracy and slow triage. Rationalize before configuration — not during UAT.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OOTB incident lifecycle — or require custom states?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Incident States (6):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In Progress  →  On Hold  →  Resolved  →  Closed  →  Canceled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On Hold Reasons (4):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Caller  ·  Awaiting Change  ·  Awaiting Problem  ·  Awaiting Vendor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→ Closed after a configurable number of days (OOTB default: 7). Set via System Properties — no scripting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all 6 OOTB states without modification? (Strongly recommended — see OOTB Defense below)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 4 OOTB On Hold Reasons sufficient? If not, identify the specific reason and we will evaluate whether it maps to an existing reason.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Auto-close threshold: 7 days (OOTB default) or a different value? Note: longer thresholds increase queue noise.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Caller reopen window: How many business days after resolution should callers be able to reopen? (OOTB default: none — any reopen creates a new incident)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states (e.g., 'Pending Vendor', 'Pending Approval') proliferate quickly, break PA lifecycle reporting, and require custom workflows. OOTB On Hold + Hold Reason covers 95%+ of use cases.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incident intake channels will be active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OOTB Intake Channels: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— self-service portal, incident submission form, knowledge search before ticket creation.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Email-to-Incident — inbound email action creates incident automatically; Predictive Intelligence predicts category from body text.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Agent-Created — service desk agent creates on behalf of caller; Walk-up queue optional.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— conversational triage, deflects to KB articles before creating incident. OOTB NLU flows for incident creation included.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channels are in scope at go-live vs. phased in? (Virtual Agent often phases to Sprint 5 — confirm scope now)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Email-to-Incident: Which inbound email address(es) should trigger incident creation? What happens to emails from unknown senders?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Walk-up queue: Is there a physical service desk location requiring a Walk-up queue in ServiceNow?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Employee Center: Will this be the primary self-service channel? Is there a legacy portal that needs a deprecation plan?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proliferation without a governance model creates duplicate incidents and splits reporting. Define the primary channel and deflection strategy now — not during hypercare.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your SLA targets by priority — response time, resolution time, and schedule?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Framework: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definitions for each priority. Separate response SLA (time to first response) and resolution SLA (time to close). Breach notifications to assignment group lead and incident manager — OOTB.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Options: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(configurable: 8×5, 8×7) or 24×7 — or a mix by priority. P1 is typically 24×7; P3/P4 business hours.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Integration: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attainment KPIs appear in Performance Analytics dashboards immediately on activation — no custom reporting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response time targets for P1–P5? (Bring existing SLA commitments — we will map to OOTB definitions)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are the resolution time targets for P1–P5?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24×7 or business hours — and does the schedule vary by priority?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receives breach notifications — assignment group lead, manager, service owner?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Are there contractual SLA differences by department or service? (If yes, scope discussion required before configuration)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proliferation — different targets per department, per category, per location — is the #1 source of SLA technical debt. Standardize first. Department carve-outs require Customization Council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incidents be routed to the right support group?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Assignment Engine: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rules based on Category, Subcategory, CI, and Location — evaluated in sequence. First matching rule wins. No scripting required — configured through the Assignment Rule UI.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Layer: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predicts the assignment group from incident text and history, supplementing rules with ML-based suggestions visible to the triage agent.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capability covers: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assignment, rule-based routing, round-robin within group, PI-suggested group. No custom dispatcher logic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assignment groups will exist at go-live? (Bring the current list — names, scope, on-call schedule if applicable)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routing hierarchy? Which categories/subcategories map to which groups?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there a Tier 1 / Tier 2 escalation model? If so, what triggers escalation and is it manual or rule-based?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manual assignment (triage agent picks the group) acceptable — or must all incidents be auto-routed?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 without rules creates bottlenecks and requires a skilled dispatcher at all times. Define assignment rules before configuration begins — not as a post-go-live cleanup.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does an incident escalate to a Major Incident — and who declares it?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Major Incident Management: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OOTB process with its own record type, bridge coordination, stakeholder communication plan, and timeline tracking — all included in ITSM without additional licensing.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Trigger Criteria Options: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+ estimated user count above a threshold  ·  P1 + named critical service impacted  ·  Manual declaration by authorized role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Communications: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invitation, stakeholder email distribution list, and resolution communication — all triggered from the Major Incident record.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user impact threshold for automatic MIM declaration? (e.g., 50+ users impacted)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services or CIs are 'named critical' — meaning any P1 affecting them is automatically a Major Incident?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has authority to declare a Major Incident manually? (Role-based — OOTB configuration)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on the Major Incident stakeholder distribution list — and should it vary by affected service?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Major Incident criteria mean either everything is declared MIM (noise, bridge fatigue) or nothing is (missed escalations). Define criteria before go-live — not during the first P1.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gets notified — and when — throughout the incident lifecycle?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 Events (6):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Created  ·  Incident Assigned  ·  On Hold  ·  Resolved  ·  Closed  ·  Reopened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(OOTB templates — text content is configurable) and ServiceNow Workspace activity feed (real-time). No custom notification scripts needed.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notifications are event-based by design. Workspace shows real-time activity. Notification on every state transition creates fatigue and reduces adoption.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 6 OOTB notification triggers sufficient — or is there a specific event that requires notification not in this set? (Provide the business case)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Caller notifications: email only, or also SMS / Teams? (SMS/Teams may require additional configuration)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Assignment group notifications: should the group lead receive a notification when the group's queue exceeds a threshold?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VIP caller handling: should executives or named VIP users receive enhanced status communication?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notification on every state change causes notification fatigue and reduces the signal-to-noise ratio. Adopt the OOTB event-based pattern — Workspace covers real-time status for agents.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Predictive Intelligence and Knowledge Management connect to the Incident process?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(OOTB):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Category, Subcategory, and Assignment Group from incident text at submission — no pre-training period. Confidence scores visible to agents. Accuracy improves over time.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Integration (OOTB):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article suggestions appear on the incident form during triage. At resolution, the Solution field is flagged for KB candidacy review. Article-to-incident linkage is tracked in PA.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(OOTB with license):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incident summaries and suggested resolution notes are active on the OOTB incident form — zero configuration required.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Enable Predictive Intelligence at go-live (Sprint 3) or defer to Sprint 5? (ECS recommendation: Sprint 3 — PI trains on live data from day one)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owns Knowledge article candidacy review? (Assigned at go-live — needs a named owner and review cadence)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Now Assist licensed for this engagement? If yes, confirm it is in scope for incident summarization.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existing knowledge base structure — and does it need rationalization before linking to incident (as part of Sprint 5 KB build)?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PI 'until the data is cleaner' is the most common AI deferral — and it is self-defeating. PI starts clean on OOTB data from Sprint 3. Every week of delay is a week of lost training signal.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1945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Management — Decisions Made in This Workshop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1148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Topic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546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951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Made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2811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Owner / Due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11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Priority Structure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5468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Priority levels (count) and Impact × Urgency method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95160" y="1581912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9281160" y="1581912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65760" y="1984248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114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8680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Category Taxonomy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15468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Top-level categories (5 max) and subcategory names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95160" y="205740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9281160" y="2057400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65760" y="2459736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114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2459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Incident States &amp; Lifecycle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154680" y="24597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OOTB states accepted / On Hold reasons / auto-close threshold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53288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9281160" y="2532888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365760" y="2935224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1148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6868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Intake Channels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154680" y="2935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Channels active at go-live vs. phased; email domains; walk-up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95160" y="3008376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281160" y="3008376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365760" y="3410712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4114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#5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68680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SLA Targets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154680" y="3410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Response + resolution targets by priority; schedule; breach recipients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995160" y="3483864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9281160" y="3483864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365760" y="3886200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11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#6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686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Assignment &amp; Routing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1546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Assignment groups; routing hierarchy; Tier 1/2 escalation model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995160" y="3959352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9281160" y="3959352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365760" y="4361688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1148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#7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8680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Major Incident Criteria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154680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Impact thresholds; named critical services; declaration authority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995160" y="443484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Shape 53"/>
          <p:cNvSpPr/>
          <p:nvPr/>
        </p:nvSpPr>
        <p:spPr>
          <a:xfrm>
            <a:off x="9281160" y="4434840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365760" y="4837176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4114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#8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68680" y="4837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Notification Preferences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3154680" y="48371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Events; channels; VIP handling; group threshold alerts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995160" y="491032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9281160" y="4910328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365760" y="5312664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1148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#9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868680" y="5312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AI &amp; Knowledge Integration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3154680" y="5312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PI go-live sprint; KB candidacy owner; Now Assist scope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6995160" y="5385816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Shape 65"/>
          <p:cNvSpPr/>
          <p:nvPr/>
        </p:nvSpPr>
        <p:spPr>
          <a:xfrm>
            <a:off x="9281160" y="5385816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1252728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150876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1801368"/>
            <a:ext cx="3538728" cy="44348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94360" y="1920240"/>
            <a:ext cx="328269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Incident Management Accelerator Pack workbook (Process Decisions tab).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pre-populates the ServiceNow Mapping tab with OOTB field-level configuration specs.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 completes any open items in the Configuration Data tab before Sprint 3 begins.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15384" y="123444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15384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09744" y="1252728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— Configuration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9744" y="150876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2: ITSM Core Build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15384" y="1801368"/>
            <a:ext cx="3538728" cy="4434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352544" y="1920240"/>
            <a:ext cx="328269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incident process in ServiceNow against the completed Accelerator Pack workbook.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rules, categories, SLAs, notifications, and PI activation are all executed in Sprint 3.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SMEs validate configuration against agreed decisions in UAT.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973568" y="123444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97356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567928" y="1252728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567928" y="150876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Demo / UAT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73568" y="1801368"/>
            <a:ext cx="3538728" cy="44348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110728" y="1920240"/>
            <a:ext cx="328269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incident lifecycle in a live ServiceNow instance.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this workshop is visible in the system — no black box.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scenarios are drawn directly from the Accelerator Pack and this decision log.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6025896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the stage. The workbook is where decisions are formally captured, configuration data is collected, and UAT is tracked.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920240"/>
            <a:ext cx="64008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828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85800" y="2606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37947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9 decisions made — or does each open item have a named owner and a date?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3 begins?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2362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INCIDENT MANAGEMENT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2026-05-12T00:33:42Z</dcterms:created>
  <dcterms:modified xsi:type="dcterms:W3CDTF">2026-05-12T00:33:42Z</dcterms:modified>
</cp:coreProperties>
</file>