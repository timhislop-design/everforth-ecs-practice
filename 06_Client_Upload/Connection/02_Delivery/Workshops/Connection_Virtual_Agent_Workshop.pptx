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1554480"/>
            <a:ext cx="64008" cy="21945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685800" y="141732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Modernizing the Core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28803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Virtual Agent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85800" y="36118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Conversational AI for Self-Service Deflection and AI Realization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2636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A7F"/>
                </a:solidFill>
              </a:rPr>
              <a:t>Prepared by Everforth ECS Federal  ·  ServiceNow Practice  ·  Confidential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CONNECTION  ·  MODERNIZING THE CORE  ·  VIRTUAL AGENT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AGENDA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VIRTUAL AGENT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Cover Today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71600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57200" y="1371600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457200" y="1371600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87552" y="1426464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OOTB-First Frame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87552" y="1737360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engagement commits to OOTB — and what it means in the room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36208" y="1371600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6236208" y="1371600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236208" y="1371600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766560" y="1426464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Customization Is (and Isn't)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766560" y="1737360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vs. customization — with examples relevant to Virtual Agent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2487168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457200" y="2487168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57200" y="2487168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87552" y="2542032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OOTB Virtual Agent Architecture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87552" y="2852928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NLU engine, topic library, channel integration, and escalation to live agent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236208" y="2487168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6236208" y="2487168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6236208" y="2487168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766560" y="2542032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Decisions #1–#8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766560" y="2852928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Decisions #1–#8  ·  Topic scope, NLU approach, escalation routing, channels, auth, catalog integration, KB deflection, governance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57200" y="3602736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457200" y="3602736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457200" y="3602736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987552" y="3657600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Log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987552" y="3968496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 recorded before we leave this room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236208" y="3602736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6236208" y="3602736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6236208" y="3602736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766560" y="3657600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Comes Next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6766560" y="3968496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 Pack workbook, configuration sprint, live ServiceNow demo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457200" y="4663440"/>
            <a:ext cx="11247120" cy="50292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594360" y="47091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rule: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get made in this room. The OOTB recommendation is pre-populated. Your team's job is to confirm, adjust, or document the exception.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APPROACH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VIRTUAL AGENT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OOTB-first is not a constraint — it is the AI strategy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OOTB-First Means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19072"/>
            <a:ext cx="5394960" cy="420624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28800"/>
            <a:ext cx="51206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starts with the OOTB Virtual Agent capability — not the legacy system pattern.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(activating features, setting values, building taxonomies, writing rules) is always available — it is how OOTB is tailored to your organization.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 (code changes, new database fields, custom scripts) requires a documented business case and Customization Council sign-off.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18-week engagement is scoped and priced for OOTB execution. Customization expands scope.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It Protects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36208" y="1719072"/>
            <a:ext cx="5486400" cy="420624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73368" y="1828800"/>
            <a:ext cx="52120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 — Predictive Intelligence, Now Assist, Virtual Agent — require clean OOTB-aligned data and process structures. Custom fields and non-standard models reduce AI accuracy or block activation entirely.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upgrade paths. Customizations break on upgrades. OOTB patterns survive upgrades automatically with no remediation cost.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debt elimination. The Governance Triage Log captures every exception — it is managed and addressed iteratively. Nothing is lost; everything is governed.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LINE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VIRTUAL AGENT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4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customization is — and what it isn't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CONFIGURATION  —  This is always available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19072"/>
            <a:ext cx="5394960" cy="393192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28800"/>
            <a:ext cx="51206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Activating OOTB VA topic flows (Incident, Catalog, RITM status, KB search, Password reset)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Configuring VA greeting, persona name, and fallback messages in VA Studio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Adding custom utterances to OOTB NLU models (no NLU model rebuild needed)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Configuring live agent escalation (Connect Support, Teams, or email handoff)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Deploying VA to Employee Center (EC launcher widget -- OOTB)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Deploying VA to Microsoft Teams via OOTB Teams channel configuration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Setting authentication model (same-session SSO via OOTB identity broker)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Configuring topic flow branching for organizational-specific options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Setting fallback and unrecognized intent behavior in VA Studio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Enabling PA VA analytics (deflection rate, escalation rate, topic success)</a:t>
            </a:r>
          </a:p>
        </p:txBody>
      </p:sp>
      <p:sp>
        <p:nvSpPr>
          <p:cNvPr id="14" name="Shape 11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CUSTOMIZATION  —  Requires business case &amp; Council sign-off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36208" y="1719072"/>
            <a:ext cx="5486400" cy="3931920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73368" y="1828800"/>
            <a:ext cx="52120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Custom NLU model training beyond adding utterances to OOTB intents</a:t>
            </a:r>
          </a:p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External LLM (GPT, Gemini, custom) integration replacing OOTB NLU</a:t>
            </a:r>
          </a:p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Custom scripted VA topic flows with complex API calls</a:t>
            </a:r>
          </a:p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Third-party bot platform integration (Dialogflow, Copilot Studio)</a:t>
            </a:r>
          </a:p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Custom VA UI components beyond OOTB channel configurations</a:t>
            </a:r>
          </a:p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Scripted sentiment analysis or emotion detection in conversations</a:t>
            </a:r>
          </a:p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Custom live agent routing logic beyond OOTB escalation rules</a:t>
            </a:r>
          </a:p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VA-to-external-ticketing-system handoff (non-ServiceNow)</a:t>
            </a:r>
          </a:p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Custom conversation analytics beyond OOTB PA indicators</a:t>
            </a:r>
          </a:p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Scripted proactive notification triggers from VA</a:t>
            </a:r>
          </a:p>
        </p:txBody>
      </p:sp>
      <p:sp>
        <p:nvSpPr>
          <p:cNvPr id="18" name="Shape 15"/>
          <p:cNvSpPr/>
          <p:nvPr/>
        </p:nvSpPr>
        <p:spPr>
          <a:xfrm>
            <a:off x="457200" y="5440680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48640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obligation: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pattern requiring customization is captured in the Governance Triage Log with a named owner and disposition date — addressed in the current sprint via the Customization Council or deferred to a governed follow-on engagement.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PROCESS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VIRTUAL AGENT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ServiceNow OOTB Virtual Agent — Interaction Flow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Input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118360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2374392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2374392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NLU Engine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035552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4291584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4291584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Intent Match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952744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6208776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6208776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Topic Flow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869936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8125968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8125968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Fulfill / Deflect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9787128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043160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10043160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Escalate / Close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2267712"/>
            <a:ext cx="1124712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457200" y="2267712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Key Capabilities &amp; OOTB Features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57200" y="2596896"/>
            <a:ext cx="3749040" cy="3675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548640" y="26700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OOTB Topic Library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48640" y="3017520"/>
            <a:ext cx="356616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includes 50+ pre-built VA topic flows: incident creation, password reset, catalog requests, KB search, status check. All available without additional build — activate and configure.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206240" y="2596896"/>
            <a:ext cx="3749040" cy="3675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4297680" y="26700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NLU Engine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297680" y="3017520"/>
            <a:ext cx="356616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Understanding runs on ServiceNow NLU Model with OOTB pre-trained intents. Accuracy improves from live conversation data. No external NLP licensing required.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955280" y="2596896"/>
            <a:ext cx="3749040" cy="3675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8046720" y="26700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Now Assist Integration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8046720" y="3017520"/>
            <a:ext cx="356616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Assist generates conversational responses grounded in KB articles and incident data. Activated via system property with Now Assist license — no scripting needed.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#1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VIRTUAL AGENT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Virtual Agent topics will be active at go-live?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Topic Library (prioritized):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Reset (highest deflection), Incident Create, Incident Status Check, Catalog Request Submit, KB Search / Article Retrieval, IT Outage Report.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Model: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activated individually — enable only what has supporting data (KB articles, active catalog items). Activating topics with no backend content erodes user trust.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Approach: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Go-live: 4–6 high-deflection topics. Sprint 4 and beyond: expand to HR, Facilities, and custom topics based on incident volume data.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Which 4–6 topics will be activated at go-live? (Review OOTB topic list with ECS)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Which topics require supporting catalog items or KB articles before they can go live?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is the phasing plan for topics not activated at Sprint 3 go-live?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Who is the named Virtual Agent topic owner responsible for ongoing topic maintenance?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Activating all 50+ topics at go-live without supporting content or testing creates a poor user experience. OOTB recommendation: 4–6 well-tested, well-supported topics at launch — expand after metrics confirm adoption.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#2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VIRTUAL AGENT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7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Will the Virtual Agent use NLU-based intent matching or menu-driven flows?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NLU (Recommended):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NLU classifies user input against trained intents. Users type naturally — VA understands and routes to the right topic flow. OOTB NLU model includes pre-trained intents for all standard ITSM topics.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Menu-Driven Option: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menus guide users through decision trees. Higher user control, lower misrouting rate. Suitable for small VA deployments or when NLU confidence is low at launch.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(OOTB Default):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NLU attempts classification first. If confidence is below threshold (configurable), VA falls back to menu. OOTB threshold: 0.6. No scripting needed to configure hybrid mode.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NLU-first, menu-first, or hybrid (OOTB default)?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is the NLU confidence threshold for routing — or accept the OOTB default (0.6)?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Will the NLU model be pre-trained on customer-specific utterances before go-live?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Who is responsible for reviewing NLU misrouting reports and updating training data post-launch?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menu-driven VA is simpler to build but has lower deflection rates. NLU with the OOTB hybrid fallback is the recommended starting point — it delivers better user experience with no additional configuration risk.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#3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VIRTUAL AGENT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8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Virtual Agent escalate to a live agent — and which teams receive escalations?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Escalation Path: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escalation creates an OOTB incident record and routes to the service desk queue. Optionally: VA hands off to Agent Workspace (live chat) if Agent Chat is licensed and configured.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Triggers: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requests live agent, NLU cannot match intent after 3 attempts, topic flow reaches unresolved state. All OOTB — configurable in the Topic Designer.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Workspace: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Agent Chat is in scope: live chat agents work from OOTB Agent Workspace. Virtual Agent context (conversation history) transfers to the agent automatically — no scripting.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Escalation to incident creation only — or escalation to live chat (Agent Chat license required)?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Which assignment group receives VA-escalated incidents?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is the escalation message shown to the user before VA closes the conversation?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Is Agent Chat in scope for this engagement — or deferred to a follow-on?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Chat (live chat) is a licensed add-on. If not budgeted, VA escalation to incident creation is the OOTB path and covers the majority of use cases. Live chat can be added in a follow-on without rework.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#4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VIRTUAL AGENT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9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channels will the Virtual Agent be active in at go-live?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VA Channels: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Center (embedded widget) — included in base ITSM license. Microsoft Teams (OOTB connector) — additional configuration, no scripting. ServiceNow Mobile app — VA flows surface natively.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Integration: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Teams connector: activate in VA channel configuration, add the ServiceNow app to Teams, configure OAuth. No custom development.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Parity: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available in all channels. Channel-specific content adjustments (e.g., Teams-only topics) are configuration — not customization.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Employee Center only at go-live — or also Microsoft Teams and/or Mobile?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If Teams: Is the Microsoft Teams channel in scope for Sprint 3 — or phased post-go-live?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Who manages the Teams app deployment (ServiceNow admin + Teams admin coordination required)?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Are there other channels in scope (Slack, SMS, mobile app)?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additional channel adds testing scope and requires coordination with the channel owner. EC-only at go-live is the OOTB-recommended starting point. Teams integration can follow in Sprint 4 or 5 with no rework to the topic content.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#5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VIRTUAL AGENT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10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authentication work within Virtual Agent sessions?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Session Auth: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sessions are authenticated through the ServiceNow portal session (Employee Center). Users are already authenticated when they interact with the VA widget — no separate login.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Auth: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VA connector uses OAuth 2.0 pass-through from Teams identity to ServiceNow. OOTB configuration — no custom scripts. Users who are SSO-enabled in Teams are seamlessly authenticated.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Unauthenticated Flows: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supports limited public-facing VA flows (e.g., IT outage status) without authentication. Configurable per topic — not per channel.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Are all VA users authenticated employees — or are there unauthenticated external users?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If Teams: Is SSO already configured between Teams / Entra ID and ServiceNow (required for seamless Teams VA auth)?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Will any VA topics be available to unauthenticated users?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is the expected behavior when a session expires mid-conversation?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authentication flows are not OOTB and require Customization Council sign-off. If SSO is not yet in place when Teams VA is being configured, ECS will flag this as a dependency — it is an integration prerequisite, not a VA build issue.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#6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VIRTUAL AGENT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the Virtual Agent integrate with the service catalog for request fulfillment?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Catalog Integration: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topic flows can submit catalog requests directly — the OOTB 'Submit Catalog Item' topic handles variable collection via conversational prompts.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works OOTB: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catalog items with up to 10 variables work well in VA conversation flow. Items with complex multi-page variable sets or attachments are better handled via EC portal, not VA.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Selection: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VA topic 'Browse Catalog' presents catalog categories in a menu. Users select and submit without leaving the conversation. Cart and multi-item ordering not supported in VA — portal only.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Which catalog items will be submittable via VA at go-live (recommend: top 5 most-requested items)?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Are the selected items simple enough for conversational variable collection (≤ 10 variables, no attachments)?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Will VA present the full catalog or a curated subset?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Who tests catalog-to-VA integration before go-live?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Attempting to make complex catalog items (multi-page, attachment-heavy, complex approvals) work in VA requires scripting or custom topic development. OOTB recommendation: VA handles simple, high-volume items; complex items route to EC portal.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#7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VIRTUAL AGENT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Now Assist enhance the Virtual Agent experience?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Assist VA Capabilities (with license):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responses grounded in KB article content. Incident summarization within VA conversation context. Resolution suggestion from historical incident data.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Assist VA features activated via system property — no scripting. Requires Now Assist for ITSM license. Knowledge base must have published articles for grounding to function.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Behavior: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Now Assist cannot generate a grounded response, VA falls back to OOTB topic flow and KB search. No user-visible error — seamless degradation.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Is Now Assist for ITSM licensed for this engagement?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Will Now Assist VA generative responses be activated at Sprint 3 go-live — or phased after KB seeding is complete?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is the minimum KB article count before Now Assist grounding is considered reliable?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Who reviews Now Assist response quality post-launch and adjusts KB content as needed?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Assist VA without a well-seeded KB produces generic or hallucinated responses. OOTB recommendation: activate Now Assist VA only after the KB has 20+ high-quality published articles in each active topic category.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#8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VIRTUAL AGENT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Virtual Agent performance be measured and governed post-launch?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VA Analytics: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Agent Analytics dashboard (OOTB): conversation volume, deflection rate, topic resolution rate, escalation rate, NLU intent accuracy, and user satisfaction score.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KPIs: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Deflection rate (conversations resolved without human) — target: 20–30% in first 90 days. Intent accuracy (correctly routed NLU) — target: &gt;80%. Topic resolution rate per topic.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Cadence: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VA review: identify underperforming topics, update NLU training utterances, retire topics with &lt;5% usage, expand high-performing topics.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Who owns the monthly VA performance review — the ServiceNow admin or process owner?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is the target deflection rate at 90 days post-go-live?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Will NLU training utterance updates be done by ECS (during engagement) or transferred to the customer admin?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is the process for adding new VA topics post-engagement?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analytics customization is not needed. OOTB VA Analytics dashboard provides all KPIs required for governance. Build custom reports only if a specific metric is not covered — and evaluate PA indicators before building Classic Reports.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2011680"/>
            <a:ext cx="64008" cy="1645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685800" y="19202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Log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2880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on the next page is an action.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85800" y="36118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left blank leave this room with a named owner and a date. Before we close: no decision is unresolved — it is either made, or owned.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CONNECTION  ·  MODERNIZING THE CORE  ·  VIRTUAL AGENT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DECISION LOG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VIRTUAL AGENT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Virtual Agent — Decisions Made in This Workshop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1143000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103120"/>
                <a:gridCol w="3657600"/>
                <a:gridCol w="301752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Topic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Made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 / Due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Scope at Go-Live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selection, phasing plan, named topic owner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NLU vs Menu Approach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NLU-first / menu / hybrid, confidence threshold, training plan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Escalation Routing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 creation vs live chat, receiving group, escalation message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 Activation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 / Teams / Mobile scope, Teams deployment timeline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Authentication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 auth model, SSO dependency, unauthenticated flows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 Integration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Items in VA, variable complexity limits, curated vs full catalog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Now Assist Integration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License status, activation timing, KB minimum threshold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Governance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owner, deflection target, NLU training handover, expansion process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NEXT STEPS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VIRTUAL AGENT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happens after this workshop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11480" y="1417320"/>
            <a:ext cx="361188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11480" y="1417320"/>
            <a:ext cx="36118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50292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33272" y="144475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Accelerator Pack — Workbook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1965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after this workshop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48640" y="22402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captured today are entered into the Virtual Agent Accelerator Pack workbook. ECS pre-populates the ServiceNow Mapping tab with OOTB field-level configuration specs.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251960" y="1417320"/>
            <a:ext cx="361188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4251960" y="1417320"/>
            <a:ext cx="36118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434340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873752" y="144475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Configuration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389120" y="1965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— Configuration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389120" y="22402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configures the process in ServiceNow against the completed Accelerator Pack workbook. Customer SMEs validate configuration against agreed decisions.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092440" y="1417320"/>
            <a:ext cx="361188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8092440" y="1417320"/>
            <a:ext cx="36118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818388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8714232" y="144475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OOTB Walkthrough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229600" y="1965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sprint demo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229600" y="22402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walks the customer through the configured OOTB process in a live ServiceNow instance. Every decision from today is visible in the system.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57200" y="5650992"/>
            <a:ext cx="11247120" cy="566928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594360" y="5696712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does not replace the Accelerator Pack workbook. The workbook is the living record — decisions formally captured, configuration data collected, and customer sign-off obtained before sprint build begins.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CONNECTION  ·  MODERNIZING THE CORE  ·  VIRTUAL AGENT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17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737360"/>
            <a:ext cx="64008" cy="1920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85800" y="16459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685800" y="26974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close the decision log.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85800" y="333756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 before we adjourn: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all 8 decisions made — or does each open item have a named owner and a date?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anything we captured incorrectly that needs to be corrected before the workbook is updated?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decision that needs escalation or leadership approval before Sprint 3 configuration begins?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619963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F"/>
                </a:solidFill>
              </a:rPr>
              <a:t>Contact your ECS Account Executive  ·  servicenow@ecstech.com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2026-05-12T05:27:10Z</dcterms:created>
  <dcterms:modified xsi:type="dcterms:W3CDTF">2026-05-12T05:27:10Z</dcterms:modified>
</cp:coreProperties>
</file>