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858000" cy="749808"/>
          </a:xfrm>
          <a:prstGeom prst="rect">
            <a:avLst/>
          </a:prstGeom>
          <a:noFill/>
        </p:spPr>
        <p:txBody>
          <a:bodyPr wrap="square" lIns="36576" rIns="36576" tIns="18288" bIns="18288">
            <a:spAutoFit/>
          </a:bodyPr>
          <a:lstStyle/>
          <a:p>
            <a:pPr algn="l"/>
            <a:r>
              <a:rPr sz="4000" b="1" i="0">
                <a:solidFill>
                  <a:srgbClr val="FFFFFF"/>
                </a:solidFill>
                <a:latin typeface="Calibri"/>
              </a:rPr>
              <a:t>Modernizing the Core</a:t>
            </a:r>
          </a:p>
        </p:txBody>
      </p:sp>
      <p:sp>
        <p:nvSpPr>
          <p:cNvPr id="4" name="TextBox 3"/>
          <p:cNvSpPr txBox="1"/>
          <p:nvPr/>
        </p:nvSpPr>
        <p:spPr>
          <a:xfrm>
            <a:off x="475488" y="2304288"/>
            <a:ext cx="7772400" cy="621792"/>
          </a:xfrm>
          <a:prstGeom prst="rect">
            <a:avLst/>
          </a:prstGeom>
          <a:noFill/>
        </p:spPr>
        <p:txBody>
          <a:bodyPr wrap="square" lIns="36576" rIns="36576" tIns="18288" bIns="18288">
            <a:spAutoFit/>
          </a:bodyPr>
          <a:lstStyle/>
          <a:p>
            <a:pPr algn="l"/>
            <a:r>
              <a:rPr sz="3000" b="1" i="0">
                <a:solidFill>
                  <a:srgbClr val="14B8A6"/>
                </a:solidFill>
                <a:latin typeface="Calibri"/>
              </a:rPr>
              <a:t>Major Incident Management</a:t>
            </a:r>
          </a:p>
        </p:txBody>
      </p:sp>
      <p:sp>
        <p:nvSpPr>
          <p:cNvPr id="5" name="TextBox 4"/>
          <p:cNvSpPr txBox="1"/>
          <p:nvPr/>
        </p:nvSpPr>
        <p:spPr>
          <a:xfrm>
            <a:off x="475488" y="2907792"/>
            <a:ext cx="6858000" cy="384048"/>
          </a:xfrm>
          <a:prstGeom prst="rect">
            <a:avLst/>
          </a:prstGeom>
          <a:noFill/>
        </p:spPr>
        <p:txBody>
          <a:bodyPr wrap="square" lIns="36576" rIns="36576" tIns="18288" bIns="18288">
            <a:spAutoFit/>
          </a:bodyPr>
          <a:lstStyle/>
          <a:p>
            <a:pPr algn="l"/>
            <a:r>
              <a:rPr sz="1300" b="0" i="1">
                <a:solidFill>
                  <a:srgbClr val="FFFFFF"/>
                </a:solidFill>
                <a:latin typeface="Calibri"/>
              </a:rPr>
              <a:t>Ensuring AI Realization and Optimizing Long-Term Value</a:t>
            </a:r>
          </a:p>
        </p:txBody>
      </p:sp>
      <p:sp>
        <p:nvSpPr>
          <p:cNvPr id="6" name="TextBox 5"/>
          <p:cNvSpPr txBox="1"/>
          <p:nvPr/>
        </p:nvSpPr>
        <p:spPr>
          <a:xfrm>
            <a:off x="274320" y="4407408"/>
            <a:ext cx="5486400" cy="228600"/>
          </a:xfrm>
          <a:prstGeom prst="rect">
            <a:avLst/>
          </a:prstGeom>
          <a:noFill/>
        </p:spPr>
        <p:txBody>
          <a:bodyPr wrap="square" lIns="36576" rIns="36576" tIns="18288" bIns="18288">
            <a:spAutoFit/>
          </a:bodyPr>
          <a:lstStyle/>
          <a:p>
            <a:pPr algn="l"/>
            <a:r>
              <a:rPr sz="750" b="0" i="0">
                <a:solidFill>
                  <a:srgbClr val="94A3B8"/>
                </a:solidFill>
                <a:latin typeface="Calibri"/>
              </a:rPr>
              <a:t>Prepared by Everforth ECS Federal  ·  ServiceNow Practice  ·  Confidential</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A G E N D A</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We'll Cover Today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01</a:t>
            </a:r>
          </a:p>
        </p:txBody>
      </p:sp>
      <p:sp>
        <p:nvSpPr>
          <p:cNvPr id="8" name="TextBox 7"/>
          <p:cNvSpPr txBox="1"/>
          <p:nvPr/>
        </p:nvSpPr>
        <p:spPr>
          <a:xfrm>
            <a:off x="8321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The OOTB-First Frame</a:t>
            </a:r>
          </a:p>
        </p:txBody>
      </p:sp>
      <p:sp>
        <p:nvSpPr>
          <p:cNvPr id="9" name="TextBox 8"/>
          <p:cNvSpPr txBox="1"/>
          <p:nvPr/>
        </p:nvSpPr>
        <p:spPr>
          <a:xfrm>
            <a:off x="8321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Why this engagement commits to OOTB -- and what it means in the room</a:t>
            </a:r>
          </a:p>
        </p:txBody>
      </p:sp>
      <p:sp>
        <p:nvSpPr>
          <p:cNvPr id="10" name="Rectangle 9"/>
          <p:cNvSpPr/>
          <p:nvPr/>
        </p:nvSpPr>
        <p:spPr>
          <a:xfrm>
            <a:off x="3200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02</a:t>
            </a:r>
          </a:p>
        </p:txBody>
      </p:sp>
      <p:sp>
        <p:nvSpPr>
          <p:cNvPr id="12" name="TextBox 11"/>
          <p:cNvSpPr txBox="1"/>
          <p:nvPr/>
        </p:nvSpPr>
        <p:spPr>
          <a:xfrm>
            <a:off x="8321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MIM Overview</a:t>
            </a:r>
          </a:p>
        </p:txBody>
      </p:sp>
      <p:sp>
        <p:nvSpPr>
          <p:cNvPr id="13" name="TextBox 12"/>
          <p:cNvSpPr txBox="1"/>
          <p:nvPr/>
        </p:nvSpPr>
        <p:spPr>
          <a:xfrm>
            <a:off x="8321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What Major Incident Management is and how it differs from standard IM</a:t>
            </a:r>
          </a:p>
        </p:txBody>
      </p:sp>
      <p:sp>
        <p:nvSpPr>
          <p:cNvPr id="14" name="Rectangle 13"/>
          <p:cNvSpPr/>
          <p:nvPr/>
        </p:nvSpPr>
        <p:spPr>
          <a:xfrm>
            <a:off x="3200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03</a:t>
            </a:r>
          </a:p>
        </p:txBody>
      </p:sp>
      <p:sp>
        <p:nvSpPr>
          <p:cNvPr id="16" name="TextBox 15"/>
          <p:cNvSpPr txBox="1"/>
          <p:nvPr/>
        </p:nvSpPr>
        <p:spPr>
          <a:xfrm>
            <a:off x="8321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MIM Process Walkthrough</a:t>
            </a:r>
          </a:p>
        </p:txBody>
      </p:sp>
      <p:sp>
        <p:nvSpPr>
          <p:cNvPr id="17" name="TextBox 16"/>
          <p:cNvSpPr txBox="1"/>
          <p:nvPr/>
        </p:nvSpPr>
        <p:spPr>
          <a:xfrm>
            <a:off x="8321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Declaration, war room, stakeholder comms, resolution, and post-incident review</a:t>
            </a:r>
          </a:p>
        </p:txBody>
      </p:sp>
      <p:sp>
        <p:nvSpPr>
          <p:cNvPr id="18" name="Rectangle 17"/>
          <p:cNvSpPr/>
          <p:nvPr/>
        </p:nvSpPr>
        <p:spPr>
          <a:xfrm>
            <a:off x="46634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04</a:t>
            </a:r>
          </a:p>
        </p:txBody>
      </p:sp>
      <p:sp>
        <p:nvSpPr>
          <p:cNvPr id="20" name="TextBox 19"/>
          <p:cNvSpPr txBox="1"/>
          <p:nvPr/>
        </p:nvSpPr>
        <p:spPr>
          <a:xfrm>
            <a:off x="51755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Key Decisions #1-#7</a:t>
            </a:r>
          </a:p>
        </p:txBody>
      </p:sp>
      <p:sp>
        <p:nvSpPr>
          <p:cNvPr id="21" name="TextBox 20"/>
          <p:cNvSpPr txBox="1"/>
          <p:nvPr/>
        </p:nvSpPr>
        <p:spPr>
          <a:xfrm>
            <a:off x="51755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Major incident criteria, declaration process, war room tooling, stakeholder comms, SLAs, PIR, and EM integration</a:t>
            </a:r>
          </a:p>
        </p:txBody>
      </p:sp>
      <p:sp>
        <p:nvSpPr>
          <p:cNvPr id="22" name="Rectangle 21"/>
          <p:cNvSpPr/>
          <p:nvPr/>
        </p:nvSpPr>
        <p:spPr>
          <a:xfrm>
            <a:off x="46634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05</a:t>
            </a:r>
          </a:p>
        </p:txBody>
      </p:sp>
      <p:sp>
        <p:nvSpPr>
          <p:cNvPr id="24" name="TextBox 23"/>
          <p:cNvSpPr txBox="1"/>
          <p:nvPr/>
        </p:nvSpPr>
        <p:spPr>
          <a:xfrm>
            <a:off x="51755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Decision Log</a:t>
            </a:r>
          </a:p>
        </p:txBody>
      </p:sp>
      <p:sp>
        <p:nvSpPr>
          <p:cNvPr id="25" name="TextBox 24"/>
          <p:cNvSpPr txBox="1"/>
          <p:nvPr/>
        </p:nvSpPr>
        <p:spPr>
          <a:xfrm>
            <a:off x="51755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Every decision is recorded before we leave this room</a:t>
            </a:r>
          </a:p>
        </p:txBody>
      </p:sp>
      <p:sp>
        <p:nvSpPr>
          <p:cNvPr id="26" name="Rectangle 25"/>
          <p:cNvSpPr/>
          <p:nvPr/>
        </p:nvSpPr>
        <p:spPr>
          <a:xfrm>
            <a:off x="46634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06</a:t>
            </a:r>
          </a:p>
        </p:txBody>
      </p:sp>
      <p:sp>
        <p:nvSpPr>
          <p:cNvPr id="28" name="TextBox 27"/>
          <p:cNvSpPr txBox="1"/>
          <p:nvPr/>
        </p:nvSpPr>
        <p:spPr>
          <a:xfrm>
            <a:off x="51755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What Comes Next</a:t>
            </a:r>
          </a:p>
        </p:txBody>
      </p:sp>
      <p:sp>
        <p:nvSpPr>
          <p:cNvPr id="29" name="TextBox 28"/>
          <p:cNvSpPr txBox="1"/>
          <p:nvPr/>
        </p:nvSpPr>
        <p:spPr>
          <a:xfrm>
            <a:off x="51755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MIM plugin activation, major incident definition, comms template setup, PIR workflow config</a:t>
            </a:r>
          </a:p>
        </p:txBody>
      </p:sp>
      <p:sp>
        <p:nvSpPr>
          <p:cNvPr id="30" name="Rectangle 29"/>
          <p:cNvSpPr/>
          <p:nvPr/>
        </p:nvSpPr>
        <p:spPr>
          <a:xfrm>
            <a:off x="320040" y="3529583"/>
            <a:ext cx="850392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11879"/>
            <a:ext cx="8229600" cy="347472"/>
          </a:xfrm>
          <a:prstGeom prst="rect">
            <a:avLst/>
          </a:prstGeom>
          <a:noFill/>
        </p:spPr>
        <p:txBody>
          <a:bodyPr wrap="square" lIns="36576" rIns="36576" tIns="18288" bIns="18288">
            <a:spAutoFit/>
          </a:bodyPr>
          <a:lstStyle/>
          <a:p>
            <a:pPr algn="l"/>
            <a:r>
              <a:rPr sz="950" b="1" i="0">
                <a:solidFill>
                  <a:srgbClr val="0B1F3A"/>
                </a:solidFill>
                <a:latin typeface="Calibri"/>
              </a:rPr>
              <a:t>Ground rule: </a:t>
            </a:r>
            <a:r>
              <a:rPr sz="950" b="0" i="0">
                <a:solidFill>
                  <a:srgbClr val="1E293B"/>
                </a:solidFill>
                <a:latin typeface="Calibri"/>
              </a:rPr>
              <a:t>Decisions get made in this room. The OOTB recommendation is pre-populated. Your job is to confirm, adjust with rationale, or defer with a named owner and date.</a:t>
            </a:r>
          </a:p>
        </p:txBody>
      </p:sp>
      <p:sp>
        <p:nvSpPr>
          <p:cNvPr id="32" name="Rectangle 3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4" name="TextBox 3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35" name="TextBox 3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A P P R O A C H</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OOTB-first is not a constraint — it is the AI strategy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OOTB-First Means</a:t>
            </a:r>
          </a:p>
        </p:txBody>
      </p:sp>
      <p:sp>
        <p:nvSpPr>
          <p:cNvPr id="8" name="Rectangle 7"/>
          <p:cNvSpPr/>
          <p:nvPr/>
        </p:nvSpPr>
        <p:spPr>
          <a:xfrm>
            <a:off x="32004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Major Incident Management OOTB includes: major incident declaration workflow, dedicated MIM workspace (war room view), stakeholder communication templates, SLA tracking specific to major incidents, post-incident review (PIR) workflow, and integration with Event Management.</a:t>
            </a:r>
          </a:p>
          <a:p>
            <a:pPr algn="l">
              <a:spcAft>
                <a:spcPts val="400"/>
              </a:spcAft>
            </a:pPr>
            <a:r>
              <a:rPr sz="850" b="0" i="0">
                <a:solidFill>
                  <a:srgbClr val="1E293B"/>
                </a:solidFill>
                <a:latin typeface="Calibri"/>
              </a:rPr>
              <a:t>•  MIM is part of the ITSM license -- no additional license required. The MIM workspace is activated via plugin.</a:t>
            </a:r>
          </a:p>
          <a:p>
            <a:pPr algn="l">
              <a:spcAft>
                <a:spcPts val="400"/>
              </a:spcAft>
            </a:pPr>
            <a:r>
              <a:rPr sz="850" b="0" i="0">
                <a:solidFill>
                  <a:srgbClr val="1E293B"/>
                </a:solidFill>
                <a:latin typeface="Calibri"/>
              </a:rPr>
              <a:t>•  Zero scripting required for the full major incident lifecycle -- declaration to PIR.</a:t>
            </a:r>
          </a:p>
        </p:txBody>
      </p:sp>
      <p:sp>
        <p:nvSpPr>
          <p:cNvPr id="10" name="Rectangle 9"/>
          <p:cNvSpPr/>
          <p:nvPr/>
        </p:nvSpPr>
        <p:spPr>
          <a:xfrm>
            <a:off x="313182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754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We Configure (Not Code)</a:t>
            </a:r>
          </a:p>
        </p:txBody>
      </p:sp>
      <p:sp>
        <p:nvSpPr>
          <p:cNvPr id="12" name="Rectangle 11"/>
          <p:cNvSpPr/>
          <p:nvPr/>
        </p:nvSpPr>
        <p:spPr>
          <a:xfrm>
            <a:off x="313182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326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Major incident criteria: which incident conditions trigger the major incident declaration option.</a:t>
            </a:r>
          </a:p>
          <a:p>
            <a:pPr algn="l">
              <a:spcAft>
                <a:spcPts val="400"/>
              </a:spcAft>
            </a:pPr>
            <a:r>
              <a:rPr sz="850" b="0" i="0">
                <a:solidFill>
                  <a:srgbClr val="1E293B"/>
                </a:solidFill>
                <a:latin typeface="Calibri"/>
              </a:rPr>
              <a:t>•  MIM team roles: major incident manager, communications lead, resolver group leads.</a:t>
            </a:r>
          </a:p>
          <a:p>
            <a:pPr algn="l">
              <a:spcAft>
                <a:spcPts val="400"/>
              </a:spcAft>
            </a:pPr>
            <a:r>
              <a:rPr sz="850" b="0" i="0">
                <a:solidFill>
                  <a:srgbClr val="1E293B"/>
                </a:solidFill>
                <a:latin typeface="Calibri"/>
              </a:rPr>
              <a:t>•  Stakeholder communication templates: subject line, body, audience per communication type.</a:t>
            </a:r>
          </a:p>
          <a:p>
            <a:pPr algn="l">
              <a:spcAft>
                <a:spcPts val="400"/>
              </a:spcAft>
            </a:pPr>
            <a:r>
              <a:rPr sz="850" b="0" i="0">
                <a:solidFill>
                  <a:srgbClr val="1E293B"/>
                </a:solidFill>
                <a:latin typeface="Calibri"/>
              </a:rPr>
              <a:t>•  PIR workflow: approvers, questions, timeline, and knowledge article generation.</a:t>
            </a:r>
          </a:p>
        </p:txBody>
      </p:sp>
      <p:sp>
        <p:nvSpPr>
          <p:cNvPr id="14" name="Rectangle 13"/>
          <p:cNvSpPr/>
          <p:nvPr/>
        </p:nvSpPr>
        <p:spPr>
          <a:xfrm>
            <a:off x="594360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The Delivery Approach</a:t>
            </a:r>
          </a:p>
        </p:txBody>
      </p:sp>
      <p:sp>
        <p:nvSpPr>
          <p:cNvPr id="16" name="Rectangle 15"/>
          <p:cNvSpPr/>
          <p:nvPr/>
        </p:nvSpPr>
        <p:spPr>
          <a:xfrm>
            <a:off x="594360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Sprint 5 activates the MIM plugin and configures criteria and roles.</a:t>
            </a:r>
          </a:p>
          <a:p>
            <a:pPr algn="l">
              <a:spcAft>
                <a:spcPts val="400"/>
              </a:spcAft>
            </a:pPr>
            <a:r>
              <a:rPr sz="850" b="0" i="0">
                <a:solidFill>
                  <a:srgbClr val="1E293B"/>
                </a:solidFill>
                <a:latin typeface="Calibri"/>
              </a:rPr>
              <a:t>•  Sprint 6 configures comms templates, PIR workflow, and Event Management integration.</a:t>
            </a:r>
          </a:p>
          <a:p>
            <a:pPr algn="l">
              <a:spcAft>
                <a:spcPts val="400"/>
              </a:spcAft>
            </a:pPr>
            <a:r>
              <a:rPr sz="850" b="0" i="0">
                <a:solidFill>
                  <a:srgbClr val="1E293B"/>
                </a:solidFill>
                <a:latin typeface="Calibri"/>
              </a:rPr>
              <a:t>•  All configuration through the MIM workspace and ITSM module -- zero scripting.</a:t>
            </a:r>
          </a:p>
        </p:txBody>
      </p:sp>
      <p:sp>
        <p:nvSpPr>
          <p:cNvPr id="18" name="Rectangle 1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20" name="TextBox 1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21" name="TextBox 2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L I N E</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a customization is — and what it isn’t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160520" cy="2926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CONFIGURATION  —  This is always available</a:t>
            </a:r>
          </a:p>
        </p:txBody>
      </p:sp>
      <p:sp>
        <p:nvSpPr>
          <p:cNvPr id="8" name="Rectangle 7"/>
          <p:cNvSpPr/>
          <p:nvPr/>
        </p:nvSpPr>
        <p:spPr>
          <a:xfrm>
            <a:off x="32004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71600"/>
            <a:ext cx="3977639" cy="3200400"/>
          </a:xfrm>
          <a:prstGeom prst="rect">
            <a:avLst/>
          </a:prstGeom>
          <a:noFill/>
        </p:spPr>
        <p:txBody>
          <a:bodyPr wrap="square" lIns="36576" rIns="36576" tIns="18288" bIns="18288">
            <a:spAutoFit/>
          </a:bodyPr>
          <a:lstStyle/>
          <a:p>
            <a:r>
              <a:rPr lang="en-US" dirty="0" sz="850">
                <a:solidFill>
                  <a:srgbClr val="16A34A"/>
                </a:solidFill>
                <a:latin typeface="Calibri"/>
              </a:rPr>
              <a:t>✓  </a:t>
            </a:r>
            <a:r>
              <a:rPr lang="en-US" dirty="0" sz="850">
                <a:solidFill>
                  <a:srgbClr val="1A1A1A"/>
                </a:solidFill>
                <a:latin typeface="Calibri"/>
              </a:rPr>
              <a:t>Major incident criteria</a:t>
            </a:r>
          </a:p>
          <a:p>
            <a:r>
              <a:rPr lang="en-US" dirty="0" sz="850">
                <a:solidFill>
                  <a:srgbClr val="16A34A"/>
                </a:solidFill>
                <a:latin typeface="Calibri"/>
              </a:rPr>
              <a:t>✓  </a:t>
            </a:r>
            <a:r>
              <a:rPr lang="en-US" dirty="0" sz="850">
                <a:solidFill>
                  <a:srgbClr val="1A1A1A"/>
                </a:solidFill>
                <a:latin typeface="Calibri"/>
              </a:rPr>
              <a:t>MIM team roles</a:t>
            </a:r>
          </a:p>
          <a:p>
            <a:r>
              <a:rPr lang="en-US" dirty="0" sz="850">
                <a:solidFill>
                  <a:srgbClr val="16A34A"/>
                </a:solidFill>
                <a:latin typeface="Calibri"/>
              </a:rPr>
              <a:t>✓  </a:t>
            </a:r>
            <a:r>
              <a:rPr lang="en-US" dirty="0" sz="850">
                <a:solidFill>
                  <a:srgbClr val="1A1A1A"/>
                </a:solidFill>
                <a:latin typeface="Calibri"/>
              </a:rPr>
              <a:t>communication templates</a:t>
            </a:r>
          </a:p>
          <a:p>
            <a:r>
              <a:rPr lang="en-US" dirty="0" sz="850">
                <a:solidFill>
                  <a:srgbClr val="16A34A"/>
                </a:solidFill>
                <a:latin typeface="Calibri"/>
              </a:rPr>
              <a:t>✓  </a:t>
            </a:r>
            <a:r>
              <a:rPr lang="en-US" dirty="0" sz="850">
                <a:solidFill>
                  <a:srgbClr val="1A1A1A"/>
                </a:solidFill>
                <a:latin typeface="Calibri"/>
              </a:rPr>
              <a:t>SLA definitions for major incidents</a:t>
            </a:r>
          </a:p>
          <a:p>
            <a:r>
              <a:rPr lang="en-US" dirty="0" sz="850">
                <a:solidFill>
                  <a:srgbClr val="16A34A"/>
                </a:solidFill>
                <a:latin typeface="Calibri"/>
              </a:rPr>
              <a:t>✓  </a:t>
            </a:r>
            <a:r>
              <a:rPr lang="en-US" dirty="0" sz="850">
                <a:solidFill>
                  <a:srgbClr val="1A1A1A"/>
                </a:solidFill>
                <a:latin typeface="Calibri"/>
              </a:rPr>
              <a:t>PIR workflow config</a:t>
            </a:r>
          </a:p>
          <a:p>
            <a:r>
              <a:rPr lang="en-US" dirty="0" sz="850">
                <a:solidFill>
                  <a:srgbClr val="16A34A"/>
                </a:solidFill>
                <a:latin typeface="Calibri"/>
              </a:rPr>
              <a:t>✓  </a:t>
            </a:r>
            <a:r>
              <a:rPr lang="en-US" dirty="0" sz="850">
                <a:solidFill>
                  <a:srgbClr val="1A1A1A"/>
                </a:solidFill>
                <a:latin typeface="Calibri"/>
              </a:rPr>
              <a:t>EM-MIM integration trigger criteria</a:t>
            </a:r>
          </a:p>
        </p:txBody>
      </p:sp>
      <p:sp>
        <p:nvSpPr>
          <p:cNvPr id="10" name="Rectangle 9"/>
          <p:cNvSpPr/>
          <p:nvPr/>
        </p:nvSpPr>
        <p:spPr>
          <a:xfrm>
            <a:off x="4617720" y="1024128"/>
            <a:ext cx="4160520" cy="29260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3"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CUSTOMIZATION  —  Requires Approval + Business Case</a:t>
            </a:r>
          </a:p>
        </p:txBody>
      </p:sp>
      <p:sp>
        <p:nvSpPr>
          <p:cNvPr id="12" name="Rectangle 11"/>
          <p:cNvSpPr/>
          <p:nvPr/>
        </p:nvSpPr>
        <p:spPr>
          <a:xfrm>
            <a:off x="461772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1371600"/>
            <a:ext cx="3977639" cy="3200400"/>
          </a:xfrm>
          <a:prstGeom prst="rect">
            <a:avLst/>
          </a:prstGeom>
          <a:noFill/>
        </p:spPr>
        <p:txBody>
          <a:bodyPr wrap="square" lIns="36576" rIns="36576" tIns="18288" bIns="18288">
            <a:spAutoFit/>
          </a:bodyPr>
          <a:lstStyle/>
          <a:p>
            <a:r>
              <a:rPr lang="en-US" dirty="0" sz="850">
                <a:solidFill>
                  <a:srgbClr val="B91C1C"/>
                </a:solidFill>
                <a:latin typeface="Calibri"/>
              </a:rPr>
              <a:t>✗  </a:t>
            </a:r>
            <a:r>
              <a:rPr lang="en-US" dirty="0" sz="850">
                <a:solidFill>
                  <a:srgbClr val="1A1A1A"/>
                </a:solidFill>
                <a:latin typeface="Calibri"/>
              </a:rPr>
              <a:t>Custom major incident tables replacing the OOTB MIM record model</a:t>
            </a:r>
          </a:p>
          <a:p>
            <a:r>
              <a:rPr lang="en-US" dirty="0" sz="850">
                <a:solidFill>
                  <a:srgbClr val="B91C1C"/>
                </a:solidFill>
                <a:latin typeface="Calibri"/>
              </a:rPr>
              <a:t>✗  </a:t>
            </a:r>
            <a:r>
              <a:rPr lang="en-US" dirty="0" sz="850">
                <a:solidFill>
                  <a:srgbClr val="1A1A1A"/>
                </a:solidFill>
                <a:latin typeface="Calibri"/>
              </a:rPr>
              <a:t>scripted communication distribution replacing OOTB notification framework</a:t>
            </a:r>
          </a:p>
          <a:p>
            <a:r>
              <a:rPr lang="en-US" dirty="0" sz="850">
                <a:solidFill>
                  <a:srgbClr val="B91C1C"/>
                </a:solidFill>
                <a:latin typeface="Calibri"/>
              </a:rPr>
              <a:t>✗  </a:t>
            </a:r>
            <a:r>
              <a:rPr lang="en-US" dirty="0" sz="850">
                <a:solidFill>
                  <a:srgbClr val="1A1A1A"/>
                </a:solidFill>
                <a:latin typeface="Calibri"/>
              </a:rPr>
              <a:t>custom PIR forms outside OOTB workflow</a:t>
            </a:r>
          </a:p>
        </p:txBody>
      </p:sp>
      <p:sp>
        <p:nvSpPr>
          <p:cNvPr id="14" name="Rectangle 13"/>
          <p:cNvSpPr/>
          <p:nvPr/>
        </p:nvSpPr>
        <p:spPr>
          <a:xfrm>
            <a:off x="320040" y="4645152"/>
            <a:ext cx="8503920" cy="16459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8229600" cy="146304"/>
          </a:xfrm>
          <a:prstGeom prst="rect">
            <a:avLst/>
          </a:prstGeom>
          <a:noFill/>
        </p:spPr>
        <p:txBody>
          <a:bodyPr wrap="square" lIns="36576" rIns="36576" tIns="18288" bIns="18288">
            <a:spAutoFit/>
          </a:bodyPr>
          <a:lstStyle/>
          <a:p>
            <a:pPr algn="l"/>
            <a:r>
              <a:rPr sz="800" b="1" i="0">
                <a:solidFill>
                  <a:srgbClr val="0B1F3A"/>
                </a:solidFill>
                <a:latin typeface="Calibri"/>
              </a:rPr>
              <a:t>The customization bar:  </a:t>
            </a:r>
            <a:r>
              <a:rPr sz="800" b="0" i="0">
                <a:solidFill>
                  <a:srgbClr val="1E293B"/>
                </a:solidFill>
                <a:latin typeface="Calibri"/>
              </a:rPr>
              <a:t>OOTB MIM workspace provides a battle-tested command center for major incidents. Custom tables and scripts during an active major incident create confusion and slow resolution. OOTB-first is especially critical for high-pressure P1 workflows.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P R O C E S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Major Incident Lifecycle: Declaration to PIR</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MAJOR INCIDENT DECLARED</a:t>
            </a:r>
          </a:p>
        </p:txBody>
      </p:sp>
      <p:sp>
        <p:nvSpPr>
          <p:cNvPr id="8" name="Rectangle 7"/>
          <p:cNvSpPr/>
          <p:nvPr/>
        </p:nvSpPr>
        <p:spPr>
          <a:xfrm>
            <a:off x="2020824"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3"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WAR ROOM ACTIVATED</a:t>
            </a:r>
          </a:p>
        </p:txBody>
      </p:sp>
      <p:sp>
        <p:nvSpPr>
          <p:cNvPr id="10" name="Rectangle 9"/>
          <p:cNvSpPr/>
          <p:nvPr/>
        </p:nvSpPr>
        <p:spPr>
          <a:xfrm>
            <a:off x="3721608"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RESOLUTION IN PROGRESS</a:t>
            </a:r>
          </a:p>
        </p:txBody>
      </p:sp>
      <p:sp>
        <p:nvSpPr>
          <p:cNvPr id="12" name="Rectangle 11"/>
          <p:cNvSpPr/>
          <p:nvPr/>
        </p:nvSpPr>
        <p:spPr>
          <a:xfrm>
            <a:off x="5422392"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INCIDENT RESOLVED</a:t>
            </a:r>
          </a:p>
        </p:txBody>
      </p:sp>
      <p:sp>
        <p:nvSpPr>
          <p:cNvPr id="14" name="Rectangle 13"/>
          <p:cNvSpPr/>
          <p:nvPr/>
        </p:nvSpPr>
        <p:spPr>
          <a:xfrm>
            <a:off x="7123176"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POST-INCIDENT REVIEW</a:t>
            </a:r>
          </a:p>
        </p:txBody>
      </p:sp>
      <p:sp>
        <p:nvSpPr>
          <p:cNvPr id="16" name="TextBox 15"/>
          <p:cNvSpPr txBox="1"/>
          <p:nvPr/>
        </p:nvSpPr>
        <p:spPr>
          <a:xfrm>
            <a:off x="4297680" y="1444752"/>
            <a:ext cx="457200" cy="201168"/>
          </a:xfrm>
          <a:prstGeom prst="rect">
            <a:avLst/>
          </a:prstGeom>
          <a:noFill/>
        </p:spPr>
        <p:txBody>
          <a:bodyPr wrap="square" lIns="36576" rIns="36576" tIns="18288" bIns="18288">
            <a:spAutoFit/>
          </a:bodyPr>
          <a:lstStyle/>
          <a:p>
            <a:pPr algn="ctr"/>
            <a:r>
              <a:rPr sz="1400" b="1" i="0">
                <a:solidFill>
                  <a:srgbClr val="14B8A6"/>
                </a:solidFill>
                <a:latin typeface="Calibri"/>
              </a:rPr>
              <a:t>↓</a:t>
            </a:r>
          </a:p>
        </p:txBody>
      </p:sp>
      <p:sp>
        <p:nvSpPr>
          <p:cNvPr id="17" name="Rectangle 16"/>
          <p:cNvSpPr/>
          <p:nvPr/>
        </p:nvSpPr>
        <p:spPr>
          <a:xfrm>
            <a:off x="320040" y="1664208"/>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719072"/>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Major Incident Declared: Incident meets MIM criteria (P1, service-impacting, EM trigger, or manual declaration). Major incident flag set. MIM record created. MIM coordinator automatically notified.</a:t>
            </a:r>
          </a:p>
        </p:txBody>
      </p:sp>
      <p:sp>
        <p:nvSpPr>
          <p:cNvPr id="19" name="TextBox 18"/>
          <p:cNvSpPr txBox="1"/>
          <p:nvPr/>
        </p:nvSpPr>
        <p:spPr>
          <a:xfrm>
            <a:off x="4297680" y="2002536"/>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0" name="Rectangle 19"/>
          <p:cNvSpPr/>
          <p:nvPr/>
        </p:nvSpPr>
        <p:spPr>
          <a:xfrm>
            <a:off x="320040" y="2185416"/>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240280"/>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War Room Activated: MIM workspace opens: active major incident view with CI, related incidents, event group, timeline, and resolver group list. Stakeholder communication sent (initial notification).</a:t>
            </a:r>
          </a:p>
        </p:txBody>
      </p:sp>
      <p:sp>
        <p:nvSpPr>
          <p:cNvPr id="22" name="TextBox 21"/>
          <p:cNvSpPr txBox="1"/>
          <p:nvPr/>
        </p:nvSpPr>
        <p:spPr>
          <a:xfrm>
            <a:off x="4297680" y="2523744"/>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3" name="Rectangle 22"/>
          <p:cNvSpPr/>
          <p:nvPr/>
        </p:nvSpPr>
        <p:spPr>
          <a:xfrm>
            <a:off x="320040" y="2706624"/>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761488"/>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Resolution In Progress: Resolver groups work the incident. Work notes and resolution updates captured in MIM workspace. Stakeholder comms sent on schedule (every 30 min, every 1 hour -- configurable). SLA clock running.</a:t>
            </a:r>
          </a:p>
        </p:txBody>
      </p:sp>
      <p:sp>
        <p:nvSpPr>
          <p:cNvPr id="25" name="TextBox 24"/>
          <p:cNvSpPr txBox="1"/>
          <p:nvPr/>
        </p:nvSpPr>
        <p:spPr>
          <a:xfrm>
            <a:off x="4297680" y="3044952"/>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6" name="Rectangle 25"/>
          <p:cNvSpPr/>
          <p:nvPr/>
        </p:nvSpPr>
        <p:spPr>
          <a:xfrm>
            <a:off x="320040" y="3227832"/>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82696"/>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Incident Resolved: Resolution recorded. Major incident closed. Automated stakeholder notification: resolved. SLA calculation finalized. PIR task auto-created.</a:t>
            </a:r>
          </a:p>
        </p:txBody>
      </p:sp>
      <p:sp>
        <p:nvSpPr>
          <p:cNvPr id="28" name="TextBox 27"/>
          <p:cNvSpPr txBox="1"/>
          <p:nvPr/>
        </p:nvSpPr>
        <p:spPr>
          <a:xfrm>
            <a:off x="4297680" y="3566160"/>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9" name="Rectangle 28"/>
          <p:cNvSpPr/>
          <p:nvPr/>
        </p:nvSpPr>
        <p:spPr>
          <a:xfrm>
            <a:off x="320040" y="3749039"/>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03903"/>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Post-Incident Review: PIR completed by MIM coordinator: root cause, contributing factors, corrective actions. PIR closes. Knowledge article optionally generated from PIR findings (Now Assist). Problem record created if systemic issue.</a:t>
            </a:r>
          </a:p>
        </p:txBody>
      </p:sp>
      <p:sp>
        <p:nvSpPr>
          <p:cNvPr id="31" name="TextBox 30"/>
          <p:cNvSpPr txBox="1"/>
          <p:nvPr/>
        </p:nvSpPr>
        <p:spPr>
          <a:xfrm>
            <a:off x="4297680" y="4087368"/>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32" name="TextBox 31"/>
          <p:cNvSpPr txBox="1"/>
          <p:nvPr/>
        </p:nvSpPr>
        <p:spPr>
          <a:xfrm>
            <a:off x="320040" y="4315968"/>
            <a:ext cx="8503920" cy="457200"/>
          </a:xfrm>
          <a:prstGeom prst="rect">
            <a:avLst/>
          </a:prstGeom>
          <a:noFill/>
        </p:spPr>
        <p:txBody>
          <a:bodyPr wrap="square" lIns="36576" rIns="36576" tIns="18288" bIns="18288">
            <a:spAutoFit/>
          </a:bodyPr>
          <a:lstStyle/>
          <a:p>
            <a:pPr algn="l"/>
            <a:r>
              <a:rPr sz="850" b="1" i="0">
                <a:solidFill>
                  <a:srgbClr val="0D9488"/>
                </a:solidFill>
                <a:latin typeface="Calibri"/>
              </a:rPr>
              <a:t>AI Features Active at Go-Live:  </a:t>
            </a:r>
            <a:r>
              <a:rPr sz="850" b="0" i="0">
                <a:solidFill>
                  <a:srgbClr val="1E293B"/>
                </a:solidFill>
                <a:latin typeface="Calibri"/>
              </a:rPr>
              <a:t>Now Assist can summarize incident work notes for the MIM coordinator war room view in real time. Now Assist can draft the PIR document from incident timeline data. Predictive Intelligence can predict MIM escalation risk from early incident signals.</a:t>
            </a:r>
          </a:p>
        </p:txBody>
      </p:sp>
      <p:sp>
        <p:nvSpPr>
          <p:cNvPr id="33" name="Rectangle 32"/>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5" name="TextBox 34"/>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36" name="TextBox 35"/>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1</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criteria define a major incident?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Criteria Options:</a:t>
            </a:r>
          </a:p>
          <a:p>
            <a:pPr algn="l">
              <a:spcAft>
                <a:spcPts val="200"/>
              </a:spcAft>
            </a:pPr>
            <a:r>
              <a:rPr sz="850" b="0" i="0">
                <a:solidFill>
                  <a:srgbClr val="1E293B"/>
                </a:solidFill>
                <a:latin typeface="Calibri"/>
              </a:rPr>
              <a:t>Priority-based: P1 auto-elevates to major incident. Impact-based: incident impacts a critical service or CI class (defined in CMDB). EM-triggered: event group with N bound incidents promotes to major. Manual: any P1/P2 can be manually declared by service desk manager or MIM coordinator.</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Should all P1 incidents automatically become major incidents, or only those meeting additional criteria?</a:t>
            </a:r>
          </a:p>
          <a:p>
            <a:pPr algn="l">
              <a:spcAft>
                <a:spcPts val="300"/>
              </a:spcAft>
            </a:pPr>
            <a:r>
              <a:rPr sz="850" b="0" i="0">
                <a:solidFill>
                  <a:srgbClr val="1E293B"/>
                </a:solidFill>
                <a:latin typeface="Calibri"/>
              </a:rPr>
              <a:t>2.  What services or CIs are "critical" such that any impacting incident is automatically major?</a:t>
            </a:r>
          </a:p>
          <a:p>
            <a:pPr algn="l">
              <a:spcAft>
                <a:spcPts val="300"/>
              </a:spcAft>
            </a:pPr>
            <a:r>
              <a:rPr sz="850" b="0" i="0">
                <a:solidFill>
                  <a:srgbClr val="1E293B"/>
                </a:solidFill>
                <a:latin typeface="Calibri"/>
              </a:rPr>
              <a:t>3.  Should the service desk be able to declare a major incident, or only the MIM coordinator?</a:t>
            </a:r>
          </a:p>
          <a:p>
            <a:pPr algn="l">
              <a:spcAft>
                <a:spcPts val="300"/>
              </a:spcAft>
            </a:pPr>
            <a:r>
              <a:rPr sz="850" b="0" i="0">
                <a:solidFill>
                  <a:srgbClr val="1E293B"/>
                </a:solidFill>
                <a:latin typeface="Calibri"/>
              </a:rPr>
              <a:t>4.  Is there a priority escalation path (P2 that worsens becomes P1 that becomes major)?</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Overly broad major incident criteria creates MIM fatigue -- too many P1s being treated as major incidents. Overly narrow criteria means real major incidents miss the MIM process. Define criteria in this room and freeze them before plugin activation.</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2</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Who are the MIM team roles -- and what are their responsibilities?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Roles:</a:t>
            </a:r>
          </a:p>
          <a:p>
            <a:pPr algn="l">
              <a:spcAft>
                <a:spcPts val="200"/>
              </a:spcAft>
            </a:pPr>
            <a:r>
              <a:rPr sz="850" b="0" i="0">
                <a:solidFill>
                  <a:srgbClr val="1E293B"/>
                </a:solidFill>
                <a:latin typeface="Calibri"/>
              </a:rPr>
              <a:t>Major Incident Coordinator (MIC): owns the major incident record, drives resolution, sends comms. Technical Lead: leads the resolver group, reports status to MIC. Communications Lead: manages stakeholder comms, approves messages. Executive Sponsor: escalation contact for C-suite notification.</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Who are the named MIM coordinators (primary + backup for 24/7 coverage)?</a:t>
            </a:r>
          </a:p>
          <a:p>
            <a:pPr algn="l">
              <a:spcAft>
                <a:spcPts val="300"/>
              </a:spcAft>
            </a:pPr>
            <a:r>
              <a:rPr sz="850" b="0" i="0">
                <a:solidFill>
                  <a:srgbClr val="1E293B"/>
                </a:solidFill>
                <a:latin typeface="Calibri"/>
              </a:rPr>
              <a:t>2.  Is MIM coordination a dedicated role or rotated through senior agents?</a:t>
            </a:r>
          </a:p>
          <a:p>
            <a:pPr algn="l">
              <a:spcAft>
                <a:spcPts val="300"/>
              </a:spcAft>
            </a:pPr>
            <a:r>
              <a:rPr sz="850" b="0" i="0">
                <a:solidFill>
                  <a:srgbClr val="1E293B"/>
                </a:solidFill>
                <a:latin typeface="Calibri"/>
              </a:rPr>
              <a:t>3.  Does every assignment group need a designated technical lead for MIM scenarios?</a:t>
            </a:r>
          </a:p>
          <a:p>
            <a:pPr algn="l">
              <a:spcAft>
                <a:spcPts val="300"/>
              </a:spcAft>
            </a:pPr>
            <a:r>
              <a:rPr sz="850" b="0" i="0">
                <a:solidFill>
                  <a:srgbClr val="1E293B"/>
                </a:solidFill>
                <a:latin typeface="Calibri"/>
              </a:rPr>
              <a:t>4.  Who is the executive sponsor for major incidents impacting critical services?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MIM coordination is the most stressful role in an IT organization. Named, trained coordinators with clear authority are the difference between a 1-hour and a 4-hour major incident. Agree on names today -- even a draft roster.</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3</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stakeholder communication templates are needed?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Comms Templates:</a:t>
            </a:r>
          </a:p>
          <a:p>
            <a:pPr algn="l">
              <a:spcAft>
                <a:spcPts val="200"/>
              </a:spcAft>
            </a:pPr>
            <a:r>
              <a:rPr sz="850" b="0" i="0">
                <a:solidFill>
                  <a:srgbClr val="1E293B"/>
                </a:solidFill>
                <a:latin typeface="Calibri"/>
              </a:rPr>
              <a:t>Templates for: Initial Notification, Update (every N minutes), Resolution, PIR Summary. Each template has: audience list (roles or email groups), subject, body with dynamic fields (incident number, service, impact description, ETA, workaround). Templates configured in the notification framework --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Who receives initial major incident notifications (IT leadership, CIO, affected service owners)?</a:t>
            </a:r>
          </a:p>
          <a:p>
            <a:pPr algn="l">
              <a:spcAft>
                <a:spcPts val="300"/>
              </a:spcAft>
            </a:pPr>
            <a:r>
              <a:rPr sz="850" b="0" i="0">
                <a:solidFill>
                  <a:srgbClr val="1E293B"/>
                </a:solidFill>
                <a:latin typeface="Calibri"/>
              </a:rPr>
              <a:t>2.  How often should update notifications be sent during an active major incident (every 30 min, every 1 hour)?</a:t>
            </a:r>
          </a:p>
          <a:p>
            <a:pPr algn="l">
              <a:spcAft>
                <a:spcPts val="300"/>
              </a:spcAft>
            </a:pPr>
            <a:r>
              <a:rPr sz="850" b="0" i="0">
                <a:solidFill>
                  <a:srgbClr val="1E293B"/>
                </a:solidFill>
                <a:latin typeface="Calibri"/>
              </a:rPr>
              <a:t>3.  Is there a public-facing communication requirement (status page, agency website update)?</a:t>
            </a:r>
          </a:p>
          <a:p>
            <a:pPr algn="l">
              <a:spcAft>
                <a:spcPts val="300"/>
              </a:spcAft>
            </a:pPr>
            <a:r>
              <a:rPr sz="850" b="0" i="0">
                <a:solidFill>
                  <a:srgbClr val="1E293B"/>
                </a:solidFill>
                <a:latin typeface="Calibri"/>
              </a:rPr>
              <a:t>4.  Should notifications go to the agency CISO for security-related major incidents?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Communication template content should be reviewed by the agency communications team before go-live -- not just IT. Agencies have specific language requirements for public-facing or executive comms. Build that review into Sprint 6.</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4</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SLAs apply specifically to major incidents?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SLA Options:</a:t>
            </a:r>
          </a:p>
          <a:p>
            <a:pPr algn="l">
              <a:spcAft>
                <a:spcPts val="200"/>
              </a:spcAft>
            </a:pPr>
            <a:r>
              <a:rPr sz="850" b="0" i="0">
                <a:solidFill>
                  <a:srgbClr val="1E293B"/>
                </a:solidFill>
                <a:latin typeface="Calibri"/>
              </a:rPr>
              <a:t>OOTB SLA definitions for major incidents: Time to Acknowledge (MIM coordinator assigned within N minutes), Time to Restore (service restored within N hours). SLAs can be separate from standard P1 SLAs. SLA breach alerts configured to notify escalation contact.</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there a separate SLA for major incidents (faster clock than standard P1)?</a:t>
            </a:r>
          </a:p>
          <a:p>
            <a:pPr algn="l">
              <a:spcAft>
                <a:spcPts val="300"/>
              </a:spcAft>
            </a:pPr>
            <a:r>
              <a:rPr sz="850" b="0" i="0">
                <a:solidFill>
                  <a:srgbClr val="1E293B"/>
                </a:solidFill>
                <a:latin typeface="Calibri"/>
              </a:rPr>
              <a:t>2.  What is the Time to Acknowledge SLA for a major incident (15 min, 30 min)?</a:t>
            </a:r>
          </a:p>
          <a:p>
            <a:pPr algn="l">
              <a:spcAft>
                <a:spcPts val="300"/>
              </a:spcAft>
            </a:pPr>
            <a:r>
              <a:rPr sz="850" b="0" i="0">
                <a:solidFill>
                  <a:srgbClr val="1E293B"/>
                </a:solidFill>
                <a:latin typeface="Calibri"/>
              </a:rPr>
              <a:t>3.  What is the Time to Restore SLA for a major incident (4 hours, 8 hours)?</a:t>
            </a:r>
          </a:p>
          <a:p>
            <a:pPr algn="l">
              <a:spcAft>
                <a:spcPts val="300"/>
              </a:spcAft>
            </a:pPr>
            <a:r>
              <a:rPr sz="850" b="0" i="0">
                <a:solidFill>
                  <a:srgbClr val="1E293B"/>
                </a:solidFill>
                <a:latin typeface="Calibri"/>
              </a:rPr>
              <a:t>4.  Is there a federal compliance requirement (FISMA, agency SLA policy) that drives MIM SLA definitions?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Major incident SLAs should be agreed with agency leadership, not set by IT alone. They represent a service commitment. SLA definitions set in a sprint without executive sign-off are often renegotiated after the first major incident.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5</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the Post-Incident Review process work?</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PIR Workflow:</a:t>
            </a:r>
          </a:p>
          <a:p>
            <a:pPr algn="l">
              <a:spcAft>
                <a:spcPts val="200"/>
              </a:spcAft>
            </a:pPr>
            <a:r>
              <a:rPr sz="850" b="0" i="0">
                <a:solidFill>
                  <a:srgbClr val="1E293B"/>
                </a:solidFill>
                <a:latin typeface="Calibri"/>
              </a:rPr>
              <a:t>PIR task auto-created on major incident closure. PIR form: root cause, contributing factors, timeline, corrective actions, follow-up tasks. PIR approval workflow: MIM coordinator submits, service owner approves. PIR due date: configurable (5 business days OOTB). Now Assist can draft PIR from incident timeline.</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the PIR process currently happening informally? Or does a formal process already exist?</a:t>
            </a:r>
          </a:p>
          <a:p>
            <a:pPr algn="l">
              <a:spcAft>
                <a:spcPts val="300"/>
              </a:spcAft>
            </a:pPr>
            <a:r>
              <a:rPr sz="850" b="0" i="0">
                <a:solidFill>
                  <a:srgbClr val="1E293B"/>
                </a:solidFill>
                <a:latin typeface="Calibri"/>
              </a:rPr>
              <a:t>2.  Who approves the completed PIR?</a:t>
            </a:r>
          </a:p>
          <a:p>
            <a:pPr algn="l">
              <a:spcAft>
                <a:spcPts val="300"/>
              </a:spcAft>
            </a:pPr>
            <a:r>
              <a:rPr sz="850" b="0" i="0">
                <a:solidFill>
                  <a:srgbClr val="1E293B"/>
                </a:solidFill>
                <a:latin typeface="Calibri"/>
              </a:rPr>
              <a:t>3.  What is the target PIR completion time after incident resolution?</a:t>
            </a:r>
          </a:p>
          <a:p>
            <a:pPr algn="l">
              <a:spcAft>
                <a:spcPts val="300"/>
              </a:spcAft>
            </a:pPr>
            <a:r>
              <a:rPr sz="850" b="0" i="0">
                <a:solidFill>
                  <a:srgbClr val="1E293B"/>
                </a:solidFill>
                <a:latin typeface="Calibri"/>
              </a:rPr>
              <a:t>4.  Should PIR findings auto-generate a Problem record for systemic issues?</a:t>
            </a:r>
          </a:p>
          <a:p>
            <a:pPr algn="l">
              <a:spcAft>
                <a:spcPts val="300"/>
              </a:spcAft>
            </a:pPr>
            <a:r>
              <a:rPr sz="850" b="0" i="0">
                <a:solidFill>
                  <a:srgbClr val="1E293B"/>
                </a:solidFill>
                <a:latin typeface="Calibri"/>
              </a:rPr>
              <a:t>5.  Should Now Assist be enabled to draft PIR content from incident work notes?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PIR completion rates are the single best indicator of organizational learning from major incidents. OOTB PIR workflow with a 5-day due date and auto-reminder achieves 80%+ completion vs. informal processes that average 20-30%.</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6</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does Event Management trigger major incidents?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EM-MIM Integration:</a:t>
            </a:r>
          </a:p>
          <a:p>
            <a:pPr algn="l">
              <a:spcAft>
                <a:spcPts val="200"/>
              </a:spcAft>
            </a:pPr>
            <a:r>
              <a:rPr sz="850" b="0" i="0">
                <a:solidFill>
                  <a:srgbClr val="1E293B"/>
                </a:solidFill>
                <a:latin typeface="Calibri"/>
              </a:rPr>
              <a:t>EM event group meets major incident threshold (CI priority, bound incident count, service impact). EM auto-sets major incident flag on the promoted incident. MIM workspace pulls EM event group data directly. MIM coordinator sees CI impact map from CMDB.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Event Management in scope for this engagement?</a:t>
            </a:r>
          </a:p>
          <a:p>
            <a:pPr algn="l">
              <a:spcAft>
                <a:spcPts val="300"/>
              </a:spcAft>
            </a:pPr>
            <a:r>
              <a:rPr sz="850" b="0" i="0">
                <a:solidFill>
                  <a:srgbClr val="1E293B"/>
                </a:solidFill>
                <a:latin typeface="Calibri"/>
              </a:rPr>
              <a:t>2.  If yes, what EM event group criteria trigger automatic major incident promotion?</a:t>
            </a:r>
          </a:p>
          <a:p>
            <a:pPr algn="l">
              <a:spcAft>
                <a:spcPts val="300"/>
              </a:spcAft>
            </a:pPr>
            <a:r>
              <a:rPr sz="850" b="0" i="0">
                <a:solidFill>
                  <a:srgbClr val="1E293B"/>
                </a:solidFill>
                <a:latin typeface="Calibri"/>
              </a:rPr>
              <a:t>3.  Should EM auto-declare major incidents, or only suggest and require manual confirmation?</a:t>
            </a:r>
          </a:p>
          <a:p>
            <a:pPr algn="l">
              <a:spcAft>
                <a:spcPts val="300"/>
              </a:spcAft>
            </a:pPr>
            <a:r>
              <a:rPr sz="850" b="0" i="0">
                <a:solidFill>
                  <a:srgbClr val="1E293B"/>
                </a:solidFill>
                <a:latin typeface="Calibri"/>
              </a:rPr>
              <a:t>4.  How does the EM operator hand off to the MIM coordinator once promotion occurs?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EM-MIM integration is the most powerful automated major incident detection capability in ServiceNow. If EM is in scope, define the promotion criteria in both the EM and MIM workshops so they are aligned before Sprint 6 configuration.</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7</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Is there a war room tooling integration requirement (Teams, Zoom, Slack)?</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War Room Options:</a:t>
            </a:r>
          </a:p>
          <a:p>
            <a:pPr algn="l">
              <a:spcAft>
                <a:spcPts val="200"/>
              </a:spcAft>
            </a:pPr>
            <a:r>
              <a:rPr sz="850" b="0" i="0">
                <a:solidFill>
                  <a:srgbClr val="1E293B"/>
                </a:solidFill>
                <a:latin typeface="Calibri"/>
              </a:rPr>
              <a:t>MIM workspace is the OOTB war room. Teams/Zoom/Slack integration: Flow Designer OOTB steps can post MIM updates to a Teams channel or Slack channel, and create a Teams meeting/Zoom call. No scripting -- Flow Designer connector steps used.</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Teams, Zoom, or Slack the collaboration tool for major incident response?</a:t>
            </a:r>
          </a:p>
          <a:p>
            <a:pPr algn="l">
              <a:spcAft>
                <a:spcPts val="300"/>
              </a:spcAft>
            </a:pPr>
            <a:r>
              <a:rPr sz="850" b="0" i="0">
                <a:solidFill>
                  <a:srgbClr val="1E293B"/>
                </a:solidFill>
                <a:latin typeface="Calibri"/>
              </a:rPr>
              <a:t>2.  Should a dedicated Teams/Slack channel be auto-created for each major incident?</a:t>
            </a:r>
          </a:p>
          <a:p>
            <a:pPr algn="l">
              <a:spcAft>
                <a:spcPts val="300"/>
              </a:spcAft>
            </a:pPr>
            <a:r>
              <a:rPr sz="850" b="0" i="0">
                <a:solidFill>
                  <a:srgbClr val="1E293B"/>
                </a:solidFill>
                <a:latin typeface="Calibri"/>
              </a:rPr>
              <a:t>3.  Should MIM status updates auto-post to the MIM channel?</a:t>
            </a:r>
          </a:p>
          <a:p>
            <a:pPr algn="l">
              <a:spcAft>
                <a:spcPts val="300"/>
              </a:spcAft>
            </a:pPr>
            <a:r>
              <a:rPr sz="850" b="0" i="0">
                <a:solidFill>
                  <a:srgbClr val="1E293B"/>
                </a:solidFill>
                <a:latin typeface="Calibri"/>
              </a:rPr>
              <a:t>4.  Is video conferencing auto-scheduling (Teams meeting created at major incident declaration) useful?</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Teams/Slack integration for MIM is high-value and low-effort via Flow Designer OOTB connectors. If the agency uses Teams, a 2-hour Sprint 6 configuration item creates a significantly better major incident experience at zero additional cost.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572768"/>
            <a:ext cx="64008" cy="1645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572768"/>
            <a:ext cx="6858000" cy="804672"/>
          </a:xfrm>
          <a:prstGeom prst="rect">
            <a:avLst/>
          </a:prstGeom>
          <a:noFill/>
        </p:spPr>
        <p:txBody>
          <a:bodyPr wrap="square" lIns="36576" rIns="36576" tIns="18288" bIns="18288">
            <a:spAutoFit/>
          </a:bodyPr>
          <a:lstStyle/>
          <a:p>
            <a:pPr algn="l"/>
            <a:r>
              <a:rPr sz="4400" b="1" i="0">
                <a:solidFill>
                  <a:srgbClr val="FFFFFF"/>
                </a:solidFill>
                <a:latin typeface="Calibri"/>
              </a:rPr>
              <a:t>Decision Log</a:t>
            </a:r>
          </a:p>
        </p:txBody>
      </p:sp>
      <p:sp>
        <p:nvSpPr>
          <p:cNvPr id="4" name="TextBox 3"/>
          <p:cNvSpPr txBox="1"/>
          <p:nvPr/>
        </p:nvSpPr>
        <p:spPr>
          <a:xfrm>
            <a:off x="475488" y="2377440"/>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Every decision on the next page is an action.</a:t>
            </a:r>
          </a:p>
        </p:txBody>
      </p:sp>
      <p:sp>
        <p:nvSpPr>
          <p:cNvPr id="5" name="TextBox 4"/>
          <p:cNvSpPr txBox="1"/>
          <p:nvPr/>
        </p:nvSpPr>
        <p:spPr>
          <a:xfrm>
            <a:off x="475488" y="2706624"/>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Decisions left blank leave this room with a named owner and a date.</a:t>
            </a:r>
          </a:p>
        </p:txBody>
      </p:sp>
      <p:sp>
        <p:nvSpPr>
          <p:cNvPr id="6" name="TextBox 5"/>
          <p:cNvSpPr txBox="1"/>
          <p:nvPr/>
        </p:nvSpPr>
        <p:spPr>
          <a:xfrm>
            <a:off x="475488" y="3200400"/>
            <a:ext cx="7315200" cy="347472"/>
          </a:xfrm>
          <a:prstGeom prst="rect">
            <a:avLst/>
          </a:prstGeom>
          <a:noFill/>
        </p:spPr>
        <p:txBody>
          <a:bodyPr wrap="square" lIns="36576" rIns="36576" tIns="18288" bIns="18288">
            <a:spAutoFit/>
          </a:bodyPr>
          <a:lstStyle/>
          <a:p>
            <a:pPr algn="l"/>
            <a:r>
              <a:rPr sz="1200" b="0" i="1">
                <a:solidFill>
                  <a:srgbClr val="FFFFFF"/>
                </a:solidFill>
                <a:latin typeface="Calibri"/>
              </a:rPr>
              <a:t>Before we close: no decision is unresolved — it is either made, or owned.</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D E C I S I O N  L O G</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000" b="1" i="0">
                <a:solidFill>
                  <a:srgbClr val="0B1F3A"/>
                </a:solidFill>
                <a:latin typeface="Calibri"/>
              </a:rPr>
              <a:t>Major Incident Management — Decisions Made in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42415"/>
            <a:ext cx="292608"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78992"/>
            <a:ext cx="201168" cy="201168"/>
          </a:xfrm>
          <a:prstGeom prst="rect">
            <a:avLst/>
          </a:prstGeom>
          <a:noFill/>
        </p:spPr>
        <p:txBody>
          <a:bodyPr wrap="square" lIns="36576" rIns="36576" tIns="18288" bIns="18288">
            <a:spAutoFit/>
          </a:bodyPr>
          <a:lstStyle/>
          <a:p>
            <a:pPr algn="l"/>
            <a:r>
              <a:rPr sz="850" b="1" i="0">
                <a:solidFill>
                  <a:srgbClr val="FFFFFF"/>
                </a:solidFill>
                <a:latin typeface="Calibri"/>
              </a:rPr>
              <a:t>#</a:t>
            </a:r>
          </a:p>
        </p:txBody>
      </p:sp>
      <p:sp>
        <p:nvSpPr>
          <p:cNvPr id="8" name="Rectangle 7"/>
          <p:cNvSpPr/>
          <p:nvPr/>
        </p:nvSpPr>
        <p:spPr>
          <a:xfrm>
            <a:off x="612647" y="1042415"/>
            <a:ext cx="17373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645919" cy="201168"/>
          </a:xfrm>
          <a:prstGeom prst="rect">
            <a:avLst/>
          </a:prstGeom>
          <a:noFill/>
        </p:spPr>
        <p:txBody>
          <a:bodyPr wrap="square" lIns="36576" rIns="36576" tIns="18288" bIns="18288">
            <a:spAutoFit/>
          </a:bodyPr>
          <a:lstStyle/>
          <a:p>
            <a:pPr algn="l"/>
            <a:r>
              <a:rPr sz="850" b="1" i="0">
                <a:solidFill>
                  <a:srgbClr val="FFFFFF"/>
                </a:solidFill>
                <a:latin typeface="Calibri"/>
              </a:rPr>
              <a:t>Decision Topic</a:t>
            </a:r>
          </a:p>
        </p:txBody>
      </p:sp>
      <p:sp>
        <p:nvSpPr>
          <p:cNvPr id="10" name="Rectangle 9"/>
          <p:cNvSpPr/>
          <p:nvPr/>
        </p:nvSpPr>
        <p:spPr>
          <a:xfrm>
            <a:off x="2350008" y="1042415"/>
            <a:ext cx="393192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078992"/>
            <a:ext cx="3840480" cy="201168"/>
          </a:xfrm>
          <a:prstGeom prst="rect">
            <a:avLst/>
          </a:prstGeom>
          <a:noFill/>
        </p:spPr>
        <p:txBody>
          <a:bodyPr wrap="square" lIns="36576" rIns="36576" tIns="18288" bIns="18288">
            <a:spAutoFit/>
          </a:bodyPr>
          <a:lstStyle/>
          <a:p>
            <a:pPr algn="l"/>
            <a:r>
              <a:rPr sz="850" b="1" i="0">
                <a:solidFill>
                  <a:srgbClr val="FFFFFF"/>
                </a:solidFill>
                <a:latin typeface="Calibri"/>
              </a:rPr>
              <a:t>Scope</a:t>
            </a:r>
          </a:p>
        </p:txBody>
      </p:sp>
      <p:sp>
        <p:nvSpPr>
          <p:cNvPr id="12" name="Rectangle 11"/>
          <p:cNvSpPr/>
          <p:nvPr/>
        </p:nvSpPr>
        <p:spPr>
          <a:xfrm>
            <a:off x="6281927" y="1042415"/>
            <a:ext cx="15087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7" y="1078992"/>
            <a:ext cx="1417319" cy="201168"/>
          </a:xfrm>
          <a:prstGeom prst="rect">
            <a:avLst/>
          </a:prstGeom>
          <a:noFill/>
        </p:spPr>
        <p:txBody>
          <a:bodyPr wrap="square" lIns="36576" rIns="36576" tIns="18288" bIns="18288">
            <a:spAutoFit/>
          </a:bodyPr>
          <a:lstStyle/>
          <a:p>
            <a:pPr algn="l"/>
            <a:r>
              <a:rPr sz="850" b="1" i="0">
                <a:solidFill>
                  <a:srgbClr val="FFFFFF"/>
                </a:solidFill>
                <a:latin typeface="Calibri"/>
              </a:rPr>
              <a:t>Decision Made</a:t>
            </a:r>
          </a:p>
        </p:txBody>
      </p:sp>
      <p:sp>
        <p:nvSpPr>
          <p:cNvPr id="14" name="Rectangle 13"/>
          <p:cNvSpPr/>
          <p:nvPr/>
        </p:nvSpPr>
        <p:spPr>
          <a:xfrm>
            <a:off x="7790688" y="1042415"/>
            <a:ext cx="100584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078992"/>
            <a:ext cx="914400" cy="201168"/>
          </a:xfrm>
          <a:prstGeom prst="rect">
            <a:avLst/>
          </a:prstGeom>
          <a:noFill/>
        </p:spPr>
        <p:txBody>
          <a:bodyPr wrap="square" lIns="36576" rIns="36576" tIns="18288" bIns="18288">
            <a:spAutoFit/>
          </a:bodyPr>
          <a:lstStyle/>
          <a:p>
            <a:pPr algn="l"/>
            <a:r>
              <a:rPr sz="850" b="1" i="0">
                <a:solidFill>
                  <a:srgbClr val="FFFFFF"/>
                </a:solidFill>
                <a:latin typeface="Calibri"/>
              </a:rPr>
              <a:t>Owner / Due</a:t>
            </a:r>
          </a:p>
        </p:txBody>
      </p:sp>
      <p:sp>
        <p:nvSpPr>
          <p:cNvPr id="16" name="Rectangle 15"/>
          <p:cNvSpPr/>
          <p:nvPr/>
        </p:nvSpPr>
        <p:spPr>
          <a:xfrm>
            <a:off x="320040" y="131673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 y="131673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50008" y="131673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81927" y="131673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131673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5" y="14081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#1</a:t>
            </a:r>
          </a:p>
        </p:txBody>
      </p:sp>
      <p:sp>
        <p:nvSpPr>
          <p:cNvPr id="22" name="TextBox 21"/>
          <p:cNvSpPr txBox="1"/>
          <p:nvPr/>
        </p:nvSpPr>
        <p:spPr>
          <a:xfrm>
            <a:off x="658368" y="13898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Major incident criteria defined</a:t>
            </a:r>
          </a:p>
        </p:txBody>
      </p:sp>
      <p:sp>
        <p:nvSpPr>
          <p:cNvPr id="23" name="TextBox 22"/>
          <p:cNvSpPr txBox="1"/>
          <p:nvPr/>
        </p:nvSpPr>
        <p:spPr>
          <a:xfrm>
            <a:off x="2395727" y="13898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24" name="Rectangle 23"/>
          <p:cNvSpPr/>
          <p:nvPr/>
        </p:nvSpPr>
        <p:spPr>
          <a:xfrm>
            <a:off x="320040" y="1682495"/>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 y="1682495"/>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50008" y="1682495"/>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81927" y="1682495"/>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1682495"/>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5" y="17739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#2</a:t>
            </a:r>
          </a:p>
        </p:txBody>
      </p:sp>
      <p:sp>
        <p:nvSpPr>
          <p:cNvPr id="30" name="TextBox 29"/>
          <p:cNvSpPr txBox="1"/>
          <p:nvPr/>
        </p:nvSpPr>
        <p:spPr>
          <a:xfrm>
            <a:off x="658368" y="17556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MIM coordinator roster (primary + backup)</a:t>
            </a:r>
          </a:p>
        </p:txBody>
      </p:sp>
      <p:sp>
        <p:nvSpPr>
          <p:cNvPr id="31" name="TextBox 30"/>
          <p:cNvSpPr txBox="1"/>
          <p:nvPr/>
        </p:nvSpPr>
        <p:spPr>
          <a:xfrm>
            <a:off x="2395727" y="17556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32" name="Rectangle 31"/>
          <p:cNvSpPr/>
          <p:nvPr/>
        </p:nvSpPr>
        <p:spPr>
          <a:xfrm>
            <a:off x="320040" y="204825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 y="204825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50008" y="204825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7" y="204825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204825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5" y="21396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#3</a:t>
            </a:r>
          </a:p>
        </p:txBody>
      </p:sp>
      <p:sp>
        <p:nvSpPr>
          <p:cNvPr id="38" name="TextBox 37"/>
          <p:cNvSpPr txBox="1"/>
          <p:nvPr/>
        </p:nvSpPr>
        <p:spPr>
          <a:xfrm>
            <a:off x="658368" y="21214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Stakeholder comms audience and frequency</a:t>
            </a:r>
          </a:p>
        </p:txBody>
      </p:sp>
      <p:sp>
        <p:nvSpPr>
          <p:cNvPr id="39" name="TextBox 38"/>
          <p:cNvSpPr txBox="1"/>
          <p:nvPr/>
        </p:nvSpPr>
        <p:spPr>
          <a:xfrm>
            <a:off x="2395727" y="21214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0" name="Rectangle 39"/>
          <p:cNvSpPr/>
          <p:nvPr/>
        </p:nvSpPr>
        <p:spPr>
          <a:xfrm>
            <a:off x="320040" y="241401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 y="241401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50008" y="241401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81927" y="241401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90688" y="241401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5" y="250545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#4</a:t>
            </a:r>
          </a:p>
        </p:txBody>
      </p:sp>
      <p:sp>
        <p:nvSpPr>
          <p:cNvPr id="46" name="TextBox 45"/>
          <p:cNvSpPr txBox="1"/>
          <p:nvPr/>
        </p:nvSpPr>
        <p:spPr>
          <a:xfrm>
            <a:off x="658368" y="248716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MIM SLA definitions</a:t>
            </a:r>
          </a:p>
        </p:txBody>
      </p:sp>
      <p:sp>
        <p:nvSpPr>
          <p:cNvPr id="47" name="TextBox 46"/>
          <p:cNvSpPr txBox="1"/>
          <p:nvPr/>
        </p:nvSpPr>
        <p:spPr>
          <a:xfrm>
            <a:off x="2395727" y="248716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8" name="Rectangle 47"/>
          <p:cNvSpPr/>
          <p:nvPr/>
        </p:nvSpPr>
        <p:spPr>
          <a:xfrm>
            <a:off x="320040" y="277977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7" y="277977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50008" y="277977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1927" y="277977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90688" y="277977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5" y="287121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#5</a:t>
            </a:r>
          </a:p>
        </p:txBody>
      </p:sp>
      <p:sp>
        <p:nvSpPr>
          <p:cNvPr id="54" name="TextBox 53"/>
          <p:cNvSpPr txBox="1"/>
          <p:nvPr/>
        </p:nvSpPr>
        <p:spPr>
          <a:xfrm>
            <a:off x="658368" y="285292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PIR workflow and approval chain</a:t>
            </a:r>
          </a:p>
        </p:txBody>
      </p:sp>
      <p:sp>
        <p:nvSpPr>
          <p:cNvPr id="55" name="TextBox 54"/>
          <p:cNvSpPr txBox="1"/>
          <p:nvPr/>
        </p:nvSpPr>
        <p:spPr>
          <a:xfrm>
            <a:off x="2395727" y="285292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56" name="Rectangle 55"/>
          <p:cNvSpPr/>
          <p:nvPr/>
        </p:nvSpPr>
        <p:spPr>
          <a:xfrm>
            <a:off x="320040" y="314553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7" y="314553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50008" y="314553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1927" y="314553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90688" y="314553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5" y="32369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#6</a:t>
            </a:r>
          </a:p>
        </p:txBody>
      </p:sp>
      <p:sp>
        <p:nvSpPr>
          <p:cNvPr id="62" name="TextBox 61"/>
          <p:cNvSpPr txBox="1"/>
          <p:nvPr/>
        </p:nvSpPr>
        <p:spPr>
          <a:xfrm>
            <a:off x="658368" y="32186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EM-MIM promotion criteria</a:t>
            </a:r>
          </a:p>
        </p:txBody>
      </p:sp>
      <p:sp>
        <p:nvSpPr>
          <p:cNvPr id="63" name="TextBox 62"/>
          <p:cNvSpPr txBox="1"/>
          <p:nvPr/>
        </p:nvSpPr>
        <p:spPr>
          <a:xfrm>
            <a:off x="2395727" y="32186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64" name="Rectangle 63"/>
          <p:cNvSpPr/>
          <p:nvPr/>
        </p:nvSpPr>
        <p:spPr>
          <a:xfrm>
            <a:off x="320040" y="351129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7" y="351129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50008" y="351129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281927" y="351129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90688" y="351129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6615" y="36027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#7</a:t>
            </a:r>
          </a:p>
        </p:txBody>
      </p:sp>
      <p:sp>
        <p:nvSpPr>
          <p:cNvPr id="70" name="TextBox 69"/>
          <p:cNvSpPr txBox="1"/>
          <p:nvPr/>
        </p:nvSpPr>
        <p:spPr>
          <a:xfrm>
            <a:off x="658368" y="35844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War room tooling integration</a:t>
            </a:r>
          </a:p>
        </p:txBody>
      </p:sp>
      <p:sp>
        <p:nvSpPr>
          <p:cNvPr id="71" name="TextBox 70"/>
          <p:cNvSpPr txBox="1"/>
          <p:nvPr/>
        </p:nvSpPr>
        <p:spPr>
          <a:xfrm>
            <a:off x="2395727" y="35844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72" name="Rectangle 7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74" name="TextBox 7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75" name="TextBox 7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N E X T  S T E P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Happens After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1</a:t>
            </a:r>
          </a:p>
        </p:txBody>
      </p:sp>
      <p:sp>
        <p:nvSpPr>
          <p:cNvPr id="9" name="TextBox 8"/>
          <p:cNvSpPr txBox="1"/>
          <p:nvPr/>
        </p:nvSpPr>
        <p:spPr>
          <a:xfrm>
            <a:off x="704088"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MIM Plugin Activation</a:t>
            </a:r>
          </a:p>
        </p:txBody>
      </p:sp>
      <p:sp>
        <p:nvSpPr>
          <p:cNvPr id="10" name="TextBox 9"/>
          <p:cNvSpPr txBox="1"/>
          <p:nvPr/>
        </p:nvSpPr>
        <p:spPr>
          <a:xfrm>
            <a:off x="411479"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MIM plugin (com.snc.itsm.mim) is activated in the instance. If not, request activation before Sprint 5.</a:t>
            </a:r>
          </a:p>
        </p:txBody>
      </p:sp>
      <p:sp>
        <p:nvSpPr>
          <p:cNvPr id="11" name="Rectangle 10"/>
          <p:cNvSpPr/>
          <p:nvPr/>
        </p:nvSpPr>
        <p:spPr>
          <a:xfrm>
            <a:off x="4636007"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36007"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2</a:t>
            </a:r>
          </a:p>
        </p:txBody>
      </p:sp>
      <p:sp>
        <p:nvSpPr>
          <p:cNvPr id="14" name="TextBox 13"/>
          <p:cNvSpPr txBox="1"/>
          <p:nvPr/>
        </p:nvSpPr>
        <p:spPr>
          <a:xfrm>
            <a:off x="5020055"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Criteria Sign-Off</a:t>
            </a:r>
          </a:p>
        </p:txBody>
      </p:sp>
      <p:sp>
        <p:nvSpPr>
          <p:cNvPr id="15" name="TextBox 14"/>
          <p:cNvSpPr txBox="1"/>
          <p:nvPr/>
        </p:nvSpPr>
        <p:spPr>
          <a:xfrm>
            <a:off x="4727447"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Draft major incident criteria document. Review with IT leadership and service owners. Target: approved before Sprint 5 configuration.</a:t>
            </a:r>
          </a:p>
        </p:txBody>
      </p:sp>
      <p:sp>
        <p:nvSpPr>
          <p:cNvPr id="16" name="Rectangle 15"/>
          <p:cNvSpPr/>
          <p:nvPr/>
        </p:nvSpPr>
        <p:spPr>
          <a:xfrm>
            <a:off x="320040"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3</a:t>
            </a:r>
          </a:p>
        </p:txBody>
      </p:sp>
      <p:sp>
        <p:nvSpPr>
          <p:cNvPr id="19" name="TextBox 18"/>
          <p:cNvSpPr txBox="1"/>
          <p:nvPr/>
        </p:nvSpPr>
        <p:spPr>
          <a:xfrm>
            <a:off x="704088"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Coordinator Training</a:t>
            </a:r>
          </a:p>
        </p:txBody>
      </p:sp>
      <p:sp>
        <p:nvSpPr>
          <p:cNvPr id="20" name="TextBox 19"/>
          <p:cNvSpPr txBox="1"/>
          <p:nvPr/>
        </p:nvSpPr>
        <p:spPr>
          <a:xfrm>
            <a:off x="411479"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Identify and schedule MIM coordinator training. ECS to provide MIM coordinator playbook as a deliverable in Sprint 5.</a:t>
            </a:r>
          </a:p>
        </p:txBody>
      </p:sp>
      <p:sp>
        <p:nvSpPr>
          <p:cNvPr id="21" name="Rectangle 20"/>
          <p:cNvSpPr/>
          <p:nvPr/>
        </p:nvSpPr>
        <p:spPr>
          <a:xfrm>
            <a:off x="4636007"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36007"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4</a:t>
            </a:r>
          </a:p>
        </p:txBody>
      </p:sp>
      <p:sp>
        <p:nvSpPr>
          <p:cNvPr id="24" name="TextBox 23"/>
          <p:cNvSpPr txBox="1"/>
          <p:nvPr/>
        </p:nvSpPr>
        <p:spPr>
          <a:xfrm>
            <a:off x="5020055"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Comms Review</a:t>
            </a:r>
          </a:p>
        </p:txBody>
      </p:sp>
      <p:sp>
        <p:nvSpPr>
          <p:cNvPr id="25" name="TextBox 24"/>
          <p:cNvSpPr txBox="1"/>
          <p:nvPr/>
        </p:nvSpPr>
        <p:spPr>
          <a:xfrm>
            <a:off x="4727447"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Engage agency communications team to review stakeholder notification templates. Build review time into Sprint 6.</a:t>
            </a:r>
          </a:p>
        </p:txBody>
      </p:sp>
      <p:sp>
        <p:nvSpPr>
          <p:cNvPr id="26" name="Rectangle 25"/>
          <p:cNvSpPr/>
          <p:nvPr/>
        </p:nvSpPr>
        <p:spPr>
          <a:xfrm>
            <a:off x="320040" y="388620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88620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8620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5</a:t>
            </a:r>
          </a:p>
        </p:txBody>
      </p:sp>
      <p:sp>
        <p:nvSpPr>
          <p:cNvPr id="29" name="TextBox 28"/>
          <p:cNvSpPr txBox="1"/>
          <p:nvPr/>
        </p:nvSpPr>
        <p:spPr>
          <a:xfrm>
            <a:off x="704088" y="392277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EM Alignment</a:t>
            </a:r>
          </a:p>
        </p:txBody>
      </p:sp>
      <p:sp>
        <p:nvSpPr>
          <p:cNvPr id="30" name="TextBox 29"/>
          <p:cNvSpPr txBox="1"/>
          <p:nvPr/>
        </p:nvSpPr>
        <p:spPr>
          <a:xfrm>
            <a:off x="411479" y="421538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If EM in scope: share MIM criteria document with EM workshop notes. Ensure EM-MIM promotion threshold is consistent in both configurations.</a:t>
            </a:r>
          </a:p>
        </p:txBody>
      </p:sp>
      <p:sp>
        <p:nvSpPr>
          <p:cNvPr id="31" name="Rectangle 30"/>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3" name="TextBox 32"/>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34" name="TextBox 33"/>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400800" cy="548640"/>
          </a:xfrm>
          <a:prstGeom prst="rect">
            <a:avLst/>
          </a:prstGeom>
          <a:noFill/>
        </p:spPr>
        <p:txBody>
          <a:bodyPr wrap="square" lIns="36576" rIns="36576" tIns="18288" bIns="18288">
            <a:spAutoFit/>
          </a:bodyPr>
          <a:lstStyle/>
          <a:p>
            <a:pPr algn="l"/>
            <a:r>
              <a:rPr sz="3200" b="1" i="0">
                <a:solidFill>
                  <a:srgbClr val="FFFFFF"/>
                </a:solidFill>
                <a:latin typeface="Calibri"/>
              </a:rPr>
              <a:t>Everforth ECS Federal</a:t>
            </a:r>
          </a:p>
        </p:txBody>
      </p:sp>
      <p:sp>
        <p:nvSpPr>
          <p:cNvPr id="4" name="TextBox 3"/>
          <p:cNvSpPr txBox="1"/>
          <p:nvPr/>
        </p:nvSpPr>
        <p:spPr>
          <a:xfrm>
            <a:off x="475488" y="2176272"/>
            <a:ext cx="6400800" cy="402336"/>
          </a:xfrm>
          <a:prstGeom prst="rect">
            <a:avLst/>
          </a:prstGeom>
          <a:noFill/>
        </p:spPr>
        <p:txBody>
          <a:bodyPr wrap="square" lIns="36576" rIns="36576" tIns="18288" bIns="18288">
            <a:spAutoFit/>
          </a:bodyPr>
          <a:lstStyle/>
          <a:p>
            <a:pPr algn="l"/>
            <a:r>
              <a:rPr sz="2000" b="0" i="0">
                <a:solidFill>
                  <a:srgbClr val="14B8A6"/>
                </a:solidFill>
                <a:latin typeface="Calibri"/>
              </a:rPr>
              <a:t>ServiceNow Practice</a:t>
            </a:r>
          </a:p>
        </p:txBody>
      </p:sp>
      <p:sp>
        <p:nvSpPr>
          <p:cNvPr id="5" name="TextBox 4"/>
          <p:cNvSpPr txBox="1"/>
          <p:nvPr/>
        </p:nvSpPr>
        <p:spPr>
          <a:xfrm>
            <a:off x="475488" y="2743200"/>
            <a:ext cx="7772400" cy="274320"/>
          </a:xfrm>
          <a:prstGeom prst="rect">
            <a:avLst/>
          </a:prstGeom>
          <a:noFill/>
        </p:spPr>
        <p:txBody>
          <a:bodyPr wrap="square" lIns="36576" rIns="36576" tIns="18288" bIns="18288">
            <a:spAutoFit/>
          </a:bodyPr>
          <a:lstStyle/>
          <a:p>
            <a:pPr algn="l"/>
            <a:r>
              <a:rPr sz="900" b="0" i="0">
                <a:solidFill>
                  <a:srgbClr val="94A3B8"/>
                </a:solidFill>
                <a:latin typeface="Calibri"/>
              </a:rPr>
              <a:t>CONNECTION  ·  MODERNIZING THE CORE  ·  MAJOR INCIDENT MANAGEMENT</a:t>
            </a:r>
          </a:p>
        </p:txBody>
      </p:sp>
      <p:pic>
        <p:nvPicPr>
          <p:cNvPr id="6" name="Picture 5"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7" name="Rectangle 6"/>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9" name="TextBox 8"/>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CONNECTION  ·  MODERNIZING THE CORE  ·  MAJOR INCIDENT MANAGEMENT</a:t>
            </a:r>
          </a:p>
        </p:txBody>
      </p:sp>
      <p:sp>
        <p:nvSpPr>
          <p:cNvPr id="10" name="TextBox 9"/>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