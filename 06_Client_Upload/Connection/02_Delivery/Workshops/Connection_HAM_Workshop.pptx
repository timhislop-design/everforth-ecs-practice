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1554480"/>
            <a:ext cx="64008" cy="21945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685800" y="141732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Modernizing the Core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85800" y="28803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Hardware Asset Management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85800" y="36118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Establishing the Asset Lifecycle Foundation for Cost Visibility and AI-Driven ITAM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2636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5A7F"/>
                </a:solidFill>
              </a:rPr>
              <a:t>Prepared by Everforth ECS Federal  ·  ServiceNow Practice  ·  Confidential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CONNECTION  ·  MODERNIZING THE CORE  ·  HARDWARE ASSET MANAGEMENT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AGENDA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HARDWARE ASSET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2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We'll Cover Today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71600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57200" y="1371600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457200" y="1371600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87552" y="1426464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OOTB-First Frame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87552" y="1737360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engagement commits to OOTB — and what it means in the room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36208" y="1371600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6236208" y="1371600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236208" y="1371600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766560" y="1426464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 Customization Is (and Isn't)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766560" y="1737360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vs. customization — with examples relevant to Hardware Asset Management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" y="2487168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457200" y="2487168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57200" y="2487168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87552" y="2542032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OOTB HAM Lifecycle Overview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87552" y="2852928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classes, lifecycle states, stockrooms, IMAC workflows, and the PO-to-retire asset journey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236208" y="2487168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6236208" y="2487168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6236208" y="2487168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766560" y="2542032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Decisions #1–#8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766560" y="2852928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Decisions #1–#8  ·  Asset classes, lifecycle states, stockrooms, IMAC workflows, asset intake, disposal, ownership, CMDB relationship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57200" y="3602736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457200" y="3602736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457200" y="3602736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987552" y="3657600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Log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987552" y="3968496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is recorded before we leave this room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236208" y="3602736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6236208" y="3602736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6236208" y="3602736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6766560" y="3657600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Comes Next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6766560" y="3968496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Accelerator Pack workbook, configuration sprint, live ServiceNow demo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457200" y="4663440"/>
            <a:ext cx="11247120" cy="50292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594360" y="47091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rule: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get made in this room. The OOTB recommendation is pre-populated. Your team's job is to confirm, adjust, or document the exception.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APPROACH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HARDWARE ASSET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OOTB-first is not a constraint — it is the AI strategy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OOTB-First Means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19072"/>
            <a:ext cx="5394960" cy="420624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28800"/>
            <a:ext cx="51206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starts with the OOTB Hardware Asset Management capability — not the legacy system pattern.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(activating features, setting values, building taxonomies, writing rules) is always available — it is how OOTB is tailored to your organization.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Customization (code changes, new database fields, custom scripts) requires a documented business case and Customization Council sign-off.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18-week engagement is scoped and priced for OOTB execution. Customization expands scope.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It Protects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36208" y="1719072"/>
            <a:ext cx="5486400" cy="420624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73368" y="1828800"/>
            <a:ext cx="52120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 — Predictive Intelligence, Now Assist, Virtual Agent — require clean OOTB-aligned data and process structures. Custom fields and non-standard models reduce AI accuracy or block activation entirely.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upgrade paths. Customizations break on upgrades. OOTB patterns survive upgrades automatically with no remediation cost.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debt elimination. The Governance Triage Log captures every exception — it is managed and addressed iteratively. Nothing is lost; everything is governed.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LINE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HARDWARE ASSET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4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 customization is — and what it isn't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CONFIGURATION  —  This is always available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19072"/>
            <a:ext cx="5394960" cy="393192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28800"/>
            <a:ext cx="51206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Asset classes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Lifecycle states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Stockrooms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Disposal vendors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Contract association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Procurement integration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HAM Pro activation</a:t>
            </a:r>
          </a:p>
        </p:txBody>
      </p:sp>
      <p:sp>
        <p:nvSpPr>
          <p:cNvPr id="14" name="Shape 11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CUSTOMIZATION  —  Requires business case &amp; Council sign-off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36208" y="1719072"/>
            <a:ext cx="5486400" cy="3931920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73368" y="1828800"/>
            <a:ext cx="52120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dirty="0" sz="1100">
                <a:solidFill>
                  <a:srgbClr val="B91C1C"/>
                </a:solidFill>
                <a:latin typeface="Calibri"/>
              </a:rPr>
              <a:t>✗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Custom asset tables</a:t>
            </a:r>
          </a:p>
          <a:p>
            <a:r>
              <a:rPr lang="en-US" dirty="0" sz="1100">
                <a:solidFill>
                  <a:srgbClr val="B91C1C"/>
                </a:solidFill>
                <a:latin typeface="Calibri"/>
              </a:rPr>
              <a:t>✗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Scripted lifecycle transitions</a:t>
            </a:r>
          </a:p>
          <a:p>
            <a:r>
              <a:rPr lang="en-US" dirty="0" sz="1100">
                <a:solidFill>
                  <a:srgbClr val="B91C1C"/>
                </a:solidFill>
                <a:latin typeface="Calibri"/>
              </a:rPr>
              <a:t>✗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Custom procurement connectors outside OOTB PO integration</a:t>
            </a:r>
          </a:p>
        </p:txBody>
      </p:sp>
      <p:sp>
        <p:nvSpPr>
          <p:cNvPr id="18" name="Shape 15"/>
          <p:cNvSpPr/>
          <p:nvPr/>
        </p:nvSpPr>
        <p:spPr>
          <a:xfrm>
            <a:off x="457200" y="5440680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48640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obligation: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pattern requiring customization is captured in the Governance Triage Log with a named owner and disposition date — addressed in the current sprint via the Customization Council or deferred to a governed follow-on engagement.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PROCESS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HARDWARE ASSET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ServiceNow OOTB Hardware Asset Lifecycle — End to End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71600"/>
            <a:ext cx="1387275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71600"/>
            <a:ext cx="13872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Order / PO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844475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2100507" y="1371600"/>
            <a:ext cx="1387275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2100507" y="1371600"/>
            <a:ext cx="13872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Receive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487783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3743815" y="1371600"/>
            <a:ext cx="1387275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3743815" y="1371600"/>
            <a:ext cx="13872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Stock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131090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5387122" y="1371600"/>
            <a:ext cx="1387275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5387122" y="1371600"/>
            <a:ext cx="13872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774398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7030430" y="1371600"/>
            <a:ext cx="1387275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7030430" y="1371600"/>
            <a:ext cx="13872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Use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8417705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8673737" y="1371600"/>
            <a:ext cx="1387275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8673737" y="1371600"/>
            <a:ext cx="13872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Maintain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10061013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10317045" y="1371600"/>
            <a:ext cx="1387275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10317045" y="1371600"/>
            <a:ext cx="13872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Retire / Dispose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57200" y="2267712"/>
            <a:ext cx="1124712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457200" y="2267712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Key Capabilities &amp; OOTB Features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57200" y="2596896"/>
            <a:ext cx="3749040" cy="367588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548640" y="267004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Asset vs CI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548640" y="3017520"/>
            <a:ext cx="356616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(financial/physical records) and CIs (technical configuration records) are linked in ServiceNow OOTB. A laptop is both an Asset (cost, owner, contract) and a CI (hostname, OS, IP).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206240" y="2596896"/>
            <a:ext cx="3749040" cy="367588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4297680" y="267004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OOTB IMAC Flows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4297680" y="3017520"/>
            <a:ext cx="356616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ships OOTB flows for Install, Move, Add, Change requests. These create tasks and track asset state changes automatically — no custom workflow scripting.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7955280" y="2596896"/>
            <a:ext cx="3749040" cy="367588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8046720" y="267004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&amp; Reporting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8046720" y="3017520"/>
            <a:ext cx="356616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asset data enables Now Assist cost analysis, Performance Analytics asset health dashboards, and Predictive Intelligence asset replacement forecasting.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#1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HARDWARE ASSET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asset classes and models will be configured at go-live?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Asset Classes: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(cmdb_ci_hardware) with sub-classes: Computer, Mobile Device, Printer, Network Device, Storage Device. All OOTB — no schema extension.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Catalog: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Model Catalog (cmdb_model) stores asset models (Dell Latitude 5420, HP ProLiant DL380). Models are linked to assets — enabling contract, warranty, and lifecycle management by model.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 Foundations Pack: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HAM Foundations Accelerator Pack includes worksheets for asset classes and model catalog. Customer populates; ECS loads via import. Target: top 10 models at go-live.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Which asset classes are in scope (computers, mobile, network, printers, other)?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is the target model catalog size at go-live (recommend: top 10–20 most common models)?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is the source of model data (existing asset database, vendor contracts, manual list)?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Who maintains the model catalog post-go-live (adding new models as they are purchased)?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custom asset class sub-types or custom model catalog tables requires Customization Council review. The OOTB asset class hierarchy and cmdb_model table cover all standard hardware categories.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#2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HARDWARE ASSET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7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lifecycle states will be configured — and what transitions are valid?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Asset Lifecycle States: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Order → In Stock → In Use → In Maintenance → Retired → Disposed. State transitions tracked automatically by OOTB lifecycle state workflows.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Sub-states: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'In Use' sub-states: Deployed, Reserved. 'In Stock' sub-states: Available, Reserved for deployment. OOTB — configurable in Asset Management settings.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Transition Rules: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state transition rules prevent invalid transitions (e.g., skipping In Stock → In Use requires receiving workflow completion). No scripting needed.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Accept the OOTB lifecycle states — or are additional states needed (e.g., 'Awaiting Repair')?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Will sub-states within 'In Use' and 'In Stock' be activated?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approvals are required for state transitions (e.g., Retired requires manager approval)?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Who can change asset lifecycle state — asset managers only, or all fulfillers?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lifecycle states beyond the OOTB set require schema and workflow changes — Customization Council sign-off required. In most cases, OOTB sub-states cover the additional granularity requested.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#3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HARDWARE ASSET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8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many stockrooms will be configured — and who manages each?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Stockroom Model: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Stockrooms are physical or virtual locations for in-stock assets. Types: Regular (physical warehouse), Virtual (logical grouping for remote stock). Each stockroom has a manager, a location, and an asset type scope.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Setup: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central stockroom per data center or office. 1 virtual stockroom per remote site managed by local IT. Total: 3–5 stockrooms for a mid-size organization.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Stockroom Manager Role: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Stockroom managers can receive assets into stock, transfer assets, and run stockroom inventory reports — OOTB role, no custom permissions needed.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How many stockrooms are needed at go-live (physical and virtual)?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Who are the named stockroom managers for each stockroom?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is the asset type scope per stockroom (all assets, computers only, etc.)?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How will remote site asset receiving work — local IT or centralized receiving?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custom stockroom types beyond Regular and Virtual requires schema extension — Customization Council. The OOTB Regular + Virtual model covers all standard stockroom patterns including remote and virtual inventory.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#4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HARDWARE ASSET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9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IMAC workflows will be activated — and at what scope?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IMAC Flows: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(new asset deployment from stock), Move (asset relocation between users or sites), Add (hardware addition to existing device — memory, storage), Change (hardware swap — same user, different asset).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Catalog Integration: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IMAC catalog items in Service Catalog trigger the corresponding IMAC flow. Employees request via Employee Center; IT fulfills via IMAC task.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Automation: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IMAC workflow automatically updates asset lifecycle state. Install: In Stock → In Use. Move: asset location and assigned-to updated. Return: In Use → In Stock.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Which IMAC flows will be activated at go-live (Install, Move, Add, Change, Return)?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Will IMAC requests be submitted by employees via Service Catalog — or initiated by IT only?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Are approvals required for IMAC requests (manager approval for moves, IT lead for changes)?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Will Walk-up fulfillment (in-person IT bar) be in scope for IMAC at go-live?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IMAC workflow stages beyond the OOTB Install/Move/Add/Change/Return set require Customization Council sign-off. The OOTB set covers the full ITIL IMAC scope.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#5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HARDWARE ASSET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10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asset intake process — from purchase order to stockroom?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Receiving Workflow: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 (PO) created in ServiceNow → PO approved → Assets created on order receipt → Assets received into stockroom → Asset enriched (serial number, model) → Ready for deployment.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Integration: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procurement is external (SAP, Oracle Procurement), OOTB import set or REST API can import POs. No custom integration scripting — standard REST import.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Receiving Checklist: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asset receiving creates tasks for physical inspection, serial number capture, and model verification. All managed via the OOTB Asset Receiving workbench.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Will purchase orders be created in ServiceNow — or imported from an external procurement system?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is the receiving process — who physically receives and logs serial numbers?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Will asset receiving happen at a central warehouse or distributed across sites?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Is there a lease/rental model — and do leased assets need different intake handling?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PO-to-asset logic that doesn't follow the OOTB receiving workflow requires scripting and Customization Council review. The OOTB receiving workbench handles the full PO-to-stockroom lifecycle.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#6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HARDWARE ASSET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11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asset retirement and disposal process?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Retirement Flow: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retirement request → IT approval → Data wipe task created → Disposal method recorded (recycle, vendor return, donation, dispose) → Asset state: Retired → Disposed. Full audit trail maintained.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Disposal Vendors: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vendor record links asset to disposal vendor. Certificate of data destruction can be attached to the asset record — no custom fields needed.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Closeout: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retirement triggers cost center notification and updates the asset's financial lifecycle data (depreciation end, disposal cost) — OOTB, no scripting.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What approvals are required before asset retirement (manager, security, finance)?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Is data wipe documentation (certificate of destruction) required — and how will it be attached?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Who are the approved disposal vendors — and how will vendor records be maintained?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What is the policy for donated or sold assets vs. recycled assets?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retirement approval chains beyond OOTB multi-level approval require Customization Council review. The OOTB approval framework (item-level approval rules) handles multi-stage retirement approval without scripting.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#7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HARDWARE ASSET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12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asset ownership model — user, department, or cost center?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Ownership Fields: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'Assigned to' (individual user — primary ownership), 'Department' (departmental ownership — for shared assets), 'Cost center' (financial allocation). All OOTB fields — no new columns.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Assets: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without an individual owner use Department + Location for accountability tracking. OOTB — no custom table needed.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&amp; Reporting: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data drives PA asset reporting (assets per department, cost per user), and enables PI-based asset assignment prediction (who typically gets which model).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Is individual user assignment the primary ownership model — or are there shared/pool assets?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Will cost center be used for financial asset reporting — and what is the source of cost center data?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How will ownership transfers be handled (IMAC request, direct form update, HR event trigger)?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Who has authority to reassign asset ownership without an IMAC request?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asset ownership hierarchies (multi-tier approval for ownership transfer) require Customization Council sign-off. OOTB: assigned-to + IMAC transfer request covers all standard ownership scenarios.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#8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HARDWARE ASSET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assets link to CMDB CIs — and what is managed at each level?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Asset-CI Relationship: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hardware asset links to a corresponding CMDB CI via the 'CI' field on the asset record. OOTB — no custom relationship table.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Asset manages: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Cost, contract, owner, location, lifecycle state, warranty, serial number, financial data.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CI manages: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Hostname, OS version, IP, installed software, relationships to services. Both records linked — view either to navigate to the other.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Auto-CI Creation: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new asset is deployed (state: In Use), an OOTB rule can automatically create or link the corresponding CI. Configurable — no scripting.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Will asset-to-CI auto-linking be enabled at go-live — or will linking be manual?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Who is responsible for ensuring all deployed assets have corresponding CMDB CIs?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Will Discovery data update CI records linked to assets — and will those updates affect asset fields?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Is there an audit requirement for asset-CI traceability at all times?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asset and CI teams without a clear link maintenance process produce orphaned assets and CIs within 60 days. Auto-linking at deployment is the OOTB-recommended pattern — enable it at go-live.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2011680"/>
            <a:ext cx="64008" cy="1645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685800" y="19202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Log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85800" y="28803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on the next page is an action.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85800" y="36118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left blank leave this room with a named owner and a date. Before we close: no decision is unresolved — it is either made, or owned.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CONNECTION  ·  MODERNIZING THE CORE  ·  HARDWARE ASSET MANAGEMENT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DECISION LOG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HARDWARE ASSET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Hardware Asset Management — Decisions Made in This Workshop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1143000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2103120"/>
                <a:gridCol w="3657600"/>
                <a:gridCol w="301752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Topic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Made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 / Due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 Classes &amp; Models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Classes in scope, model catalog size, data source, maintenance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Lifecycle States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OOTB states accepted, sub-states, transition approvals, role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Stockroom Strategy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Count, type, manager assignment, remote site 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IMAC Workflows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Flows in scope, requester (employee vs IT), approvals, walk-up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 Intake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 source, receiving process, distributed vs central, lease handling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Retirement &amp; Disposal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Approval chain, data wipe documentation, disposal vendors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Ownership 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Assigned-to vs department, cost center, transfer process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Asset-CI Relationship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Auto-linking, maintenance responsibility, audit traceability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NEXT STEPS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HARDWARE ASSET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happens after this workshop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11480" y="1417320"/>
            <a:ext cx="3611880" cy="4114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11480" y="1417320"/>
            <a:ext cx="361188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50292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33272" y="1444752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Accelerator Pack — Workbook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" y="196596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 after this workshop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48640" y="2240280"/>
            <a:ext cx="3337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captured today are entered into the Hardware Asset Management Accelerator Pack workbook. ECS pre-populates the ServiceNow Mapping tab with OOTB field-level configuration specs.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251960" y="1417320"/>
            <a:ext cx="3611880" cy="4114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4251960" y="1417320"/>
            <a:ext cx="361188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434340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873752" y="1444752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Configuration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389120" y="196596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 — Configuration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389120" y="2240280"/>
            <a:ext cx="3337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configures the process in ServiceNow against the completed Accelerator Pack workbook. Customer SMEs validate configuration against agreed decisions.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092440" y="1417320"/>
            <a:ext cx="3611880" cy="4114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8092440" y="1417320"/>
            <a:ext cx="361188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818388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8714232" y="1444752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OOTB Walkthrough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229600" y="196596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sprint demo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8229600" y="2240280"/>
            <a:ext cx="3337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walks the customer through the configured OOTB process in a live ServiceNow instance. Every decision from today is visible in the system.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57200" y="5650992"/>
            <a:ext cx="11247120" cy="566928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594360" y="5696712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does not replace the Accelerator Pack workbook. The workbook is the living record — decisions formally captured, configuration data collected, and customer sign-off obtained before sprint build begins.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CONNECTION  ·  MODERNIZING THE CORE  ·  HARDWARE ASSET MANAGEMENT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17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737360"/>
            <a:ext cx="64008" cy="1920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685800" y="16459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Questions?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685800" y="26974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Let's close the decision log.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85800" y="333756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 before we adjourn: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all 8 decisions made — or does each open item have a named owner and a date?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anything we captured incorrectly that needs to be corrected before the workbook is updated?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decision that needs escalation or leadership approval before Sprint 5 configuration begins?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619963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A7F"/>
                </a:solidFill>
              </a:rPr>
              <a:t>Contact your ECS Account Executive  ·  servicenow@ecstech.com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2026-05-12T05:27:11Z</dcterms:created>
  <dcterms:modified xsi:type="dcterms:W3CDTF">2026-05-12T05:27:11Z</dcterms:modified>
</cp:coreProperties>
</file>