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645920"/>
            <a:ext cx="4114800" cy="41148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822960"/>
            <a:ext cx="2560320" cy="2560320"/>
          </a:xfrm>
          <a:prstGeom prst="ellipse">
            <a:avLst/>
          </a:prstGeom>
          <a:solidFill>
            <a:srgbClr val="5EEAD4">
              <a:alpha val="30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pic>
        <p:nvPicPr>
          <p:cNvPr id="5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65760"/>
            <a:ext cx="1828800" cy="3397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FEDERAL  |  SERVICENOW PRACTICE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the AI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Bought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ServiceNow OOTB-First approach to AI alignment and license realization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6400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 from delivery teams that have run the reset.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ECS Federal  ·  ServiceNow Practice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HIDDEN COST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paying for and not using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50%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SERVICENOW 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idle in the average enterprise instance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Industry-observed range based on practice experience.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capabilities sit idle: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workflows that bypass OOTB capabilities entirely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databases not curated for AI Search or Virtual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468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not aligned to CSDM — Predictive Intelligence has no clean data to learn from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licensed but never configured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4747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licensed but blocked by data quality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9319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40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using legacy patterns that AI cannot extend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3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require clean foundations — and the gap is widening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ServiceNow's recent AI capabilities — Now Assist, Agentic Agents, Predictive and Task Intelligence, the Workflow Data Fabric — represent the largest platform expansion in a decade. None of them deliver value on a customized, technically indebted instance.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41148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94560"/>
            <a:ext cx="411480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NEEDS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CSDM-aligned, normalized CMDB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workflows it can extend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Knowledge 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CI classes and relationships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with auditability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1148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94560"/>
            <a:ext cx="411480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INSTANCES HAVE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743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CMDB drift, custom CI classes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workflows AI can't parse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Stale, duplicate KM articles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tables replacing OOTB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4023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interrupted by customization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AI needs and what most instances offer is the gap between licensing AI and realizing it.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3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DIAGNOSIS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debt — the root cause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debt accumulates one well-intentioned decision at a time. Each customization solved a problem the day it was built. Together, they block the platform's evolution.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9933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1993392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3774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customization to handle a unique workflow.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3520440"/>
            <a:ext cx="17190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6118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one. We need it now."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78024" y="1828800"/>
            <a:ext cx="19933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828800"/>
            <a:ext cx="1993392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874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42616" y="23774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Customizations multiply. Each one cited a real need.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42616" y="3520440"/>
            <a:ext cx="17190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36118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how we do change here."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90288" y="1828800"/>
            <a:ext cx="19933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828800"/>
            <a:ext cx="1993392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874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4–5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skip records. Custom code breaks. Patches required.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17190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6118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touch the upgrade — too risky."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02552" y="1828800"/>
            <a:ext cx="19933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2552" y="1828800"/>
            <a:ext cx="1993392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1874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6+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67144" y="23774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released. Custom data model can't support them.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67144" y="3520440"/>
            <a:ext cx="17190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36118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licensed it but can't use it."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0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COST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customization debt costs — illustrative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WASTE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$600K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per enterprise instance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SKUs that go unused — Performance Analytics, Predictive Intelligence, AI Search, Now Assist — because the platform doesn't have the data foundation to support them.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– $400K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in custom-code carrying 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269748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78892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of custom Script Includes, Jelly/Angular UI, custom tables, and bespoke integrations — plus the rework when each ServiceNow family upgrade breaks them.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COST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$2M+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in unrealized productivity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69748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78892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not learning, Now Assist not summarizing, AI Search not deflecting tickets — all because the underlying data and workflows don't support them.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are illustrative based on practice experience. Actual figures vary by enterprise size, license footprint, and customization breadth.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7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you've likely already licensed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on a current ServiceNow ITSM Pro or higher subscription, you almost certainly own the following — most are unused or under-configured in customer-customized instances.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case summarization, knowledge generation, agent assist.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78308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78308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incident classification, assignment, and resolution recommendations.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8308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0872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across KM, catalog, and tickets — the foundation for self-service.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78308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78308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93992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for self-service, ticket creation, and password reset.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0040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KPI tracking, scoring, and forecasting.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20040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Data Fabric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87752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data integration across Boomi, Databricks, UKG, and more.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20040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0872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actual process behavior vs. designed process; find optimization opportunities.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3200400"/>
            <a:ext cx="2011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20040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Agents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93992" y="3703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that take action across workflows.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8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PREREQUISITE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AI capability requires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fail in customized environments not because the AI is weak, but because the foundation is wrong. The four prerequisites are non-negotiable.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011680" cy="292608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CSDM-Aligned CMDB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and Now Assist learn from CI relationships. Custom CI classes and orphan records produce noise, not insight.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691640"/>
            <a:ext cx="2011680" cy="292608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2743200" y="278892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Workflows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extends OOTB processes. Custom workflows lock AI out — there's no API or pattern for it to plug into.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2011680" cy="292608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892040" y="278892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Knowledge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and Virtual Agent only return what they can find. Stale or duplicate KM articles mean wrong answers, not no answers.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691640"/>
            <a:ext cx="2011680" cy="292608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7040880" y="278892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Data Fabric and Process Mining work against standard tables. Custom tables hide data from the analytics that depend on 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6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OOTB-first — what it actually 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OOTB-first is not "never customize." It is a discipline: every requirement starts with the OOTB pattern; deviations are deliberate, governed, and rare.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01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workshop opens with the OOTB capability doing the work — using customer data, against customer scenarios. The conversation starts from what works, not what's missing.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482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48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NARROW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demo, the conversation focuses on the small set of decisions the customer needs to make to fit OOTB to their environment — not on rebuilding what they had.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946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94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DEVIATIONS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OOTB genuinely cannot meet a need, the deviation goes through a Governance Board — Sponsor approves business need, ECS Practice Lead approves technical path. Two keys, both required.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70832"/>
            <a:ext cx="841248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3708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clean foundation that AI capabilities can extend, not work around.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3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operational levers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doesn't run on principle alone. Five levers turn OOTB-first from a stated philosophy into a daily operating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62763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162763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373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1945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65176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filter: Configuration / UI Policy / Flow Designer first. If it fits, no deviation needed.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691640"/>
            <a:ext cx="162763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691640"/>
            <a:ext cx="162763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17373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03704" y="21945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Workshops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3704" y="265176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workshop tiers (Accelerator Pack, CSDM, Reporting, Process OOTB Alignment, Integration) timed to the active sprint.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1691640"/>
            <a:ext cx="162763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3904" y="1691640"/>
            <a:ext cx="162763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17373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22776" y="21945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22776" y="265176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Two-key approval for any deviation. Sponsor approves business need; ECS Practice Lead approves technical path.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22976" y="1691640"/>
            <a:ext cx="162763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2976" y="1691640"/>
            <a:ext cx="162763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17373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41848" y="21945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Triage Log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41848" y="265176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every deviation logged within 24 hours, transparent to both teams.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42048" y="1691640"/>
            <a:ext cx="162763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1691640"/>
            <a:ext cx="162763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7373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21945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Triggers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265176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contractual safety valves — raised early when scope or dependencies move, not absorbed silently.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weeks to a clean, AI-ready foundation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Discovery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52728" y="2286000"/>
            <a:ext cx="329184" cy="329184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346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7180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CSDM, CMDB, Discovery, foundation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188720"/>
            <a:ext cx="192024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33472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329184" cy="329184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28346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297180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Core, modernized Change/CAB, top catalog items.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35424" y="1188720"/>
            <a:ext cx="192024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72584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30952" y="2286000"/>
            <a:ext cx="329184" cy="329184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28346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97180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Center, Virtual Agent, KM, Analytics, HAM.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74536" y="1188720"/>
            <a:ext cx="192024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11696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Go-Live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70064" y="2286000"/>
            <a:ext cx="329184" cy="329184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74536" y="28346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297180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training, governed cutover, Hypercare.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841248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708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 of build  +  2 weeks of Hypercare  ·  Sprint 0 sets the foundation  ·  Phase 1 lands the AI-ready foundation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2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foundation compounds into AI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OOTB platform: ITSM Core, CSDM/CMDB, Employee Center, Virtual Agent, KM.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weeks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88720"/>
            <a:ext cx="269748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Catalog, VA Expansion, On-Call, HAM, SAM Foundations, additional connectors.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weeks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97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&amp;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Management, Service Mapping, SAM Expansion, license-position visibility.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weeks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HORIZON  ·  AFTER PHASES 1–3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phases complete on a clean OOTB foundation, Now Assist, Agentic Agents, and Workflow Data Fabric integrate without bespoke scaffolding. AI-driven decisions across IT operations, employee experience, and license optimization become the new operating posture.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6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THE HONEST PART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OOTB-first isn't the right answer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OOTB-first is not religion. It is a default that holds 90%+ of the time. The 10% where customization is the right call has its own discipline.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01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Compliance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Federal-specific FedRAMP / FISMA controls, healthcare HIPAA constraints, financial-services SOX requirements that genuinely cannot be met by OOTB Configuration.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114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9164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801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Differentiator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2312" y="20756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differentiated workflow that creates a competitive advantage and that the business owns as a strategic asset — not a legacy preference.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Integration Pattern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40156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integration that requires a custom Spoke or pattern because the source/target system has no IntegrationHub-supported equivalent.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017520"/>
            <a:ext cx="4114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0175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Constraint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340156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jurisdictional constraint on where data resides or how it flows that OOTB cannot accommodate.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case, the customization goes through the Governance Board — and is built to be upgrade-safe and documented as a managed deviation, not a hidden one.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4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WHY ECS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discipline, federal and commercial track record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Practice-Wide Discipline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OOTB-first is codified — playbooks, role accountability, governance frameworks, accelerator packs. Every engagement runs the same way regardless of who is on the team.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Two-Key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decisions require Sponsor approval AND ECS Practice authority — independent verification protects both the customer and the engagement.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and Commercial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operates across federal and commercial accounts; industry variants for each vertical are maintained centrally and applied per engagement.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9748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Accelerator Packs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200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Data, CSDM, Catalog, KM, Discovery, Integrations, Process Tuning — pack library reduces customer ramp time and ensures consistency.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69748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Trust-but-Verify Reporting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3200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engagement health metrics (8 dimensions, RYG thresholds) reported to practice management; mandatory escalation triggers surface issues early.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697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69748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Engagement Posture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3200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customers when OOTB isn't right and route them appropriately. The engagement is a partnership, not a sale.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9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THE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foundation is right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237744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50%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P1+P2 incident MTTR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workflows + Performance Analytics + Predictive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371600"/>
            <a:ext cx="2011680" cy="237744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40%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273552" y="251460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change success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3472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CI-driven risk scoring + CAB Workbench + standard CHG 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237744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60%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404104" y="251460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ticket deflection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Employee Center + Virtual Agent + AI Search on curated KM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57416" y="1371600"/>
            <a:ext cx="2011680" cy="2377440"/>
          </a:xfrm>
          <a:prstGeom prst="rect">
            <a:avLst/>
          </a:prstGeom>
          <a:solidFill>
            <a:srgbClr val="071427"/>
          </a:solidFill>
          <a:ln w="12700">
            <a:solidFill>
              <a:srgbClr val="0714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80%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7534656" y="251460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realization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licensed AND configured AND adopted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are illustrative based on practice experience and industry benchmarks. Actual results vary by enterprise scale, scope, and adoption discipline.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6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873752"/>
            <a:ext cx="1188720" cy="22085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28800" y="4910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 ·  SERVICENOW PRACTICE  ·  OOTB-FIRST APPROACH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863840" y="4910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/sessions/laughing-cool-lovelace/mnt/outputs/deck/everforth_ecs_feder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65760"/>
            <a:ext cx="1828800" cy="339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Discovery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6400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880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90 minutes, we map your current ServiceNow instance against the AI-readiness checklist, quantify your license-realization gap, and identify the top 3 OOTB resets that would unlock the most value. No commitment. No deck. Just an honest read.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ECS Account Executive  ·  servicenow@ecstech.com  ·  Schedule the discovery workshop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ECS Federal  ·  ServiceNow Practice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8AF536E63484A9B73CECC96E010FF" ma:contentTypeVersion="19" ma:contentTypeDescription="Create a new document." ma:contentTypeScope="" ma:versionID="33422ae79d2a315b8c303e9c27e5a991">
  <xsd:schema xmlns:xsd="http://www.w3.org/2001/XMLSchema" xmlns:xs="http://www.w3.org/2001/XMLSchema" xmlns:p="http://schemas.microsoft.com/office/2006/metadata/properties" xmlns:ns2="d1ffb523-bb88-49c4-b429-725e751bd64a" xmlns:ns3="ea10e7c1-45f6-45a6-9220-470b2ac38f45" targetNamespace="http://schemas.microsoft.com/office/2006/metadata/properties" ma:root="true" ma:fieldsID="02f734f998161832bfcf327b16e32379" ns2:_="" ns3:_="">
    <xsd:import namespace="d1ffb523-bb88-49c4-b429-725e751bd64a"/>
    <xsd:import namespace="ea10e7c1-45f6-45a6-9220-470b2ac38f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SN_x0020_Document_x0020_ID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3:_dlc_DocId" minOccurs="0"/>
                <xsd:element ref="ns3:_dlc_DocIdUrl" minOccurs="0"/>
                <xsd:element ref="ns3:_dlc_DocIdPersistI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fb523-bb88-49c4-b429-725e751bd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SN_x0020_Document_x0020_ID" ma:index="19" nillable="true" ma:displayName="SN Document ID" ma:internalName="SN_x0020_Document_x0020_ID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4d9e1cf0-734a-42bd-bffb-729eb9a511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0e7c1-45f6-45a6-9220-470b2ac38f45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d7da812-b143-4bf6-b650-654521c20479}" ma:internalName="TaxCatchAll" ma:showField="CatchAllData" ma:web="ea10e7c1-45f6-45a6-9220-470b2ac38f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6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7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8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N_x0020_Document_x0020_ID xmlns="d1ffb523-bb88-49c4-b429-725e751bd64a" xsi:nil="true"/>
    <TaxCatchAll xmlns="ea10e7c1-45f6-45a6-9220-470b2ac38f45" xsi:nil="true"/>
    <lcf76f155ced4ddcb4097134ff3c332f xmlns="d1ffb523-bb88-49c4-b429-725e751bd64a">
      <Terms xmlns="http://schemas.microsoft.com/office/infopath/2007/PartnerControls"/>
    </lcf76f155ced4ddcb4097134ff3c332f>
    <_dlc_DocId xmlns="ea10e7c1-45f6-45a6-9220-470b2ac38f45">DOCID-202112391-25589</_dlc_DocId>
    <_dlc_DocIdUrl xmlns="ea10e7c1-45f6-45a6-9220-470b2ac38f45">
      <Url>https://itecsfederal.sharepoint.com/teams/MissionSolutions/ISM/_layouts/15/DocIdRedir.aspx?ID=DOCID-202112391-25589</Url>
      <Description>DOCID-202112391-25589</Description>
    </_dlc_DocIdUrl>
  </documentManagement>
</p:properties>
</file>

<file path=customXml/itemProps1.xml><?xml version="1.0" encoding="utf-8"?>
<ds:datastoreItem xmlns:ds="http://schemas.openxmlformats.org/officeDocument/2006/customXml" ds:itemID="{20FB617C-BC6C-4F4E-986C-09E3243D490B}"/>
</file>

<file path=customXml/itemProps2.xml><?xml version="1.0" encoding="utf-8"?>
<ds:datastoreItem xmlns:ds="http://schemas.openxmlformats.org/officeDocument/2006/customXml" ds:itemID="{1CC46FEC-4A94-4A3D-A722-9085C7DB605F}"/>
</file>

<file path=customXml/itemProps3.xml><?xml version="1.0" encoding="utf-8"?>
<ds:datastoreItem xmlns:ds="http://schemas.openxmlformats.org/officeDocument/2006/customXml" ds:itemID="{12D0EF33-F0FC-43B8-BC8B-65A74C224371}"/>
</file>

<file path=customXml/itemProps4.xml><?xml version="1.0" encoding="utf-8"?>
<ds:datastoreItem xmlns:ds="http://schemas.openxmlformats.org/officeDocument/2006/customXml" ds:itemID="{D679780C-4703-48CF-8BBA-D4A4D2D49DB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 the AI You've Already Bought — ServiceNow OOTB-First Approach</dc:title>
  <dc:subject>PptxGenJS Presentation</dc:subject>
  <dc:creator>ECS Federal</dc:creator>
  <cp:lastModifiedBy>ECS Federal</cp:lastModifiedBy>
  <cp:revision>1</cp:revision>
  <dcterms:created xsi:type="dcterms:W3CDTF">2026-05-03T10:29:39Z</dcterms:created>
  <dcterms:modified xsi:type="dcterms:W3CDTF">2026-05-03T10:29:39Z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0x010100DC18AF536E63484A9B73CECC96E010FF</vt:lpwstr>
  </property>
  <property fmtid="{D5CDD505-2E9C-101B-9397-08002B2CF9AE}" pid="3" name="_dlc_DocIdItemGuid">
    <vt:lpwstr>40388318-5950-49a2-9656-b5e7e2f4ca6b</vt:lpwstr>
  </property>
</Properties>
</file>