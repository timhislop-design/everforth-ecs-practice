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1645920"/>
            <a:ext cx="64008" cy="1554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627632"/>
            <a:ext cx="6858000" cy="7498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Modernizing the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304288"/>
            <a:ext cx="7772400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4B8A6"/>
                </a:solidFill>
                <a:latin typeface="Calibri"/>
              </a:rPr>
              <a:t>Predictive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907792"/>
            <a:ext cx="685800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Ensuring AI Realization and Optimizing Long-Term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407408"/>
            <a:ext cx="54864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Prepared by Everforth ECS Federal  ·  ServiceNow Practice  ·  Confidential</a:t>
            </a:r>
          </a:p>
        </p:txBody>
      </p:sp>
      <p:pic>
        <p:nvPicPr>
          <p:cNvPr id="7" name="Picture 6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PREDICTIVE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A G E N D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What We'll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43000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1097280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The OOTB-First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344168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Why this engagement commits to OOTB -- and what it means in the room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92807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938527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1892807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Predictive Intelligence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139696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What PI does: classification, similarity, clustering, and forecasting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688336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734056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" y="2688336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PI Process Walkthrough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" y="2935224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Training data, model training, activation, and feedback loop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097280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1143000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1097280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Key Decisions #1-#6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1344168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Classification use cases, training data quality, confidence thresholds, similarity, clustering, and model governance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892807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1938527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5504" y="1892807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Decision 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5504" y="2139696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Every decision is recorded before we leave this room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2688336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2734056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5504" y="2688336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What Comes Next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75504" y="2935224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Training data validation, solution definition, model training schedule, go-live threshold setting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529583"/>
            <a:ext cx="85039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611879"/>
            <a:ext cx="82296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Ground rule: 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Decisions get made in this room. The OOTB recommendation is pre-populated. Your job is to confirm, adjust with rationale, or defer with a named owner and date.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PREDICTIVE INTELLIGENCE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T H E  A P P R O A C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OOTB-first is not a constraint — it is the AI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274320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033271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What OOTB-First Means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35024"/>
            <a:ext cx="2743200" cy="3337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89888"/>
            <a:ext cx="256032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Predictive Intelligence is a platform-native ML framework. OOTB solutions exist for incident classification (category, subcategory, assignment group), similar incidents, incident clustering, and change risk prediction.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PI trains on your existing ServiceNow data -- no external ML infrastructure, no data exports, no vendor ML platform.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All PI configuration is done through the Predictive Intelligence workspace. Zero scripting for standard classification and similarity use cases.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31820" y="1024128"/>
            <a:ext cx="274320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7540" y="1033271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What We Configure (Not Code)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31820" y="1335024"/>
            <a:ext cx="2743200" cy="3337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3260" y="1389888"/>
            <a:ext cx="256032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Solution definitions: which field PI predicts, on which table, with which training conditions.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Training data filters: include/exclude criteria for training set quality.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Confidence threshold: below this confidence, PI withholds prediction and lets agent decide.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Feedback configuration: how agent accepts/rejects predictions to improve the model.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024128"/>
            <a:ext cx="274320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033271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The Delivery Approach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335024"/>
            <a:ext cx="2743200" cy="3337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389888"/>
            <a:ext cx="256032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Sprint 5 defines solutions and validates training data volume and quality.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Sprint 6 trains models, evaluates performance, and activates above confidence threshold.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All configuration through PI workspace -- zero scripting.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PREDICTIVE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T H E  L I N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What a customization is — and what it isn’t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16052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" y="1033271"/>
            <a:ext cx="4050791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CONFIGURATION  —  This is always available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16736"/>
            <a:ext cx="4160520" cy="33101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71600"/>
            <a:ext cx="3977639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o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l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u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i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o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 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d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f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i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i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i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o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,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 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r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a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i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i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g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 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d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a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a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 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f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i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l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r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,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 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c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o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f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i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d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c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 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h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r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h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o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l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d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,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 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f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d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b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a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c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k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 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c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o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f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i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g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u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r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a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i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o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,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 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m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o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d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l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 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r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a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i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i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g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 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c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h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d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u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l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,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 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o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l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u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i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o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 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a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c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i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v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a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i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o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024128"/>
            <a:ext cx="4160520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3" y="1033271"/>
            <a:ext cx="4050791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CUSTOMIZATION  —  Requires Approval + Business Case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316736"/>
            <a:ext cx="4160520" cy="33101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371600"/>
            <a:ext cx="3977639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C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u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o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m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 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M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L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 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m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o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d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l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 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f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o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r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 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p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r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o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b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l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m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 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o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l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v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a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b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l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 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b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y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 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O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O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B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 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P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I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 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c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l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a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i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f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i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c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a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i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o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/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i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m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i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l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a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r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i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y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,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 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x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r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a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l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 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M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L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 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p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l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a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f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o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r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m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 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f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o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r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 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d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a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a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 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a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l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r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a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d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y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 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i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 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r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v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i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c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o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w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,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 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c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r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i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p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d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 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p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r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d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i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c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i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o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 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l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o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g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i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645152"/>
            <a:ext cx="8503920" cy="1645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654296"/>
            <a:ext cx="82296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0B1F3A"/>
                </a:solidFill>
                <a:latin typeface="Calibri"/>
              </a:rPr>
              <a:t>The customization bar:  </a:t>
            </a:r>
            <a:r>
              <a:rPr sz="800" b="0" i="0">
                <a:solidFill>
                  <a:srgbClr val="1E293B"/>
                </a:solidFill>
                <a:latin typeface="Calibri"/>
              </a:rPr>
              <a:t>PI runs on ServiceNow infrastructure using your existing data. No data leaves the platform. Custom ML integrations introduce data transfer risk, compliance complexity, and maintenance burden that OOTB PI eliminates.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PREDICTIVE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T H E  P R O C E S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PI Lifecycle: Data to Prediction to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627632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097280"/>
            <a:ext cx="1536192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SOLUTION DEFINED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020824" y="1078992"/>
            <a:ext cx="1627632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66543" y="1097280"/>
            <a:ext cx="1536192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TRAINING DATA VALIDATED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21608" y="1078992"/>
            <a:ext cx="1627632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7328" y="1097280"/>
            <a:ext cx="1536192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MODEL TRAINED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22392" y="1078992"/>
            <a:ext cx="1627632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8112" y="1097280"/>
            <a:ext cx="1536192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MODEL ACTIVATED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23176" y="1078992"/>
            <a:ext cx="1627632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68896" y="1097280"/>
            <a:ext cx="1536192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CONTINUOUS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444752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664208"/>
            <a:ext cx="850392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1719072"/>
            <a:ext cx="832104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Solution Defined: PI solution configured: target table (incident), target field (category), input fields (short description, description, CI class), training filter (resolved incidents from last 18 months).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002536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185416"/>
            <a:ext cx="850392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2240280"/>
            <a:ext cx="832104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Training Data Validated: Training data quality check: minimum record count (500+ recommended), distribution of classes (no single class &gt; 80% of training set), field completeness (short description not null).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523744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706624"/>
            <a:ext cx="850392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2761488"/>
            <a:ext cx="832104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Model Trained: PI trains the ML model on the filtered dataset. Training runs on ServiceNow infrastructure. Training time: 15-60 minutes depending on record volume. Model performance metrics available post-training.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044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227832"/>
            <a:ext cx="850392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3282696"/>
            <a:ext cx="832104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Model Activated: Activation threshold set (confidence &gt;= X%). When PI confidence exceeds threshold: field auto-populated. Below threshold: field left blank for agent to fill. Agent feedback (accept/reject) improves model.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3566160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749039"/>
            <a:ext cx="850392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3803903"/>
            <a:ext cx="832104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Continuous Learning: Agent feedback loop improves model accuracy over time. Model retraining scheduled (weekly or monthly). Model performance tracked in PI workspace.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4087368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4315968"/>
            <a:ext cx="85039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0D9488"/>
                </a:solidFill>
                <a:latin typeface="Calibri"/>
              </a:rPr>
              <a:t>AI Features Active at Go-Live: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Predictive Intelligence is a foundational AI capability that enables Now Assist context enrichment. PI classification feeds assignment routing, which feeds SLA performance, which feeds PA trend data -- it is a platform-wide force multiplier.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PREDICTIVE INTELLIGENCE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Which PI use cases will be activated in this engagement?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PI Solutions: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Incident classification: category, subcategory, assignment group, CI auto-population. Similar incidents: surface related resolved incidents to agents. Incident clustering: group new incidents to detected incident patterns. Change risk: predict change risk level. HR case classification (if HRSD in scope).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Is inconsistent incident categorization a current pain point for reporting and SLA tracking?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Does the service desk spend significant time routing incidents to the correct assignment group?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Would surfacing similar resolved incidents reduce agent handle time?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Is change risk scoring a current gap in the change management process?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Start with incident category and assignment group classification -- highest volume, clearest ROI, fastest to train. Add similarity and clustering after classification is stable.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PREDICTIVE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What is the quality and volume of your training data?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PI Training Data Requirements: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Minimum: 500 records per classification target class (recommended 2,000+). Training data should be filtered to high-quality records: resolved incidents with complete category, subcategory, and assignment group. Incidents created by the PI automation itself should be excluded from training.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How many resolved incidents are in ServiceNow today (or in the data migration)?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Are category and subcategory fields consistently populated on historical incidents?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Are there categories with fewer than 500 historical incidents (insufficient training data)?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Has there been a significant process change that makes older data unrepresentative?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Training data quality is the single biggest determinant of PI accuracy. 10,000 poorly categorized incidents produce a worse model than 2,000 carefully categorized incidents. Validate field completeness before planning the training schedule.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PREDICTIVE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What confidence threshold will trigger auto-population vs. agent review?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Confidence Threshold: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PI returns a confidence score (0-100%) with each prediction. If confidence &gt;= threshold: field is auto-populated (agent can override). Below threshold: field is left blank. Common starting thresholds: category 70%, assignment group 80%. Thresholds are adjustable after go-live based on accuracy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Is it worse to auto-populate with a wrong value (forcing a correction) or to not populate (forcing manual entry)?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Should auto-population be active at go-live, or should PI run in "suggestion only" mode initially?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How will threshold effectiveness be measured post-go-live (accept rate, override rate)?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Who has authority to adjust thresholds after go-live?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Start in suggestion-only mode for the first 30 days. Agents see the suggestion but the field is not auto-populated. This builds trust in PI accuracy before full automation and avoids the early noise of a newly trained model.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PREDICTIVE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How will similar incidents be configured and surfaced?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Similar Incidents: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PI similar incidents: when agent opens a new incident, PI surfaces the top N resolved incidents with similar short description and CI context. Displayed as a related list in the incident form -- no agent workflow change. Similarity threshold configurable. Agents can link similar incidents (parent-child) from the suggestion panel.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Should similar incidents surface for all incident categories or only selected ones?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How many similar incidents should be displayed (3, 5, 10)?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Should agents be able to link a new incident as a child of a similar incident?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Is similar incidents useful immediately, or does it require more historical data to be valuable?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Similar incidents has the fastest time-to-value of any PI feature -- it requires no training threshold and surfaces value from the first day it is activated. Enable it alongside classification.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PREDICTIVE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Will incident clustering be activated -- and who reviews cluster alerts?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Incident Clustering: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PI clustering: ML model groups newly created incidents into detected patterns (clusters). When N incidents match a cluster pattern within a time window, a cluster alert fires. Cluster alerts surface in the PI workspace and can trigger a Problem record. No scripting.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Is proactive problem identification a goal for this engagement?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Who would review cluster alerts (problem manager, service desk lead)?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What is the minimum cluster size to trigger an alert (5, 10, 20 incidents)?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Should clustering be activated at go-live or added in sprint N+1?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Clustering requires 30-60 days of post-go-live data to produce meaningful clusters. Activate it at go-live so the model starts learning immediately, but plan the cluster alert review process for sprint N+1.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PREDICTIVE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How will PI model governance work -- who owns, trains, and monitors models?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Model Governance: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PI workspace shows model performance: accuracy rate, prediction volume, accept/reject ratio. Model retraining can be scheduled (weekly, monthly) or triggered manually. Model owner can pause a solution if accuracy degrades. No scripting for any governance action.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Who is the PI model owner -- a person accountable for model performance?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How often will models be retrained (weekly auto-retrain is OOTB default)?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What is the accuracy floor below which a model is paused and retrained?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Will PI model performance be included in the PA operations dashboard?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AI model governance is not optional for federal deployments. Assign a named PI model owner in this room. Unmonitored models drift over time and produce silent accuracy degradation that takes months to notice.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PREDICTIVE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1572768"/>
            <a:ext cx="64008" cy="1645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572768"/>
            <a:ext cx="6858000" cy="8046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Decision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377440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14B8A6"/>
                </a:solidFill>
                <a:latin typeface="Calibri"/>
              </a:rPr>
              <a:t>Every decision on the next page is an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706624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14B8A6"/>
                </a:solidFill>
                <a:latin typeface="Calibri"/>
              </a:rPr>
              <a:t>Decisions left blank leave this room with a named owner and a 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3200400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Before we close: no decision is unresolved — it is either made, or owned.</a:t>
            </a:r>
          </a:p>
        </p:txBody>
      </p:sp>
      <p:pic>
        <p:nvPicPr>
          <p:cNvPr id="7" name="Picture 6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PREDICTIVE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D E C I S I O N  L O 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</a:rPr>
              <a:t>Predictive Intelligence — Decisions Made in This Workshop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42415"/>
            <a:ext cx="292608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078992"/>
            <a:ext cx="20116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7" y="1042415"/>
            <a:ext cx="173736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078992"/>
            <a:ext cx="164591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Decision Topic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0008" y="1042415"/>
            <a:ext cx="393192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95727" y="1078992"/>
            <a:ext cx="3840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1927" y="1042415"/>
            <a:ext cx="150876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7" y="1078992"/>
            <a:ext cx="141731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Decision Made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90688" y="1042415"/>
            <a:ext cx="100584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8" y="1078992"/>
            <a:ext cx="914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Owner / Due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31673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" y="131673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50008" y="131673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1927" y="131673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90688" y="131673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5" y="140817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138988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PI use cases in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7" y="138988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1682495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7" y="1682495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50008" y="1682495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81927" y="1682495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90688" y="1682495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5" y="177393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175564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Training data volume and quality assessment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95727" y="175564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04825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7" y="204825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50008" y="204825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81927" y="204825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90688" y="204825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5" y="213969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212140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Confidence threshold strategy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95727" y="212140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2414016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7" y="2414016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50008" y="2414016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1927" y="2414016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90688" y="2414016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6615" y="250545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248716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Similar incidents configuration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95727" y="248716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277977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2647" y="277977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50008" y="277977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81927" y="277977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90688" y="277977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6615" y="287121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285292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Clustering activation decision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95727" y="285292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3145536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2647" y="3145536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350008" y="3145536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81927" y="3145536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790688" y="3145536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6615" y="323697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" y="321868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Model governance owner and schedule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95727" y="321868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PREDICTIVE INTELLIGENCE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N E X T  S T E P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What Happens After This Workshop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5156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08813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Training Data Pull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380743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Run a report: resolved incidents from last 18 months with category, subcategory, and assignment group populated. Count per class. Share results before Sprint 5.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36007" y="105156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36007" y="105156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05156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0055" y="108813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Field Completeness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7" y="1380743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Check % of historical incidents where short_description and category are not null. Target: &gt; 85% completeness before training.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46888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46888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46888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250545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PI Solution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2798064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For each use case: define target table, target field, input fields, and training filter. Document before Sprint 5 PI workspace configuration.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36007" y="246888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36007" y="246888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7" y="246888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0055" y="250545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Suggestion-Only Mode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7" y="2798064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Plan for 30-day suggestion-only period post go-live. Schedule accept/override rate review at day 30 to decide on auto-population activation.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88620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88620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88620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392277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Model Owner Assignment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4215384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Identify and brief the PI model owner. Ensure they have the sn_ml_admin role and understand the PI workspace monitoring view.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PREDICTIVE INTELLIGENCE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1645920"/>
            <a:ext cx="64008" cy="1554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627632"/>
            <a:ext cx="64008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Everforth ECS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176272"/>
            <a:ext cx="6400800" cy="4023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0" i="0">
                <a:solidFill>
                  <a:srgbClr val="14B8A6"/>
                </a:solidFill>
                <a:latin typeface="Calibri"/>
              </a:rPr>
              <a:t>ServiceNow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743200"/>
            <a:ext cx="77724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SERVICENOW PRACTICE  ·  MODERNIZING THE CORE  ·  PREDICTIVE INTELLIGENCE</a:t>
            </a:r>
          </a:p>
        </p:txBody>
      </p:sp>
      <p:pic>
        <p:nvPicPr>
          <p:cNvPr id="6" name="Picture 5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PREDICTIVE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