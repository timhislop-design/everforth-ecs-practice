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92608" y="1645920"/>
            <a:ext cx="64008" cy="155448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627632"/>
            <a:ext cx="6858000" cy="7498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Modernizing the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2304288"/>
            <a:ext cx="7772400" cy="6217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4B8A6"/>
                </a:solidFill>
                <a:latin typeface="Calibri"/>
              </a:rPr>
              <a:t>Predictive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2907792"/>
            <a:ext cx="685800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  <a:latin typeface="Calibri"/>
              </a:rPr>
              <a:t>Ensuring AI Realization and Optimizing Long-Term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407408"/>
            <a:ext cx="54864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50" b="0" i="0">
                <a:solidFill>
                  <a:srgbClr val="94A3B8"/>
                </a:solidFill>
                <a:latin typeface="Calibri"/>
              </a:rPr>
              <a:t>Prepared by Everforth ECS Federal  ·  ServiceNow Practice  ·  Confidential</a:t>
            </a:r>
          </a:p>
        </p:txBody>
      </p:sp>
      <p:pic>
        <p:nvPicPr>
          <p:cNvPr id="7" name="Picture 6" descr="everfor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64008"/>
            <a:ext cx="1115568" cy="42062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4818888"/>
            <a:ext cx="9144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4846320"/>
            <a:ext cx="201168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  <a:latin typeface="Calibri"/>
              </a:rPr>
              <a:t>Everforth ECS Federal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4846320"/>
            <a:ext cx="5029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00" b="0" i="0">
                <a:solidFill>
                  <a:srgbClr val="94A3B8"/>
                </a:solidFill>
                <a:latin typeface="Calibri"/>
              </a:rPr>
              <a:t>SERVICENOW PRACTICE  ·  MODERNIZING THE CORE  ·  PREDICTIVE INTELLIGENCE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4846320"/>
            <a:ext cx="36576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700" b="0" i="0">
                <a:solidFill>
                  <a:srgbClr val="94A3B8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verfor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64008"/>
            <a:ext cx="1115568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164592"/>
            <a:ext cx="45720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00" b="1" i="0">
                <a:solidFill>
                  <a:srgbClr val="14B8A6"/>
                </a:solidFill>
                <a:latin typeface="Calibri"/>
              </a:rPr>
              <a:t>A G E N D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777240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400" b="1" i="0">
                <a:solidFill>
                  <a:srgbClr val="0B1F3A"/>
                </a:solidFill>
                <a:latin typeface="Calibri"/>
              </a:rPr>
              <a:t>What We'll Cover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05840"/>
            <a:ext cx="8503920" cy="16459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97280"/>
            <a:ext cx="438912" cy="43891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143000"/>
            <a:ext cx="438912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" y="1097280"/>
            <a:ext cx="3749039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0B1F3A"/>
                </a:solidFill>
                <a:latin typeface="Calibri"/>
              </a:rPr>
              <a:t>The OOTB-First Frame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1344168"/>
            <a:ext cx="3749039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E293B"/>
                </a:solidFill>
                <a:latin typeface="Calibri"/>
              </a:rPr>
              <a:t>Why this engagement commits to OOTB -- and what it means in the room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892807"/>
            <a:ext cx="438912" cy="43891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938527"/>
            <a:ext cx="438912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" y="1892807"/>
            <a:ext cx="3749039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0B1F3A"/>
                </a:solidFill>
                <a:latin typeface="Calibri"/>
              </a:rPr>
              <a:t>Predictive Intelligence Overview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" y="2139696"/>
            <a:ext cx="3749039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E293B"/>
                </a:solidFill>
                <a:latin typeface="Calibri"/>
              </a:rPr>
              <a:t>What PI does: classification, similarity, clustering, and forecasting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688336"/>
            <a:ext cx="438912" cy="43891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" y="2734056"/>
            <a:ext cx="438912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" y="2688336"/>
            <a:ext cx="3749039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0B1F3A"/>
                </a:solidFill>
                <a:latin typeface="Calibri"/>
              </a:rPr>
              <a:t>PI Process Walkthrough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" y="2935224"/>
            <a:ext cx="3749039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E293B"/>
                </a:solidFill>
                <a:latin typeface="Calibri"/>
              </a:rPr>
              <a:t>Training data, model training, activation, and feedback loop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63440" y="1097280"/>
            <a:ext cx="438912" cy="43891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0" y="1143000"/>
            <a:ext cx="438912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75504" y="1097280"/>
            <a:ext cx="3749039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0B1F3A"/>
                </a:solidFill>
                <a:latin typeface="Calibri"/>
              </a:rPr>
              <a:t>Key Decisions #1-#6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5504" y="1344168"/>
            <a:ext cx="3749039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E293B"/>
                </a:solidFill>
                <a:latin typeface="Calibri"/>
              </a:rPr>
              <a:t>Classification use cases, training data quality, confidence thresholds, similarity, clustering, and model governance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63440" y="1892807"/>
            <a:ext cx="438912" cy="43891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3440" y="1938527"/>
            <a:ext cx="438912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5504" y="1892807"/>
            <a:ext cx="3749039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0B1F3A"/>
                </a:solidFill>
                <a:latin typeface="Calibri"/>
              </a:rPr>
              <a:t>Decision Log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75504" y="2139696"/>
            <a:ext cx="3749039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E293B"/>
                </a:solidFill>
                <a:latin typeface="Calibri"/>
              </a:rPr>
              <a:t>Every decision is recorded before we leave this room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2688336"/>
            <a:ext cx="438912" cy="43891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3440" y="2734056"/>
            <a:ext cx="438912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75504" y="2688336"/>
            <a:ext cx="3749039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0B1F3A"/>
                </a:solidFill>
                <a:latin typeface="Calibri"/>
              </a:rPr>
              <a:t>What Comes Next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75504" y="2935224"/>
            <a:ext cx="3749039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E293B"/>
                </a:solidFill>
                <a:latin typeface="Calibri"/>
              </a:rPr>
              <a:t>Training data validation, solution definition, model training schedule, go-live threshold setting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3529583"/>
            <a:ext cx="8503920" cy="45720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611879"/>
            <a:ext cx="82296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1" i="0">
                <a:solidFill>
                  <a:srgbClr val="0B1F3A"/>
                </a:solidFill>
                <a:latin typeface="Calibri"/>
              </a:rPr>
              <a:t>Ground rule: </a:t>
            </a:r>
            <a:r>
              <a:rPr sz="950" b="0" i="0">
                <a:solidFill>
                  <a:srgbClr val="1E293B"/>
                </a:solidFill>
                <a:latin typeface="Calibri"/>
              </a:rPr>
              <a:t>Decisions get made in this room. The OOTB recommendation is pre-populated. Your job is to confirm, adjust with rationale, or defer with a named owner and date.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4818888"/>
            <a:ext cx="9144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4846320"/>
            <a:ext cx="201168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  <a:latin typeface="Calibri"/>
              </a:rPr>
              <a:t>Everforth ECS Federal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86000" y="4846320"/>
            <a:ext cx="5029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00" b="0" i="0">
                <a:solidFill>
                  <a:srgbClr val="94A3B8"/>
                </a:solidFill>
                <a:latin typeface="Calibri"/>
              </a:rPr>
              <a:t>SERVICENOW PRACTICE  ·  MODERNIZING THE CORE  ·  PREDICTIVE INTELLIGENCE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0" y="4846320"/>
            <a:ext cx="36576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700" b="0" i="0">
                <a:solidFill>
                  <a:srgbClr val="94A3B8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verfor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64008"/>
            <a:ext cx="1115568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164592"/>
            <a:ext cx="45720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00" b="1" i="0">
                <a:solidFill>
                  <a:srgbClr val="14B8A6"/>
                </a:solidFill>
                <a:latin typeface="Calibri"/>
              </a:rPr>
              <a:t>T H E  A P P R O A C 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777240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400" b="1" i="0">
                <a:solidFill>
                  <a:srgbClr val="0B1F3A"/>
                </a:solidFill>
                <a:latin typeface="Calibri"/>
              </a:rPr>
              <a:t>OOTB-first is not a constraint — it is the AI strategy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05840"/>
            <a:ext cx="8503920" cy="16459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24128"/>
            <a:ext cx="2743200" cy="3108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59" y="1033271"/>
            <a:ext cx="26517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What OOTB-First Means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335024"/>
            <a:ext cx="2743200" cy="33375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79" y="1389888"/>
            <a:ext cx="2560320" cy="3200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•  Predictive Intelligence is a platform-native ML framework. OOTB solutions exist for incident classification (category, subcategory, assignment group), similar incidents, incident clustering, and change risk prediction.</a:t>
            </a:r>
          </a:p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•  PI trains on your existing ServiceNow data -- no external ML infrastructure, no data exports, no vendor ML platform.</a:t>
            </a:r>
          </a:p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•  All PI configuration is done through the Predictive Intelligence workspace. Zero scripting for standard classification and similarity use cases.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31820" y="1024128"/>
            <a:ext cx="2743200" cy="3108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77540" y="1033271"/>
            <a:ext cx="26517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What We Configure (Not Code)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31820" y="1335024"/>
            <a:ext cx="2743200" cy="33375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23260" y="1389888"/>
            <a:ext cx="2560320" cy="3200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•  Solution definitions: which field PI predicts, on which table, with which training conditions.</a:t>
            </a:r>
          </a:p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•  Training data filters: include/exclude criteria for training set quality.</a:t>
            </a:r>
          </a:p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•  Confidence threshold: below this confidence, PI withholds prediction and lets agent decide.</a:t>
            </a:r>
          </a:p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•  Feedback configuration: how agent accepts/rejects predictions to improve the model.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1024128"/>
            <a:ext cx="2743200" cy="3108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1033271"/>
            <a:ext cx="26517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The Delivery Approach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0" y="1335024"/>
            <a:ext cx="2743200" cy="33375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0" y="1389888"/>
            <a:ext cx="2560320" cy="3200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•  Sprint 5 defines solutions and validates training data volume and quality.</a:t>
            </a:r>
          </a:p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•  Sprint 6 trains models, evaluates performance, and activates above confidence threshold.</a:t>
            </a:r>
          </a:p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•  All configuration through PI workspace -- zero scripting.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4818888"/>
            <a:ext cx="9144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4846320"/>
            <a:ext cx="201168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  <a:latin typeface="Calibri"/>
              </a:rPr>
              <a:t>Everforth ECS Federal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86000" y="4846320"/>
            <a:ext cx="5029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00" b="0" i="0">
                <a:solidFill>
                  <a:srgbClr val="94A3B8"/>
                </a:solidFill>
                <a:latin typeface="Calibri"/>
              </a:rPr>
              <a:t>SERVICENOW PRACTICE  ·  MODERNIZING THE CORE  ·  PREDICTIVE INTELLIGENCE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4846320"/>
            <a:ext cx="36576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700" b="0" i="0">
                <a:solidFill>
                  <a:srgbClr val="94A3B8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verfor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64008"/>
            <a:ext cx="1115568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164592"/>
            <a:ext cx="45720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00" b="1" i="0">
                <a:solidFill>
                  <a:srgbClr val="14B8A6"/>
                </a:solidFill>
                <a:latin typeface="Calibri"/>
              </a:rPr>
              <a:t>T H E  L I N 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777240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400" b="1" i="0">
                <a:solidFill>
                  <a:srgbClr val="0B1F3A"/>
                </a:solidFill>
                <a:latin typeface="Calibri"/>
              </a:rPr>
              <a:t>What a customization is — and what it isn’t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05840"/>
            <a:ext cx="8503920" cy="16459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24128"/>
            <a:ext cx="4160520" cy="2926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4904" y="1033271"/>
            <a:ext cx="4050791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CONFIGURATION  —  This is always available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316736"/>
            <a:ext cx="4160520" cy="33101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79" y="1371600"/>
            <a:ext cx="3977639" cy="3200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lang="en-US" dirty="0" sz="850">
                <a:solidFill>
                  <a:srgbClr val="16A34A"/>
                </a:solidFill>
                <a:latin typeface="Calibri"/>
              </a:rPr>
              <a:t>✓  </a:t>
            </a:r>
            <a:r>
              <a:rPr lang="en-US" dirty="0" sz="850">
                <a:solidFill>
                  <a:srgbClr val="1A1A1A"/>
                </a:solidFill>
                <a:latin typeface="Calibri"/>
              </a:rPr>
              <a:t>Solution definitions</a:t>
            </a:r>
          </a:p>
          <a:p>
            <a:r>
              <a:rPr lang="en-US" dirty="0" sz="850">
                <a:solidFill>
                  <a:srgbClr val="16A34A"/>
                </a:solidFill>
                <a:latin typeface="Calibri"/>
              </a:rPr>
              <a:t>✓  </a:t>
            </a:r>
            <a:r>
              <a:rPr lang="en-US" dirty="0" sz="850">
                <a:solidFill>
                  <a:srgbClr val="1A1A1A"/>
                </a:solidFill>
                <a:latin typeface="Calibri"/>
              </a:rPr>
              <a:t>training data filters</a:t>
            </a:r>
          </a:p>
          <a:p>
            <a:r>
              <a:rPr lang="en-US" dirty="0" sz="850">
                <a:solidFill>
                  <a:srgbClr val="16A34A"/>
                </a:solidFill>
                <a:latin typeface="Calibri"/>
              </a:rPr>
              <a:t>✓  </a:t>
            </a:r>
            <a:r>
              <a:rPr lang="en-US" dirty="0" sz="850">
                <a:solidFill>
                  <a:srgbClr val="1A1A1A"/>
                </a:solidFill>
                <a:latin typeface="Calibri"/>
              </a:rPr>
              <a:t>confidence thresholds</a:t>
            </a:r>
          </a:p>
          <a:p>
            <a:r>
              <a:rPr lang="en-US" dirty="0" sz="850">
                <a:solidFill>
                  <a:srgbClr val="16A34A"/>
                </a:solidFill>
                <a:latin typeface="Calibri"/>
              </a:rPr>
              <a:t>✓  </a:t>
            </a:r>
            <a:r>
              <a:rPr lang="en-US" dirty="0" sz="850">
                <a:solidFill>
                  <a:srgbClr val="1A1A1A"/>
                </a:solidFill>
                <a:latin typeface="Calibri"/>
              </a:rPr>
              <a:t>feedback configuration</a:t>
            </a:r>
          </a:p>
          <a:p>
            <a:r>
              <a:rPr lang="en-US" dirty="0" sz="850">
                <a:solidFill>
                  <a:srgbClr val="16A34A"/>
                </a:solidFill>
                <a:latin typeface="Calibri"/>
              </a:rPr>
              <a:t>✓  </a:t>
            </a:r>
            <a:r>
              <a:rPr lang="en-US" dirty="0" sz="850">
                <a:solidFill>
                  <a:srgbClr val="1A1A1A"/>
                </a:solidFill>
                <a:latin typeface="Calibri"/>
              </a:rPr>
              <a:t>model training schedule</a:t>
            </a:r>
          </a:p>
          <a:p>
            <a:r>
              <a:rPr lang="en-US" dirty="0" sz="850">
                <a:solidFill>
                  <a:srgbClr val="16A34A"/>
                </a:solidFill>
                <a:latin typeface="Calibri"/>
              </a:rPr>
              <a:t>✓  </a:t>
            </a:r>
            <a:r>
              <a:rPr lang="en-US" dirty="0" sz="850">
                <a:solidFill>
                  <a:srgbClr val="1A1A1A"/>
                </a:solidFill>
                <a:latin typeface="Calibri"/>
              </a:rPr>
              <a:t>solution activation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17720" y="1024128"/>
            <a:ext cx="4160520" cy="292608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72583" y="1033271"/>
            <a:ext cx="4050791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CUSTOMIZATION  —  Requires Approval + Business Case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17720" y="1316736"/>
            <a:ext cx="4160520" cy="33101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59" y="1371600"/>
            <a:ext cx="3977639" cy="3200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lang="en-US" dirty="0" sz="850">
                <a:solidFill>
                  <a:srgbClr val="B91C1C"/>
                </a:solidFill>
                <a:latin typeface="Calibri"/>
              </a:rPr>
              <a:t>✗  </a:t>
            </a:r>
            <a:r>
              <a:rPr lang="en-US" dirty="0" sz="850">
                <a:solidFill>
                  <a:srgbClr val="1A1A1A"/>
                </a:solidFill>
                <a:latin typeface="Calibri"/>
              </a:rPr>
              <a:t>Custom ML models for problems solvable by OOTB PI classification/similarity</a:t>
            </a:r>
          </a:p>
          <a:p>
            <a:r>
              <a:rPr lang="en-US" dirty="0" sz="850">
                <a:solidFill>
                  <a:srgbClr val="B91C1C"/>
                </a:solidFill>
                <a:latin typeface="Calibri"/>
              </a:rPr>
              <a:t>✗  </a:t>
            </a:r>
            <a:r>
              <a:rPr lang="en-US" dirty="0" sz="850">
                <a:solidFill>
                  <a:srgbClr val="1A1A1A"/>
                </a:solidFill>
                <a:latin typeface="Calibri"/>
              </a:rPr>
              <a:t>external ML platforms for data already in ServiceNow</a:t>
            </a:r>
          </a:p>
          <a:p>
            <a:r>
              <a:rPr lang="en-US" dirty="0" sz="850">
                <a:solidFill>
                  <a:srgbClr val="B91C1C"/>
                </a:solidFill>
                <a:latin typeface="Calibri"/>
              </a:rPr>
              <a:t>✗  </a:t>
            </a:r>
            <a:r>
              <a:rPr lang="en-US" dirty="0" sz="850">
                <a:solidFill>
                  <a:srgbClr val="1A1A1A"/>
                </a:solidFill>
                <a:latin typeface="Calibri"/>
              </a:rPr>
              <a:t>scripted prediction logic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4645152"/>
            <a:ext cx="8503920" cy="164592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654296"/>
            <a:ext cx="8229600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00" b="1" i="0">
                <a:solidFill>
                  <a:srgbClr val="0B1F3A"/>
                </a:solidFill>
                <a:latin typeface="Calibri"/>
              </a:rPr>
              <a:t>The customization bar:  </a:t>
            </a:r>
            <a:r>
              <a:rPr sz="800" b="0" i="0">
                <a:solidFill>
                  <a:srgbClr val="1E293B"/>
                </a:solidFill>
                <a:latin typeface="Calibri"/>
              </a:rPr>
              <a:t>PI runs on ServiceNow infrastructure using your existing data. No data leaves the platform. Custom ML integrations introduce data transfer risk, compliance complexity, and maintenance burden that OOTB PI eliminates.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4818888"/>
            <a:ext cx="9144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4846320"/>
            <a:ext cx="201168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  <a:latin typeface="Calibri"/>
              </a:rPr>
              <a:t>Everforth ECS Federal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4846320"/>
            <a:ext cx="5029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00" b="0" i="0">
                <a:solidFill>
                  <a:srgbClr val="94A3B8"/>
                </a:solidFill>
                <a:latin typeface="Calibri"/>
              </a:rPr>
              <a:t>SERVICENOW PRACTICE  ·  MODERNIZING THE CORE  ·  PREDICTIVE INTELLIGENCE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4846320"/>
            <a:ext cx="36576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700" b="0" i="0">
                <a:solidFill>
                  <a:srgbClr val="94A3B8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verfor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64008"/>
            <a:ext cx="1115568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164592"/>
            <a:ext cx="45720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00" b="1" i="0">
                <a:solidFill>
                  <a:srgbClr val="14B8A6"/>
                </a:solidFill>
                <a:latin typeface="Calibri"/>
              </a:rPr>
              <a:t>T H E  P R O C E S 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777240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400" b="1" i="0">
                <a:solidFill>
                  <a:srgbClr val="0B1F3A"/>
                </a:solidFill>
                <a:latin typeface="Calibri"/>
              </a:rPr>
              <a:t>PI Lifecycle: Data to Prediction to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05840"/>
            <a:ext cx="8503920" cy="16459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78992"/>
            <a:ext cx="1627632" cy="3474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59" y="1097280"/>
            <a:ext cx="1536192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SOLUTION DEFINED</a:t>
            </a:r>
          </a:p>
        </p:txBody>
      </p:sp>
      <p:sp>
        <p:nvSpPr>
          <p:cNvPr id="8" name="Rectangle 7"/>
          <p:cNvSpPr/>
          <p:nvPr/>
        </p:nvSpPr>
        <p:spPr>
          <a:xfrm>
            <a:off x="2020824" y="1078992"/>
            <a:ext cx="1627632" cy="3474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66543" y="1097280"/>
            <a:ext cx="1536192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TRAINING DATA VALIDATED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21608" y="1078992"/>
            <a:ext cx="1627632" cy="3474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67328" y="1097280"/>
            <a:ext cx="1536192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MODEL TRAINED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22392" y="1078992"/>
            <a:ext cx="1627632" cy="3474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68112" y="1097280"/>
            <a:ext cx="1536192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MODEL ACTIVATED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23176" y="1078992"/>
            <a:ext cx="1627632" cy="3474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68896" y="1097280"/>
            <a:ext cx="1536192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CONTINUOUS LEARNING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1444752"/>
            <a:ext cx="4572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400" b="1" i="0">
                <a:solidFill>
                  <a:srgbClr val="14B8A6"/>
                </a:solidFill>
                <a:latin typeface="Calibri"/>
              </a:rPr>
              <a:t>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1664208"/>
            <a:ext cx="850392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" y="1719072"/>
            <a:ext cx="832104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00" b="1" i="0">
                <a:solidFill>
                  <a:srgbClr val="0B1F3A"/>
                </a:solidFill>
                <a:latin typeface="Calibri"/>
              </a:rPr>
              <a:t>Solution Defined: PI solution configured: target table (incident), target field (category), input fields (short description, description, CI class), training filter (resolved incidents from last 18 months).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2002536"/>
            <a:ext cx="457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14B8A6"/>
                </a:solidFill>
                <a:latin typeface="Calibri"/>
              </a:rPr>
              <a:t>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2185416"/>
            <a:ext cx="850392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4048" y="2240280"/>
            <a:ext cx="832104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00" b="1" i="0">
                <a:solidFill>
                  <a:srgbClr val="0B1F3A"/>
                </a:solidFill>
                <a:latin typeface="Calibri"/>
              </a:rPr>
              <a:t>Training Data Validated: Training data quality check: minimum record count (500+ recommended), distribution of classes (no single class &gt; 80% of training set), field completeness (short description not null).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2523744"/>
            <a:ext cx="457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14B8A6"/>
                </a:solidFill>
                <a:latin typeface="Calibri"/>
              </a:rPr>
              <a:t>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2706624"/>
            <a:ext cx="850392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" y="2761488"/>
            <a:ext cx="832104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00" b="1" i="0">
                <a:solidFill>
                  <a:srgbClr val="0B1F3A"/>
                </a:solidFill>
                <a:latin typeface="Calibri"/>
              </a:rPr>
              <a:t>Model Trained: PI trains the ML model on the filtered dataset. Training runs on ServiceNow infrastructure. Training time: 15-60 minutes depending on record volume. Model performance metrics available post-training.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3044952"/>
            <a:ext cx="457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14B8A6"/>
                </a:solidFill>
                <a:latin typeface="Calibri"/>
              </a:rPr>
              <a:t>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3227832"/>
            <a:ext cx="850392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3282696"/>
            <a:ext cx="832104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00" b="1" i="0">
                <a:solidFill>
                  <a:srgbClr val="0B1F3A"/>
                </a:solidFill>
                <a:latin typeface="Calibri"/>
              </a:rPr>
              <a:t>Model Activated: Activation threshold set (confidence &gt;= X%). When PI confidence exceeds threshold: field auto-populated. Below threshold: field left blank for agent to fill. Agent feedback (accept/reject) improves model.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3566160"/>
            <a:ext cx="457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14B8A6"/>
                </a:solidFill>
                <a:latin typeface="Calibri"/>
              </a:rPr>
              <a:t>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749039"/>
            <a:ext cx="850392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4048" y="3803903"/>
            <a:ext cx="832104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00" b="1" i="0">
                <a:solidFill>
                  <a:srgbClr val="0B1F3A"/>
                </a:solidFill>
                <a:latin typeface="Calibri"/>
              </a:rPr>
              <a:t>Continuous Learning: Agent feedback loop improves model accuracy over time. Model retraining scheduled (weekly or monthly). Model performance tracked in PI workspace.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4087368"/>
            <a:ext cx="457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14B8A6"/>
                </a:solidFill>
                <a:latin typeface="Calibri"/>
              </a:rPr>
              <a:t>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4315968"/>
            <a:ext cx="850392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1" i="0">
                <a:solidFill>
                  <a:srgbClr val="0D9488"/>
                </a:solidFill>
                <a:latin typeface="Calibri"/>
              </a:rPr>
              <a:t>AI Features Active at Go-Live:  </a:t>
            </a:r>
            <a:r>
              <a:rPr sz="850" b="0" i="0">
                <a:solidFill>
                  <a:srgbClr val="1E293B"/>
                </a:solidFill>
                <a:latin typeface="Calibri"/>
              </a:rPr>
              <a:t>Predictive Intelligence is a foundational AI capability that enables Now Assist context enrichment. PI classification feeds assignment routing, which feeds SLA performance, which feeds PA trend data -- it is a platform-wide force multiplier.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4818888"/>
            <a:ext cx="9144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4320" y="4846320"/>
            <a:ext cx="201168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  <a:latin typeface="Calibri"/>
              </a:rPr>
              <a:t>Everforth ECS Federal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86000" y="4846320"/>
            <a:ext cx="5029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00" b="0" i="0">
                <a:solidFill>
                  <a:srgbClr val="94A3B8"/>
                </a:solidFill>
                <a:latin typeface="Calibri"/>
              </a:rPr>
              <a:t>SERVICENOW PRACTICE  ·  MODERNIZING THE CORE  ·  PREDICTIVE INTELLIGENCE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4846320"/>
            <a:ext cx="36576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700" b="0" i="0">
                <a:solidFill>
                  <a:srgbClr val="94A3B8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verfor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64008"/>
            <a:ext cx="1115568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164592"/>
            <a:ext cx="45720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00" b="1" i="0">
                <a:solidFill>
                  <a:srgbClr val="14B8A6"/>
                </a:solidFill>
                <a:latin typeface="Calibri"/>
              </a:rPr>
              <a:t>K E Y  D E C I S I O N   #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777240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900" b="1" i="0">
                <a:solidFill>
                  <a:srgbClr val="0B1F3A"/>
                </a:solidFill>
                <a:latin typeface="Calibri"/>
              </a:rPr>
              <a:t>Which PI use cases will be activated in this engagement?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87552"/>
            <a:ext cx="8503920" cy="16459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24128"/>
            <a:ext cx="4069080" cy="274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033271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OOTB RECOMMENDATION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98448"/>
            <a:ext cx="4069080" cy="2743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353312"/>
            <a:ext cx="3886200" cy="2651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900" b="1" i="0">
                <a:solidFill>
                  <a:srgbClr val="0D9488"/>
                </a:solidFill>
                <a:latin typeface="Calibri"/>
              </a:rPr>
              <a:t>OOTB PI Solutions:</a:t>
            </a:r>
          </a:p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Incident classification: category, subcategory, assignment group, CI auto-population. Similar incidents: surface related resolved incidents to agents. Incident clustering: group new incidents to detected incident patterns. Change risk: predict change risk level. HR case classification (if HRSD in scope).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1024128"/>
            <a:ext cx="4343400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033271"/>
            <a:ext cx="425196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DECIDE IN THE ROOM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298448"/>
            <a:ext cx="4343400" cy="2743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353312"/>
            <a:ext cx="4160520" cy="2651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900" b="1" i="0">
                <a:solidFill>
                  <a:srgbClr val="0B1F3A"/>
                </a:solidFill>
                <a:latin typeface="Calibri"/>
              </a:rPr>
              <a:t>Questions to answer: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1.  Is inconsistent incident categorization a current pain point for reporting and SLA tracking?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2.  Does the service desk spend significant time routing incidents to the correct assignment group?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3.  Would surfacing similar resolved incidents reduce agent handle time?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4.  Is change risk scoring a current gap in the change management process?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4096512"/>
            <a:ext cx="8503920" cy="493776"/>
          </a:xfrm>
          <a:prstGeom prst="rect">
            <a:avLst/>
          </a:prstGeom>
          <a:solidFill>
            <a:srgbClr val="FEF3C7"/>
          </a:solidFill>
          <a:ln w="6350">
            <a:solidFill>
              <a:srgbClr val="FDD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133087"/>
            <a:ext cx="8321040" cy="42062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⚠  OOTB Defense:  </a:t>
            </a:r>
            <a:r>
              <a:rPr sz="850" b="0" i="0">
                <a:solidFill>
                  <a:srgbClr val="1E293B"/>
                </a:solidFill>
                <a:latin typeface="Calibri"/>
              </a:rPr>
              <a:t>Start with incident category and assignment group classification -- highest volume, clearest ROI, fastest to train. Add similarity and clustering after classification is stable.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4818888"/>
            <a:ext cx="9144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4846320"/>
            <a:ext cx="201168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  <a:latin typeface="Calibri"/>
              </a:rPr>
              <a:t>Everforth ECS Federal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4846320"/>
            <a:ext cx="5029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00" b="0" i="0">
                <a:solidFill>
                  <a:srgbClr val="94A3B8"/>
                </a:solidFill>
                <a:latin typeface="Calibri"/>
              </a:rPr>
              <a:t>SERVICENOW PRACTICE  ·  MODERNIZING THE CORE  ·  PREDICTIVE INTELLIGENCE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4846320"/>
            <a:ext cx="36576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700" b="0" i="0">
                <a:solidFill>
                  <a:srgbClr val="94A3B8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verfor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64008"/>
            <a:ext cx="1115568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164592"/>
            <a:ext cx="45720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00" b="1" i="0">
                <a:solidFill>
                  <a:srgbClr val="14B8A6"/>
                </a:solidFill>
                <a:latin typeface="Calibri"/>
              </a:rPr>
              <a:t>K E Y  D E C I S I O N   #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777240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900" b="1" i="0">
                <a:solidFill>
                  <a:srgbClr val="0B1F3A"/>
                </a:solidFill>
                <a:latin typeface="Calibri"/>
              </a:rPr>
              <a:t>What is the quality and volume of your training data?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87552"/>
            <a:ext cx="8503920" cy="16459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24128"/>
            <a:ext cx="4069080" cy="274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033271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OOTB RECOMMENDATION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98448"/>
            <a:ext cx="4069080" cy="2743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353312"/>
            <a:ext cx="3886200" cy="2651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900" b="1" i="0">
                <a:solidFill>
                  <a:srgbClr val="0D9488"/>
                </a:solidFill>
                <a:latin typeface="Calibri"/>
              </a:rPr>
              <a:t>PI Training Data Requirements:</a:t>
            </a:r>
          </a:p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Minimum: 500 records per classification target class (recommended 2,000+). Training data should be filtered to high-quality records: resolved incidents with complete category, subcategory, and assignment group. Incidents created by the PI automation itself should be excluded from training.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1024128"/>
            <a:ext cx="4343400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033271"/>
            <a:ext cx="425196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DECIDE IN THE ROOM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298448"/>
            <a:ext cx="4343400" cy="2743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353312"/>
            <a:ext cx="4160520" cy="2651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900" b="1" i="0">
                <a:solidFill>
                  <a:srgbClr val="0B1F3A"/>
                </a:solidFill>
                <a:latin typeface="Calibri"/>
              </a:rPr>
              <a:t>Questions to answer: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1.  How many resolved incidents are in ServiceNow today (or in the data migration)?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2.  Are category and subcategory fields consistently populated on historical incidents?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3.  Are there categories with fewer than 500 historical incidents (insufficient training data)?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4.  Has there been a significant process change that makes older data unrepresentative?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4096512"/>
            <a:ext cx="8503920" cy="493776"/>
          </a:xfrm>
          <a:prstGeom prst="rect">
            <a:avLst/>
          </a:prstGeom>
          <a:solidFill>
            <a:srgbClr val="FEF3C7"/>
          </a:solidFill>
          <a:ln w="6350">
            <a:solidFill>
              <a:srgbClr val="FDD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133087"/>
            <a:ext cx="8321040" cy="42062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⚠  OOTB Defense:  </a:t>
            </a:r>
            <a:r>
              <a:rPr sz="850" b="0" i="0">
                <a:solidFill>
                  <a:srgbClr val="1E293B"/>
                </a:solidFill>
                <a:latin typeface="Calibri"/>
              </a:rPr>
              <a:t>Training data quality is the single biggest determinant of PI accuracy. 10,000 poorly categorized incidents produce a worse model than 2,000 carefully categorized incidents. Validate field completeness before planning the training schedule.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4818888"/>
            <a:ext cx="9144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4846320"/>
            <a:ext cx="201168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  <a:latin typeface="Calibri"/>
              </a:rPr>
              <a:t>Everforth ECS Federal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4846320"/>
            <a:ext cx="5029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00" b="0" i="0">
                <a:solidFill>
                  <a:srgbClr val="94A3B8"/>
                </a:solidFill>
                <a:latin typeface="Calibri"/>
              </a:rPr>
              <a:t>SERVICENOW PRACTICE  ·  MODERNIZING THE CORE  ·  PREDICTIVE INTELLIGENCE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4846320"/>
            <a:ext cx="36576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700" b="0" i="0">
                <a:solidFill>
                  <a:srgbClr val="94A3B8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verfor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64008"/>
            <a:ext cx="1115568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164592"/>
            <a:ext cx="45720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00" b="1" i="0">
                <a:solidFill>
                  <a:srgbClr val="14B8A6"/>
                </a:solidFill>
                <a:latin typeface="Calibri"/>
              </a:rPr>
              <a:t>K E Y  D E C I S I O N   #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777240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900" b="1" i="0">
                <a:solidFill>
                  <a:srgbClr val="0B1F3A"/>
                </a:solidFill>
                <a:latin typeface="Calibri"/>
              </a:rPr>
              <a:t>What confidence threshold will trigger auto-population vs. agent review?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87552"/>
            <a:ext cx="8503920" cy="16459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24128"/>
            <a:ext cx="4069080" cy="274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033271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OOTB RECOMMENDATION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98448"/>
            <a:ext cx="4069080" cy="2743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353312"/>
            <a:ext cx="3886200" cy="2651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900" b="1" i="0">
                <a:solidFill>
                  <a:srgbClr val="0D9488"/>
                </a:solidFill>
                <a:latin typeface="Calibri"/>
              </a:rPr>
              <a:t>OOTB Confidence Threshold:</a:t>
            </a:r>
          </a:p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PI returns a confidence score (0-100%) with each prediction. If confidence &gt;= threshold: field is auto-populated (agent can override). Below threshold: field is left blank. Common starting thresholds: category 70%, assignment group 80%. Thresholds are adjustable after go-live based on accuracy data.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1024128"/>
            <a:ext cx="4343400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033271"/>
            <a:ext cx="425196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DECIDE IN THE ROOM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298448"/>
            <a:ext cx="4343400" cy="2743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353312"/>
            <a:ext cx="4160520" cy="2651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900" b="1" i="0">
                <a:solidFill>
                  <a:srgbClr val="0B1F3A"/>
                </a:solidFill>
                <a:latin typeface="Calibri"/>
              </a:rPr>
              <a:t>Questions to answer: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1.  Is it worse to auto-populate with a wrong value (forcing a correction) or to not populate (forcing manual entry)?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2.  Should auto-population be active at go-live, or should PI run in "suggestion only" mode initially?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3.  How will threshold effectiveness be measured post-go-live (accept rate, override rate)?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4.  Who has authority to adjust thresholds after go-live?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4096512"/>
            <a:ext cx="8503920" cy="493776"/>
          </a:xfrm>
          <a:prstGeom prst="rect">
            <a:avLst/>
          </a:prstGeom>
          <a:solidFill>
            <a:srgbClr val="FEF3C7"/>
          </a:solidFill>
          <a:ln w="6350">
            <a:solidFill>
              <a:srgbClr val="FDD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133087"/>
            <a:ext cx="8321040" cy="42062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⚠  OOTB Defense:  </a:t>
            </a:r>
            <a:r>
              <a:rPr sz="850" b="0" i="0">
                <a:solidFill>
                  <a:srgbClr val="1E293B"/>
                </a:solidFill>
                <a:latin typeface="Calibri"/>
              </a:rPr>
              <a:t>Start in suggestion-only mode for the first 30 days. Agents see the suggestion but the field is not auto-populated. This builds trust in PI accuracy before full automation and avoids the early noise of a newly trained model.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4818888"/>
            <a:ext cx="9144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4846320"/>
            <a:ext cx="201168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  <a:latin typeface="Calibri"/>
              </a:rPr>
              <a:t>Everforth ECS Federal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4846320"/>
            <a:ext cx="5029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00" b="0" i="0">
                <a:solidFill>
                  <a:srgbClr val="94A3B8"/>
                </a:solidFill>
                <a:latin typeface="Calibri"/>
              </a:rPr>
              <a:t>SERVICENOW PRACTICE  ·  MODERNIZING THE CORE  ·  PREDICTIVE INTELLIGENCE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4846320"/>
            <a:ext cx="36576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700" b="0" i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verfor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64008"/>
            <a:ext cx="1115568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164592"/>
            <a:ext cx="45720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00" b="1" i="0">
                <a:solidFill>
                  <a:srgbClr val="14B8A6"/>
                </a:solidFill>
                <a:latin typeface="Calibri"/>
              </a:rPr>
              <a:t>K E Y  D E C I S I O N   #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777240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900" b="1" i="0">
                <a:solidFill>
                  <a:srgbClr val="0B1F3A"/>
                </a:solidFill>
                <a:latin typeface="Calibri"/>
              </a:rPr>
              <a:t>How will similar incidents be configured and surfaced?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87552"/>
            <a:ext cx="8503920" cy="16459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24128"/>
            <a:ext cx="4069080" cy="274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033271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OOTB RECOMMENDATION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98448"/>
            <a:ext cx="4069080" cy="2743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353312"/>
            <a:ext cx="3886200" cy="2651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900" b="1" i="0">
                <a:solidFill>
                  <a:srgbClr val="0D9488"/>
                </a:solidFill>
                <a:latin typeface="Calibri"/>
              </a:rPr>
              <a:t>OOTB Similar Incidents:</a:t>
            </a:r>
          </a:p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PI similar incidents: when agent opens a new incident, PI surfaces the top N resolved incidents with similar short description and CI context. Displayed as a related list in the incident form -- no agent workflow change. Similarity threshold configurable. Agents can link similar incidents (parent-child) from the suggestion panel.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1024128"/>
            <a:ext cx="4343400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033271"/>
            <a:ext cx="425196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DECIDE IN THE ROOM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298448"/>
            <a:ext cx="4343400" cy="2743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353312"/>
            <a:ext cx="4160520" cy="2651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900" b="1" i="0">
                <a:solidFill>
                  <a:srgbClr val="0B1F3A"/>
                </a:solidFill>
                <a:latin typeface="Calibri"/>
              </a:rPr>
              <a:t>Questions to answer: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1.  Should similar incidents surface for all incident categories or only selected ones?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2.  How many similar incidents should be displayed (3, 5, 10)?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3.  Should agents be able to link a new incident as a child of a similar incident?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4.  Is similar incidents useful immediately, or does it require more historical data to be valuable?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4096512"/>
            <a:ext cx="8503920" cy="493776"/>
          </a:xfrm>
          <a:prstGeom prst="rect">
            <a:avLst/>
          </a:prstGeom>
          <a:solidFill>
            <a:srgbClr val="FEF3C7"/>
          </a:solidFill>
          <a:ln w="6350">
            <a:solidFill>
              <a:srgbClr val="FDD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133087"/>
            <a:ext cx="8321040" cy="42062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⚠  OOTB Defense:  </a:t>
            </a:r>
            <a:r>
              <a:rPr sz="850" b="0" i="0">
                <a:solidFill>
                  <a:srgbClr val="1E293B"/>
                </a:solidFill>
                <a:latin typeface="Calibri"/>
              </a:rPr>
              <a:t>Similar incidents has the fastest time-to-value of any PI feature -- it requires no training threshold and surfaces value from the first day it is activated. Enable it alongside classification.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4818888"/>
            <a:ext cx="9144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4846320"/>
            <a:ext cx="201168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  <a:latin typeface="Calibri"/>
              </a:rPr>
              <a:t>Everforth ECS Federal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4846320"/>
            <a:ext cx="5029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00" b="0" i="0">
                <a:solidFill>
                  <a:srgbClr val="94A3B8"/>
                </a:solidFill>
                <a:latin typeface="Calibri"/>
              </a:rPr>
              <a:t>SERVICENOW PRACTICE  ·  MODERNIZING THE CORE  ·  PREDICTIVE INTELLIGENCE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4846320"/>
            <a:ext cx="36576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700" b="0" i="0">
                <a:solidFill>
                  <a:srgbClr val="94A3B8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verfor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64008"/>
            <a:ext cx="1115568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164592"/>
            <a:ext cx="45720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00" b="1" i="0">
                <a:solidFill>
                  <a:srgbClr val="14B8A6"/>
                </a:solidFill>
                <a:latin typeface="Calibri"/>
              </a:rPr>
              <a:t>K E Y  D E C I S I O N   #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777240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900" b="1" i="0">
                <a:solidFill>
                  <a:srgbClr val="0B1F3A"/>
                </a:solidFill>
                <a:latin typeface="Calibri"/>
              </a:rPr>
              <a:t>Will incident clustering be activated -- and who reviews cluster alerts?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87552"/>
            <a:ext cx="8503920" cy="16459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24128"/>
            <a:ext cx="4069080" cy="274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033271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OOTB RECOMMENDATION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98448"/>
            <a:ext cx="4069080" cy="2743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353312"/>
            <a:ext cx="3886200" cy="2651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900" b="1" i="0">
                <a:solidFill>
                  <a:srgbClr val="0D9488"/>
                </a:solidFill>
                <a:latin typeface="Calibri"/>
              </a:rPr>
              <a:t>OOTB Incident Clustering:</a:t>
            </a:r>
          </a:p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PI clustering: ML model groups newly created incidents into detected patterns (clusters). When N incidents match a cluster pattern within a time window, a cluster alert fires. Cluster alerts surface in the PI workspace and can trigger a Problem record. No scripting.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1024128"/>
            <a:ext cx="4343400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033271"/>
            <a:ext cx="425196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DECIDE IN THE ROOM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298448"/>
            <a:ext cx="4343400" cy="2743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353312"/>
            <a:ext cx="4160520" cy="2651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900" b="1" i="0">
                <a:solidFill>
                  <a:srgbClr val="0B1F3A"/>
                </a:solidFill>
                <a:latin typeface="Calibri"/>
              </a:rPr>
              <a:t>Questions to answer: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1.  Is proactive problem identification a goal for this engagement?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2.  Who would review cluster alerts (problem manager, service desk lead)?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3.  What is the minimum cluster size to trigger an alert (5, 10, 20 incidents)?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4.  Should clustering be activated at go-live or added in sprint N+1?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4096512"/>
            <a:ext cx="8503920" cy="493776"/>
          </a:xfrm>
          <a:prstGeom prst="rect">
            <a:avLst/>
          </a:prstGeom>
          <a:solidFill>
            <a:srgbClr val="FEF3C7"/>
          </a:solidFill>
          <a:ln w="6350">
            <a:solidFill>
              <a:srgbClr val="FDD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133087"/>
            <a:ext cx="8321040" cy="42062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⚠  OOTB Defense:  </a:t>
            </a:r>
            <a:r>
              <a:rPr sz="850" b="0" i="0">
                <a:solidFill>
                  <a:srgbClr val="1E293B"/>
                </a:solidFill>
                <a:latin typeface="Calibri"/>
              </a:rPr>
              <a:t>Clustering requires 30-60 days of post-go-live data to produce meaningful clusters. Activate it at go-live so the model starts learning immediately, but plan the cluster alert review process for sprint N+1.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4818888"/>
            <a:ext cx="9144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4846320"/>
            <a:ext cx="201168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  <a:latin typeface="Calibri"/>
              </a:rPr>
              <a:t>Everforth ECS Federal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4846320"/>
            <a:ext cx="5029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00" b="0" i="0">
                <a:solidFill>
                  <a:srgbClr val="94A3B8"/>
                </a:solidFill>
                <a:latin typeface="Calibri"/>
              </a:rPr>
              <a:t>SERVICENOW PRACTICE  ·  MODERNIZING THE CORE  ·  PREDICTIVE INTELLIGENCE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4846320"/>
            <a:ext cx="36576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700" b="0" i="0">
                <a:solidFill>
                  <a:srgbClr val="94A3B8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verfor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64008"/>
            <a:ext cx="1115568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164592"/>
            <a:ext cx="45720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00" b="1" i="0">
                <a:solidFill>
                  <a:srgbClr val="14B8A6"/>
                </a:solidFill>
                <a:latin typeface="Calibri"/>
              </a:rPr>
              <a:t>K E Y  D E C I S I O N   #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777240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900" b="1" i="0">
                <a:solidFill>
                  <a:srgbClr val="0B1F3A"/>
                </a:solidFill>
                <a:latin typeface="Calibri"/>
              </a:rPr>
              <a:t>How will PI model governance work -- who owns, trains, and monitors models?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87552"/>
            <a:ext cx="8503920" cy="16459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24128"/>
            <a:ext cx="4069080" cy="274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033271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OOTB RECOMMENDATION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98448"/>
            <a:ext cx="4069080" cy="2743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353312"/>
            <a:ext cx="3886200" cy="2651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900" b="1" i="0">
                <a:solidFill>
                  <a:srgbClr val="0D9488"/>
                </a:solidFill>
                <a:latin typeface="Calibri"/>
              </a:rPr>
              <a:t>OOTB Model Governance:</a:t>
            </a:r>
          </a:p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PI workspace shows model performance: accuracy rate, prediction volume, accept/reject ratio. Model retraining can be scheduled (weekly, monthly) or triggered manually. Model owner can pause a solution if accuracy degrades. No scripting for any governance action.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1024128"/>
            <a:ext cx="4343400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033271"/>
            <a:ext cx="425196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DECIDE IN THE ROOM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298448"/>
            <a:ext cx="4343400" cy="2743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353312"/>
            <a:ext cx="4160520" cy="2651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900" b="1" i="0">
                <a:solidFill>
                  <a:srgbClr val="0B1F3A"/>
                </a:solidFill>
                <a:latin typeface="Calibri"/>
              </a:rPr>
              <a:t>Questions to answer: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1.  Who is the PI model owner -- a person accountable for model performance?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2.  How often will models be retrained (weekly auto-retrain is OOTB default)?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3.  What is the accuracy floor below which a model is paused and retrained?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4.  Will PI model performance be included in the PA operations dashboard?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4096512"/>
            <a:ext cx="8503920" cy="493776"/>
          </a:xfrm>
          <a:prstGeom prst="rect">
            <a:avLst/>
          </a:prstGeom>
          <a:solidFill>
            <a:srgbClr val="FEF3C7"/>
          </a:solidFill>
          <a:ln w="6350">
            <a:solidFill>
              <a:srgbClr val="FDD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133087"/>
            <a:ext cx="8321040" cy="42062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⚠  OOTB Defense:  </a:t>
            </a:r>
            <a:r>
              <a:rPr sz="850" b="0" i="0">
                <a:solidFill>
                  <a:srgbClr val="1E293B"/>
                </a:solidFill>
                <a:latin typeface="Calibri"/>
              </a:rPr>
              <a:t>AI model governance is not optional for federal deployments. Assign a named PI model owner in this room. Unmonitored models drift over time and produce silent accuracy degradation that takes months to notice.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4818888"/>
            <a:ext cx="9144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4846320"/>
            <a:ext cx="201168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  <a:latin typeface="Calibri"/>
              </a:rPr>
              <a:t>Everforth ECS Federal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4846320"/>
            <a:ext cx="5029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00" b="0" i="0">
                <a:solidFill>
                  <a:srgbClr val="94A3B8"/>
                </a:solidFill>
                <a:latin typeface="Calibri"/>
              </a:rPr>
              <a:t>SERVICENOW PRACTICE  ·  MODERNIZING THE CORE  ·  PREDICTIVE INTELLIGENCE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4846320"/>
            <a:ext cx="36576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700" b="0" i="0">
                <a:solidFill>
                  <a:srgbClr val="94A3B8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92608" y="1572768"/>
            <a:ext cx="64008" cy="16459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572768"/>
            <a:ext cx="6858000" cy="8046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Decision 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2377440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600" b="1" i="0">
                <a:solidFill>
                  <a:srgbClr val="14B8A6"/>
                </a:solidFill>
                <a:latin typeface="Calibri"/>
              </a:rPr>
              <a:t>Every decision on the next page is an action.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2706624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600" b="1" i="0">
                <a:solidFill>
                  <a:srgbClr val="14B8A6"/>
                </a:solidFill>
                <a:latin typeface="Calibri"/>
              </a:rPr>
              <a:t>Decisions left blank leave this room with a named owner and a date.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3200400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Before we close: no decision is unresolved — it is either made, or owned.</a:t>
            </a:r>
          </a:p>
        </p:txBody>
      </p:sp>
      <p:pic>
        <p:nvPicPr>
          <p:cNvPr id="7" name="Picture 6" descr="everfor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64008"/>
            <a:ext cx="1115568" cy="42062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4818888"/>
            <a:ext cx="9144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4846320"/>
            <a:ext cx="201168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  <a:latin typeface="Calibri"/>
              </a:rPr>
              <a:t>Everforth ECS Federal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4846320"/>
            <a:ext cx="5029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00" b="0" i="0">
                <a:solidFill>
                  <a:srgbClr val="94A3B8"/>
                </a:solidFill>
                <a:latin typeface="Calibri"/>
              </a:rPr>
              <a:t>SERVICENOW PRACTICE  ·  MODERNIZING THE CORE  ·  PREDICTIVE INTELLIGENCE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4846320"/>
            <a:ext cx="36576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700" b="0" i="0">
                <a:solidFill>
                  <a:srgbClr val="94A3B8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verfor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64008"/>
            <a:ext cx="1115568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164592"/>
            <a:ext cx="45720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00" b="1" i="0">
                <a:solidFill>
                  <a:srgbClr val="14B8A6"/>
                </a:solidFill>
                <a:latin typeface="Calibri"/>
              </a:rPr>
              <a:t>D E C I S I O N  L O 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777240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000" b="1" i="0">
                <a:solidFill>
                  <a:srgbClr val="0B1F3A"/>
                </a:solidFill>
                <a:latin typeface="Calibri"/>
              </a:rPr>
              <a:t>Predictive Intelligence — Decisions Made in This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87552"/>
            <a:ext cx="8503920" cy="16459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42415"/>
            <a:ext cx="292608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59" y="1078992"/>
            <a:ext cx="201168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7" y="1042415"/>
            <a:ext cx="1737360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078992"/>
            <a:ext cx="1645919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Decision Topic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50008" y="1042415"/>
            <a:ext cx="3931920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95727" y="1078992"/>
            <a:ext cx="38404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Scope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81927" y="1042415"/>
            <a:ext cx="1508760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7" y="1078992"/>
            <a:ext cx="1417319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Decision Made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90688" y="1042415"/>
            <a:ext cx="1005840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36408" y="1078992"/>
            <a:ext cx="9144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Owner / Due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1316736"/>
            <a:ext cx="29260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7" y="1316736"/>
            <a:ext cx="17373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350008" y="1316736"/>
            <a:ext cx="393192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81927" y="1316736"/>
            <a:ext cx="15087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90688" y="1316736"/>
            <a:ext cx="100584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615" y="1408176"/>
            <a:ext cx="219456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14B8A6"/>
                </a:solidFill>
                <a:latin typeface="Calibri"/>
              </a:rPr>
              <a:t>#1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1389888"/>
            <a:ext cx="164591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1" i="0">
                <a:solidFill>
                  <a:srgbClr val="1E293B"/>
                </a:solidFill>
                <a:latin typeface="Calibri"/>
              </a:rPr>
              <a:t>PI use cases in scope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95727" y="1389888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1682495"/>
            <a:ext cx="292608" cy="3657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7" y="1682495"/>
            <a:ext cx="1737360" cy="3657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350008" y="1682495"/>
            <a:ext cx="3931920" cy="3657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81927" y="1682495"/>
            <a:ext cx="1508760" cy="3657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90688" y="1682495"/>
            <a:ext cx="1005840" cy="3657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6615" y="1773936"/>
            <a:ext cx="219456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14B8A6"/>
                </a:solidFill>
                <a:latin typeface="Calibri"/>
              </a:rPr>
              <a:t>#2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1755648"/>
            <a:ext cx="164591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1" i="0">
                <a:solidFill>
                  <a:srgbClr val="1E293B"/>
                </a:solidFill>
                <a:latin typeface="Calibri"/>
              </a:rPr>
              <a:t>Training data volume and quality assessment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95727" y="1755648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2048256"/>
            <a:ext cx="29260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2647" y="2048256"/>
            <a:ext cx="17373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350008" y="2048256"/>
            <a:ext cx="393192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81927" y="2048256"/>
            <a:ext cx="15087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790688" y="2048256"/>
            <a:ext cx="100584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6615" y="2139696"/>
            <a:ext cx="219456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14B8A6"/>
                </a:solidFill>
                <a:latin typeface="Calibri"/>
              </a:rPr>
              <a:t>#3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2121408"/>
            <a:ext cx="164591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1" i="0">
                <a:solidFill>
                  <a:srgbClr val="1E293B"/>
                </a:solidFill>
                <a:latin typeface="Calibri"/>
              </a:rPr>
              <a:t>Confidence threshold strategy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95727" y="2121408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2414016"/>
            <a:ext cx="292608" cy="3657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2647" y="2414016"/>
            <a:ext cx="1737360" cy="3657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50008" y="2414016"/>
            <a:ext cx="3931920" cy="3657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81927" y="2414016"/>
            <a:ext cx="1508760" cy="3657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790688" y="2414016"/>
            <a:ext cx="1005840" cy="3657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6615" y="2505456"/>
            <a:ext cx="219456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14B8A6"/>
                </a:solidFill>
                <a:latin typeface="Calibri"/>
              </a:rPr>
              <a:t>#4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" y="2487168"/>
            <a:ext cx="164591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1" i="0">
                <a:solidFill>
                  <a:srgbClr val="1E293B"/>
                </a:solidFill>
                <a:latin typeface="Calibri"/>
              </a:rPr>
              <a:t>Similar incidents configuration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95727" y="2487168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" y="2779776"/>
            <a:ext cx="29260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2647" y="2779776"/>
            <a:ext cx="17373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50008" y="2779776"/>
            <a:ext cx="393192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281927" y="2779776"/>
            <a:ext cx="15087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790688" y="2779776"/>
            <a:ext cx="100584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56615" y="2871216"/>
            <a:ext cx="219456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14B8A6"/>
                </a:solidFill>
                <a:latin typeface="Calibri"/>
              </a:rPr>
              <a:t>#5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8368" y="2852928"/>
            <a:ext cx="164591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1" i="0">
                <a:solidFill>
                  <a:srgbClr val="1E293B"/>
                </a:solidFill>
                <a:latin typeface="Calibri"/>
              </a:rPr>
              <a:t>Clustering activation decision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395727" y="2852928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sp>
        <p:nvSpPr>
          <p:cNvPr id="56" name="Rectangle 55"/>
          <p:cNvSpPr/>
          <p:nvPr/>
        </p:nvSpPr>
        <p:spPr>
          <a:xfrm>
            <a:off x="320040" y="3145536"/>
            <a:ext cx="292608" cy="3657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12647" y="3145536"/>
            <a:ext cx="1737360" cy="3657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350008" y="3145536"/>
            <a:ext cx="3931920" cy="3657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281927" y="3145536"/>
            <a:ext cx="1508760" cy="3657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790688" y="3145536"/>
            <a:ext cx="1005840" cy="3657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56615" y="3236976"/>
            <a:ext cx="219456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14B8A6"/>
                </a:solidFill>
                <a:latin typeface="Calibri"/>
              </a:rPr>
              <a:t>#6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8368" y="3218688"/>
            <a:ext cx="164591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1" i="0">
                <a:solidFill>
                  <a:srgbClr val="1E293B"/>
                </a:solidFill>
                <a:latin typeface="Calibri"/>
              </a:rPr>
              <a:t>Model governance owner and schedule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395727" y="3218688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4818888"/>
            <a:ext cx="9144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4320" y="4846320"/>
            <a:ext cx="201168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  <a:latin typeface="Calibri"/>
              </a:rPr>
              <a:t>Everforth ECS Federal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286000" y="4846320"/>
            <a:ext cx="5029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00" b="0" i="0">
                <a:solidFill>
                  <a:srgbClr val="94A3B8"/>
                </a:solidFill>
                <a:latin typeface="Calibri"/>
              </a:rPr>
              <a:t>SERVICENOW PRACTICE  ·  MODERNIZING THE CORE  ·  PREDICTIVE INTELLIGENCE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503920" y="4846320"/>
            <a:ext cx="36576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700" b="0" i="0">
                <a:solidFill>
                  <a:srgbClr val="94A3B8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verfor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64008"/>
            <a:ext cx="1115568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164592"/>
            <a:ext cx="45720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00" b="1" i="0">
                <a:solidFill>
                  <a:srgbClr val="14B8A6"/>
                </a:solidFill>
                <a:latin typeface="Calibri"/>
              </a:rPr>
              <a:t>N E X T  S T E P 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777240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400" b="1" i="0">
                <a:solidFill>
                  <a:srgbClr val="0B1F3A"/>
                </a:solidFill>
                <a:latin typeface="Calibri"/>
              </a:rPr>
              <a:t>What Happens After This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87552"/>
            <a:ext cx="8503920" cy="16459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4114800" cy="12801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051560"/>
            <a:ext cx="310896" cy="3108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051560"/>
            <a:ext cx="310896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1088136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0B1F3A"/>
                </a:solidFill>
                <a:latin typeface="Calibri"/>
              </a:rPr>
              <a:t>Training Data Pull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1380743"/>
            <a:ext cx="3931920" cy="8961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Run a report: resolved incidents from last 18 months with category, subcategory, and assignment group populated. Count per class. Share results before Sprint 5.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36007" y="1051560"/>
            <a:ext cx="4114800" cy="12801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36007" y="1051560"/>
            <a:ext cx="310896" cy="3108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1051560"/>
            <a:ext cx="310896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0055" y="1088136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0B1F3A"/>
                </a:solidFill>
                <a:latin typeface="Calibri"/>
              </a:rPr>
              <a:t>Field Completeness Check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7" y="1380743"/>
            <a:ext cx="3931920" cy="8961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Check % of historical incidents where short_description and category are not null. Target: &gt; 85% completeness before training.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468880"/>
            <a:ext cx="4114800" cy="12801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" y="2468880"/>
            <a:ext cx="310896" cy="3108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2468880"/>
            <a:ext cx="310896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2505456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0B1F3A"/>
                </a:solidFill>
                <a:latin typeface="Calibri"/>
              </a:rPr>
              <a:t>PI Solution Design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79" y="2798064"/>
            <a:ext cx="3931920" cy="8961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For each use case: define target table, target field, input fields, and training filter. Document before Sprint 5 PI workspace configuration.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36007" y="2468880"/>
            <a:ext cx="4114800" cy="12801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36007" y="2468880"/>
            <a:ext cx="310896" cy="3108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36007" y="2468880"/>
            <a:ext cx="310896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0055" y="2505456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0B1F3A"/>
                </a:solidFill>
                <a:latin typeface="Calibri"/>
              </a:rPr>
              <a:t>Suggestion-Only Mode Plan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27447" y="2798064"/>
            <a:ext cx="3931920" cy="8961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Plan for 30-day suggestion-only period post go-live. Schedule accept/override rate review at day 30 to decide on auto-population activation.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3886200"/>
            <a:ext cx="4114800" cy="12801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3886200"/>
            <a:ext cx="310896" cy="3108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3886200"/>
            <a:ext cx="310896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" y="3922776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0B1F3A"/>
                </a:solidFill>
                <a:latin typeface="Calibri"/>
              </a:rPr>
              <a:t>Model Owner Assignment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79" y="4215384"/>
            <a:ext cx="3931920" cy="8961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Identify and brief the PI model owner. Ensure they have the sn_ml_admin role and understand the PI workspace monitoring view.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4818888"/>
            <a:ext cx="9144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4846320"/>
            <a:ext cx="201168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  <a:latin typeface="Calibri"/>
              </a:rPr>
              <a:t>Everforth ECS Federal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86000" y="4846320"/>
            <a:ext cx="5029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00" b="0" i="0">
                <a:solidFill>
                  <a:srgbClr val="94A3B8"/>
                </a:solidFill>
                <a:latin typeface="Calibri"/>
              </a:rPr>
              <a:t>SERVICENOW PRACTICE  ·  MODERNIZING THE CORE  ·  PREDICTIVE INTELLIGENCE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4846320"/>
            <a:ext cx="36576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700" b="0" i="0">
                <a:solidFill>
                  <a:srgbClr val="94A3B8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92608" y="1645920"/>
            <a:ext cx="64008" cy="155448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627632"/>
            <a:ext cx="6400800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Everforth ECS Federal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2176272"/>
            <a:ext cx="6400800" cy="40233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000" b="0" i="0">
                <a:solidFill>
                  <a:srgbClr val="14B8A6"/>
                </a:solidFill>
                <a:latin typeface="Calibri"/>
              </a:rPr>
              <a:t>ServiceNow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2743200"/>
            <a:ext cx="77724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SERVICENOW PRACTICE  ·  MODERNIZING THE CORE  ·  PREDICTIVE INTELLIGENCE</a:t>
            </a:r>
          </a:p>
        </p:txBody>
      </p:sp>
      <p:pic>
        <p:nvPicPr>
          <p:cNvPr id="6" name="Picture 5" descr="everfor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64008"/>
            <a:ext cx="1115568" cy="42062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4818888"/>
            <a:ext cx="9144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4846320"/>
            <a:ext cx="201168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  <a:latin typeface="Calibri"/>
              </a:rPr>
              <a:t>Everforth ECS Federal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4846320"/>
            <a:ext cx="5029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00" b="0" i="0">
                <a:solidFill>
                  <a:srgbClr val="94A3B8"/>
                </a:solidFill>
                <a:latin typeface="Calibri"/>
              </a:rPr>
              <a:t>SERVICENOW PRACTICE  ·  MODERNIZING THE CORE  ·  PREDICTIVE INTELLIGENCE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4846320"/>
            <a:ext cx="36576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700" b="0" i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