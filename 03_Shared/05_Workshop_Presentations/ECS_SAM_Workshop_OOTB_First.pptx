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1F3A"/>
        </a:solidFill>
        <a:effectLst/>
      </p:bgPr>
    </p:bg>
    <p:spTree>
      <p:nvGrpSpPr>
        <p:cNvPr id="1" name=""/>
        <p:cNvGrpSpPr/>
        <p:nvPr/>
      </p:nvGrpSpPr>
      <p:grpSpPr/>
      <p:sp>
        <p:nvSpPr>
          <p:cNvPr id="2" name="Rectangle 1"/>
          <p:cNvSpPr/>
          <p:nvPr/>
        </p:nvSpPr>
        <p:spPr>
          <a:xfrm>
            <a:off x="292608" y="1645920"/>
            <a:ext cx="64008" cy="1554480"/>
          </a:xfrm>
          <a:prstGeom prst="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75488" y="1627632"/>
            <a:ext cx="6858000" cy="749808"/>
          </a:xfrm>
          <a:prstGeom prst="rect">
            <a:avLst/>
          </a:prstGeom>
          <a:noFill/>
        </p:spPr>
        <p:txBody>
          <a:bodyPr wrap="square" lIns="36576" rIns="36576" tIns="18288" bIns="18288">
            <a:spAutoFit/>
          </a:bodyPr>
          <a:lstStyle/>
          <a:p>
            <a:pPr algn="l"/>
            <a:r>
              <a:rPr sz="4000" b="1" i="0">
                <a:solidFill>
                  <a:srgbClr val="FFFFFF"/>
                </a:solidFill>
                <a:latin typeface="Calibri"/>
              </a:rPr>
              <a:t>Modernizing the Core</a:t>
            </a:r>
          </a:p>
        </p:txBody>
      </p:sp>
      <p:sp>
        <p:nvSpPr>
          <p:cNvPr id="4" name="TextBox 3"/>
          <p:cNvSpPr txBox="1"/>
          <p:nvPr/>
        </p:nvSpPr>
        <p:spPr>
          <a:xfrm>
            <a:off x="475488" y="2304288"/>
            <a:ext cx="7772400" cy="621792"/>
          </a:xfrm>
          <a:prstGeom prst="rect">
            <a:avLst/>
          </a:prstGeom>
          <a:noFill/>
        </p:spPr>
        <p:txBody>
          <a:bodyPr wrap="square" lIns="36576" rIns="36576" tIns="18288" bIns="18288">
            <a:spAutoFit/>
          </a:bodyPr>
          <a:lstStyle/>
          <a:p>
            <a:pPr algn="l"/>
            <a:r>
              <a:rPr sz="3000" b="1" i="0">
                <a:solidFill>
                  <a:srgbClr val="14B8A6"/>
                </a:solidFill>
                <a:latin typeface="Calibri"/>
              </a:rPr>
              <a:t>Software Asset Management</a:t>
            </a:r>
          </a:p>
        </p:txBody>
      </p:sp>
      <p:sp>
        <p:nvSpPr>
          <p:cNvPr id="5" name="TextBox 4"/>
          <p:cNvSpPr txBox="1"/>
          <p:nvPr/>
        </p:nvSpPr>
        <p:spPr>
          <a:xfrm>
            <a:off x="475488" y="2907792"/>
            <a:ext cx="6858000" cy="384048"/>
          </a:xfrm>
          <a:prstGeom prst="rect">
            <a:avLst/>
          </a:prstGeom>
          <a:noFill/>
        </p:spPr>
        <p:txBody>
          <a:bodyPr wrap="square" lIns="36576" rIns="36576" tIns="18288" bIns="18288">
            <a:spAutoFit/>
          </a:bodyPr>
          <a:lstStyle/>
          <a:p>
            <a:pPr algn="l"/>
            <a:r>
              <a:rPr sz="1300" b="0" i="1">
                <a:solidFill>
                  <a:srgbClr val="FFFFFF"/>
                </a:solidFill>
                <a:latin typeface="Calibri"/>
              </a:rPr>
              <a:t>Ensuring AI Realization and Optimizing Long-Term Value</a:t>
            </a:r>
          </a:p>
        </p:txBody>
      </p:sp>
      <p:sp>
        <p:nvSpPr>
          <p:cNvPr id="6" name="TextBox 5"/>
          <p:cNvSpPr txBox="1"/>
          <p:nvPr/>
        </p:nvSpPr>
        <p:spPr>
          <a:xfrm>
            <a:off x="274320" y="4407408"/>
            <a:ext cx="5486400" cy="228600"/>
          </a:xfrm>
          <a:prstGeom prst="rect">
            <a:avLst/>
          </a:prstGeom>
          <a:noFill/>
        </p:spPr>
        <p:txBody>
          <a:bodyPr wrap="square" lIns="36576" rIns="36576" tIns="18288" bIns="18288">
            <a:spAutoFit/>
          </a:bodyPr>
          <a:lstStyle/>
          <a:p>
            <a:pPr algn="l"/>
            <a:r>
              <a:rPr sz="750" b="0" i="0">
                <a:solidFill>
                  <a:srgbClr val="94A3B8"/>
                </a:solidFill>
                <a:latin typeface="Calibri"/>
              </a:rPr>
              <a:t>Prepared by Everforth ECS Federal  ·  ServiceNow Practice  ·  Confidential</a:t>
            </a:r>
          </a:p>
        </p:txBody>
      </p:sp>
      <p:pic>
        <p:nvPicPr>
          <p:cNvPr id="7" name="Picture 6" descr="everforth_logo.png"/>
          <p:cNvPicPr>
            <a:picLocks noChangeAspect="1"/>
          </p:cNvPicPr>
          <p:nvPr/>
        </p:nvPicPr>
        <p:blipFill>
          <a:blip r:embed="rId2"/>
          <a:stretch>
            <a:fillRect/>
          </a:stretch>
        </p:blipFill>
        <p:spPr>
          <a:xfrm>
            <a:off x="7909560" y="64008"/>
            <a:ext cx="1115568" cy="420624"/>
          </a:xfrm>
          <a:prstGeom prst="rect">
            <a:avLst/>
          </a:prstGeom>
        </p:spPr>
      </p:pic>
      <p:sp>
        <p:nvSpPr>
          <p:cNvPr id="8" name="Rectangle 7"/>
          <p:cNvSpPr/>
          <p:nvPr/>
        </p:nvSpPr>
        <p:spPr>
          <a:xfrm>
            <a:off x="0" y="4818888"/>
            <a:ext cx="9144000" cy="13716"/>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74320" y="4846320"/>
            <a:ext cx="2011680" cy="182880"/>
          </a:xfrm>
          <a:prstGeom prst="rect">
            <a:avLst/>
          </a:prstGeom>
          <a:noFill/>
        </p:spPr>
        <p:txBody>
          <a:bodyPr wrap="square" lIns="36576" rIns="36576" tIns="18288" bIns="18288">
            <a:spAutoFit/>
          </a:bodyPr>
          <a:lstStyle/>
          <a:p>
            <a:pPr algn="l"/>
            <a:r>
              <a:rPr sz="700" b="0" i="0">
                <a:solidFill>
                  <a:srgbClr val="94A3B8"/>
                </a:solidFill>
                <a:latin typeface="Calibri"/>
              </a:rPr>
              <a:t>Everforth ECS Federal</a:t>
            </a:r>
          </a:p>
        </p:txBody>
      </p:sp>
      <p:sp>
        <p:nvSpPr>
          <p:cNvPr id="10" name="TextBox 9"/>
          <p:cNvSpPr txBox="1"/>
          <p:nvPr/>
        </p:nvSpPr>
        <p:spPr>
          <a:xfrm>
            <a:off x="2286000" y="4846320"/>
            <a:ext cx="5029200" cy="182880"/>
          </a:xfrm>
          <a:prstGeom prst="rect">
            <a:avLst/>
          </a:prstGeom>
          <a:noFill/>
        </p:spPr>
        <p:txBody>
          <a:bodyPr wrap="square" lIns="36576" rIns="36576" tIns="18288" bIns="18288">
            <a:spAutoFit/>
          </a:bodyPr>
          <a:lstStyle/>
          <a:p>
            <a:pPr algn="ctr"/>
            <a:r>
              <a:rPr sz="700" b="0" i="0">
                <a:solidFill>
                  <a:srgbClr val="94A3B8"/>
                </a:solidFill>
                <a:latin typeface="Calibri"/>
              </a:rPr>
              <a:t>SERVICENOW PRACTICE  ·  MODERNIZING THE CORE  ·  SOFTWARE ASSET MANAGEMENT</a:t>
            </a:r>
          </a:p>
        </p:txBody>
      </p:sp>
      <p:sp>
        <p:nvSpPr>
          <p:cNvPr id="11" name="TextBox 10"/>
          <p:cNvSpPr txBox="1"/>
          <p:nvPr/>
        </p:nvSpPr>
        <p:spPr>
          <a:xfrm>
            <a:off x="8503920" y="4846320"/>
            <a:ext cx="365760" cy="182880"/>
          </a:xfrm>
          <a:prstGeom prst="rect">
            <a:avLst/>
          </a:prstGeom>
          <a:noFill/>
        </p:spPr>
        <p:txBody>
          <a:bodyPr wrap="square" lIns="36576" rIns="36576" tIns="18288" bIns="18288">
            <a:spAutoFit/>
          </a:bodyPr>
          <a:lstStyle/>
          <a:p>
            <a:pPr algn="r"/>
            <a:r>
              <a:rPr sz="700" b="0" i="0">
                <a:solidFill>
                  <a:srgbClr val="94A3B8"/>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everforth_logo.png"/>
          <p:cNvPicPr>
            <a:picLocks noChangeAspect="1"/>
          </p:cNvPicPr>
          <p:nvPr/>
        </p:nvPicPr>
        <p:blipFill>
          <a:blip r:embed="rId2"/>
          <a:stretch>
            <a:fillRect/>
          </a:stretch>
        </p:blipFill>
        <p:spPr>
          <a:xfrm>
            <a:off x="7909560" y="64008"/>
            <a:ext cx="1115568" cy="420624"/>
          </a:xfrm>
          <a:prstGeom prst="rect">
            <a:avLst/>
          </a:prstGeom>
        </p:spPr>
      </p:pic>
      <p:sp>
        <p:nvSpPr>
          <p:cNvPr id="3" name="TextBox 2"/>
          <p:cNvSpPr txBox="1"/>
          <p:nvPr/>
        </p:nvSpPr>
        <p:spPr>
          <a:xfrm>
            <a:off x="347472" y="164592"/>
            <a:ext cx="4572000" cy="201168"/>
          </a:xfrm>
          <a:prstGeom prst="rect">
            <a:avLst/>
          </a:prstGeom>
          <a:noFill/>
        </p:spPr>
        <p:txBody>
          <a:bodyPr wrap="square" lIns="36576" rIns="36576" tIns="18288" bIns="18288">
            <a:spAutoFit/>
          </a:bodyPr>
          <a:lstStyle/>
          <a:p>
            <a:pPr algn="l"/>
            <a:r>
              <a:rPr sz="800" b="1" i="0">
                <a:solidFill>
                  <a:srgbClr val="14B8A6"/>
                </a:solidFill>
                <a:latin typeface="Calibri"/>
              </a:rPr>
              <a:t>A G E N D A</a:t>
            </a:r>
          </a:p>
        </p:txBody>
      </p:sp>
      <p:sp>
        <p:nvSpPr>
          <p:cNvPr id="4" name="TextBox 3"/>
          <p:cNvSpPr txBox="1"/>
          <p:nvPr/>
        </p:nvSpPr>
        <p:spPr>
          <a:xfrm>
            <a:off x="320040" y="384048"/>
            <a:ext cx="7772400" cy="685800"/>
          </a:xfrm>
          <a:prstGeom prst="rect">
            <a:avLst/>
          </a:prstGeom>
          <a:noFill/>
        </p:spPr>
        <p:txBody>
          <a:bodyPr wrap="square" lIns="36576" rIns="36576" tIns="18288" bIns="18288">
            <a:spAutoFit/>
          </a:bodyPr>
          <a:lstStyle/>
          <a:p>
            <a:pPr algn="l"/>
            <a:r>
              <a:rPr sz="2400" b="1" i="0">
                <a:solidFill>
                  <a:srgbClr val="0B1F3A"/>
                </a:solidFill>
                <a:latin typeface="Calibri"/>
              </a:rPr>
              <a:t>What We'll Cover Today</a:t>
            </a:r>
          </a:p>
        </p:txBody>
      </p:sp>
      <p:sp>
        <p:nvSpPr>
          <p:cNvPr id="5" name="Rectangle 4"/>
          <p:cNvSpPr/>
          <p:nvPr/>
        </p:nvSpPr>
        <p:spPr>
          <a:xfrm>
            <a:off x="320040" y="1005840"/>
            <a:ext cx="8503920" cy="16459"/>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20040" y="1097280"/>
            <a:ext cx="438912" cy="438912"/>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0040" y="1143000"/>
            <a:ext cx="438912" cy="347472"/>
          </a:xfrm>
          <a:prstGeom prst="rect">
            <a:avLst/>
          </a:prstGeom>
          <a:noFill/>
        </p:spPr>
        <p:txBody>
          <a:bodyPr wrap="square" lIns="36576" rIns="36576" tIns="18288" bIns="18288">
            <a:spAutoFit/>
          </a:bodyPr>
          <a:lstStyle/>
          <a:p>
            <a:pPr algn="ctr"/>
            <a:r>
              <a:rPr sz="1400" b="1" i="0">
                <a:solidFill>
                  <a:srgbClr val="FFFFFF"/>
                </a:solidFill>
                <a:latin typeface="Calibri"/>
              </a:rPr>
              <a:t>01</a:t>
            </a:r>
          </a:p>
        </p:txBody>
      </p:sp>
      <p:sp>
        <p:nvSpPr>
          <p:cNvPr id="8" name="TextBox 7"/>
          <p:cNvSpPr txBox="1"/>
          <p:nvPr/>
        </p:nvSpPr>
        <p:spPr>
          <a:xfrm>
            <a:off x="832104" y="1097280"/>
            <a:ext cx="3749039" cy="256032"/>
          </a:xfrm>
          <a:prstGeom prst="rect">
            <a:avLst/>
          </a:prstGeom>
          <a:noFill/>
        </p:spPr>
        <p:txBody>
          <a:bodyPr wrap="square" lIns="36576" rIns="36576" tIns="18288" bIns="18288">
            <a:spAutoFit/>
          </a:bodyPr>
          <a:lstStyle/>
          <a:p>
            <a:pPr algn="l"/>
            <a:r>
              <a:rPr sz="1100" b="1" i="0">
                <a:solidFill>
                  <a:srgbClr val="0B1F3A"/>
                </a:solidFill>
                <a:latin typeface="Calibri"/>
              </a:rPr>
              <a:t>The OOTB-First Frame</a:t>
            </a:r>
          </a:p>
        </p:txBody>
      </p:sp>
      <p:sp>
        <p:nvSpPr>
          <p:cNvPr id="9" name="TextBox 8"/>
          <p:cNvSpPr txBox="1"/>
          <p:nvPr/>
        </p:nvSpPr>
        <p:spPr>
          <a:xfrm>
            <a:off x="832104" y="1344168"/>
            <a:ext cx="3749039" cy="310896"/>
          </a:xfrm>
          <a:prstGeom prst="rect">
            <a:avLst/>
          </a:prstGeom>
          <a:noFill/>
        </p:spPr>
        <p:txBody>
          <a:bodyPr wrap="square" lIns="36576" rIns="36576" tIns="18288" bIns="18288">
            <a:spAutoFit/>
          </a:bodyPr>
          <a:lstStyle/>
          <a:p>
            <a:pPr algn="l"/>
            <a:r>
              <a:rPr sz="950" b="0" i="0">
                <a:solidFill>
                  <a:srgbClr val="1E293B"/>
                </a:solidFill>
                <a:latin typeface="Calibri"/>
              </a:rPr>
              <a:t>Why this engagement commits to OOTB -- and what it means in the room</a:t>
            </a:r>
          </a:p>
        </p:txBody>
      </p:sp>
      <p:sp>
        <p:nvSpPr>
          <p:cNvPr id="10" name="Rectangle 9"/>
          <p:cNvSpPr/>
          <p:nvPr/>
        </p:nvSpPr>
        <p:spPr>
          <a:xfrm>
            <a:off x="320040" y="1892807"/>
            <a:ext cx="438912" cy="438912"/>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20040" y="1938527"/>
            <a:ext cx="438912" cy="347472"/>
          </a:xfrm>
          <a:prstGeom prst="rect">
            <a:avLst/>
          </a:prstGeom>
          <a:noFill/>
        </p:spPr>
        <p:txBody>
          <a:bodyPr wrap="square" lIns="36576" rIns="36576" tIns="18288" bIns="18288">
            <a:spAutoFit/>
          </a:bodyPr>
          <a:lstStyle/>
          <a:p>
            <a:pPr algn="ctr"/>
            <a:r>
              <a:rPr sz="1400" b="1" i="0">
                <a:solidFill>
                  <a:srgbClr val="FFFFFF"/>
                </a:solidFill>
                <a:latin typeface="Calibri"/>
              </a:rPr>
              <a:t>02</a:t>
            </a:r>
          </a:p>
        </p:txBody>
      </p:sp>
      <p:sp>
        <p:nvSpPr>
          <p:cNvPr id="12" name="TextBox 11"/>
          <p:cNvSpPr txBox="1"/>
          <p:nvPr/>
        </p:nvSpPr>
        <p:spPr>
          <a:xfrm>
            <a:off x="832104" y="1892807"/>
            <a:ext cx="3749039" cy="256032"/>
          </a:xfrm>
          <a:prstGeom prst="rect">
            <a:avLst/>
          </a:prstGeom>
          <a:noFill/>
        </p:spPr>
        <p:txBody>
          <a:bodyPr wrap="square" lIns="36576" rIns="36576" tIns="18288" bIns="18288">
            <a:spAutoFit/>
          </a:bodyPr>
          <a:lstStyle/>
          <a:p>
            <a:pPr algn="l"/>
            <a:r>
              <a:rPr sz="1100" b="1" i="0">
                <a:solidFill>
                  <a:srgbClr val="0B1F3A"/>
                </a:solidFill>
                <a:latin typeface="Calibri"/>
              </a:rPr>
              <a:t>SAM in the ServiceNow Platform</a:t>
            </a:r>
          </a:p>
        </p:txBody>
      </p:sp>
      <p:sp>
        <p:nvSpPr>
          <p:cNvPr id="13" name="TextBox 12"/>
          <p:cNvSpPr txBox="1"/>
          <p:nvPr/>
        </p:nvSpPr>
        <p:spPr>
          <a:xfrm>
            <a:off x="832104" y="2139696"/>
            <a:ext cx="3749039" cy="310896"/>
          </a:xfrm>
          <a:prstGeom prst="rect">
            <a:avLst/>
          </a:prstGeom>
          <a:noFill/>
        </p:spPr>
        <p:txBody>
          <a:bodyPr wrap="square" lIns="36576" rIns="36576" tIns="18288" bIns="18288">
            <a:spAutoFit/>
          </a:bodyPr>
          <a:lstStyle/>
          <a:p>
            <a:pPr algn="l"/>
            <a:r>
              <a:rPr sz="950" b="0" i="0">
                <a:solidFill>
                  <a:srgbClr val="1E293B"/>
                </a:solidFill>
                <a:latin typeface="Calibri"/>
              </a:rPr>
              <a:t>How SAM connects to CMDB, Discovery, and Procurement</a:t>
            </a:r>
          </a:p>
        </p:txBody>
      </p:sp>
      <p:sp>
        <p:nvSpPr>
          <p:cNvPr id="14" name="Rectangle 13"/>
          <p:cNvSpPr/>
          <p:nvPr/>
        </p:nvSpPr>
        <p:spPr>
          <a:xfrm>
            <a:off x="320040" y="2688336"/>
            <a:ext cx="438912" cy="438912"/>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20040" y="2734056"/>
            <a:ext cx="438912" cy="347472"/>
          </a:xfrm>
          <a:prstGeom prst="rect">
            <a:avLst/>
          </a:prstGeom>
          <a:noFill/>
        </p:spPr>
        <p:txBody>
          <a:bodyPr wrap="square" lIns="36576" rIns="36576" tIns="18288" bIns="18288">
            <a:spAutoFit/>
          </a:bodyPr>
          <a:lstStyle/>
          <a:p>
            <a:pPr algn="ctr"/>
            <a:r>
              <a:rPr sz="1400" b="1" i="0">
                <a:solidFill>
                  <a:srgbClr val="FFFFFF"/>
                </a:solidFill>
                <a:latin typeface="Calibri"/>
              </a:rPr>
              <a:t>03</a:t>
            </a:r>
          </a:p>
        </p:txBody>
      </p:sp>
      <p:sp>
        <p:nvSpPr>
          <p:cNvPr id="16" name="TextBox 15"/>
          <p:cNvSpPr txBox="1"/>
          <p:nvPr/>
        </p:nvSpPr>
        <p:spPr>
          <a:xfrm>
            <a:off x="832104" y="2688336"/>
            <a:ext cx="3749039" cy="256032"/>
          </a:xfrm>
          <a:prstGeom prst="rect">
            <a:avLst/>
          </a:prstGeom>
          <a:noFill/>
        </p:spPr>
        <p:txBody>
          <a:bodyPr wrap="square" lIns="36576" rIns="36576" tIns="18288" bIns="18288">
            <a:spAutoFit/>
          </a:bodyPr>
          <a:lstStyle/>
          <a:p>
            <a:pPr algn="l"/>
            <a:r>
              <a:rPr sz="1100" b="1" i="0">
                <a:solidFill>
                  <a:srgbClr val="0B1F3A"/>
                </a:solidFill>
                <a:latin typeface="Calibri"/>
              </a:rPr>
              <a:t>SAM Process Walkthrough</a:t>
            </a:r>
          </a:p>
        </p:txBody>
      </p:sp>
      <p:sp>
        <p:nvSpPr>
          <p:cNvPr id="17" name="TextBox 16"/>
          <p:cNvSpPr txBox="1"/>
          <p:nvPr/>
        </p:nvSpPr>
        <p:spPr>
          <a:xfrm>
            <a:off x="832104" y="2935224"/>
            <a:ext cx="3749039" cy="310896"/>
          </a:xfrm>
          <a:prstGeom prst="rect">
            <a:avLst/>
          </a:prstGeom>
          <a:noFill/>
        </p:spPr>
        <p:txBody>
          <a:bodyPr wrap="square" lIns="36576" rIns="36576" tIns="18288" bIns="18288">
            <a:spAutoFit/>
          </a:bodyPr>
          <a:lstStyle/>
          <a:p>
            <a:pPr algn="l"/>
            <a:r>
              <a:rPr sz="950" b="0" i="0">
                <a:solidFill>
                  <a:srgbClr val="1E293B"/>
                </a:solidFill>
                <a:latin typeface="Calibri"/>
              </a:rPr>
              <a:t>License lifecycle: procurement, entitlement, reconciliation, reclamation</a:t>
            </a:r>
          </a:p>
        </p:txBody>
      </p:sp>
      <p:sp>
        <p:nvSpPr>
          <p:cNvPr id="18" name="Rectangle 17"/>
          <p:cNvSpPr/>
          <p:nvPr/>
        </p:nvSpPr>
        <p:spPr>
          <a:xfrm>
            <a:off x="4663440" y="1097280"/>
            <a:ext cx="438912" cy="438912"/>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663440" y="1143000"/>
            <a:ext cx="438912" cy="347472"/>
          </a:xfrm>
          <a:prstGeom prst="rect">
            <a:avLst/>
          </a:prstGeom>
          <a:noFill/>
        </p:spPr>
        <p:txBody>
          <a:bodyPr wrap="square" lIns="36576" rIns="36576" tIns="18288" bIns="18288">
            <a:spAutoFit/>
          </a:bodyPr>
          <a:lstStyle/>
          <a:p>
            <a:pPr algn="ctr"/>
            <a:r>
              <a:rPr sz="1400" b="1" i="0">
                <a:solidFill>
                  <a:srgbClr val="FFFFFF"/>
                </a:solidFill>
                <a:latin typeface="Calibri"/>
              </a:rPr>
              <a:t>04</a:t>
            </a:r>
          </a:p>
        </p:txBody>
      </p:sp>
      <p:sp>
        <p:nvSpPr>
          <p:cNvPr id="20" name="TextBox 19"/>
          <p:cNvSpPr txBox="1"/>
          <p:nvPr/>
        </p:nvSpPr>
        <p:spPr>
          <a:xfrm>
            <a:off x="5175504" y="1097280"/>
            <a:ext cx="3749039" cy="256032"/>
          </a:xfrm>
          <a:prstGeom prst="rect">
            <a:avLst/>
          </a:prstGeom>
          <a:noFill/>
        </p:spPr>
        <p:txBody>
          <a:bodyPr wrap="square" lIns="36576" rIns="36576" tIns="18288" bIns="18288">
            <a:spAutoFit/>
          </a:bodyPr>
          <a:lstStyle/>
          <a:p>
            <a:pPr algn="l"/>
            <a:r>
              <a:rPr sz="1100" b="1" i="0">
                <a:solidFill>
                  <a:srgbClr val="0B1F3A"/>
                </a:solidFill>
                <a:latin typeface="Calibri"/>
              </a:rPr>
              <a:t>Key Decisions #1-#8</a:t>
            </a:r>
          </a:p>
        </p:txBody>
      </p:sp>
      <p:sp>
        <p:nvSpPr>
          <p:cNvPr id="21" name="TextBox 20"/>
          <p:cNvSpPr txBox="1"/>
          <p:nvPr/>
        </p:nvSpPr>
        <p:spPr>
          <a:xfrm>
            <a:off x="5175504" y="1344168"/>
            <a:ext cx="3749039" cy="310896"/>
          </a:xfrm>
          <a:prstGeom prst="rect">
            <a:avLst/>
          </a:prstGeom>
          <a:noFill/>
        </p:spPr>
        <p:txBody>
          <a:bodyPr wrap="square" lIns="36576" rIns="36576" tIns="18288" bIns="18288">
            <a:spAutoFit/>
          </a:bodyPr>
          <a:lstStyle/>
          <a:p>
            <a:pPr algn="l"/>
            <a:r>
              <a:rPr sz="950" b="0" i="0">
                <a:solidFill>
                  <a:srgbClr val="1E293B"/>
                </a:solidFill>
                <a:latin typeface="Calibri"/>
              </a:rPr>
              <a:t>License models, publisher catalog, reconciliation frequency, SAM Pro, software requests, reclamation, cloud software, compliance reporting</a:t>
            </a:r>
          </a:p>
        </p:txBody>
      </p:sp>
      <p:sp>
        <p:nvSpPr>
          <p:cNvPr id="22" name="Rectangle 21"/>
          <p:cNvSpPr/>
          <p:nvPr/>
        </p:nvSpPr>
        <p:spPr>
          <a:xfrm>
            <a:off x="4663440" y="1892807"/>
            <a:ext cx="438912" cy="438912"/>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663440" y="1938527"/>
            <a:ext cx="438912" cy="347472"/>
          </a:xfrm>
          <a:prstGeom prst="rect">
            <a:avLst/>
          </a:prstGeom>
          <a:noFill/>
        </p:spPr>
        <p:txBody>
          <a:bodyPr wrap="square" lIns="36576" rIns="36576" tIns="18288" bIns="18288">
            <a:spAutoFit/>
          </a:bodyPr>
          <a:lstStyle/>
          <a:p>
            <a:pPr algn="ctr"/>
            <a:r>
              <a:rPr sz="1400" b="1" i="0">
                <a:solidFill>
                  <a:srgbClr val="FFFFFF"/>
                </a:solidFill>
                <a:latin typeface="Calibri"/>
              </a:rPr>
              <a:t>05</a:t>
            </a:r>
          </a:p>
        </p:txBody>
      </p:sp>
      <p:sp>
        <p:nvSpPr>
          <p:cNvPr id="24" name="TextBox 23"/>
          <p:cNvSpPr txBox="1"/>
          <p:nvPr/>
        </p:nvSpPr>
        <p:spPr>
          <a:xfrm>
            <a:off x="5175504" y="1892807"/>
            <a:ext cx="3749039" cy="256032"/>
          </a:xfrm>
          <a:prstGeom prst="rect">
            <a:avLst/>
          </a:prstGeom>
          <a:noFill/>
        </p:spPr>
        <p:txBody>
          <a:bodyPr wrap="square" lIns="36576" rIns="36576" tIns="18288" bIns="18288">
            <a:spAutoFit/>
          </a:bodyPr>
          <a:lstStyle/>
          <a:p>
            <a:pPr algn="l"/>
            <a:r>
              <a:rPr sz="1100" b="1" i="0">
                <a:solidFill>
                  <a:srgbClr val="0B1F3A"/>
                </a:solidFill>
                <a:latin typeface="Calibri"/>
              </a:rPr>
              <a:t>Decision Log</a:t>
            </a:r>
          </a:p>
        </p:txBody>
      </p:sp>
      <p:sp>
        <p:nvSpPr>
          <p:cNvPr id="25" name="TextBox 24"/>
          <p:cNvSpPr txBox="1"/>
          <p:nvPr/>
        </p:nvSpPr>
        <p:spPr>
          <a:xfrm>
            <a:off x="5175504" y="2139696"/>
            <a:ext cx="3749039" cy="310896"/>
          </a:xfrm>
          <a:prstGeom prst="rect">
            <a:avLst/>
          </a:prstGeom>
          <a:noFill/>
        </p:spPr>
        <p:txBody>
          <a:bodyPr wrap="square" lIns="36576" rIns="36576" tIns="18288" bIns="18288">
            <a:spAutoFit/>
          </a:bodyPr>
          <a:lstStyle/>
          <a:p>
            <a:pPr algn="l"/>
            <a:r>
              <a:rPr sz="950" b="0" i="0">
                <a:solidFill>
                  <a:srgbClr val="1E293B"/>
                </a:solidFill>
                <a:latin typeface="Calibri"/>
              </a:rPr>
              <a:t>Every decision is recorded before we leave this room</a:t>
            </a:r>
          </a:p>
        </p:txBody>
      </p:sp>
      <p:sp>
        <p:nvSpPr>
          <p:cNvPr id="26" name="Rectangle 25"/>
          <p:cNvSpPr/>
          <p:nvPr/>
        </p:nvSpPr>
        <p:spPr>
          <a:xfrm>
            <a:off x="4663440" y="2688336"/>
            <a:ext cx="438912" cy="438912"/>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663440" y="2734056"/>
            <a:ext cx="438912" cy="347472"/>
          </a:xfrm>
          <a:prstGeom prst="rect">
            <a:avLst/>
          </a:prstGeom>
          <a:noFill/>
        </p:spPr>
        <p:txBody>
          <a:bodyPr wrap="square" lIns="36576" rIns="36576" tIns="18288" bIns="18288">
            <a:spAutoFit/>
          </a:bodyPr>
          <a:lstStyle/>
          <a:p>
            <a:pPr algn="ctr"/>
            <a:r>
              <a:rPr sz="1400" b="1" i="0">
                <a:solidFill>
                  <a:srgbClr val="FFFFFF"/>
                </a:solidFill>
                <a:latin typeface="Calibri"/>
              </a:rPr>
              <a:t>06</a:t>
            </a:r>
          </a:p>
        </p:txBody>
      </p:sp>
      <p:sp>
        <p:nvSpPr>
          <p:cNvPr id="28" name="TextBox 27"/>
          <p:cNvSpPr txBox="1"/>
          <p:nvPr/>
        </p:nvSpPr>
        <p:spPr>
          <a:xfrm>
            <a:off x="5175504" y="2688336"/>
            <a:ext cx="3749039" cy="256032"/>
          </a:xfrm>
          <a:prstGeom prst="rect">
            <a:avLst/>
          </a:prstGeom>
          <a:noFill/>
        </p:spPr>
        <p:txBody>
          <a:bodyPr wrap="square" lIns="36576" rIns="36576" tIns="18288" bIns="18288">
            <a:spAutoFit/>
          </a:bodyPr>
          <a:lstStyle/>
          <a:p>
            <a:pPr algn="l"/>
            <a:r>
              <a:rPr sz="1100" b="1" i="0">
                <a:solidFill>
                  <a:srgbClr val="0B1F3A"/>
                </a:solidFill>
                <a:latin typeface="Calibri"/>
              </a:rPr>
              <a:t>What Comes Next</a:t>
            </a:r>
          </a:p>
        </p:txBody>
      </p:sp>
      <p:sp>
        <p:nvSpPr>
          <p:cNvPr id="29" name="TextBox 28"/>
          <p:cNvSpPr txBox="1"/>
          <p:nvPr/>
        </p:nvSpPr>
        <p:spPr>
          <a:xfrm>
            <a:off x="5175504" y="2935224"/>
            <a:ext cx="3749039" cy="310896"/>
          </a:xfrm>
          <a:prstGeom prst="rect">
            <a:avLst/>
          </a:prstGeom>
          <a:noFill/>
        </p:spPr>
        <p:txBody>
          <a:bodyPr wrap="square" lIns="36576" rIns="36576" tIns="18288" bIns="18288">
            <a:spAutoFit/>
          </a:bodyPr>
          <a:lstStyle/>
          <a:p>
            <a:pPr algn="l"/>
            <a:r>
              <a:rPr sz="950" b="0" i="0">
                <a:solidFill>
                  <a:srgbClr val="1E293B"/>
                </a:solidFill>
                <a:latin typeface="Calibri"/>
              </a:rPr>
              <a:t>Publisher catalog import, Discovery normalization, license entitlement setup, SAM Pro activation</a:t>
            </a:r>
          </a:p>
        </p:txBody>
      </p:sp>
      <p:sp>
        <p:nvSpPr>
          <p:cNvPr id="30" name="Rectangle 29"/>
          <p:cNvSpPr/>
          <p:nvPr/>
        </p:nvSpPr>
        <p:spPr>
          <a:xfrm>
            <a:off x="320040" y="3529583"/>
            <a:ext cx="8503920" cy="45720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3611879"/>
            <a:ext cx="8229600" cy="347472"/>
          </a:xfrm>
          <a:prstGeom prst="rect">
            <a:avLst/>
          </a:prstGeom>
          <a:noFill/>
        </p:spPr>
        <p:txBody>
          <a:bodyPr wrap="square" lIns="36576" rIns="36576" tIns="18288" bIns="18288">
            <a:spAutoFit/>
          </a:bodyPr>
          <a:lstStyle/>
          <a:p>
            <a:pPr algn="l"/>
            <a:r>
              <a:rPr sz="950" b="1" i="0">
                <a:solidFill>
                  <a:srgbClr val="0B1F3A"/>
                </a:solidFill>
                <a:latin typeface="Calibri"/>
              </a:rPr>
              <a:t>Ground rule: </a:t>
            </a:r>
            <a:r>
              <a:rPr sz="950" b="0" i="0">
                <a:solidFill>
                  <a:srgbClr val="1E293B"/>
                </a:solidFill>
                <a:latin typeface="Calibri"/>
              </a:rPr>
              <a:t>Decisions get made in this room. The OOTB recommendation is pre-populated. Your job is to confirm, adjust with rationale, or defer with a named owner and date.</a:t>
            </a:r>
          </a:p>
        </p:txBody>
      </p:sp>
      <p:sp>
        <p:nvSpPr>
          <p:cNvPr id="32" name="Rectangle 31"/>
          <p:cNvSpPr/>
          <p:nvPr/>
        </p:nvSpPr>
        <p:spPr>
          <a:xfrm>
            <a:off x="0" y="4818888"/>
            <a:ext cx="9144000" cy="13716"/>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274320" y="4846320"/>
            <a:ext cx="2011680" cy="182880"/>
          </a:xfrm>
          <a:prstGeom prst="rect">
            <a:avLst/>
          </a:prstGeom>
          <a:noFill/>
        </p:spPr>
        <p:txBody>
          <a:bodyPr wrap="square" lIns="36576" rIns="36576" tIns="18288" bIns="18288">
            <a:spAutoFit/>
          </a:bodyPr>
          <a:lstStyle/>
          <a:p>
            <a:pPr algn="l"/>
            <a:r>
              <a:rPr sz="700" b="0" i="0">
                <a:solidFill>
                  <a:srgbClr val="94A3B8"/>
                </a:solidFill>
                <a:latin typeface="Calibri"/>
              </a:rPr>
              <a:t>Everforth ECS Federal</a:t>
            </a:r>
          </a:p>
        </p:txBody>
      </p:sp>
      <p:sp>
        <p:nvSpPr>
          <p:cNvPr id="34" name="TextBox 33"/>
          <p:cNvSpPr txBox="1"/>
          <p:nvPr/>
        </p:nvSpPr>
        <p:spPr>
          <a:xfrm>
            <a:off x="2286000" y="4846320"/>
            <a:ext cx="5029200" cy="182880"/>
          </a:xfrm>
          <a:prstGeom prst="rect">
            <a:avLst/>
          </a:prstGeom>
          <a:noFill/>
        </p:spPr>
        <p:txBody>
          <a:bodyPr wrap="square" lIns="36576" rIns="36576" tIns="18288" bIns="18288">
            <a:spAutoFit/>
          </a:bodyPr>
          <a:lstStyle/>
          <a:p>
            <a:pPr algn="ctr"/>
            <a:r>
              <a:rPr sz="700" b="0" i="0">
                <a:solidFill>
                  <a:srgbClr val="94A3B8"/>
                </a:solidFill>
                <a:latin typeface="Calibri"/>
              </a:rPr>
              <a:t>SERVICENOW PRACTICE  ·  MODERNIZING THE CORE  ·  SOFTWARE ASSET MANAGEMENT</a:t>
            </a:r>
          </a:p>
        </p:txBody>
      </p:sp>
      <p:sp>
        <p:nvSpPr>
          <p:cNvPr id="35" name="TextBox 34"/>
          <p:cNvSpPr txBox="1"/>
          <p:nvPr/>
        </p:nvSpPr>
        <p:spPr>
          <a:xfrm>
            <a:off x="8503920" y="4846320"/>
            <a:ext cx="365760" cy="182880"/>
          </a:xfrm>
          <a:prstGeom prst="rect">
            <a:avLst/>
          </a:prstGeom>
          <a:noFill/>
        </p:spPr>
        <p:txBody>
          <a:bodyPr wrap="square" lIns="36576" rIns="36576" tIns="18288" bIns="18288">
            <a:spAutoFit/>
          </a:bodyPr>
          <a:lstStyle/>
          <a:p>
            <a:pPr algn="r"/>
            <a:r>
              <a:rPr sz="700" b="0" i="0">
                <a:solidFill>
                  <a:srgbClr val="94A3B8"/>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everforth_logo.png"/>
          <p:cNvPicPr>
            <a:picLocks noChangeAspect="1"/>
          </p:cNvPicPr>
          <p:nvPr/>
        </p:nvPicPr>
        <p:blipFill>
          <a:blip r:embed="rId2"/>
          <a:stretch>
            <a:fillRect/>
          </a:stretch>
        </p:blipFill>
        <p:spPr>
          <a:xfrm>
            <a:off x="7909560" y="64008"/>
            <a:ext cx="1115568" cy="420624"/>
          </a:xfrm>
          <a:prstGeom prst="rect">
            <a:avLst/>
          </a:prstGeom>
        </p:spPr>
      </p:pic>
      <p:sp>
        <p:nvSpPr>
          <p:cNvPr id="3" name="TextBox 2"/>
          <p:cNvSpPr txBox="1"/>
          <p:nvPr/>
        </p:nvSpPr>
        <p:spPr>
          <a:xfrm>
            <a:off x="347472" y="164592"/>
            <a:ext cx="4572000" cy="201168"/>
          </a:xfrm>
          <a:prstGeom prst="rect">
            <a:avLst/>
          </a:prstGeom>
          <a:noFill/>
        </p:spPr>
        <p:txBody>
          <a:bodyPr wrap="square" lIns="36576" rIns="36576" tIns="18288" bIns="18288">
            <a:spAutoFit/>
          </a:bodyPr>
          <a:lstStyle/>
          <a:p>
            <a:pPr algn="l"/>
            <a:r>
              <a:rPr sz="800" b="1" i="0">
                <a:solidFill>
                  <a:srgbClr val="14B8A6"/>
                </a:solidFill>
                <a:latin typeface="Calibri"/>
              </a:rPr>
              <a:t>T H E  A P P R O A C H</a:t>
            </a:r>
          </a:p>
        </p:txBody>
      </p:sp>
      <p:sp>
        <p:nvSpPr>
          <p:cNvPr id="4" name="TextBox 3"/>
          <p:cNvSpPr txBox="1"/>
          <p:nvPr/>
        </p:nvSpPr>
        <p:spPr>
          <a:xfrm>
            <a:off x="320040" y="384048"/>
            <a:ext cx="7772400" cy="685800"/>
          </a:xfrm>
          <a:prstGeom prst="rect">
            <a:avLst/>
          </a:prstGeom>
          <a:noFill/>
        </p:spPr>
        <p:txBody>
          <a:bodyPr wrap="square" lIns="36576" rIns="36576" tIns="18288" bIns="18288">
            <a:spAutoFit/>
          </a:bodyPr>
          <a:lstStyle/>
          <a:p>
            <a:pPr algn="l"/>
            <a:r>
              <a:rPr sz="2400" b="1" i="0">
                <a:solidFill>
                  <a:srgbClr val="0B1F3A"/>
                </a:solidFill>
                <a:latin typeface="Calibri"/>
              </a:rPr>
              <a:t>OOTB-first is not a constraint — it is the AI strategy</a:t>
            </a:r>
          </a:p>
        </p:txBody>
      </p:sp>
      <p:sp>
        <p:nvSpPr>
          <p:cNvPr id="5" name="Rectangle 4"/>
          <p:cNvSpPr/>
          <p:nvPr/>
        </p:nvSpPr>
        <p:spPr>
          <a:xfrm>
            <a:off x="320040" y="1005840"/>
            <a:ext cx="8503920" cy="16459"/>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20040" y="1024128"/>
            <a:ext cx="2743200" cy="310896"/>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59" y="1033271"/>
            <a:ext cx="2651760" cy="274320"/>
          </a:xfrm>
          <a:prstGeom prst="rect">
            <a:avLst/>
          </a:prstGeom>
          <a:noFill/>
        </p:spPr>
        <p:txBody>
          <a:bodyPr wrap="square" lIns="36576" rIns="36576" tIns="18288" bIns="18288">
            <a:spAutoFit/>
          </a:bodyPr>
          <a:lstStyle/>
          <a:p>
            <a:pPr algn="ctr"/>
            <a:r>
              <a:rPr sz="950" b="1" i="0">
                <a:solidFill>
                  <a:srgbClr val="FFFFFF"/>
                </a:solidFill>
                <a:latin typeface="Calibri"/>
              </a:rPr>
              <a:t>What OOTB-First Means</a:t>
            </a:r>
          </a:p>
        </p:txBody>
      </p:sp>
      <p:sp>
        <p:nvSpPr>
          <p:cNvPr id="8" name="Rectangle 7"/>
          <p:cNvSpPr/>
          <p:nvPr/>
        </p:nvSpPr>
        <p:spPr>
          <a:xfrm>
            <a:off x="320040" y="1335024"/>
            <a:ext cx="2743200" cy="333756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1479" y="1389888"/>
            <a:ext cx="2560320" cy="3200400"/>
          </a:xfrm>
          <a:prstGeom prst="rect">
            <a:avLst/>
          </a:prstGeom>
          <a:noFill/>
        </p:spPr>
        <p:txBody>
          <a:bodyPr wrap="square" lIns="36576" rIns="36576" tIns="18288" bIns="18288">
            <a:spAutoFit/>
          </a:bodyPr>
          <a:lstStyle/>
          <a:p>
            <a:pPr algn="l">
              <a:spcAft>
                <a:spcPts val="400"/>
              </a:spcAft>
            </a:pPr>
            <a:r>
              <a:rPr sz="850" b="0" i="0">
                <a:solidFill>
                  <a:srgbClr val="1E293B"/>
                </a:solidFill>
                <a:latin typeface="Calibri"/>
              </a:rPr>
              <a:t>•  SAM OOTB covers: software entitlement tracking, publisher catalog, license reconciliation, reclamation workflows, and compliance dashboards.</a:t>
            </a:r>
          </a:p>
          <a:p>
            <a:pPr algn="l">
              <a:spcAft>
                <a:spcPts val="400"/>
              </a:spcAft>
            </a:pPr>
            <a:r>
              <a:rPr sz="850" b="0" i="0">
                <a:solidFill>
                  <a:srgbClr val="1E293B"/>
                </a:solidFill>
                <a:latin typeface="Calibri"/>
              </a:rPr>
              <a:t>•  SAM Pro (licensed add-on) extends with normalized publisher catalog from Flexera, automated reconciliation, and cloud subscription tracking.</a:t>
            </a:r>
          </a:p>
          <a:p>
            <a:pPr algn="l">
              <a:spcAft>
                <a:spcPts val="400"/>
              </a:spcAft>
            </a:pPr>
            <a:r>
              <a:rPr sz="850" b="0" i="0">
                <a:solidFill>
                  <a:srgbClr val="1E293B"/>
                </a:solidFill>
                <a:latin typeface="Calibri"/>
              </a:rPr>
              <a:t>•  The OOTB model manages license compliance without custom tables or scripted reconciliation logic.</a:t>
            </a:r>
          </a:p>
        </p:txBody>
      </p:sp>
      <p:sp>
        <p:nvSpPr>
          <p:cNvPr id="10" name="Rectangle 9"/>
          <p:cNvSpPr/>
          <p:nvPr/>
        </p:nvSpPr>
        <p:spPr>
          <a:xfrm>
            <a:off x="3131820" y="1024128"/>
            <a:ext cx="2743200" cy="310896"/>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177540" y="1033271"/>
            <a:ext cx="2651760" cy="274320"/>
          </a:xfrm>
          <a:prstGeom prst="rect">
            <a:avLst/>
          </a:prstGeom>
          <a:noFill/>
        </p:spPr>
        <p:txBody>
          <a:bodyPr wrap="square" lIns="36576" rIns="36576" tIns="18288" bIns="18288">
            <a:spAutoFit/>
          </a:bodyPr>
          <a:lstStyle/>
          <a:p>
            <a:pPr algn="ctr"/>
            <a:r>
              <a:rPr sz="950" b="1" i="0">
                <a:solidFill>
                  <a:srgbClr val="FFFFFF"/>
                </a:solidFill>
                <a:latin typeface="Calibri"/>
              </a:rPr>
              <a:t>What We Configure (Not Code)</a:t>
            </a:r>
          </a:p>
        </p:txBody>
      </p:sp>
      <p:sp>
        <p:nvSpPr>
          <p:cNvPr id="12" name="Rectangle 11"/>
          <p:cNvSpPr/>
          <p:nvPr/>
        </p:nvSpPr>
        <p:spPr>
          <a:xfrm>
            <a:off x="3131820" y="1335024"/>
            <a:ext cx="2743200" cy="333756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223260" y="1389888"/>
            <a:ext cx="2560320" cy="3200400"/>
          </a:xfrm>
          <a:prstGeom prst="rect">
            <a:avLst/>
          </a:prstGeom>
          <a:noFill/>
        </p:spPr>
        <p:txBody>
          <a:bodyPr wrap="square" lIns="36576" rIns="36576" tIns="18288" bIns="18288">
            <a:spAutoFit/>
          </a:bodyPr>
          <a:lstStyle/>
          <a:p>
            <a:pPr algn="l">
              <a:spcAft>
                <a:spcPts val="400"/>
              </a:spcAft>
            </a:pPr>
            <a:r>
              <a:rPr sz="850" b="0" i="0">
                <a:solidFill>
                  <a:srgbClr val="1E293B"/>
                </a:solidFill>
                <a:latin typeface="Calibri"/>
              </a:rPr>
              <a:t>•  Publisher catalog aligned to your in-scope software titles.</a:t>
            </a:r>
          </a:p>
          <a:p>
            <a:pPr algn="l">
              <a:spcAft>
                <a:spcPts val="400"/>
              </a:spcAft>
            </a:pPr>
            <a:r>
              <a:rPr sz="850" b="0" i="0">
                <a:solidFill>
                  <a:srgbClr val="1E293B"/>
                </a:solidFill>
                <a:latin typeface="Calibri"/>
              </a:rPr>
              <a:t>•  License entitlement records from contracts and purchase orders.</a:t>
            </a:r>
          </a:p>
          <a:p>
            <a:pPr algn="l">
              <a:spcAft>
                <a:spcPts val="400"/>
              </a:spcAft>
            </a:pPr>
            <a:r>
              <a:rPr sz="850" b="0" i="0">
                <a:solidFill>
                  <a:srgbClr val="1E293B"/>
                </a:solidFill>
                <a:latin typeface="Calibri"/>
              </a:rPr>
              <a:t>•  Reconciliation schedules and reclamation thresholds.</a:t>
            </a:r>
          </a:p>
          <a:p>
            <a:pPr algn="l">
              <a:spcAft>
                <a:spcPts val="400"/>
              </a:spcAft>
            </a:pPr>
            <a:r>
              <a:rPr sz="850" b="0" i="0">
                <a:solidFill>
                  <a:srgbClr val="1E293B"/>
                </a:solidFill>
                <a:latin typeface="Calibri"/>
              </a:rPr>
              <a:t>•  Software request catalog items tied to SAM entitlement checks.</a:t>
            </a:r>
          </a:p>
        </p:txBody>
      </p:sp>
      <p:sp>
        <p:nvSpPr>
          <p:cNvPr id="14" name="Rectangle 13"/>
          <p:cNvSpPr/>
          <p:nvPr/>
        </p:nvSpPr>
        <p:spPr>
          <a:xfrm>
            <a:off x="5943600" y="1024128"/>
            <a:ext cx="2743200" cy="310896"/>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89320" y="1033271"/>
            <a:ext cx="2651760" cy="274320"/>
          </a:xfrm>
          <a:prstGeom prst="rect">
            <a:avLst/>
          </a:prstGeom>
          <a:noFill/>
        </p:spPr>
        <p:txBody>
          <a:bodyPr wrap="square" lIns="36576" rIns="36576" tIns="18288" bIns="18288">
            <a:spAutoFit/>
          </a:bodyPr>
          <a:lstStyle/>
          <a:p>
            <a:pPr algn="ctr"/>
            <a:r>
              <a:rPr sz="950" b="1" i="0">
                <a:solidFill>
                  <a:srgbClr val="FFFFFF"/>
                </a:solidFill>
                <a:latin typeface="Calibri"/>
              </a:rPr>
              <a:t>The Delivery Approach</a:t>
            </a:r>
          </a:p>
        </p:txBody>
      </p:sp>
      <p:sp>
        <p:nvSpPr>
          <p:cNvPr id="16" name="Rectangle 15"/>
          <p:cNvSpPr/>
          <p:nvPr/>
        </p:nvSpPr>
        <p:spPr>
          <a:xfrm>
            <a:off x="5943600" y="1335024"/>
            <a:ext cx="2743200" cy="333756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035040" y="1389888"/>
            <a:ext cx="2560320" cy="3200400"/>
          </a:xfrm>
          <a:prstGeom prst="rect">
            <a:avLst/>
          </a:prstGeom>
          <a:noFill/>
        </p:spPr>
        <p:txBody>
          <a:bodyPr wrap="square" lIns="36576" rIns="36576" tIns="18288" bIns="18288">
            <a:spAutoFit/>
          </a:bodyPr>
          <a:lstStyle/>
          <a:p>
            <a:pPr algn="l">
              <a:spcAft>
                <a:spcPts val="400"/>
              </a:spcAft>
            </a:pPr>
            <a:r>
              <a:rPr sz="850" b="0" i="0">
                <a:solidFill>
                  <a:srgbClr val="1E293B"/>
                </a:solidFill>
                <a:latin typeface="Calibri"/>
              </a:rPr>
              <a:t>•  Sprint 5 activates SAM, imports publisher catalog and entitlement data.</a:t>
            </a:r>
          </a:p>
          <a:p>
            <a:pPr algn="l">
              <a:spcAft>
                <a:spcPts val="400"/>
              </a:spcAft>
            </a:pPr>
            <a:r>
              <a:rPr sz="850" b="0" i="0">
                <a:solidFill>
                  <a:srgbClr val="1E293B"/>
                </a:solidFill>
                <a:latin typeface="Calibri"/>
              </a:rPr>
              <a:t>•  Sprint 6 configures reconciliation, reclamation, and software request integration.</a:t>
            </a:r>
          </a:p>
          <a:p>
            <a:pPr algn="l">
              <a:spcAft>
                <a:spcPts val="400"/>
              </a:spcAft>
            </a:pPr>
            <a:r>
              <a:rPr sz="850" b="0" i="0">
                <a:solidFill>
                  <a:srgbClr val="1E293B"/>
                </a:solidFill>
                <a:latin typeface="Calibri"/>
              </a:rPr>
              <a:t>•  All configuration through the SAM workspace -- zero scripting.</a:t>
            </a:r>
          </a:p>
        </p:txBody>
      </p:sp>
      <p:sp>
        <p:nvSpPr>
          <p:cNvPr id="18" name="Rectangle 17"/>
          <p:cNvSpPr/>
          <p:nvPr/>
        </p:nvSpPr>
        <p:spPr>
          <a:xfrm>
            <a:off x="0" y="4818888"/>
            <a:ext cx="9144000" cy="13716"/>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74320" y="4846320"/>
            <a:ext cx="2011680" cy="182880"/>
          </a:xfrm>
          <a:prstGeom prst="rect">
            <a:avLst/>
          </a:prstGeom>
          <a:noFill/>
        </p:spPr>
        <p:txBody>
          <a:bodyPr wrap="square" lIns="36576" rIns="36576" tIns="18288" bIns="18288">
            <a:spAutoFit/>
          </a:bodyPr>
          <a:lstStyle/>
          <a:p>
            <a:pPr algn="l"/>
            <a:r>
              <a:rPr sz="700" b="0" i="0">
                <a:solidFill>
                  <a:srgbClr val="94A3B8"/>
                </a:solidFill>
                <a:latin typeface="Calibri"/>
              </a:rPr>
              <a:t>Everforth ECS Federal</a:t>
            </a:r>
          </a:p>
        </p:txBody>
      </p:sp>
      <p:sp>
        <p:nvSpPr>
          <p:cNvPr id="20" name="TextBox 19"/>
          <p:cNvSpPr txBox="1"/>
          <p:nvPr/>
        </p:nvSpPr>
        <p:spPr>
          <a:xfrm>
            <a:off x="2286000" y="4846320"/>
            <a:ext cx="5029200" cy="182880"/>
          </a:xfrm>
          <a:prstGeom prst="rect">
            <a:avLst/>
          </a:prstGeom>
          <a:noFill/>
        </p:spPr>
        <p:txBody>
          <a:bodyPr wrap="square" lIns="36576" rIns="36576" tIns="18288" bIns="18288">
            <a:spAutoFit/>
          </a:bodyPr>
          <a:lstStyle/>
          <a:p>
            <a:pPr algn="ctr"/>
            <a:r>
              <a:rPr sz="700" b="0" i="0">
                <a:solidFill>
                  <a:srgbClr val="94A3B8"/>
                </a:solidFill>
                <a:latin typeface="Calibri"/>
              </a:rPr>
              <a:t>SERVICENOW PRACTICE  ·  MODERNIZING THE CORE  ·  SOFTWARE ASSET MANAGEMENT</a:t>
            </a:r>
          </a:p>
        </p:txBody>
      </p:sp>
      <p:sp>
        <p:nvSpPr>
          <p:cNvPr id="21" name="TextBox 20"/>
          <p:cNvSpPr txBox="1"/>
          <p:nvPr/>
        </p:nvSpPr>
        <p:spPr>
          <a:xfrm>
            <a:off x="8503920" y="4846320"/>
            <a:ext cx="365760" cy="182880"/>
          </a:xfrm>
          <a:prstGeom prst="rect">
            <a:avLst/>
          </a:prstGeom>
          <a:noFill/>
        </p:spPr>
        <p:txBody>
          <a:bodyPr wrap="square" lIns="36576" rIns="36576" tIns="18288" bIns="18288">
            <a:spAutoFit/>
          </a:bodyPr>
          <a:lstStyle/>
          <a:p>
            <a:pPr algn="r"/>
            <a:r>
              <a:rPr sz="700" b="0" i="0">
                <a:solidFill>
                  <a:srgbClr val="94A3B8"/>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everforth_logo.png"/>
          <p:cNvPicPr>
            <a:picLocks noChangeAspect="1"/>
          </p:cNvPicPr>
          <p:nvPr/>
        </p:nvPicPr>
        <p:blipFill>
          <a:blip r:embed="rId2"/>
          <a:stretch>
            <a:fillRect/>
          </a:stretch>
        </p:blipFill>
        <p:spPr>
          <a:xfrm>
            <a:off x="7909560" y="64008"/>
            <a:ext cx="1115568" cy="420624"/>
          </a:xfrm>
          <a:prstGeom prst="rect">
            <a:avLst/>
          </a:prstGeom>
        </p:spPr>
      </p:pic>
      <p:sp>
        <p:nvSpPr>
          <p:cNvPr id="3" name="TextBox 2"/>
          <p:cNvSpPr txBox="1"/>
          <p:nvPr/>
        </p:nvSpPr>
        <p:spPr>
          <a:xfrm>
            <a:off x="347472" y="164592"/>
            <a:ext cx="4572000" cy="201168"/>
          </a:xfrm>
          <a:prstGeom prst="rect">
            <a:avLst/>
          </a:prstGeom>
          <a:noFill/>
        </p:spPr>
        <p:txBody>
          <a:bodyPr wrap="square" lIns="36576" rIns="36576" tIns="18288" bIns="18288">
            <a:spAutoFit/>
          </a:bodyPr>
          <a:lstStyle/>
          <a:p>
            <a:pPr algn="l"/>
            <a:r>
              <a:rPr sz="800" b="1" i="0">
                <a:solidFill>
                  <a:srgbClr val="14B8A6"/>
                </a:solidFill>
                <a:latin typeface="Calibri"/>
              </a:rPr>
              <a:t>T H E  L I N E</a:t>
            </a:r>
          </a:p>
        </p:txBody>
      </p:sp>
      <p:sp>
        <p:nvSpPr>
          <p:cNvPr id="4" name="TextBox 3"/>
          <p:cNvSpPr txBox="1"/>
          <p:nvPr/>
        </p:nvSpPr>
        <p:spPr>
          <a:xfrm>
            <a:off x="320040" y="384048"/>
            <a:ext cx="7772400" cy="685800"/>
          </a:xfrm>
          <a:prstGeom prst="rect">
            <a:avLst/>
          </a:prstGeom>
          <a:noFill/>
        </p:spPr>
        <p:txBody>
          <a:bodyPr wrap="square" lIns="36576" rIns="36576" tIns="18288" bIns="18288">
            <a:spAutoFit/>
          </a:bodyPr>
          <a:lstStyle/>
          <a:p>
            <a:pPr algn="l"/>
            <a:r>
              <a:rPr sz="2400" b="1" i="0">
                <a:solidFill>
                  <a:srgbClr val="0B1F3A"/>
                </a:solidFill>
                <a:latin typeface="Calibri"/>
              </a:rPr>
              <a:t>What a customization is — and what it isn’t</a:t>
            </a:r>
          </a:p>
        </p:txBody>
      </p:sp>
      <p:sp>
        <p:nvSpPr>
          <p:cNvPr id="5" name="Rectangle 4"/>
          <p:cNvSpPr/>
          <p:nvPr/>
        </p:nvSpPr>
        <p:spPr>
          <a:xfrm>
            <a:off x="320040" y="1005840"/>
            <a:ext cx="8503920" cy="16459"/>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20040" y="1024128"/>
            <a:ext cx="4160520" cy="292608"/>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74904" y="1033271"/>
            <a:ext cx="4050791" cy="256032"/>
          </a:xfrm>
          <a:prstGeom prst="rect">
            <a:avLst/>
          </a:prstGeom>
          <a:noFill/>
        </p:spPr>
        <p:txBody>
          <a:bodyPr wrap="square" lIns="36576" rIns="36576" tIns="18288" bIns="18288">
            <a:spAutoFit/>
          </a:bodyPr>
          <a:lstStyle/>
          <a:p>
            <a:pPr algn="ctr"/>
            <a:r>
              <a:rPr sz="850" b="1" i="0">
                <a:solidFill>
                  <a:srgbClr val="FFFFFF"/>
                </a:solidFill>
                <a:latin typeface="Calibri"/>
              </a:rPr>
              <a:t>CONFIGURATION  —  This is always available</a:t>
            </a:r>
          </a:p>
        </p:txBody>
      </p:sp>
      <p:sp>
        <p:nvSpPr>
          <p:cNvPr id="8" name="Rectangle 7"/>
          <p:cNvSpPr/>
          <p:nvPr/>
        </p:nvSpPr>
        <p:spPr>
          <a:xfrm>
            <a:off x="320040" y="1316736"/>
            <a:ext cx="4160520" cy="3310128"/>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1479" y="1371600"/>
            <a:ext cx="3977639" cy="3200400"/>
          </a:xfrm>
          <a:prstGeom prst="rect">
            <a:avLst/>
          </a:prstGeom>
          <a:noFill/>
        </p:spPr>
        <p:txBody>
          <a:bodyPr wrap="square" lIns="36576" rIns="36576" tIns="18288" bIns="18288">
            <a:spAutoFit/>
          </a:bodyPr>
          <a:lstStyle/>
          <a:p>
            <a:pPr algn="l">
              <a:spcAft>
                <a:spcPts val="300"/>
              </a:spcAft>
            </a:pPr>
            <a:r>
              <a:rPr sz="850" b="0" i="0">
                <a:solidFill>
                  <a:srgbClr val="1E293B"/>
                </a:solidFill>
                <a:latin typeface="Calibri"/>
              </a:rPr>
              <a:t>✓  P</a:t>
            </a:r>
          </a:p>
          <a:p>
            <a:pPr algn="l">
              <a:spcAft>
                <a:spcPts val="300"/>
              </a:spcAft>
            </a:pPr>
            <a:r>
              <a:rPr sz="850" b="0" i="0">
                <a:solidFill>
                  <a:srgbClr val="1E293B"/>
                </a:solidFill>
                <a:latin typeface="Calibri"/>
              </a:rPr>
              <a:t>✓  u</a:t>
            </a:r>
          </a:p>
          <a:p>
            <a:pPr algn="l">
              <a:spcAft>
                <a:spcPts val="300"/>
              </a:spcAft>
            </a:pPr>
            <a:r>
              <a:rPr sz="850" b="0" i="0">
                <a:solidFill>
                  <a:srgbClr val="1E293B"/>
                </a:solidFill>
                <a:latin typeface="Calibri"/>
              </a:rPr>
              <a:t>✓  b</a:t>
            </a:r>
          </a:p>
          <a:p>
            <a:pPr algn="l">
              <a:spcAft>
                <a:spcPts val="300"/>
              </a:spcAft>
            </a:pPr>
            <a:r>
              <a:rPr sz="850" b="0" i="0">
                <a:solidFill>
                  <a:srgbClr val="1E293B"/>
                </a:solidFill>
                <a:latin typeface="Calibri"/>
              </a:rPr>
              <a:t>✓  l</a:t>
            </a:r>
          </a:p>
          <a:p>
            <a:pPr algn="l">
              <a:spcAft>
                <a:spcPts val="300"/>
              </a:spcAft>
            </a:pPr>
            <a:r>
              <a:rPr sz="850" b="0" i="0">
                <a:solidFill>
                  <a:srgbClr val="1E293B"/>
                </a:solidFill>
                <a:latin typeface="Calibri"/>
              </a:rPr>
              <a:t>✓  i</a:t>
            </a:r>
          </a:p>
          <a:p>
            <a:pPr algn="l">
              <a:spcAft>
                <a:spcPts val="300"/>
              </a:spcAft>
            </a:pPr>
            <a:r>
              <a:rPr sz="850" b="0" i="0">
                <a:solidFill>
                  <a:srgbClr val="1E293B"/>
                </a:solidFill>
                <a:latin typeface="Calibri"/>
              </a:rPr>
              <a:t>✓  s</a:t>
            </a:r>
          </a:p>
          <a:p>
            <a:pPr algn="l">
              <a:spcAft>
                <a:spcPts val="300"/>
              </a:spcAft>
            </a:pPr>
            <a:r>
              <a:rPr sz="850" b="0" i="0">
                <a:solidFill>
                  <a:srgbClr val="1E293B"/>
                </a:solidFill>
                <a:latin typeface="Calibri"/>
              </a:rPr>
              <a:t>✓  h</a:t>
            </a:r>
          </a:p>
          <a:p>
            <a:pPr algn="l">
              <a:spcAft>
                <a:spcPts val="300"/>
              </a:spcAft>
            </a:pPr>
            <a:r>
              <a:rPr sz="850" b="0" i="0">
                <a:solidFill>
                  <a:srgbClr val="1E293B"/>
                </a:solidFill>
                <a:latin typeface="Calibri"/>
              </a:rPr>
              <a:t>✓  e</a:t>
            </a:r>
          </a:p>
          <a:p>
            <a:pPr algn="l">
              <a:spcAft>
                <a:spcPts val="300"/>
              </a:spcAft>
            </a:pPr>
            <a:r>
              <a:rPr sz="850" b="0" i="0">
                <a:solidFill>
                  <a:srgbClr val="1E293B"/>
                </a:solidFill>
                <a:latin typeface="Calibri"/>
              </a:rPr>
              <a:t>✓  r</a:t>
            </a:r>
          </a:p>
          <a:p>
            <a:pPr algn="l">
              <a:spcAft>
                <a:spcPts val="300"/>
              </a:spcAft>
            </a:pPr>
            <a:r>
              <a:rPr sz="850" b="0" i="0">
                <a:solidFill>
                  <a:srgbClr val="1E293B"/>
                </a:solidFill>
                <a:latin typeface="Calibri"/>
              </a:rPr>
              <a:t>✓   </a:t>
            </a:r>
          </a:p>
          <a:p>
            <a:pPr algn="l">
              <a:spcAft>
                <a:spcPts val="300"/>
              </a:spcAft>
            </a:pPr>
            <a:r>
              <a:rPr sz="850" b="0" i="0">
                <a:solidFill>
                  <a:srgbClr val="1E293B"/>
                </a:solidFill>
                <a:latin typeface="Calibri"/>
              </a:rPr>
              <a:t>✓  c</a:t>
            </a:r>
          </a:p>
          <a:p>
            <a:pPr algn="l">
              <a:spcAft>
                <a:spcPts val="300"/>
              </a:spcAft>
            </a:pPr>
            <a:r>
              <a:rPr sz="850" b="0" i="0">
                <a:solidFill>
                  <a:srgbClr val="1E293B"/>
                </a:solidFill>
                <a:latin typeface="Calibri"/>
              </a:rPr>
              <a:t>✓  a</a:t>
            </a:r>
          </a:p>
          <a:p>
            <a:pPr algn="l">
              <a:spcAft>
                <a:spcPts val="300"/>
              </a:spcAft>
            </a:pPr>
            <a:r>
              <a:rPr sz="850" b="0" i="0">
                <a:solidFill>
                  <a:srgbClr val="1E293B"/>
                </a:solidFill>
                <a:latin typeface="Calibri"/>
              </a:rPr>
              <a:t>✓  t</a:t>
            </a:r>
          </a:p>
          <a:p>
            <a:pPr algn="l">
              <a:spcAft>
                <a:spcPts val="300"/>
              </a:spcAft>
            </a:pPr>
            <a:r>
              <a:rPr sz="850" b="0" i="0">
                <a:solidFill>
                  <a:srgbClr val="1E293B"/>
                </a:solidFill>
                <a:latin typeface="Calibri"/>
              </a:rPr>
              <a:t>✓  a</a:t>
            </a:r>
          </a:p>
          <a:p>
            <a:pPr algn="l">
              <a:spcAft>
                <a:spcPts val="300"/>
              </a:spcAft>
            </a:pPr>
            <a:r>
              <a:rPr sz="850" b="0" i="0">
                <a:solidFill>
                  <a:srgbClr val="1E293B"/>
                </a:solidFill>
                <a:latin typeface="Calibri"/>
              </a:rPr>
              <a:t>✓  l</a:t>
            </a:r>
          </a:p>
          <a:p>
            <a:pPr algn="l">
              <a:spcAft>
                <a:spcPts val="300"/>
              </a:spcAft>
            </a:pPr>
            <a:r>
              <a:rPr sz="850" b="0" i="0">
                <a:solidFill>
                  <a:srgbClr val="1E293B"/>
                </a:solidFill>
                <a:latin typeface="Calibri"/>
              </a:rPr>
              <a:t>✓  o</a:t>
            </a:r>
          </a:p>
          <a:p>
            <a:pPr algn="l">
              <a:spcAft>
                <a:spcPts val="300"/>
              </a:spcAft>
            </a:pPr>
            <a:r>
              <a:rPr sz="850" b="0" i="0">
                <a:solidFill>
                  <a:srgbClr val="1E293B"/>
                </a:solidFill>
                <a:latin typeface="Calibri"/>
              </a:rPr>
              <a:t>✓  g</a:t>
            </a:r>
          </a:p>
          <a:p>
            <a:pPr algn="l">
              <a:spcAft>
                <a:spcPts val="300"/>
              </a:spcAft>
            </a:pPr>
            <a:r>
              <a:rPr sz="850" b="0" i="0">
                <a:solidFill>
                  <a:srgbClr val="1E293B"/>
                </a:solidFill>
                <a:latin typeface="Calibri"/>
              </a:rPr>
              <a:t>✓  ,</a:t>
            </a:r>
          </a:p>
          <a:p>
            <a:pPr algn="l">
              <a:spcAft>
                <a:spcPts val="300"/>
              </a:spcAft>
            </a:pPr>
            <a:r>
              <a:rPr sz="850" b="0" i="0">
                <a:solidFill>
                  <a:srgbClr val="1E293B"/>
                </a:solidFill>
                <a:latin typeface="Calibri"/>
              </a:rPr>
              <a:t>✓   </a:t>
            </a:r>
          </a:p>
          <a:p>
            <a:pPr algn="l">
              <a:spcAft>
                <a:spcPts val="300"/>
              </a:spcAft>
            </a:pPr>
            <a:r>
              <a:rPr sz="850" b="0" i="0">
                <a:solidFill>
                  <a:srgbClr val="1E293B"/>
                </a:solidFill>
                <a:latin typeface="Calibri"/>
              </a:rPr>
              <a:t>✓  l</a:t>
            </a:r>
          </a:p>
          <a:p>
            <a:pPr algn="l">
              <a:spcAft>
                <a:spcPts val="300"/>
              </a:spcAft>
            </a:pPr>
            <a:r>
              <a:rPr sz="850" b="0" i="0">
                <a:solidFill>
                  <a:srgbClr val="1E293B"/>
                </a:solidFill>
                <a:latin typeface="Calibri"/>
              </a:rPr>
              <a:t>✓  i</a:t>
            </a:r>
          </a:p>
          <a:p>
            <a:pPr algn="l">
              <a:spcAft>
                <a:spcPts val="300"/>
              </a:spcAft>
            </a:pPr>
            <a:r>
              <a:rPr sz="850" b="0" i="0">
                <a:solidFill>
                  <a:srgbClr val="1E293B"/>
                </a:solidFill>
                <a:latin typeface="Calibri"/>
              </a:rPr>
              <a:t>✓  c</a:t>
            </a:r>
          </a:p>
          <a:p>
            <a:pPr algn="l">
              <a:spcAft>
                <a:spcPts val="300"/>
              </a:spcAft>
            </a:pPr>
            <a:r>
              <a:rPr sz="850" b="0" i="0">
                <a:solidFill>
                  <a:srgbClr val="1E293B"/>
                </a:solidFill>
                <a:latin typeface="Calibri"/>
              </a:rPr>
              <a:t>✓  e</a:t>
            </a:r>
          </a:p>
          <a:p>
            <a:pPr algn="l">
              <a:spcAft>
                <a:spcPts val="300"/>
              </a:spcAft>
            </a:pPr>
            <a:r>
              <a:rPr sz="850" b="0" i="0">
                <a:solidFill>
                  <a:srgbClr val="1E293B"/>
                </a:solidFill>
                <a:latin typeface="Calibri"/>
              </a:rPr>
              <a:t>✓  n</a:t>
            </a:r>
          </a:p>
          <a:p>
            <a:pPr algn="l">
              <a:spcAft>
                <a:spcPts val="300"/>
              </a:spcAft>
            </a:pPr>
            <a:r>
              <a:rPr sz="850" b="0" i="0">
                <a:solidFill>
                  <a:srgbClr val="1E293B"/>
                </a:solidFill>
                <a:latin typeface="Calibri"/>
              </a:rPr>
              <a:t>✓  s</a:t>
            </a:r>
          </a:p>
          <a:p>
            <a:pPr algn="l">
              <a:spcAft>
                <a:spcPts val="300"/>
              </a:spcAft>
            </a:pPr>
            <a:r>
              <a:rPr sz="850" b="0" i="0">
                <a:solidFill>
                  <a:srgbClr val="1E293B"/>
                </a:solidFill>
                <a:latin typeface="Calibri"/>
              </a:rPr>
              <a:t>✓  e</a:t>
            </a:r>
          </a:p>
          <a:p>
            <a:pPr algn="l">
              <a:spcAft>
                <a:spcPts val="300"/>
              </a:spcAft>
            </a:pPr>
            <a:r>
              <a:rPr sz="850" b="0" i="0">
                <a:solidFill>
                  <a:srgbClr val="1E293B"/>
                </a:solidFill>
                <a:latin typeface="Calibri"/>
              </a:rPr>
              <a:t>✓   </a:t>
            </a:r>
          </a:p>
          <a:p>
            <a:pPr algn="l">
              <a:spcAft>
                <a:spcPts val="300"/>
              </a:spcAft>
            </a:pPr>
            <a:r>
              <a:rPr sz="850" b="0" i="0">
                <a:solidFill>
                  <a:srgbClr val="1E293B"/>
                </a:solidFill>
                <a:latin typeface="Calibri"/>
              </a:rPr>
              <a:t>✓  e</a:t>
            </a:r>
          </a:p>
          <a:p>
            <a:pPr algn="l">
              <a:spcAft>
                <a:spcPts val="300"/>
              </a:spcAft>
            </a:pPr>
            <a:r>
              <a:rPr sz="850" b="0" i="0">
                <a:solidFill>
                  <a:srgbClr val="1E293B"/>
                </a:solidFill>
                <a:latin typeface="Calibri"/>
              </a:rPr>
              <a:t>✓  n</a:t>
            </a:r>
          </a:p>
          <a:p>
            <a:pPr algn="l">
              <a:spcAft>
                <a:spcPts val="300"/>
              </a:spcAft>
            </a:pPr>
            <a:r>
              <a:rPr sz="850" b="0" i="0">
                <a:solidFill>
                  <a:srgbClr val="1E293B"/>
                </a:solidFill>
                <a:latin typeface="Calibri"/>
              </a:rPr>
              <a:t>✓  t</a:t>
            </a:r>
          </a:p>
          <a:p>
            <a:pPr algn="l">
              <a:spcAft>
                <a:spcPts val="300"/>
              </a:spcAft>
            </a:pPr>
            <a:r>
              <a:rPr sz="850" b="0" i="0">
                <a:solidFill>
                  <a:srgbClr val="1E293B"/>
                </a:solidFill>
                <a:latin typeface="Calibri"/>
              </a:rPr>
              <a:t>✓  i</a:t>
            </a:r>
          </a:p>
          <a:p>
            <a:pPr algn="l">
              <a:spcAft>
                <a:spcPts val="300"/>
              </a:spcAft>
            </a:pPr>
            <a:r>
              <a:rPr sz="850" b="0" i="0">
                <a:solidFill>
                  <a:srgbClr val="1E293B"/>
                </a:solidFill>
                <a:latin typeface="Calibri"/>
              </a:rPr>
              <a:t>✓  t</a:t>
            </a:r>
          </a:p>
          <a:p>
            <a:pPr algn="l">
              <a:spcAft>
                <a:spcPts val="300"/>
              </a:spcAft>
            </a:pPr>
            <a:r>
              <a:rPr sz="850" b="0" i="0">
                <a:solidFill>
                  <a:srgbClr val="1E293B"/>
                </a:solidFill>
                <a:latin typeface="Calibri"/>
              </a:rPr>
              <a:t>✓  l</a:t>
            </a:r>
          </a:p>
          <a:p>
            <a:pPr algn="l">
              <a:spcAft>
                <a:spcPts val="300"/>
              </a:spcAft>
            </a:pPr>
            <a:r>
              <a:rPr sz="850" b="0" i="0">
                <a:solidFill>
                  <a:srgbClr val="1E293B"/>
                </a:solidFill>
                <a:latin typeface="Calibri"/>
              </a:rPr>
              <a:t>✓  e</a:t>
            </a:r>
          </a:p>
          <a:p>
            <a:pPr algn="l">
              <a:spcAft>
                <a:spcPts val="300"/>
              </a:spcAft>
            </a:pPr>
            <a:r>
              <a:rPr sz="850" b="0" i="0">
                <a:solidFill>
                  <a:srgbClr val="1E293B"/>
                </a:solidFill>
                <a:latin typeface="Calibri"/>
              </a:rPr>
              <a:t>✓  m</a:t>
            </a:r>
          </a:p>
          <a:p>
            <a:pPr algn="l">
              <a:spcAft>
                <a:spcPts val="300"/>
              </a:spcAft>
            </a:pPr>
            <a:r>
              <a:rPr sz="850" b="0" i="0">
                <a:solidFill>
                  <a:srgbClr val="1E293B"/>
                </a:solidFill>
                <a:latin typeface="Calibri"/>
              </a:rPr>
              <a:t>✓  e</a:t>
            </a:r>
          </a:p>
          <a:p>
            <a:pPr algn="l">
              <a:spcAft>
                <a:spcPts val="300"/>
              </a:spcAft>
            </a:pPr>
            <a:r>
              <a:rPr sz="850" b="0" i="0">
                <a:solidFill>
                  <a:srgbClr val="1E293B"/>
                </a:solidFill>
                <a:latin typeface="Calibri"/>
              </a:rPr>
              <a:t>✓  n</a:t>
            </a:r>
          </a:p>
          <a:p>
            <a:pPr algn="l">
              <a:spcAft>
                <a:spcPts val="300"/>
              </a:spcAft>
            </a:pPr>
            <a:r>
              <a:rPr sz="850" b="0" i="0">
                <a:solidFill>
                  <a:srgbClr val="1E293B"/>
                </a:solidFill>
                <a:latin typeface="Calibri"/>
              </a:rPr>
              <a:t>✓  t</a:t>
            </a:r>
          </a:p>
          <a:p>
            <a:pPr algn="l">
              <a:spcAft>
                <a:spcPts val="300"/>
              </a:spcAft>
            </a:pPr>
            <a:r>
              <a:rPr sz="850" b="0" i="0">
                <a:solidFill>
                  <a:srgbClr val="1E293B"/>
                </a:solidFill>
                <a:latin typeface="Calibri"/>
              </a:rPr>
              <a:t>✓   </a:t>
            </a:r>
          </a:p>
          <a:p>
            <a:pPr algn="l">
              <a:spcAft>
                <a:spcPts val="300"/>
              </a:spcAft>
            </a:pPr>
            <a:r>
              <a:rPr sz="850" b="0" i="0">
                <a:solidFill>
                  <a:srgbClr val="1E293B"/>
                </a:solidFill>
                <a:latin typeface="Calibri"/>
              </a:rPr>
              <a:t>✓  r</a:t>
            </a:r>
          </a:p>
          <a:p>
            <a:pPr algn="l">
              <a:spcAft>
                <a:spcPts val="300"/>
              </a:spcAft>
            </a:pPr>
            <a:r>
              <a:rPr sz="850" b="0" i="0">
                <a:solidFill>
                  <a:srgbClr val="1E293B"/>
                </a:solidFill>
                <a:latin typeface="Calibri"/>
              </a:rPr>
              <a:t>✓  e</a:t>
            </a:r>
          </a:p>
          <a:p>
            <a:pPr algn="l">
              <a:spcAft>
                <a:spcPts val="300"/>
              </a:spcAft>
            </a:pPr>
            <a:r>
              <a:rPr sz="850" b="0" i="0">
                <a:solidFill>
                  <a:srgbClr val="1E293B"/>
                </a:solidFill>
                <a:latin typeface="Calibri"/>
              </a:rPr>
              <a:t>✓  c</a:t>
            </a:r>
          </a:p>
          <a:p>
            <a:pPr algn="l">
              <a:spcAft>
                <a:spcPts val="300"/>
              </a:spcAft>
            </a:pPr>
            <a:r>
              <a:rPr sz="850" b="0" i="0">
                <a:solidFill>
                  <a:srgbClr val="1E293B"/>
                </a:solidFill>
                <a:latin typeface="Calibri"/>
              </a:rPr>
              <a:t>✓  o</a:t>
            </a:r>
          </a:p>
          <a:p>
            <a:pPr algn="l">
              <a:spcAft>
                <a:spcPts val="300"/>
              </a:spcAft>
            </a:pPr>
            <a:r>
              <a:rPr sz="850" b="0" i="0">
                <a:solidFill>
                  <a:srgbClr val="1E293B"/>
                </a:solidFill>
                <a:latin typeface="Calibri"/>
              </a:rPr>
              <a:t>✓  r</a:t>
            </a:r>
          </a:p>
          <a:p>
            <a:pPr algn="l">
              <a:spcAft>
                <a:spcPts val="300"/>
              </a:spcAft>
            </a:pPr>
            <a:r>
              <a:rPr sz="850" b="0" i="0">
                <a:solidFill>
                  <a:srgbClr val="1E293B"/>
                </a:solidFill>
                <a:latin typeface="Calibri"/>
              </a:rPr>
              <a:t>✓  d</a:t>
            </a:r>
          </a:p>
          <a:p>
            <a:pPr algn="l">
              <a:spcAft>
                <a:spcPts val="300"/>
              </a:spcAft>
            </a:pPr>
            <a:r>
              <a:rPr sz="850" b="0" i="0">
                <a:solidFill>
                  <a:srgbClr val="1E293B"/>
                </a:solidFill>
                <a:latin typeface="Calibri"/>
              </a:rPr>
              <a:t>✓  s</a:t>
            </a:r>
          </a:p>
          <a:p>
            <a:pPr algn="l">
              <a:spcAft>
                <a:spcPts val="300"/>
              </a:spcAft>
            </a:pPr>
            <a:r>
              <a:rPr sz="850" b="0" i="0">
                <a:solidFill>
                  <a:srgbClr val="1E293B"/>
                </a:solidFill>
                <a:latin typeface="Calibri"/>
              </a:rPr>
              <a:t>✓  ,</a:t>
            </a:r>
          </a:p>
          <a:p>
            <a:pPr algn="l">
              <a:spcAft>
                <a:spcPts val="300"/>
              </a:spcAft>
            </a:pPr>
            <a:r>
              <a:rPr sz="850" b="0" i="0">
                <a:solidFill>
                  <a:srgbClr val="1E293B"/>
                </a:solidFill>
                <a:latin typeface="Calibri"/>
              </a:rPr>
              <a:t>✓   </a:t>
            </a:r>
          </a:p>
          <a:p>
            <a:pPr algn="l">
              <a:spcAft>
                <a:spcPts val="300"/>
              </a:spcAft>
            </a:pPr>
            <a:r>
              <a:rPr sz="850" b="0" i="0">
                <a:solidFill>
                  <a:srgbClr val="1E293B"/>
                </a:solidFill>
                <a:latin typeface="Calibri"/>
              </a:rPr>
              <a:t>✓  r</a:t>
            </a:r>
          </a:p>
          <a:p>
            <a:pPr algn="l">
              <a:spcAft>
                <a:spcPts val="300"/>
              </a:spcAft>
            </a:pPr>
            <a:r>
              <a:rPr sz="850" b="0" i="0">
                <a:solidFill>
                  <a:srgbClr val="1E293B"/>
                </a:solidFill>
                <a:latin typeface="Calibri"/>
              </a:rPr>
              <a:t>✓  e</a:t>
            </a:r>
          </a:p>
          <a:p>
            <a:pPr algn="l">
              <a:spcAft>
                <a:spcPts val="300"/>
              </a:spcAft>
            </a:pPr>
            <a:r>
              <a:rPr sz="850" b="0" i="0">
                <a:solidFill>
                  <a:srgbClr val="1E293B"/>
                </a:solidFill>
                <a:latin typeface="Calibri"/>
              </a:rPr>
              <a:t>✓  c</a:t>
            </a:r>
          </a:p>
          <a:p>
            <a:pPr algn="l">
              <a:spcAft>
                <a:spcPts val="300"/>
              </a:spcAft>
            </a:pPr>
            <a:r>
              <a:rPr sz="850" b="0" i="0">
                <a:solidFill>
                  <a:srgbClr val="1E293B"/>
                </a:solidFill>
                <a:latin typeface="Calibri"/>
              </a:rPr>
              <a:t>✓  o</a:t>
            </a:r>
          </a:p>
          <a:p>
            <a:pPr algn="l">
              <a:spcAft>
                <a:spcPts val="300"/>
              </a:spcAft>
            </a:pPr>
            <a:r>
              <a:rPr sz="850" b="0" i="0">
                <a:solidFill>
                  <a:srgbClr val="1E293B"/>
                </a:solidFill>
                <a:latin typeface="Calibri"/>
              </a:rPr>
              <a:t>✓  n</a:t>
            </a:r>
          </a:p>
          <a:p>
            <a:pPr algn="l">
              <a:spcAft>
                <a:spcPts val="300"/>
              </a:spcAft>
            </a:pPr>
            <a:r>
              <a:rPr sz="850" b="0" i="0">
                <a:solidFill>
                  <a:srgbClr val="1E293B"/>
                </a:solidFill>
                <a:latin typeface="Calibri"/>
              </a:rPr>
              <a:t>✓  c</a:t>
            </a:r>
          </a:p>
          <a:p>
            <a:pPr algn="l">
              <a:spcAft>
                <a:spcPts val="300"/>
              </a:spcAft>
            </a:pPr>
            <a:r>
              <a:rPr sz="850" b="0" i="0">
                <a:solidFill>
                  <a:srgbClr val="1E293B"/>
                </a:solidFill>
                <a:latin typeface="Calibri"/>
              </a:rPr>
              <a:t>✓  i</a:t>
            </a:r>
          </a:p>
          <a:p>
            <a:pPr algn="l">
              <a:spcAft>
                <a:spcPts val="300"/>
              </a:spcAft>
            </a:pPr>
            <a:r>
              <a:rPr sz="850" b="0" i="0">
                <a:solidFill>
                  <a:srgbClr val="1E293B"/>
                </a:solidFill>
                <a:latin typeface="Calibri"/>
              </a:rPr>
              <a:t>✓  l</a:t>
            </a:r>
          </a:p>
          <a:p>
            <a:pPr algn="l">
              <a:spcAft>
                <a:spcPts val="300"/>
              </a:spcAft>
            </a:pPr>
            <a:r>
              <a:rPr sz="850" b="0" i="0">
                <a:solidFill>
                  <a:srgbClr val="1E293B"/>
                </a:solidFill>
                <a:latin typeface="Calibri"/>
              </a:rPr>
              <a:t>✓  i</a:t>
            </a:r>
          </a:p>
          <a:p>
            <a:pPr algn="l">
              <a:spcAft>
                <a:spcPts val="300"/>
              </a:spcAft>
            </a:pPr>
            <a:r>
              <a:rPr sz="850" b="0" i="0">
                <a:solidFill>
                  <a:srgbClr val="1E293B"/>
                </a:solidFill>
                <a:latin typeface="Calibri"/>
              </a:rPr>
              <a:t>✓  a</a:t>
            </a:r>
          </a:p>
          <a:p>
            <a:pPr algn="l">
              <a:spcAft>
                <a:spcPts val="300"/>
              </a:spcAft>
            </a:pPr>
            <a:r>
              <a:rPr sz="850" b="0" i="0">
                <a:solidFill>
                  <a:srgbClr val="1E293B"/>
                </a:solidFill>
                <a:latin typeface="Calibri"/>
              </a:rPr>
              <a:t>✓  t</a:t>
            </a:r>
          </a:p>
          <a:p>
            <a:pPr algn="l">
              <a:spcAft>
                <a:spcPts val="300"/>
              </a:spcAft>
            </a:pPr>
            <a:r>
              <a:rPr sz="850" b="0" i="0">
                <a:solidFill>
                  <a:srgbClr val="1E293B"/>
                </a:solidFill>
                <a:latin typeface="Calibri"/>
              </a:rPr>
              <a:t>✓  i</a:t>
            </a:r>
          </a:p>
          <a:p>
            <a:pPr algn="l">
              <a:spcAft>
                <a:spcPts val="300"/>
              </a:spcAft>
            </a:pPr>
            <a:r>
              <a:rPr sz="850" b="0" i="0">
                <a:solidFill>
                  <a:srgbClr val="1E293B"/>
                </a:solidFill>
                <a:latin typeface="Calibri"/>
              </a:rPr>
              <a:t>✓  o</a:t>
            </a:r>
          </a:p>
          <a:p>
            <a:pPr algn="l">
              <a:spcAft>
                <a:spcPts val="300"/>
              </a:spcAft>
            </a:pPr>
            <a:r>
              <a:rPr sz="850" b="0" i="0">
                <a:solidFill>
                  <a:srgbClr val="1E293B"/>
                </a:solidFill>
                <a:latin typeface="Calibri"/>
              </a:rPr>
              <a:t>✓  n</a:t>
            </a:r>
          </a:p>
          <a:p>
            <a:pPr algn="l">
              <a:spcAft>
                <a:spcPts val="300"/>
              </a:spcAft>
            </a:pPr>
            <a:r>
              <a:rPr sz="850" b="0" i="0">
                <a:solidFill>
                  <a:srgbClr val="1E293B"/>
                </a:solidFill>
                <a:latin typeface="Calibri"/>
              </a:rPr>
              <a:t>✓   </a:t>
            </a:r>
          </a:p>
          <a:p>
            <a:pPr algn="l">
              <a:spcAft>
                <a:spcPts val="300"/>
              </a:spcAft>
            </a:pPr>
            <a:r>
              <a:rPr sz="850" b="0" i="0">
                <a:solidFill>
                  <a:srgbClr val="1E293B"/>
                </a:solidFill>
                <a:latin typeface="Calibri"/>
              </a:rPr>
              <a:t>✓  s</a:t>
            </a:r>
          </a:p>
          <a:p>
            <a:pPr algn="l">
              <a:spcAft>
                <a:spcPts val="300"/>
              </a:spcAft>
            </a:pPr>
            <a:r>
              <a:rPr sz="850" b="0" i="0">
                <a:solidFill>
                  <a:srgbClr val="1E293B"/>
                </a:solidFill>
                <a:latin typeface="Calibri"/>
              </a:rPr>
              <a:t>✓  c</a:t>
            </a:r>
          </a:p>
          <a:p>
            <a:pPr algn="l">
              <a:spcAft>
                <a:spcPts val="300"/>
              </a:spcAft>
            </a:pPr>
            <a:r>
              <a:rPr sz="850" b="0" i="0">
                <a:solidFill>
                  <a:srgbClr val="1E293B"/>
                </a:solidFill>
                <a:latin typeface="Calibri"/>
              </a:rPr>
              <a:t>✓  h</a:t>
            </a:r>
          </a:p>
          <a:p>
            <a:pPr algn="l">
              <a:spcAft>
                <a:spcPts val="300"/>
              </a:spcAft>
            </a:pPr>
            <a:r>
              <a:rPr sz="850" b="0" i="0">
                <a:solidFill>
                  <a:srgbClr val="1E293B"/>
                </a:solidFill>
                <a:latin typeface="Calibri"/>
              </a:rPr>
              <a:t>✓  e</a:t>
            </a:r>
          </a:p>
          <a:p>
            <a:pPr algn="l">
              <a:spcAft>
                <a:spcPts val="300"/>
              </a:spcAft>
            </a:pPr>
            <a:r>
              <a:rPr sz="850" b="0" i="0">
                <a:solidFill>
                  <a:srgbClr val="1E293B"/>
                </a:solidFill>
                <a:latin typeface="Calibri"/>
              </a:rPr>
              <a:t>✓  d</a:t>
            </a:r>
          </a:p>
          <a:p>
            <a:pPr algn="l">
              <a:spcAft>
                <a:spcPts val="300"/>
              </a:spcAft>
            </a:pPr>
            <a:r>
              <a:rPr sz="850" b="0" i="0">
                <a:solidFill>
                  <a:srgbClr val="1E293B"/>
                </a:solidFill>
                <a:latin typeface="Calibri"/>
              </a:rPr>
              <a:t>✓  u</a:t>
            </a:r>
          </a:p>
          <a:p>
            <a:pPr algn="l">
              <a:spcAft>
                <a:spcPts val="300"/>
              </a:spcAft>
            </a:pPr>
            <a:r>
              <a:rPr sz="850" b="0" i="0">
                <a:solidFill>
                  <a:srgbClr val="1E293B"/>
                </a:solidFill>
                <a:latin typeface="Calibri"/>
              </a:rPr>
              <a:t>✓  l</a:t>
            </a:r>
          </a:p>
          <a:p>
            <a:pPr algn="l">
              <a:spcAft>
                <a:spcPts val="300"/>
              </a:spcAft>
            </a:pPr>
            <a:r>
              <a:rPr sz="850" b="0" i="0">
                <a:solidFill>
                  <a:srgbClr val="1E293B"/>
                </a:solidFill>
                <a:latin typeface="Calibri"/>
              </a:rPr>
              <a:t>✓  e</a:t>
            </a:r>
          </a:p>
          <a:p>
            <a:pPr algn="l">
              <a:spcAft>
                <a:spcPts val="300"/>
              </a:spcAft>
            </a:pPr>
            <a:r>
              <a:rPr sz="850" b="0" i="0">
                <a:solidFill>
                  <a:srgbClr val="1E293B"/>
                </a:solidFill>
                <a:latin typeface="Calibri"/>
              </a:rPr>
              <a:t>✓  ,</a:t>
            </a:r>
          </a:p>
          <a:p>
            <a:pPr algn="l">
              <a:spcAft>
                <a:spcPts val="300"/>
              </a:spcAft>
            </a:pPr>
            <a:r>
              <a:rPr sz="850" b="0" i="0">
                <a:solidFill>
                  <a:srgbClr val="1E293B"/>
                </a:solidFill>
                <a:latin typeface="Calibri"/>
              </a:rPr>
              <a:t>✓   </a:t>
            </a:r>
          </a:p>
          <a:p>
            <a:pPr algn="l">
              <a:spcAft>
                <a:spcPts val="300"/>
              </a:spcAft>
            </a:pPr>
            <a:r>
              <a:rPr sz="850" b="0" i="0">
                <a:solidFill>
                  <a:srgbClr val="1E293B"/>
                </a:solidFill>
                <a:latin typeface="Calibri"/>
              </a:rPr>
              <a:t>✓  r</a:t>
            </a:r>
          </a:p>
          <a:p>
            <a:pPr algn="l">
              <a:spcAft>
                <a:spcPts val="300"/>
              </a:spcAft>
            </a:pPr>
            <a:r>
              <a:rPr sz="850" b="0" i="0">
                <a:solidFill>
                  <a:srgbClr val="1E293B"/>
                </a:solidFill>
                <a:latin typeface="Calibri"/>
              </a:rPr>
              <a:t>✓  e</a:t>
            </a:r>
          </a:p>
          <a:p>
            <a:pPr algn="l">
              <a:spcAft>
                <a:spcPts val="300"/>
              </a:spcAft>
            </a:pPr>
            <a:r>
              <a:rPr sz="850" b="0" i="0">
                <a:solidFill>
                  <a:srgbClr val="1E293B"/>
                </a:solidFill>
                <a:latin typeface="Calibri"/>
              </a:rPr>
              <a:t>✓  c</a:t>
            </a:r>
          </a:p>
          <a:p>
            <a:pPr algn="l">
              <a:spcAft>
                <a:spcPts val="300"/>
              </a:spcAft>
            </a:pPr>
            <a:r>
              <a:rPr sz="850" b="0" i="0">
                <a:solidFill>
                  <a:srgbClr val="1E293B"/>
                </a:solidFill>
                <a:latin typeface="Calibri"/>
              </a:rPr>
              <a:t>✓  l</a:t>
            </a:r>
          </a:p>
          <a:p>
            <a:pPr algn="l">
              <a:spcAft>
                <a:spcPts val="300"/>
              </a:spcAft>
            </a:pPr>
            <a:r>
              <a:rPr sz="850" b="0" i="0">
                <a:solidFill>
                  <a:srgbClr val="1E293B"/>
                </a:solidFill>
                <a:latin typeface="Calibri"/>
              </a:rPr>
              <a:t>✓  a</a:t>
            </a:r>
          </a:p>
          <a:p>
            <a:pPr algn="l">
              <a:spcAft>
                <a:spcPts val="300"/>
              </a:spcAft>
            </a:pPr>
            <a:r>
              <a:rPr sz="850" b="0" i="0">
                <a:solidFill>
                  <a:srgbClr val="1E293B"/>
                </a:solidFill>
                <a:latin typeface="Calibri"/>
              </a:rPr>
              <a:t>✓  m</a:t>
            </a:r>
          </a:p>
          <a:p>
            <a:pPr algn="l">
              <a:spcAft>
                <a:spcPts val="300"/>
              </a:spcAft>
            </a:pPr>
            <a:r>
              <a:rPr sz="850" b="0" i="0">
                <a:solidFill>
                  <a:srgbClr val="1E293B"/>
                </a:solidFill>
                <a:latin typeface="Calibri"/>
              </a:rPr>
              <a:t>✓  a</a:t>
            </a:r>
          </a:p>
          <a:p>
            <a:pPr algn="l">
              <a:spcAft>
                <a:spcPts val="300"/>
              </a:spcAft>
            </a:pPr>
            <a:r>
              <a:rPr sz="850" b="0" i="0">
                <a:solidFill>
                  <a:srgbClr val="1E293B"/>
                </a:solidFill>
                <a:latin typeface="Calibri"/>
              </a:rPr>
              <a:t>✓  t</a:t>
            </a:r>
          </a:p>
          <a:p>
            <a:pPr algn="l">
              <a:spcAft>
                <a:spcPts val="300"/>
              </a:spcAft>
            </a:pPr>
            <a:r>
              <a:rPr sz="850" b="0" i="0">
                <a:solidFill>
                  <a:srgbClr val="1E293B"/>
                </a:solidFill>
                <a:latin typeface="Calibri"/>
              </a:rPr>
              <a:t>✓  i</a:t>
            </a:r>
          </a:p>
          <a:p>
            <a:pPr algn="l">
              <a:spcAft>
                <a:spcPts val="300"/>
              </a:spcAft>
            </a:pPr>
            <a:r>
              <a:rPr sz="850" b="0" i="0">
                <a:solidFill>
                  <a:srgbClr val="1E293B"/>
                </a:solidFill>
                <a:latin typeface="Calibri"/>
              </a:rPr>
              <a:t>✓  o</a:t>
            </a:r>
          </a:p>
          <a:p>
            <a:pPr algn="l">
              <a:spcAft>
                <a:spcPts val="300"/>
              </a:spcAft>
            </a:pPr>
            <a:r>
              <a:rPr sz="850" b="0" i="0">
                <a:solidFill>
                  <a:srgbClr val="1E293B"/>
                </a:solidFill>
                <a:latin typeface="Calibri"/>
              </a:rPr>
              <a:t>✓  n</a:t>
            </a:r>
          </a:p>
          <a:p>
            <a:pPr algn="l">
              <a:spcAft>
                <a:spcPts val="300"/>
              </a:spcAft>
            </a:pPr>
            <a:r>
              <a:rPr sz="850" b="0" i="0">
                <a:solidFill>
                  <a:srgbClr val="1E293B"/>
                </a:solidFill>
                <a:latin typeface="Calibri"/>
              </a:rPr>
              <a:t>✓   </a:t>
            </a:r>
          </a:p>
          <a:p>
            <a:pPr algn="l">
              <a:spcAft>
                <a:spcPts val="300"/>
              </a:spcAft>
            </a:pPr>
            <a:r>
              <a:rPr sz="850" b="0" i="0">
                <a:solidFill>
                  <a:srgbClr val="1E293B"/>
                </a:solidFill>
                <a:latin typeface="Calibri"/>
              </a:rPr>
              <a:t>✓  w</a:t>
            </a:r>
          </a:p>
          <a:p>
            <a:pPr algn="l">
              <a:spcAft>
                <a:spcPts val="300"/>
              </a:spcAft>
            </a:pPr>
            <a:r>
              <a:rPr sz="850" b="0" i="0">
                <a:solidFill>
                  <a:srgbClr val="1E293B"/>
                </a:solidFill>
                <a:latin typeface="Calibri"/>
              </a:rPr>
              <a:t>✓  o</a:t>
            </a:r>
          </a:p>
          <a:p>
            <a:pPr algn="l">
              <a:spcAft>
                <a:spcPts val="300"/>
              </a:spcAft>
            </a:pPr>
            <a:r>
              <a:rPr sz="850" b="0" i="0">
                <a:solidFill>
                  <a:srgbClr val="1E293B"/>
                </a:solidFill>
                <a:latin typeface="Calibri"/>
              </a:rPr>
              <a:t>✓  r</a:t>
            </a:r>
          </a:p>
          <a:p>
            <a:pPr algn="l">
              <a:spcAft>
                <a:spcPts val="300"/>
              </a:spcAft>
            </a:pPr>
            <a:r>
              <a:rPr sz="850" b="0" i="0">
                <a:solidFill>
                  <a:srgbClr val="1E293B"/>
                </a:solidFill>
                <a:latin typeface="Calibri"/>
              </a:rPr>
              <a:t>✓  k</a:t>
            </a:r>
          </a:p>
          <a:p>
            <a:pPr algn="l">
              <a:spcAft>
                <a:spcPts val="300"/>
              </a:spcAft>
            </a:pPr>
            <a:r>
              <a:rPr sz="850" b="0" i="0">
                <a:solidFill>
                  <a:srgbClr val="1E293B"/>
                </a:solidFill>
                <a:latin typeface="Calibri"/>
              </a:rPr>
              <a:t>✓  f</a:t>
            </a:r>
          </a:p>
          <a:p>
            <a:pPr algn="l">
              <a:spcAft>
                <a:spcPts val="300"/>
              </a:spcAft>
            </a:pPr>
            <a:r>
              <a:rPr sz="850" b="0" i="0">
                <a:solidFill>
                  <a:srgbClr val="1E293B"/>
                </a:solidFill>
                <a:latin typeface="Calibri"/>
              </a:rPr>
              <a:t>✓  l</a:t>
            </a:r>
          </a:p>
          <a:p>
            <a:pPr algn="l">
              <a:spcAft>
                <a:spcPts val="300"/>
              </a:spcAft>
            </a:pPr>
            <a:r>
              <a:rPr sz="850" b="0" i="0">
                <a:solidFill>
                  <a:srgbClr val="1E293B"/>
                </a:solidFill>
                <a:latin typeface="Calibri"/>
              </a:rPr>
              <a:t>✓  o</a:t>
            </a:r>
          </a:p>
          <a:p>
            <a:pPr algn="l">
              <a:spcAft>
                <a:spcPts val="300"/>
              </a:spcAft>
            </a:pPr>
            <a:r>
              <a:rPr sz="850" b="0" i="0">
                <a:solidFill>
                  <a:srgbClr val="1E293B"/>
                </a:solidFill>
                <a:latin typeface="Calibri"/>
              </a:rPr>
              <a:t>✓  w</a:t>
            </a:r>
          </a:p>
          <a:p>
            <a:pPr algn="l">
              <a:spcAft>
                <a:spcPts val="300"/>
              </a:spcAft>
            </a:pPr>
            <a:r>
              <a:rPr sz="850" b="0" i="0">
                <a:solidFill>
                  <a:srgbClr val="1E293B"/>
                </a:solidFill>
                <a:latin typeface="Calibri"/>
              </a:rPr>
              <a:t>✓  ,</a:t>
            </a:r>
          </a:p>
          <a:p>
            <a:pPr algn="l">
              <a:spcAft>
                <a:spcPts val="300"/>
              </a:spcAft>
            </a:pPr>
            <a:r>
              <a:rPr sz="850" b="0" i="0">
                <a:solidFill>
                  <a:srgbClr val="1E293B"/>
                </a:solidFill>
                <a:latin typeface="Calibri"/>
              </a:rPr>
              <a:t>✓   </a:t>
            </a:r>
          </a:p>
          <a:p>
            <a:pPr algn="l">
              <a:spcAft>
                <a:spcPts val="300"/>
              </a:spcAft>
            </a:pPr>
            <a:r>
              <a:rPr sz="850" b="0" i="0">
                <a:solidFill>
                  <a:srgbClr val="1E293B"/>
                </a:solidFill>
                <a:latin typeface="Calibri"/>
              </a:rPr>
              <a:t>✓  s</a:t>
            </a:r>
          </a:p>
          <a:p>
            <a:pPr algn="l">
              <a:spcAft>
                <a:spcPts val="300"/>
              </a:spcAft>
            </a:pPr>
            <a:r>
              <a:rPr sz="850" b="0" i="0">
                <a:solidFill>
                  <a:srgbClr val="1E293B"/>
                </a:solidFill>
                <a:latin typeface="Calibri"/>
              </a:rPr>
              <a:t>✓  o</a:t>
            </a:r>
          </a:p>
          <a:p>
            <a:pPr algn="l">
              <a:spcAft>
                <a:spcPts val="300"/>
              </a:spcAft>
            </a:pPr>
            <a:r>
              <a:rPr sz="850" b="0" i="0">
                <a:solidFill>
                  <a:srgbClr val="1E293B"/>
                </a:solidFill>
                <a:latin typeface="Calibri"/>
              </a:rPr>
              <a:t>✓  f</a:t>
            </a:r>
          </a:p>
          <a:p>
            <a:pPr algn="l">
              <a:spcAft>
                <a:spcPts val="300"/>
              </a:spcAft>
            </a:pPr>
            <a:r>
              <a:rPr sz="850" b="0" i="0">
                <a:solidFill>
                  <a:srgbClr val="1E293B"/>
                </a:solidFill>
                <a:latin typeface="Calibri"/>
              </a:rPr>
              <a:t>✓  t</a:t>
            </a:r>
          </a:p>
          <a:p>
            <a:pPr algn="l">
              <a:spcAft>
                <a:spcPts val="300"/>
              </a:spcAft>
            </a:pPr>
            <a:r>
              <a:rPr sz="850" b="0" i="0">
                <a:solidFill>
                  <a:srgbClr val="1E293B"/>
                </a:solidFill>
                <a:latin typeface="Calibri"/>
              </a:rPr>
              <a:t>✓  w</a:t>
            </a:r>
          </a:p>
          <a:p>
            <a:pPr algn="l">
              <a:spcAft>
                <a:spcPts val="300"/>
              </a:spcAft>
            </a:pPr>
            <a:r>
              <a:rPr sz="850" b="0" i="0">
                <a:solidFill>
                  <a:srgbClr val="1E293B"/>
                </a:solidFill>
                <a:latin typeface="Calibri"/>
              </a:rPr>
              <a:t>✓  a</a:t>
            </a:r>
          </a:p>
          <a:p>
            <a:pPr algn="l">
              <a:spcAft>
                <a:spcPts val="300"/>
              </a:spcAft>
            </a:pPr>
            <a:r>
              <a:rPr sz="850" b="0" i="0">
                <a:solidFill>
                  <a:srgbClr val="1E293B"/>
                </a:solidFill>
                <a:latin typeface="Calibri"/>
              </a:rPr>
              <a:t>✓  r</a:t>
            </a:r>
          </a:p>
          <a:p>
            <a:pPr algn="l">
              <a:spcAft>
                <a:spcPts val="300"/>
              </a:spcAft>
            </a:pPr>
            <a:r>
              <a:rPr sz="850" b="0" i="0">
                <a:solidFill>
                  <a:srgbClr val="1E293B"/>
                </a:solidFill>
                <a:latin typeface="Calibri"/>
              </a:rPr>
              <a:t>✓  e</a:t>
            </a:r>
          </a:p>
          <a:p>
            <a:pPr algn="l">
              <a:spcAft>
                <a:spcPts val="300"/>
              </a:spcAft>
            </a:pPr>
            <a:r>
              <a:rPr sz="850" b="0" i="0">
                <a:solidFill>
                  <a:srgbClr val="1E293B"/>
                </a:solidFill>
                <a:latin typeface="Calibri"/>
              </a:rPr>
              <a:t>✓   </a:t>
            </a:r>
          </a:p>
          <a:p>
            <a:pPr algn="l">
              <a:spcAft>
                <a:spcPts val="300"/>
              </a:spcAft>
            </a:pPr>
            <a:r>
              <a:rPr sz="850" b="0" i="0">
                <a:solidFill>
                  <a:srgbClr val="1E293B"/>
                </a:solidFill>
                <a:latin typeface="Calibri"/>
              </a:rPr>
              <a:t>✓  r</a:t>
            </a:r>
          </a:p>
          <a:p>
            <a:pPr algn="l">
              <a:spcAft>
                <a:spcPts val="300"/>
              </a:spcAft>
            </a:pPr>
            <a:r>
              <a:rPr sz="850" b="0" i="0">
                <a:solidFill>
                  <a:srgbClr val="1E293B"/>
                </a:solidFill>
                <a:latin typeface="Calibri"/>
              </a:rPr>
              <a:t>✓  e</a:t>
            </a:r>
          </a:p>
          <a:p>
            <a:pPr algn="l">
              <a:spcAft>
                <a:spcPts val="300"/>
              </a:spcAft>
            </a:pPr>
            <a:r>
              <a:rPr sz="850" b="0" i="0">
                <a:solidFill>
                  <a:srgbClr val="1E293B"/>
                </a:solidFill>
                <a:latin typeface="Calibri"/>
              </a:rPr>
              <a:t>✓  q</a:t>
            </a:r>
          </a:p>
          <a:p>
            <a:pPr algn="l">
              <a:spcAft>
                <a:spcPts val="300"/>
              </a:spcAft>
            </a:pPr>
            <a:r>
              <a:rPr sz="850" b="0" i="0">
                <a:solidFill>
                  <a:srgbClr val="1E293B"/>
                </a:solidFill>
                <a:latin typeface="Calibri"/>
              </a:rPr>
              <a:t>✓  u</a:t>
            </a:r>
          </a:p>
          <a:p>
            <a:pPr algn="l">
              <a:spcAft>
                <a:spcPts val="300"/>
              </a:spcAft>
            </a:pPr>
            <a:r>
              <a:rPr sz="850" b="0" i="0">
                <a:solidFill>
                  <a:srgbClr val="1E293B"/>
                </a:solidFill>
                <a:latin typeface="Calibri"/>
              </a:rPr>
              <a:t>✓  e</a:t>
            </a:r>
          </a:p>
          <a:p>
            <a:pPr algn="l">
              <a:spcAft>
                <a:spcPts val="300"/>
              </a:spcAft>
            </a:pPr>
            <a:r>
              <a:rPr sz="850" b="0" i="0">
                <a:solidFill>
                  <a:srgbClr val="1E293B"/>
                </a:solidFill>
                <a:latin typeface="Calibri"/>
              </a:rPr>
              <a:t>✓  s</a:t>
            </a:r>
          </a:p>
          <a:p>
            <a:pPr algn="l">
              <a:spcAft>
                <a:spcPts val="300"/>
              </a:spcAft>
            </a:pPr>
            <a:r>
              <a:rPr sz="850" b="0" i="0">
                <a:solidFill>
                  <a:srgbClr val="1E293B"/>
                </a:solidFill>
                <a:latin typeface="Calibri"/>
              </a:rPr>
              <a:t>✓  t</a:t>
            </a:r>
          </a:p>
          <a:p>
            <a:pPr algn="l">
              <a:spcAft>
                <a:spcPts val="300"/>
              </a:spcAft>
            </a:pPr>
            <a:r>
              <a:rPr sz="850" b="0" i="0">
                <a:solidFill>
                  <a:srgbClr val="1E293B"/>
                </a:solidFill>
                <a:latin typeface="Calibri"/>
              </a:rPr>
              <a:t>✓   </a:t>
            </a:r>
          </a:p>
          <a:p>
            <a:pPr algn="l">
              <a:spcAft>
                <a:spcPts val="300"/>
              </a:spcAft>
            </a:pPr>
            <a:r>
              <a:rPr sz="850" b="0" i="0">
                <a:solidFill>
                  <a:srgbClr val="1E293B"/>
                </a:solidFill>
                <a:latin typeface="Calibri"/>
              </a:rPr>
              <a:t>✓  i</a:t>
            </a:r>
          </a:p>
          <a:p>
            <a:pPr algn="l">
              <a:spcAft>
                <a:spcPts val="300"/>
              </a:spcAft>
            </a:pPr>
            <a:r>
              <a:rPr sz="850" b="0" i="0">
                <a:solidFill>
                  <a:srgbClr val="1E293B"/>
                </a:solidFill>
                <a:latin typeface="Calibri"/>
              </a:rPr>
              <a:t>✓  n</a:t>
            </a:r>
          </a:p>
          <a:p>
            <a:pPr algn="l">
              <a:spcAft>
                <a:spcPts val="300"/>
              </a:spcAft>
            </a:pPr>
            <a:r>
              <a:rPr sz="850" b="0" i="0">
                <a:solidFill>
                  <a:srgbClr val="1E293B"/>
                </a:solidFill>
                <a:latin typeface="Calibri"/>
              </a:rPr>
              <a:t>✓  t</a:t>
            </a:r>
          </a:p>
          <a:p>
            <a:pPr algn="l">
              <a:spcAft>
                <a:spcPts val="300"/>
              </a:spcAft>
            </a:pPr>
            <a:r>
              <a:rPr sz="850" b="0" i="0">
                <a:solidFill>
                  <a:srgbClr val="1E293B"/>
                </a:solidFill>
                <a:latin typeface="Calibri"/>
              </a:rPr>
              <a:t>✓  e</a:t>
            </a:r>
          </a:p>
          <a:p>
            <a:pPr algn="l">
              <a:spcAft>
                <a:spcPts val="300"/>
              </a:spcAft>
            </a:pPr>
            <a:r>
              <a:rPr sz="850" b="0" i="0">
                <a:solidFill>
                  <a:srgbClr val="1E293B"/>
                </a:solidFill>
                <a:latin typeface="Calibri"/>
              </a:rPr>
              <a:t>✓  g</a:t>
            </a:r>
          </a:p>
          <a:p>
            <a:pPr algn="l">
              <a:spcAft>
                <a:spcPts val="300"/>
              </a:spcAft>
            </a:pPr>
            <a:r>
              <a:rPr sz="850" b="0" i="0">
                <a:solidFill>
                  <a:srgbClr val="1E293B"/>
                </a:solidFill>
                <a:latin typeface="Calibri"/>
              </a:rPr>
              <a:t>✓  r</a:t>
            </a:r>
          </a:p>
          <a:p>
            <a:pPr algn="l">
              <a:spcAft>
                <a:spcPts val="300"/>
              </a:spcAft>
            </a:pPr>
            <a:r>
              <a:rPr sz="850" b="0" i="0">
                <a:solidFill>
                  <a:srgbClr val="1E293B"/>
                </a:solidFill>
                <a:latin typeface="Calibri"/>
              </a:rPr>
              <a:t>✓  a</a:t>
            </a:r>
          </a:p>
          <a:p>
            <a:pPr algn="l">
              <a:spcAft>
                <a:spcPts val="300"/>
              </a:spcAft>
            </a:pPr>
            <a:r>
              <a:rPr sz="850" b="0" i="0">
                <a:solidFill>
                  <a:srgbClr val="1E293B"/>
                </a:solidFill>
                <a:latin typeface="Calibri"/>
              </a:rPr>
              <a:t>✓  t</a:t>
            </a:r>
          </a:p>
          <a:p>
            <a:pPr algn="l">
              <a:spcAft>
                <a:spcPts val="300"/>
              </a:spcAft>
            </a:pPr>
            <a:r>
              <a:rPr sz="850" b="0" i="0">
                <a:solidFill>
                  <a:srgbClr val="1E293B"/>
                </a:solidFill>
                <a:latin typeface="Calibri"/>
              </a:rPr>
              <a:t>✓  i</a:t>
            </a:r>
          </a:p>
          <a:p>
            <a:pPr algn="l">
              <a:spcAft>
                <a:spcPts val="300"/>
              </a:spcAft>
            </a:pPr>
            <a:r>
              <a:rPr sz="850" b="0" i="0">
                <a:solidFill>
                  <a:srgbClr val="1E293B"/>
                </a:solidFill>
                <a:latin typeface="Calibri"/>
              </a:rPr>
              <a:t>✓  o</a:t>
            </a:r>
          </a:p>
          <a:p>
            <a:pPr algn="l">
              <a:spcAft>
                <a:spcPts val="300"/>
              </a:spcAft>
            </a:pPr>
            <a:r>
              <a:rPr sz="850" b="0" i="0">
                <a:solidFill>
                  <a:srgbClr val="1E293B"/>
                </a:solidFill>
                <a:latin typeface="Calibri"/>
              </a:rPr>
              <a:t>✓  n</a:t>
            </a:r>
          </a:p>
          <a:p>
            <a:pPr algn="l">
              <a:spcAft>
                <a:spcPts val="300"/>
              </a:spcAft>
            </a:pPr>
            <a:r>
              <a:rPr sz="850" b="0" i="0">
                <a:solidFill>
                  <a:srgbClr val="1E293B"/>
                </a:solidFill>
                <a:latin typeface="Calibri"/>
              </a:rPr>
              <a:t>✓  ,</a:t>
            </a:r>
          </a:p>
          <a:p>
            <a:pPr algn="l">
              <a:spcAft>
                <a:spcPts val="300"/>
              </a:spcAft>
            </a:pPr>
            <a:r>
              <a:rPr sz="850" b="0" i="0">
                <a:solidFill>
                  <a:srgbClr val="1E293B"/>
                </a:solidFill>
                <a:latin typeface="Calibri"/>
              </a:rPr>
              <a:t>✓   </a:t>
            </a:r>
          </a:p>
          <a:p>
            <a:pPr algn="l">
              <a:spcAft>
                <a:spcPts val="300"/>
              </a:spcAft>
            </a:pPr>
            <a:r>
              <a:rPr sz="850" b="0" i="0">
                <a:solidFill>
                  <a:srgbClr val="1E293B"/>
                </a:solidFill>
                <a:latin typeface="Calibri"/>
              </a:rPr>
              <a:t>✓  S</a:t>
            </a:r>
          </a:p>
          <a:p>
            <a:pPr algn="l">
              <a:spcAft>
                <a:spcPts val="300"/>
              </a:spcAft>
            </a:pPr>
            <a:r>
              <a:rPr sz="850" b="0" i="0">
                <a:solidFill>
                  <a:srgbClr val="1E293B"/>
                </a:solidFill>
                <a:latin typeface="Calibri"/>
              </a:rPr>
              <a:t>✓  A</a:t>
            </a:r>
          </a:p>
          <a:p>
            <a:pPr algn="l">
              <a:spcAft>
                <a:spcPts val="300"/>
              </a:spcAft>
            </a:pPr>
            <a:r>
              <a:rPr sz="850" b="0" i="0">
                <a:solidFill>
                  <a:srgbClr val="1E293B"/>
                </a:solidFill>
                <a:latin typeface="Calibri"/>
              </a:rPr>
              <a:t>✓  M</a:t>
            </a:r>
          </a:p>
          <a:p>
            <a:pPr algn="l">
              <a:spcAft>
                <a:spcPts val="300"/>
              </a:spcAft>
            </a:pPr>
            <a:r>
              <a:rPr sz="850" b="0" i="0">
                <a:solidFill>
                  <a:srgbClr val="1E293B"/>
                </a:solidFill>
                <a:latin typeface="Calibri"/>
              </a:rPr>
              <a:t>✓   </a:t>
            </a:r>
          </a:p>
          <a:p>
            <a:pPr algn="l">
              <a:spcAft>
                <a:spcPts val="300"/>
              </a:spcAft>
            </a:pPr>
            <a:r>
              <a:rPr sz="850" b="0" i="0">
                <a:solidFill>
                  <a:srgbClr val="1E293B"/>
                </a:solidFill>
                <a:latin typeface="Calibri"/>
              </a:rPr>
              <a:t>✓  P</a:t>
            </a:r>
          </a:p>
          <a:p>
            <a:pPr algn="l">
              <a:spcAft>
                <a:spcPts val="300"/>
              </a:spcAft>
            </a:pPr>
            <a:r>
              <a:rPr sz="850" b="0" i="0">
                <a:solidFill>
                  <a:srgbClr val="1E293B"/>
                </a:solidFill>
                <a:latin typeface="Calibri"/>
              </a:rPr>
              <a:t>✓  r</a:t>
            </a:r>
          </a:p>
          <a:p>
            <a:pPr algn="l">
              <a:spcAft>
                <a:spcPts val="300"/>
              </a:spcAft>
            </a:pPr>
            <a:r>
              <a:rPr sz="850" b="0" i="0">
                <a:solidFill>
                  <a:srgbClr val="1E293B"/>
                </a:solidFill>
                <a:latin typeface="Calibri"/>
              </a:rPr>
              <a:t>✓  o</a:t>
            </a:r>
          </a:p>
          <a:p>
            <a:pPr algn="l">
              <a:spcAft>
                <a:spcPts val="300"/>
              </a:spcAft>
            </a:pPr>
            <a:r>
              <a:rPr sz="850" b="0" i="0">
                <a:solidFill>
                  <a:srgbClr val="1E293B"/>
                </a:solidFill>
                <a:latin typeface="Calibri"/>
              </a:rPr>
              <a:t>✓   </a:t>
            </a:r>
          </a:p>
          <a:p>
            <a:pPr algn="l">
              <a:spcAft>
                <a:spcPts val="300"/>
              </a:spcAft>
            </a:pPr>
            <a:r>
              <a:rPr sz="850" b="0" i="0">
                <a:solidFill>
                  <a:srgbClr val="1E293B"/>
                </a:solidFill>
                <a:latin typeface="Calibri"/>
              </a:rPr>
              <a:t>✓  a</a:t>
            </a:r>
          </a:p>
          <a:p>
            <a:pPr algn="l">
              <a:spcAft>
                <a:spcPts val="300"/>
              </a:spcAft>
            </a:pPr>
            <a:r>
              <a:rPr sz="850" b="0" i="0">
                <a:solidFill>
                  <a:srgbClr val="1E293B"/>
                </a:solidFill>
                <a:latin typeface="Calibri"/>
              </a:rPr>
              <a:t>✓  c</a:t>
            </a:r>
          </a:p>
          <a:p>
            <a:pPr algn="l">
              <a:spcAft>
                <a:spcPts val="300"/>
              </a:spcAft>
            </a:pPr>
            <a:r>
              <a:rPr sz="850" b="0" i="0">
                <a:solidFill>
                  <a:srgbClr val="1E293B"/>
                </a:solidFill>
                <a:latin typeface="Calibri"/>
              </a:rPr>
              <a:t>✓  t</a:t>
            </a:r>
          </a:p>
          <a:p>
            <a:pPr algn="l">
              <a:spcAft>
                <a:spcPts val="300"/>
              </a:spcAft>
            </a:pPr>
            <a:r>
              <a:rPr sz="850" b="0" i="0">
                <a:solidFill>
                  <a:srgbClr val="1E293B"/>
                </a:solidFill>
                <a:latin typeface="Calibri"/>
              </a:rPr>
              <a:t>✓  i</a:t>
            </a:r>
          </a:p>
          <a:p>
            <a:pPr algn="l">
              <a:spcAft>
                <a:spcPts val="300"/>
              </a:spcAft>
            </a:pPr>
            <a:r>
              <a:rPr sz="850" b="0" i="0">
                <a:solidFill>
                  <a:srgbClr val="1E293B"/>
                </a:solidFill>
                <a:latin typeface="Calibri"/>
              </a:rPr>
              <a:t>✓  v</a:t>
            </a:r>
          </a:p>
          <a:p>
            <a:pPr algn="l">
              <a:spcAft>
                <a:spcPts val="300"/>
              </a:spcAft>
            </a:pPr>
            <a:r>
              <a:rPr sz="850" b="0" i="0">
                <a:solidFill>
                  <a:srgbClr val="1E293B"/>
                </a:solidFill>
                <a:latin typeface="Calibri"/>
              </a:rPr>
              <a:t>✓  a</a:t>
            </a:r>
          </a:p>
          <a:p>
            <a:pPr algn="l">
              <a:spcAft>
                <a:spcPts val="300"/>
              </a:spcAft>
            </a:pPr>
            <a:r>
              <a:rPr sz="850" b="0" i="0">
                <a:solidFill>
                  <a:srgbClr val="1E293B"/>
                </a:solidFill>
                <a:latin typeface="Calibri"/>
              </a:rPr>
              <a:t>✓  t</a:t>
            </a:r>
          </a:p>
          <a:p>
            <a:pPr algn="l">
              <a:spcAft>
                <a:spcPts val="300"/>
              </a:spcAft>
            </a:pPr>
            <a:r>
              <a:rPr sz="850" b="0" i="0">
                <a:solidFill>
                  <a:srgbClr val="1E293B"/>
                </a:solidFill>
                <a:latin typeface="Calibri"/>
              </a:rPr>
              <a:t>✓  i</a:t>
            </a:r>
          </a:p>
          <a:p>
            <a:pPr algn="l">
              <a:spcAft>
                <a:spcPts val="300"/>
              </a:spcAft>
            </a:pPr>
            <a:r>
              <a:rPr sz="850" b="0" i="0">
                <a:solidFill>
                  <a:srgbClr val="1E293B"/>
                </a:solidFill>
                <a:latin typeface="Calibri"/>
              </a:rPr>
              <a:t>✓  o</a:t>
            </a:r>
          </a:p>
          <a:p>
            <a:pPr algn="l">
              <a:spcAft>
                <a:spcPts val="300"/>
              </a:spcAft>
            </a:pPr>
            <a:r>
              <a:rPr sz="850" b="0" i="0">
                <a:solidFill>
                  <a:srgbClr val="1E293B"/>
                </a:solidFill>
                <a:latin typeface="Calibri"/>
              </a:rPr>
              <a:t>✓  n</a:t>
            </a:r>
          </a:p>
          <a:p>
            <a:pPr algn="l">
              <a:spcAft>
                <a:spcPts val="300"/>
              </a:spcAft>
            </a:pPr>
            <a:r>
              <a:rPr sz="850" b="0" i="0">
                <a:solidFill>
                  <a:srgbClr val="1E293B"/>
                </a:solidFill>
                <a:latin typeface="Calibri"/>
              </a:rPr>
              <a:t>✓  ,</a:t>
            </a:r>
          </a:p>
          <a:p>
            <a:pPr algn="l">
              <a:spcAft>
                <a:spcPts val="300"/>
              </a:spcAft>
            </a:pPr>
            <a:r>
              <a:rPr sz="850" b="0" i="0">
                <a:solidFill>
                  <a:srgbClr val="1E293B"/>
                </a:solidFill>
                <a:latin typeface="Calibri"/>
              </a:rPr>
              <a:t>✓   </a:t>
            </a:r>
          </a:p>
          <a:p>
            <a:pPr algn="l">
              <a:spcAft>
                <a:spcPts val="300"/>
              </a:spcAft>
            </a:pPr>
            <a:r>
              <a:rPr sz="850" b="0" i="0">
                <a:solidFill>
                  <a:srgbClr val="1E293B"/>
                </a:solidFill>
                <a:latin typeface="Calibri"/>
              </a:rPr>
              <a:t>✓  c</a:t>
            </a:r>
          </a:p>
          <a:p>
            <a:pPr algn="l">
              <a:spcAft>
                <a:spcPts val="300"/>
              </a:spcAft>
            </a:pPr>
            <a:r>
              <a:rPr sz="850" b="0" i="0">
                <a:solidFill>
                  <a:srgbClr val="1E293B"/>
                </a:solidFill>
                <a:latin typeface="Calibri"/>
              </a:rPr>
              <a:t>✓  o</a:t>
            </a:r>
          </a:p>
          <a:p>
            <a:pPr algn="l">
              <a:spcAft>
                <a:spcPts val="300"/>
              </a:spcAft>
            </a:pPr>
            <a:r>
              <a:rPr sz="850" b="0" i="0">
                <a:solidFill>
                  <a:srgbClr val="1E293B"/>
                </a:solidFill>
                <a:latin typeface="Calibri"/>
              </a:rPr>
              <a:t>✓  m</a:t>
            </a:r>
          </a:p>
          <a:p>
            <a:pPr algn="l">
              <a:spcAft>
                <a:spcPts val="300"/>
              </a:spcAft>
            </a:pPr>
            <a:r>
              <a:rPr sz="850" b="0" i="0">
                <a:solidFill>
                  <a:srgbClr val="1E293B"/>
                </a:solidFill>
                <a:latin typeface="Calibri"/>
              </a:rPr>
              <a:t>✓  p</a:t>
            </a:r>
          </a:p>
          <a:p>
            <a:pPr algn="l">
              <a:spcAft>
                <a:spcPts val="300"/>
              </a:spcAft>
            </a:pPr>
            <a:r>
              <a:rPr sz="850" b="0" i="0">
                <a:solidFill>
                  <a:srgbClr val="1E293B"/>
                </a:solidFill>
                <a:latin typeface="Calibri"/>
              </a:rPr>
              <a:t>✓  l</a:t>
            </a:r>
          </a:p>
          <a:p>
            <a:pPr algn="l">
              <a:spcAft>
                <a:spcPts val="300"/>
              </a:spcAft>
            </a:pPr>
            <a:r>
              <a:rPr sz="850" b="0" i="0">
                <a:solidFill>
                  <a:srgbClr val="1E293B"/>
                </a:solidFill>
                <a:latin typeface="Calibri"/>
              </a:rPr>
              <a:t>✓  i</a:t>
            </a:r>
          </a:p>
          <a:p>
            <a:pPr algn="l">
              <a:spcAft>
                <a:spcPts val="300"/>
              </a:spcAft>
            </a:pPr>
            <a:r>
              <a:rPr sz="850" b="0" i="0">
                <a:solidFill>
                  <a:srgbClr val="1E293B"/>
                </a:solidFill>
                <a:latin typeface="Calibri"/>
              </a:rPr>
              <a:t>✓  a</a:t>
            </a:r>
          </a:p>
          <a:p>
            <a:pPr algn="l">
              <a:spcAft>
                <a:spcPts val="300"/>
              </a:spcAft>
            </a:pPr>
            <a:r>
              <a:rPr sz="850" b="0" i="0">
                <a:solidFill>
                  <a:srgbClr val="1E293B"/>
                </a:solidFill>
                <a:latin typeface="Calibri"/>
              </a:rPr>
              <a:t>✓  n</a:t>
            </a:r>
          </a:p>
          <a:p>
            <a:pPr algn="l">
              <a:spcAft>
                <a:spcPts val="300"/>
              </a:spcAft>
            </a:pPr>
            <a:r>
              <a:rPr sz="850" b="0" i="0">
                <a:solidFill>
                  <a:srgbClr val="1E293B"/>
                </a:solidFill>
                <a:latin typeface="Calibri"/>
              </a:rPr>
              <a:t>✓  c</a:t>
            </a:r>
          </a:p>
          <a:p>
            <a:pPr algn="l">
              <a:spcAft>
                <a:spcPts val="300"/>
              </a:spcAft>
            </a:pPr>
            <a:r>
              <a:rPr sz="850" b="0" i="0">
                <a:solidFill>
                  <a:srgbClr val="1E293B"/>
                </a:solidFill>
                <a:latin typeface="Calibri"/>
              </a:rPr>
              <a:t>✓  e</a:t>
            </a:r>
          </a:p>
          <a:p>
            <a:pPr algn="l">
              <a:spcAft>
                <a:spcPts val="300"/>
              </a:spcAft>
            </a:pPr>
            <a:r>
              <a:rPr sz="850" b="0" i="0">
                <a:solidFill>
                  <a:srgbClr val="1E293B"/>
                </a:solidFill>
                <a:latin typeface="Calibri"/>
              </a:rPr>
              <a:t>✓   </a:t>
            </a:r>
          </a:p>
          <a:p>
            <a:pPr algn="l">
              <a:spcAft>
                <a:spcPts val="300"/>
              </a:spcAft>
            </a:pPr>
            <a:r>
              <a:rPr sz="850" b="0" i="0">
                <a:solidFill>
                  <a:srgbClr val="1E293B"/>
                </a:solidFill>
                <a:latin typeface="Calibri"/>
              </a:rPr>
              <a:t>✓  d</a:t>
            </a:r>
          </a:p>
          <a:p>
            <a:pPr algn="l">
              <a:spcAft>
                <a:spcPts val="300"/>
              </a:spcAft>
            </a:pPr>
            <a:r>
              <a:rPr sz="850" b="0" i="0">
                <a:solidFill>
                  <a:srgbClr val="1E293B"/>
                </a:solidFill>
                <a:latin typeface="Calibri"/>
              </a:rPr>
              <a:t>✓  a</a:t>
            </a:r>
          </a:p>
          <a:p>
            <a:pPr algn="l">
              <a:spcAft>
                <a:spcPts val="300"/>
              </a:spcAft>
            </a:pPr>
            <a:r>
              <a:rPr sz="850" b="0" i="0">
                <a:solidFill>
                  <a:srgbClr val="1E293B"/>
                </a:solidFill>
                <a:latin typeface="Calibri"/>
              </a:rPr>
              <a:t>✓  s</a:t>
            </a:r>
          </a:p>
          <a:p>
            <a:pPr algn="l">
              <a:spcAft>
                <a:spcPts val="300"/>
              </a:spcAft>
            </a:pPr>
            <a:r>
              <a:rPr sz="850" b="0" i="0">
                <a:solidFill>
                  <a:srgbClr val="1E293B"/>
                </a:solidFill>
                <a:latin typeface="Calibri"/>
              </a:rPr>
              <a:t>✓  h</a:t>
            </a:r>
          </a:p>
          <a:p>
            <a:pPr algn="l">
              <a:spcAft>
                <a:spcPts val="300"/>
              </a:spcAft>
            </a:pPr>
            <a:r>
              <a:rPr sz="850" b="0" i="0">
                <a:solidFill>
                  <a:srgbClr val="1E293B"/>
                </a:solidFill>
                <a:latin typeface="Calibri"/>
              </a:rPr>
              <a:t>✓  b</a:t>
            </a:r>
          </a:p>
          <a:p>
            <a:pPr algn="l">
              <a:spcAft>
                <a:spcPts val="300"/>
              </a:spcAft>
            </a:pPr>
            <a:r>
              <a:rPr sz="850" b="0" i="0">
                <a:solidFill>
                  <a:srgbClr val="1E293B"/>
                </a:solidFill>
                <a:latin typeface="Calibri"/>
              </a:rPr>
              <a:t>✓  o</a:t>
            </a:r>
          </a:p>
          <a:p>
            <a:pPr algn="l">
              <a:spcAft>
                <a:spcPts val="300"/>
              </a:spcAft>
            </a:pPr>
            <a:r>
              <a:rPr sz="850" b="0" i="0">
                <a:solidFill>
                  <a:srgbClr val="1E293B"/>
                </a:solidFill>
                <a:latin typeface="Calibri"/>
              </a:rPr>
              <a:t>✓  a</a:t>
            </a:r>
          </a:p>
          <a:p>
            <a:pPr algn="l">
              <a:spcAft>
                <a:spcPts val="300"/>
              </a:spcAft>
            </a:pPr>
            <a:r>
              <a:rPr sz="850" b="0" i="0">
                <a:solidFill>
                  <a:srgbClr val="1E293B"/>
                </a:solidFill>
                <a:latin typeface="Calibri"/>
              </a:rPr>
              <a:t>✓  r</a:t>
            </a:r>
          </a:p>
          <a:p>
            <a:pPr algn="l">
              <a:spcAft>
                <a:spcPts val="300"/>
              </a:spcAft>
            </a:pPr>
            <a:r>
              <a:rPr sz="850" b="0" i="0">
                <a:solidFill>
                  <a:srgbClr val="1E293B"/>
                </a:solidFill>
                <a:latin typeface="Calibri"/>
              </a:rPr>
              <a:t>✓  d</a:t>
            </a:r>
          </a:p>
          <a:p>
            <a:pPr algn="l">
              <a:spcAft>
                <a:spcPts val="300"/>
              </a:spcAft>
            </a:pPr>
            <a:r>
              <a:rPr sz="850" b="0" i="0">
                <a:solidFill>
                  <a:srgbClr val="1E293B"/>
                </a:solidFill>
                <a:latin typeface="Calibri"/>
              </a:rPr>
              <a:t>✓  s</a:t>
            </a:r>
          </a:p>
        </p:txBody>
      </p:sp>
      <p:sp>
        <p:nvSpPr>
          <p:cNvPr id="10" name="Rectangle 9"/>
          <p:cNvSpPr/>
          <p:nvPr/>
        </p:nvSpPr>
        <p:spPr>
          <a:xfrm>
            <a:off x="4617720" y="1024128"/>
            <a:ext cx="4160520" cy="292608"/>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72583" y="1033271"/>
            <a:ext cx="4050791" cy="256032"/>
          </a:xfrm>
          <a:prstGeom prst="rect">
            <a:avLst/>
          </a:prstGeom>
          <a:noFill/>
        </p:spPr>
        <p:txBody>
          <a:bodyPr wrap="square" lIns="36576" rIns="36576" tIns="18288" bIns="18288">
            <a:spAutoFit/>
          </a:bodyPr>
          <a:lstStyle/>
          <a:p>
            <a:pPr algn="ctr"/>
            <a:r>
              <a:rPr sz="850" b="1" i="0">
                <a:solidFill>
                  <a:srgbClr val="FFFFFF"/>
                </a:solidFill>
                <a:latin typeface="Calibri"/>
              </a:rPr>
              <a:t>CUSTOMIZATION  —  Requires Approval + Business Case</a:t>
            </a:r>
          </a:p>
        </p:txBody>
      </p:sp>
      <p:sp>
        <p:nvSpPr>
          <p:cNvPr id="12" name="Rectangle 11"/>
          <p:cNvSpPr/>
          <p:nvPr/>
        </p:nvSpPr>
        <p:spPr>
          <a:xfrm>
            <a:off x="4617720" y="1316736"/>
            <a:ext cx="4160520" cy="3310128"/>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709159" y="1371600"/>
            <a:ext cx="3977639" cy="3200400"/>
          </a:xfrm>
          <a:prstGeom prst="rect">
            <a:avLst/>
          </a:prstGeom>
          <a:noFill/>
        </p:spPr>
        <p:txBody>
          <a:bodyPr wrap="square" lIns="36576" rIns="36576" tIns="18288" bIns="18288">
            <a:spAutoFit/>
          </a:bodyPr>
          <a:lstStyle/>
          <a:p>
            <a:pPr algn="l">
              <a:spcAft>
                <a:spcPts val="300"/>
              </a:spcAft>
            </a:pPr>
            <a:r>
              <a:rPr sz="850" b="0" i="0">
                <a:solidFill>
                  <a:srgbClr val="1E293B"/>
                </a:solidFill>
                <a:latin typeface="Calibri"/>
              </a:rPr>
              <a:t>✗  C</a:t>
            </a:r>
          </a:p>
          <a:p>
            <a:pPr algn="l">
              <a:spcAft>
                <a:spcPts val="300"/>
              </a:spcAft>
            </a:pPr>
            <a:r>
              <a:rPr sz="850" b="0" i="0">
                <a:solidFill>
                  <a:srgbClr val="1E293B"/>
                </a:solidFill>
                <a:latin typeface="Calibri"/>
              </a:rPr>
              <a:t>✗  u</a:t>
            </a:r>
          </a:p>
          <a:p>
            <a:pPr algn="l">
              <a:spcAft>
                <a:spcPts val="300"/>
              </a:spcAft>
            </a:pPr>
            <a:r>
              <a:rPr sz="850" b="0" i="0">
                <a:solidFill>
                  <a:srgbClr val="1E293B"/>
                </a:solidFill>
                <a:latin typeface="Calibri"/>
              </a:rPr>
              <a:t>✗  s</a:t>
            </a:r>
          </a:p>
          <a:p>
            <a:pPr algn="l">
              <a:spcAft>
                <a:spcPts val="300"/>
              </a:spcAft>
            </a:pPr>
            <a:r>
              <a:rPr sz="850" b="0" i="0">
                <a:solidFill>
                  <a:srgbClr val="1E293B"/>
                </a:solidFill>
                <a:latin typeface="Calibri"/>
              </a:rPr>
              <a:t>✗  t</a:t>
            </a:r>
          </a:p>
          <a:p>
            <a:pPr algn="l">
              <a:spcAft>
                <a:spcPts val="300"/>
              </a:spcAft>
            </a:pPr>
            <a:r>
              <a:rPr sz="850" b="0" i="0">
                <a:solidFill>
                  <a:srgbClr val="1E293B"/>
                </a:solidFill>
                <a:latin typeface="Calibri"/>
              </a:rPr>
              <a:t>✗  o</a:t>
            </a:r>
          </a:p>
          <a:p>
            <a:pPr algn="l">
              <a:spcAft>
                <a:spcPts val="300"/>
              </a:spcAft>
            </a:pPr>
            <a:r>
              <a:rPr sz="850" b="0" i="0">
                <a:solidFill>
                  <a:srgbClr val="1E293B"/>
                </a:solidFill>
                <a:latin typeface="Calibri"/>
              </a:rPr>
              <a:t>✗  m</a:t>
            </a:r>
          </a:p>
          <a:p>
            <a:pPr algn="l">
              <a:spcAft>
                <a:spcPts val="300"/>
              </a:spcAft>
            </a:pPr>
            <a:r>
              <a:rPr sz="850" b="0" i="0">
                <a:solidFill>
                  <a:srgbClr val="1E293B"/>
                </a:solidFill>
                <a:latin typeface="Calibri"/>
              </a:rPr>
              <a:t>✗   </a:t>
            </a:r>
          </a:p>
          <a:p>
            <a:pPr algn="l">
              <a:spcAft>
                <a:spcPts val="300"/>
              </a:spcAft>
            </a:pPr>
            <a:r>
              <a:rPr sz="850" b="0" i="0">
                <a:solidFill>
                  <a:srgbClr val="1E293B"/>
                </a:solidFill>
                <a:latin typeface="Calibri"/>
              </a:rPr>
              <a:t>✗  r</a:t>
            </a:r>
          </a:p>
          <a:p>
            <a:pPr algn="l">
              <a:spcAft>
                <a:spcPts val="300"/>
              </a:spcAft>
            </a:pPr>
            <a:r>
              <a:rPr sz="850" b="0" i="0">
                <a:solidFill>
                  <a:srgbClr val="1E293B"/>
                </a:solidFill>
                <a:latin typeface="Calibri"/>
              </a:rPr>
              <a:t>✗  e</a:t>
            </a:r>
          </a:p>
          <a:p>
            <a:pPr algn="l">
              <a:spcAft>
                <a:spcPts val="300"/>
              </a:spcAft>
            </a:pPr>
            <a:r>
              <a:rPr sz="850" b="0" i="0">
                <a:solidFill>
                  <a:srgbClr val="1E293B"/>
                </a:solidFill>
                <a:latin typeface="Calibri"/>
              </a:rPr>
              <a:t>✗  c</a:t>
            </a:r>
          </a:p>
          <a:p>
            <a:pPr algn="l">
              <a:spcAft>
                <a:spcPts val="300"/>
              </a:spcAft>
            </a:pPr>
            <a:r>
              <a:rPr sz="850" b="0" i="0">
                <a:solidFill>
                  <a:srgbClr val="1E293B"/>
                </a:solidFill>
                <a:latin typeface="Calibri"/>
              </a:rPr>
              <a:t>✗  o</a:t>
            </a:r>
          </a:p>
          <a:p>
            <a:pPr algn="l">
              <a:spcAft>
                <a:spcPts val="300"/>
              </a:spcAft>
            </a:pPr>
            <a:r>
              <a:rPr sz="850" b="0" i="0">
                <a:solidFill>
                  <a:srgbClr val="1E293B"/>
                </a:solidFill>
                <a:latin typeface="Calibri"/>
              </a:rPr>
              <a:t>✗  n</a:t>
            </a:r>
          </a:p>
          <a:p>
            <a:pPr algn="l">
              <a:spcAft>
                <a:spcPts val="300"/>
              </a:spcAft>
            </a:pPr>
            <a:r>
              <a:rPr sz="850" b="0" i="0">
                <a:solidFill>
                  <a:srgbClr val="1E293B"/>
                </a:solidFill>
                <a:latin typeface="Calibri"/>
              </a:rPr>
              <a:t>✗  c</a:t>
            </a:r>
          </a:p>
          <a:p>
            <a:pPr algn="l">
              <a:spcAft>
                <a:spcPts val="300"/>
              </a:spcAft>
            </a:pPr>
            <a:r>
              <a:rPr sz="850" b="0" i="0">
                <a:solidFill>
                  <a:srgbClr val="1E293B"/>
                </a:solidFill>
                <a:latin typeface="Calibri"/>
              </a:rPr>
              <a:t>✗  i</a:t>
            </a:r>
          </a:p>
          <a:p>
            <a:pPr algn="l">
              <a:spcAft>
                <a:spcPts val="300"/>
              </a:spcAft>
            </a:pPr>
            <a:r>
              <a:rPr sz="850" b="0" i="0">
                <a:solidFill>
                  <a:srgbClr val="1E293B"/>
                </a:solidFill>
                <a:latin typeface="Calibri"/>
              </a:rPr>
              <a:t>✗  l</a:t>
            </a:r>
          </a:p>
          <a:p>
            <a:pPr algn="l">
              <a:spcAft>
                <a:spcPts val="300"/>
              </a:spcAft>
            </a:pPr>
            <a:r>
              <a:rPr sz="850" b="0" i="0">
                <a:solidFill>
                  <a:srgbClr val="1E293B"/>
                </a:solidFill>
                <a:latin typeface="Calibri"/>
              </a:rPr>
              <a:t>✗  i</a:t>
            </a:r>
          </a:p>
          <a:p>
            <a:pPr algn="l">
              <a:spcAft>
                <a:spcPts val="300"/>
              </a:spcAft>
            </a:pPr>
            <a:r>
              <a:rPr sz="850" b="0" i="0">
                <a:solidFill>
                  <a:srgbClr val="1E293B"/>
                </a:solidFill>
                <a:latin typeface="Calibri"/>
              </a:rPr>
              <a:t>✗  a</a:t>
            </a:r>
          </a:p>
          <a:p>
            <a:pPr algn="l">
              <a:spcAft>
                <a:spcPts val="300"/>
              </a:spcAft>
            </a:pPr>
            <a:r>
              <a:rPr sz="850" b="0" i="0">
                <a:solidFill>
                  <a:srgbClr val="1E293B"/>
                </a:solidFill>
                <a:latin typeface="Calibri"/>
              </a:rPr>
              <a:t>✗  t</a:t>
            </a:r>
          </a:p>
          <a:p>
            <a:pPr algn="l">
              <a:spcAft>
                <a:spcPts val="300"/>
              </a:spcAft>
            </a:pPr>
            <a:r>
              <a:rPr sz="850" b="0" i="0">
                <a:solidFill>
                  <a:srgbClr val="1E293B"/>
                </a:solidFill>
                <a:latin typeface="Calibri"/>
              </a:rPr>
              <a:t>✗  i</a:t>
            </a:r>
          </a:p>
          <a:p>
            <a:pPr algn="l">
              <a:spcAft>
                <a:spcPts val="300"/>
              </a:spcAft>
            </a:pPr>
            <a:r>
              <a:rPr sz="850" b="0" i="0">
                <a:solidFill>
                  <a:srgbClr val="1E293B"/>
                </a:solidFill>
                <a:latin typeface="Calibri"/>
              </a:rPr>
              <a:t>✗  o</a:t>
            </a:r>
          </a:p>
          <a:p>
            <a:pPr algn="l">
              <a:spcAft>
                <a:spcPts val="300"/>
              </a:spcAft>
            </a:pPr>
            <a:r>
              <a:rPr sz="850" b="0" i="0">
                <a:solidFill>
                  <a:srgbClr val="1E293B"/>
                </a:solidFill>
                <a:latin typeface="Calibri"/>
              </a:rPr>
              <a:t>✗  n</a:t>
            </a:r>
          </a:p>
          <a:p>
            <a:pPr algn="l">
              <a:spcAft>
                <a:spcPts val="300"/>
              </a:spcAft>
            </a:pPr>
            <a:r>
              <a:rPr sz="850" b="0" i="0">
                <a:solidFill>
                  <a:srgbClr val="1E293B"/>
                </a:solidFill>
                <a:latin typeface="Calibri"/>
              </a:rPr>
              <a:t>✗   </a:t>
            </a:r>
          </a:p>
          <a:p>
            <a:pPr algn="l">
              <a:spcAft>
                <a:spcPts val="300"/>
              </a:spcAft>
            </a:pPr>
            <a:r>
              <a:rPr sz="850" b="0" i="0">
                <a:solidFill>
                  <a:srgbClr val="1E293B"/>
                </a:solidFill>
                <a:latin typeface="Calibri"/>
              </a:rPr>
              <a:t>✗  s</a:t>
            </a:r>
          </a:p>
          <a:p>
            <a:pPr algn="l">
              <a:spcAft>
                <a:spcPts val="300"/>
              </a:spcAft>
            </a:pPr>
            <a:r>
              <a:rPr sz="850" b="0" i="0">
                <a:solidFill>
                  <a:srgbClr val="1E293B"/>
                </a:solidFill>
                <a:latin typeface="Calibri"/>
              </a:rPr>
              <a:t>✗  c</a:t>
            </a:r>
          </a:p>
          <a:p>
            <a:pPr algn="l">
              <a:spcAft>
                <a:spcPts val="300"/>
              </a:spcAft>
            </a:pPr>
            <a:r>
              <a:rPr sz="850" b="0" i="0">
                <a:solidFill>
                  <a:srgbClr val="1E293B"/>
                </a:solidFill>
                <a:latin typeface="Calibri"/>
              </a:rPr>
              <a:t>✗  r</a:t>
            </a:r>
          </a:p>
          <a:p>
            <a:pPr algn="l">
              <a:spcAft>
                <a:spcPts val="300"/>
              </a:spcAft>
            </a:pPr>
            <a:r>
              <a:rPr sz="850" b="0" i="0">
                <a:solidFill>
                  <a:srgbClr val="1E293B"/>
                </a:solidFill>
                <a:latin typeface="Calibri"/>
              </a:rPr>
              <a:t>✗  i</a:t>
            </a:r>
          </a:p>
          <a:p>
            <a:pPr algn="l">
              <a:spcAft>
                <a:spcPts val="300"/>
              </a:spcAft>
            </a:pPr>
            <a:r>
              <a:rPr sz="850" b="0" i="0">
                <a:solidFill>
                  <a:srgbClr val="1E293B"/>
                </a:solidFill>
                <a:latin typeface="Calibri"/>
              </a:rPr>
              <a:t>✗  p</a:t>
            </a:r>
          </a:p>
          <a:p>
            <a:pPr algn="l">
              <a:spcAft>
                <a:spcPts val="300"/>
              </a:spcAft>
            </a:pPr>
            <a:r>
              <a:rPr sz="850" b="0" i="0">
                <a:solidFill>
                  <a:srgbClr val="1E293B"/>
                </a:solidFill>
                <a:latin typeface="Calibri"/>
              </a:rPr>
              <a:t>✗  t</a:t>
            </a:r>
          </a:p>
          <a:p>
            <a:pPr algn="l">
              <a:spcAft>
                <a:spcPts val="300"/>
              </a:spcAft>
            </a:pPr>
            <a:r>
              <a:rPr sz="850" b="0" i="0">
                <a:solidFill>
                  <a:srgbClr val="1E293B"/>
                </a:solidFill>
                <a:latin typeface="Calibri"/>
              </a:rPr>
              <a:t>✗  s</a:t>
            </a:r>
          </a:p>
          <a:p>
            <a:pPr algn="l">
              <a:spcAft>
                <a:spcPts val="300"/>
              </a:spcAft>
            </a:pPr>
            <a:r>
              <a:rPr sz="850" b="0" i="0">
                <a:solidFill>
                  <a:srgbClr val="1E293B"/>
                </a:solidFill>
                <a:latin typeface="Calibri"/>
              </a:rPr>
              <a:t>✗  ,</a:t>
            </a:r>
          </a:p>
          <a:p>
            <a:pPr algn="l">
              <a:spcAft>
                <a:spcPts val="300"/>
              </a:spcAft>
            </a:pPr>
            <a:r>
              <a:rPr sz="850" b="0" i="0">
                <a:solidFill>
                  <a:srgbClr val="1E293B"/>
                </a:solidFill>
                <a:latin typeface="Calibri"/>
              </a:rPr>
              <a:t>✗   </a:t>
            </a:r>
          </a:p>
          <a:p>
            <a:pPr algn="l">
              <a:spcAft>
                <a:spcPts val="300"/>
              </a:spcAft>
            </a:pPr>
            <a:r>
              <a:rPr sz="850" b="0" i="0">
                <a:solidFill>
                  <a:srgbClr val="1E293B"/>
                </a:solidFill>
                <a:latin typeface="Calibri"/>
              </a:rPr>
              <a:t>✗  c</a:t>
            </a:r>
          </a:p>
          <a:p>
            <a:pPr algn="l">
              <a:spcAft>
                <a:spcPts val="300"/>
              </a:spcAft>
            </a:pPr>
            <a:r>
              <a:rPr sz="850" b="0" i="0">
                <a:solidFill>
                  <a:srgbClr val="1E293B"/>
                </a:solidFill>
                <a:latin typeface="Calibri"/>
              </a:rPr>
              <a:t>✗  u</a:t>
            </a:r>
          </a:p>
          <a:p>
            <a:pPr algn="l">
              <a:spcAft>
                <a:spcPts val="300"/>
              </a:spcAft>
            </a:pPr>
            <a:r>
              <a:rPr sz="850" b="0" i="0">
                <a:solidFill>
                  <a:srgbClr val="1E293B"/>
                </a:solidFill>
                <a:latin typeface="Calibri"/>
              </a:rPr>
              <a:t>✗  s</a:t>
            </a:r>
          </a:p>
          <a:p>
            <a:pPr algn="l">
              <a:spcAft>
                <a:spcPts val="300"/>
              </a:spcAft>
            </a:pPr>
            <a:r>
              <a:rPr sz="850" b="0" i="0">
                <a:solidFill>
                  <a:srgbClr val="1E293B"/>
                </a:solidFill>
                <a:latin typeface="Calibri"/>
              </a:rPr>
              <a:t>✗  t</a:t>
            </a:r>
          </a:p>
          <a:p>
            <a:pPr algn="l">
              <a:spcAft>
                <a:spcPts val="300"/>
              </a:spcAft>
            </a:pPr>
            <a:r>
              <a:rPr sz="850" b="0" i="0">
                <a:solidFill>
                  <a:srgbClr val="1E293B"/>
                </a:solidFill>
                <a:latin typeface="Calibri"/>
              </a:rPr>
              <a:t>✗  o</a:t>
            </a:r>
          </a:p>
          <a:p>
            <a:pPr algn="l">
              <a:spcAft>
                <a:spcPts val="300"/>
              </a:spcAft>
            </a:pPr>
            <a:r>
              <a:rPr sz="850" b="0" i="0">
                <a:solidFill>
                  <a:srgbClr val="1E293B"/>
                </a:solidFill>
                <a:latin typeface="Calibri"/>
              </a:rPr>
              <a:t>✗  m</a:t>
            </a:r>
          </a:p>
          <a:p>
            <a:pPr algn="l">
              <a:spcAft>
                <a:spcPts val="300"/>
              </a:spcAft>
            </a:pPr>
            <a:r>
              <a:rPr sz="850" b="0" i="0">
                <a:solidFill>
                  <a:srgbClr val="1E293B"/>
                </a:solidFill>
                <a:latin typeface="Calibri"/>
              </a:rPr>
              <a:t>✗   </a:t>
            </a:r>
          </a:p>
          <a:p>
            <a:pPr algn="l">
              <a:spcAft>
                <a:spcPts val="300"/>
              </a:spcAft>
            </a:pPr>
            <a:r>
              <a:rPr sz="850" b="0" i="0">
                <a:solidFill>
                  <a:srgbClr val="1E293B"/>
                </a:solidFill>
                <a:latin typeface="Calibri"/>
              </a:rPr>
              <a:t>✗  e</a:t>
            </a:r>
          </a:p>
          <a:p>
            <a:pPr algn="l">
              <a:spcAft>
                <a:spcPts val="300"/>
              </a:spcAft>
            </a:pPr>
            <a:r>
              <a:rPr sz="850" b="0" i="0">
                <a:solidFill>
                  <a:srgbClr val="1E293B"/>
                </a:solidFill>
                <a:latin typeface="Calibri"/>
              </a:rPr>
              <a:t>✗  n</a:t>
            </a:r>
          </a:p>
          <a:p>
            <a:pPr algn="l">
              <a:spcAft>
                <a:spcPts val="300"/>
              </a:spcAft>
            </a:pPr>
            <a:r>
              <a:rPr sz="850" b="0" i="0">
                <a:solidFill>
                  <a:srgbClr val="1E293B"/>
                </a:solidFill>
                <a:latin typeface="Calibri"/>
              </a:rPr>
              <a:t>✗  t</a:t>
            </a:r>
          </a:p>
          <a:p>
            <a:pPr algn="l">
              <a:spcAft>
                <a:spcPts val="300"/>
              </a:spcAft>
            </a:pPr>
            <a:r>
              <a:rPr sz="850" b="0" i="0">
                <a:solidFill>
                  <a:srgbClr val="1E293B"/>
                </a:solidFill>
                <a:latin typeface="Calibri"/>
              </a:rPr>
              <a:t>✗  i</a:t>
            </a:r>
          </a:p>
          <a:p>
            <a:pPr algn="l">
              <a:spcAft>
                <a:spcPts val="300"/>
              </a:spcAft>
            </a:pPr>
            <a:r>
              <a:rPr sz="850" b="0" i="0">
                <a:solidFill>
                  <a:srgbClr val="1E293B"/>
                </a:solidFill>
                <a:latin typeface="Calibri"/>
              </a:rPr>
              <a:t>✗  t</a:t>
            </a:r>
          </a:p>
          <a:p>
            <a:pPr algn="l">
              <a:spcAft>
                <a:spcPts val="300"/>
              </a:spcAft>
            </a:pPr>
            <a:r>
              <a:rPr sz="850" b="0" i="0">
                <a:solidFill>
                  <a:srgbClr val="1E293B"/>
                </a:solidFill>
                <a:latin typeface="Calibri"/>
              </a:rPr>
              <a:t>✗  l</a:t>
            </a:r>
          </a:p>
          <a:p>
            <a:pPr algn="l">
              <a:spcAft>
                <a:spcPts val="300"/>
              </a:spcAft>
            </a:pPr>
            <a:r>
              <a:rPr sz="850" b="0" i="0">
                <a:solidFill>
                  <a:srgbClr val="1E293B"/>
                </a:solidFill>
                <a:latin typeface="Calibri"/>
              </a:rPr>
              <a:t>✗  e</a:t>
            </a:r>
          </a:p>
          <a:p>
            <a:pPr algn="l">
              <a:spcAft>
                <a:spcPts val="300"/>
              </a:spcAft>
            </a:pPr>
            <a:r>
              <a:rPr sz="850" b="0" i="0">
                <a:solidFill>
                  <a:srgbClr val="1E293B"/>
                </a:solidFill>
                <a:latin typeface="Calibri"/>
              </a:rPr>
              <a:t>✗  m</a:t>
            </a:r>
          </a:p>
          <a:p>
            <a:pPr algn="l">
              <a:spcAft>
                <a:spcPts val="300"/>
              </a:spcAft>
            </a:pPr>
            <a:r>
              <a:rPr sz="850" b="0" i="0">
                <a:solidFill>
                  <a:srgbClr val="1E293B"/>
                </a:solidFill>
                <a:latin typeface="Calibri"/>
              </a:rPr>
              <a:t>✗  e</a:t>
            </a:r>
          </a:p>
          <a:p>
            <a:pPr algn="l">
              <a:spcAft>
                <a:spcPts val="300"/>
              </a:spcAft>
            </a:pPr>
            <a:r>
              <a:rPr sz="850" b="0" i="0">
                <a:solidFill>
                  <a:srgbClr val="1E293B"/>
                </a:solidFill>
                <a:latin typeface="Calibri"/>
              </a:rPr>
              <a:t>✗  n</a:t>
            </a:r>
          </a:p>
          <a:p>
            <a:pPr algn="l">
              <a:spcAft>
                <a:spcPts val="300"/>
              </a:spcAft>
            </a:pPr>
            <a:r>
              <a:rPr sz="850" b="0" i="0">
                <a:solidFill>
                  <a:srgbClr val="1E293B"/>
                </a:solidFill>
                <a:latin typeface="Calibri"/>
              </a:rPr>
              <a:t>✗  t</a:t>
            </a:r>
          </a:p>
          <a:p>
            <a:pPr algn="l">
              <a:spcAft>
                <a:spcPts val="300"/>
              </a:spcAft>
            </a:pPr>
            <a:r>
              <a:rPr sz="850" b="0" i="0">
                <a:solidFill>
                  <a:srgbClr val="1E293B"/>
                </a:solidFill>
                <a:latin typeface="Calibri"/>
              </a:rPr>
              <a:t>✗   </a:t>
            </a:r>
          </a:p>
          <a:p>
            <a:pPr algn="l">
              <a:spcAft>
                <a:spcPts val="300"/>
              </a:spcAft>
            </a:pPr>
            <a:r>
              <a:rPr sz="850" b="0" i="0">
                <a:solidFill>
                  <a:srgbClr val="1E293B"/>
                </a:solidFill>
                <a:latin typeface="Calibri"/>
              </a:rPr>
              <a:t>✗  c</a:t>
            </a:r>
          </a:p>
          <a:p>
            <a:pPr algn="l">
              <a:spcAft>
                <a:spcPts val="300"/>
              </a:spcAft>
            </a:pPr>
            <a:r>
              <a:rPr sz="850" b="0" i="0">
                <a:solidFill>
                  <a:srgbClr val="1E293B"/>
                </a:solidFill>
                <a:latin typeface="Calibri"/>
              </a:rPr>
              <a:t>✗  a</a:t>
            </a:r>
          </a:p>
          <a:p>
            <a:pPr algn="l">
              <a:spcAft>
                <a:spcPts val="300"/>
              </a:spcAft>
            </a:pPr>
            <a:r>
              <a:rPr sz="850" b="0" i="0">
                <a:solidFill>
                  <a:srgbClr val="1E293B"/>
                </a:solidFill>
                <a:latin typeface="Calibri"/>
              </a:rPr>
              <a:t>✗  l</a:t>
            </a:r>
          </a:p>
          <a:p>
            <a:pPr algn="l">
              <a:spcAft>
                <a:spcPts val="300"/>
              </a:spcAft>
            </a:pPr>
            <a:r>
              <a:rPr sz="850" b="0" i="0">
                <a:solidFill>
                  <a:srgbClr val="1E293B"/>
                </a:solidFill>
                <a:latin typeface="Calibri"/>
              </a:rPr>
              <a:t>✗  c</a:t>
            </a:r>
          </a:p>
          <a:p>
            <a:pPr algn="l">
              <a:spcAft>
                <a:spcPts val="300"/>
              </a:spcAft>
            </a:pPr>
            <a:r>
              <a:rPr sz="850" b="0" i="0">
                <a:solidFill>
                  <a:srgbClr val="1E293B"/>
                </a:solidFill>
                <a:latin typeface="Calibri"/>
              </a:rPr>
              <a:t>✗  u</a:t>
            </a:r>
          </a:p>
          <a:p>
            <a:pPr algn="l">
              <a:spcAft>
                <a:spcPts val="300"/>
              </a:spcAft>
            </a:pPr>
            <a:r>
              <a:rPr sz="850" b="0" i="0">
                <a:solidFill>
                  <a:srgbClr val="1E293B"/>
                </a:solidFill>
                <a:latin typeface="Calibri"/>
              </a:rPr>
              <a:t>✗  l</a:t>
            </a:r>
          </a:p>
          <a:p>
            <a:pPr algn="l">
              <a:spcAft>
                <a:spcPts val="300"/>
              </a:spcAft>
            </a:pPr>
            <a:r>
              <a:rPr sz="850" b="0" i="0">
                <a:solidFill>
                  <a:srgbClr val="1E293B"/>
                </a:solidFill>
                <a:latin typeface="Calibri"/>
              </a:rPr>
              <a:t>✗  a</a:t>
            </a:r>
          </a:p>
          <a:p>
            <a:pPr algn="l">
              <a:spcAft>
                <a:spcPts val="300"/>
              </a:spcAft>
            </a:pPr>
            <a:r>
              <a:rPr sz="850" b="0" i="0">
                <a:solidFill>
                  <a:srgbClr val="1E293B"/>
                </a:solidFill>
                <a:latin typeface="Calibri"/>
              </a:rPr>
              <a:t>✗  t</a:t>
            </a:r>
          </a:p>
          <a:p>
            <a:pPr algn="l">
              <a:spcAft>
                <a:spcPts val="300"/>
              </a:spcAft>
            </a:pPr>
            <a:r>
              <a:rPr sz="850" b="0" i="0">
                <a:solidFill>
                  <a:srgbClr val="1E293B"/>
                </a:solidFill>
                <a:latin typeface="Calibri"/>
              </a:rPr>
              <a:t>✗  i</a:t>
            </a:r>
          </a:p>
          <a:p>
            <a:pPr algn="l">
              <a:spcAft>
                <a:spcPts val="300"/>
              </a:spcAft>
            </a:pPr>
            <a:r>
              <a:rPr sz="850" b="0" i="0">
                <a:solidFill>
                  <a:srgbClr val="1E293B"/>
                </a:solidFill>
                <a:latin typeface="Calibri"/>
              </a:rPr>
              <a:t>✗  o</a:t>
            </a:r>
          </a:p>
          <a:p>
            <a:pPr algn="l">
              <a:spcAft>
                <a:spcPts val="300"/>
              </a:spcAft>
            </a:pPr>
            <a:r>
              <a:rPr sz="850" b="0" i="0">
                <a:solidFill>
                  <a:srgbClr val="1E293B"/>
                </a:solidFill>
                <a:latin typeface="Calibri"/>
              </a:rPr>
              <a:t>✗  n</a:t>
            </a:r>
          </a:p>
          <a:p>
            <a:pPr algn="l">
              <a:spcAft>
                <a:spcPts val="300"/>
              </a:spcAft>
            </a:pPr>
            <a:r>
              <a:rPr sz="850" b="0" i="0">
                <a:solidFill>
                  <a:srgbClr val="1E293B"/>
                </a:solidFill>
                <a:latin typeface="Calibri"/>
              </a:rPr>
              <a:t>✗   </a:t>
            </a:r>
          </a:p>
          <a:p>
            <a:pPr algn="l">
              <a:spcAft>
                <a:spcPts val="300"/>
              </a:spcAft>
            </a:pPr>
            <a:r>
              <a:rPr sz="850" b="0" i="0">
                <a:solidFill>
                  <a:srgbClr val="1E293B"/>
                </a:solidFill>
                <a:latin typeface="Calibri"/>
              </a:rPr>
              <a:t>✗  l</a:t>
            </a:r>
          </a:p>
          <a:p>
            <a:pPr algn="l">
              <a:spcAft>
                <a:spcPts val="300"/>
              </a:spcAft>
            </a:pPr>
            <a:r>
              <a:rPr sz="850" b="0" i="0">
                <a:solidFill>
                  <a:srgbClr val="1E293B"/>
                </a:solidFill>
                <a:latin typeface="Calibri"/>
              </a:rPr>
              <a:t>✗  o</a:t>
            </a:r>
          </a:p>
          <a:p>
            <a:pPr algn="l">
              <a:spcAft>
                <a:spcPts val="300"/>
              </a:spcAft>
            </a:pPr>
            <a:r>
              <a:rPr sz="850" b="0" i="0">
                <a:solidFill>
                  <a:srgbClr val="1E293B"/>
                </a:solidFill>
                <a:latin typeface="Calibri"/>
              </a:rPr>
              <a:t>✗  g</a:t>
            </a:r>
          </a:p>
          <a:p>
            <a:pPr algn="l">
              <a:spcAft>
                <a:spcPts val="300"/>
              </a:spcAft>
            </a:pPr>
            <a:r>
              <a:rPr sz="850" b="0" i="0">
                <a:solidFill>
                  <a:srgbClr val="1E293B"/>
                </a:solidFill>
                <a:latin typeface="Calibri"/>
              </a:rPr>
              <a:t>✗  i</a:t>
            </a:r>
          </a:p>
          <a:p>
            <a:pPr algn="l">
              <a:spcAft>
                <a:spcPts val="300"/>
              </a:spcAft>
            </a:pPr>
            <a:r>
              <a:rPr sz="850" b="0" i="0">
                <a:solidFill>
                  <a:srgbClr val="1E293B"/>
                </a:solidFill>
                <a:latin typeface="Calibri"/>
              </a:rPr>
              <a:t>✗  c</a:t>
            </a:r>
          </a:p>
          <a:p>
            <a:pPr algn="l">
              <a:spcAft>
                <a:spcPts val="300"/>
              </a:spcAft>
            </a:pPr>
            <a:r>
              <a:rPr sz="850" b="0" i="0">
                <a:solidFill>
                  <a:srgbClr val="1E293B"/>
                </a:solidFill>
                <a:latin typeface="Calibri"/>
              </a:rPr>
              <a:t>✗  ,</a:t>
            </a:r>
          </a:p>
          <a:p>
            <a:pPr algn="l">
              <a:spcAft>
                <a:spcPts val="300"/>
              </a:spcAft>
            </a:pPr>
            <a:r>
              <a:rPr sz="850" b="0" i="0">
                <a:solidFill>
                  <a:srgbClr val="1E293B"/>
                </a:solidFill>
                <a:latin typeface="Calibri"/>
              </a:rPr>
              <a:t>✗   </a:t>
            </a:r>
          </a:p>
          <a:p>
            <a:pPr algn="l">
              <a:spcAft>
                <a:spcPts val="300"/>
              </a:spcAft>
            </a:pPr>
            <a:r>
              <a:rPr sz="850" b="0" i="0">
                <a:solidFill>
                  <a:srgbClr val="1E293B"/>
                </a:solidFill>
                <a:latin typeface="Calibri"/>
              </a:rPr>
              <a:t>✗  c</a:t>
            </a:r>
          </a:p>
          <a:p>
            <a:pPr algn="l">
              <a:spcAft>
                <a:spcPts val="300"/>
              </a:spcAft>
            </a:pPr>
            <a:r>
              <a:rPr sz="850" b="0" i="0">
                <a:solidFill>
                  <a:srgbClr val="1E293B"/>
                </a:solidFill>
                <a:latin typeface="Calibri"/>
              </a:rPr>
              <a:t>✗  u</a:t>
            </a:r>
          </a:p>
          <a:p>
            <a:pPr algn="l">
              <a:spcAft>
                <a:spcPts val="300"/>
              </a:spcAft>
            </a:pPr>
            <a:r>
              <a:rPr sz="850" b="0" i="0">
                <a:solidFill>
                  <a:srgbClr val="1E293B"/>
                </a:solidFill>
                <a:latin typeface="Calibri"/>
              </a:rPr>
              <a:t>✗  s</a:t>
            </a:r>
          </a:p>
          <a:p>
            <a:pPr algn="l">
              <a:spcAft>
                <a:spcPts val="300"/>
              </a:spcAft>
            </a:pPr>
            <a:r>
              <a:rPr sz="850" b="0" i="0">
                <a:solidFill>
                  <a:srgbClr val="1E293B"/>
                </a:solidFill>
                <a:latin typeface="Calibri"/>
              </a:rPr>
              <a:t>✗  t</a:t>
            </a:r>
          </a:p>
          <a:p>
            <a:pPr algn="l">
              <a:spcAft>
                <a:spcPts val="300"/>
              </a:spcAft>
            </a:pPr>
            <a:r>
              <a:rPr sz="850" b="0" i="0">
                <a:solidFill>
                  <a:srgbClr val="1E293B"/>
                </a:solidFill>
                <a:latin typeface="Calibri"/>
              </a:rPr>
              <a:t>✗  o</a:t>
            </a:r>
          </a:p>
          <a:p>
            <a:pPr algn="l">
              <a:spcAft>
                <a:spcPts val="300"/>
              </a:spcAft>
            </a:pPr>
            <a:r>
              <a:rPr sz="850" b="0" i="0">
                <a:solidFill>
                  <a:srgbClr val="1E293B"/>
                </a:solidFill>
                <a:latin typeface="Calibri"/>
              </a:rPr>
              <a:t>✗  m</a:t>
            </a:r>
          </a:p>
          <a:p>
            <a:pPr algn="l">
              <a:spcAft>
                <a:spcPts val="300"/>
              </a:spcAft>
            </a:pPr>
            <a:r>
              <a:rPr sz="850" b="0" i="0">
                <a:solidFill>
                  <a:srgbClr val="1E293B"/>
                </a:solidFill>
                <a:latin typeface="Calibri"/>
              </a:rPr>
              <a:t>✗   </a:t>
            </a:r>
          </a:p>
          <a:p>
            <a:pPr algn="l">
              <a:spcAft>
                <a:spcPts val="300"/>
              </a:spcAft>
            </a:pPr>
            <a:r>
              <a:rPr sz="850" b="0" i="0">
                <a:solidFill>
                  <a:srgbClr val="1E293B"/>
                </a:solidFill>
                <a:latin typeface="Calibri"/>
              </a:rPr>
              <a:t>✗  p</a:t>
            </a:r>
          </a:p>
          <a:p>
            <a:pPr algn="l">
              <a:spcAft>
                <a:spcPts val="300"/>
              </a:spcAft>
            </a:pPr>
            <a:r>
              <a:rPr sz="850" b="0" i="0">
                <a:solidFill>
                  <a:srgbClr val="1E293B"/>
                </a:solidFill>
                <a:latin typeface="Calibri"/>
              </a:rPr>
              <a:t>✗  u</a:t>
            </a:r>
          </a:p>
          <a:p>
            <a:pPr algn="l">
              <a:spcAft>
                <a:spcPts val="300"/>
              </a:spcAft>
            </a:pPr>
            <a:r>
              <a:rPr sz="850" b="0" i="0">
                <a:solidFill>
                  <a:srgbClr val="1E293B"/>
                </a:solidFill>
                <a:latin typeface="Calibri"/>
              </a:rPr>
              <a:t>✗  b</a:t>
            </a:r>
          </a:p>
          <a:p>
            <a:pPr algn="l">
              <a:spcAft>
                <a:spcPts val="300"/>
              </a:spcAft>
            </a:pPr>
            <a:r>
              <a:rPr sz="850" b="0" i="0">
                <a:solidFill>
                  <a:srgbClr val="1E293B"/>
                </a:solidFill>
                <a:latin typeface="Calibri"/>
              </a:rPr>
              <a:t>✗  l</a:t>
            </a:r>
          </a:p>
          <a:p>
            <a:pPr algn="l">
              <a:spcAft>
                <a:spcPts val="300"/>
              </a:spcAft>
            </a:pPr>
            <a:r>
              <a:rPr sz="850" b="0" i="0">
                <a:solidFill>
                  <a:srgbClr val="1E293B"/>
                </a:solidFill>
                <a:latin typeface="Calibri"/>
              </a:rPr>
              <a:t>✗  i</a:t>
            </a:r>
          </a:p>
          <a:p>
            <a:pPr algn="l">
              <a:spcAft>
                <a:spcPts val="300"/>
              </a:spcAft>
            </a:pPr>
            <a:r>
              <a:rPr sz="850" b="0" i="0">
                <a:solidFill>
                  <a:srgbClr val="1E293B"/>
                </a:solidFill>
                <a:latin typeface="Calibri"/>
              </a:rPr>
              <a:t>✗  s</a:t>
            </a:r>
          </a:p>
          <a:p>
            <a:pPr algn="l">
              <a:spcAft>
                <a:spcPts val="300"/>
              </a:spcAft>
            </a:pPr>
            <a:r>
              <a:rPr sz="850" b="0" i="0">
                <a:solidFill>
                  <a:srgbClr val="1E293B"/>
                </a:solidFill>
                <a:latin typeface="Calibri"/>
              </a:rPr>
              <a:t>✗  h</a:t>
            </a:r>
          </a:p>
          <a:p>
            <a:pPr algn="l">
              <a:spcAft>
                <a:spcPts val="300"/>
              </a:spcAft>
            </a:pPr>
            <a:r>
              <a:rPr sz="850" b="0" i="0">
                <a:solidFill>
                  <a:srgbClr val="1E293B"/>
                </a:solidFill>
                <a:latin typeface="Calibri"/>
              </a:rPr>
              <a:t>✗  e</a:t>
            </a:r>
          </a:p>
          <a:p>
            <a:pPr algn="l">
              <a:spcAft>
                <a:spcPts val="300"/>
              </a:spcAft>
            </a:pPr>
            <a:r>
              <a:rPr sz="850" b="0" i="0">
                <a:solidFill>
                  <a:srgbClr val="1E293B"/>
                </a:solidFill>
                <a:latin typeface="Calibri"/>
              </a:rPr>
              <a:t>✗  r</a:t>
            </a:r>
          </a:p>
          <a:p>
            <a:pPr algn="l">
              <a:spcAft>
                <a:spcPts val="300"/>
              </a:spcAft>
            </a:pPr>
            <a:r>
              <a:rPr sz="850" b="0" i="0">
                <a:solidFill>
                  <a:srgbClr val="1E293B"/>
                </a:solidFill>
                <a:latin typeface="Calibri"/>
              </a:rPr>
              <a:t>✗   </a:t>
            </a:r>
          </a:p>
          <a:p>
            <a:pPr algn="l">
              <a:spcAft>
                <a:spcPts val="300"/>
              </a:spcAft>
            </a:pPr>
            <a:r>
              <a:rPr sz="850" b="0" i="0">
                <a:solidFill>
                  <a:srgbClr val="1E293B"/>
                </a:solidFill>
                <a:latin typeface="Calibri"/>
              </a:rPr>
              <a:t>✗  c</a:t>
            </a:r>
          </a:p>
          <a:p>
            <a:pPr algn="l">
              <a:spcAft>
                <a:spcPts val="300"/>
              </a:spcAft>
            </a:pPr>
            <a:r>
              <a:rPr sz="850" b="0" i="0">
                <a:solidFill>
                  <a:srgbClr val="1E293B"/>
                </a:solidFill>
                <a:latin typeface="Calibri"/>
              </a:rPr>
              <a:t>✗  a</a:t>
            </a:r>
          </a:p>
          <a:p>
            <a:pPr algn="l">
              <a:spcAft>
                <a:spcPts val="300"/>
              </a:spcAft>
            </a:pPr>
            <a:r>
              <a:rPr sz="850" b="0" i="0">
                <a:solidFill>
                  <a:srgbClr val="1E293B"/>
                </a:solidFill>
                <a:latin typeface="Calibri"/>
              </a:rPr>
              <a:t>✗  t</a:t>
            </a:r>
          </a:p>
          <a:p>
            <a:pPr algn="l">
              <a:spcAft>
                <a:spcPts val="300"/>
              </a:spcAft>
            </a:pPr>
            <a:r>
              <a:rPr sz="850" b="0" i="0">
                <a:solidFill>
                  <a:srgbClr val="1E293B"/>
                </a:solidFill>
                <a:latin typeface="Calibri"/>
              </a:rPr>
              <a:t>✗  a</a:t>
            </a:r>
          </a:p>
          <a:p>
            <a:pPr algn="l">
              <a:spcAft>
                <a:spcPts val="300"/>
              </a:spcAft>
            </a:pPr>
            <a:r>
              <a:rPr sz="850" b="0" i="0">
                <a:solidFill>
                  <a:srgbClr val="1E293B"/>
                </a:solidFill>
                <a:latin typeface="Calibri"/>
              </a:rPr>
              <a:t>✗  l</a:t>
            </a:r>
          </a:p>
          <a:p>
            <a:pPr algn="l">
              <a:spcAft>
                <a:spcPts val="300"/>
              </a:spcAft>
            </a:pPr>
            <a:r>
              <a:rPr sz="850" b="0" i="0">
                <a:solidFill>
                  <a:srgbClr val="1E293B"/>
                </a:solidFill>
                <a:latin typeface="Calibri"/>
              </a:rPr>
              <a:t>✗  o</a:t>
            </a:r>
          </a:p>
          <a:p>
            <a:pPr algn="l">
              <a:spcAft>
                <a:spcPts val="300"/>
              </a:spcAft>
            </a:pPr>
            <a:r>
              <a:rPr sz="850" b="0" i="0">
                <a:solidFill>
                  <a:srgbClr val="1E293B"/>
                </a:solidFill>
                <a:latin typeface="Calibri"/>
              </a:rPr>
              <a:t>✗  g</a:t>
            </a:r>
          </a:p>
          <a:p>
            <a:pPr algn="l">
              <a:spcAft>
                <a:spcPts val="300"/>
              </a:spcAft>
            </a:pPr>
            <a:r>
              <a:rPr sz="850" b="0" i="0">
                <a:solidFill>
                  <a:srgbClr val="1E293B"/>
                </a:solidFill>
                <a:latin typeface="Calibri"/>
              </a:rPr>
              <a:t>✗   </a:t>
            </a:r>
          </a:p>
          <a:p>
            <a:pPr algn="l">
              <a:spcAft>
                <a:spcPts val="300"/>
              </a:spcAft>
            </a:pPr>
            <a:r>
              <a:rPr sz="850" b="0" i="0">
                <a:solidFill>
                  <a:srgbClr val="1E293B"/>
                </a:solidFill>
                <a:latin typeface="Calibri"/>
              </a:rPr>
              <a:t>✗  t</a:t>
            </a:r>
          </a:p>
          <a:p>
            <a:pPr algn="l">
              <a:spcAft>
                <a:spcPts val="300"/>
              </a:spcAft>
            </a:pPr>
            <a:r>
              <a:rPr sz="850" b="0" i="0">
                <a:solidFill>
                  <a:srgbClr val="1E293B"/>
                </a:solidFill>
                <a:latin typeface="Calibri"/>
              </a:rPr>
              <a:t>✗  a</a:t>
            </a:r>
          </a:p>
          <a:p>
            <a:pPr algn="l">
              <a:spcAft>
                <a:spcPts val="300"/>
              </a:spcAft>
            </a:pPr>
            <a:r>
              <a:rPr sz="850" b="0" i="0">
                <a:solidFill>
                  <a:srgbClr val="1E293B"/>
                </a:solidFill>
                <a:latin typeface="Calibri"/>
              </a:rPr>
              <a:t>✗  b</a:t>
            </a:r>
          </a:p>
          <a:p>
            <a:pPr algn="l">
              <a:spcAft>
                <a:spcPts val="300"/>
              </a:spcAft>
            </a:pPr>
            <a:r>
              <a:rPr sz="850" b="0" i="0">
                <a:solidFill>
                  <a:srgbClr val="1E293B"/>
                </a:solidFill>
                <a:latin typeface="Calibri"/>
              </a:rPr>
              <a:t>✗  l</a:t>
            </a:r>
          </a:p>
          <a:p>
            <a:pPr algn="l">
              <a:spcAft>
                <a:spcPts val="300"/>
              </a:spcAft>
            </a:pPr>
            <a:r>
              <a:rPr sz="850" b="0" i="0">
                <a:solidFill>
                  <a:srgbClr val="1E293B"/>
                </a:solidFill>
                <a:latin typeface="Calibri"/>
              </a:rPr>
              <a:t>✗  e</a:t>
            </a:r>
          </a:p>
          <a:p>
            <a:pPr algn="l">
              <a:spcAft>
                <a:spcPts val="300"/>
              </a:spcAft>
            </a:pPr>
            <a:r>
              <a:rPr sz="850" b="0" i="0">
                <a:solidFill>
                  <a:srgbClr val="1E293B"/>
                </a:solidFill>
                <a:latin typeface="Calibri"/>
              </a:rPr>
              <a:t>✗  s</a:t>
            </a:r>
          </a:p>
          <a:p>
            <a:pPr algn="l">
              <a:spcAft>
                <a:spcPts val="300"/>
              </a:spcAft>
            </a:pPr>
            <a:r>
              <a:rPr sz="850" b="0" i="0">
                <a:solidFill>
                  <a:srgbClr val="1E293B"/>
                </a:solidFill>
                <a:latin typeface="Calibri"/>
              </a:rPr>
              <a:t>✗   </a:t>
            </a:r>
          </a:p>
          <a:p>
            <a:pPr algn="l">
              <a:spcAft>
                <a:spcPts val="300"/>
              </a:spcAft>
            </a:pPr>
            <a:r>
              <a:rPr sz="850" b="0" i="0">
                <a:solidFill>
                  <a:srgbClr val="1E293B"/>
                </a:solidFill>
                <a:latin typeface="Calibri"/>
              </a:rPr>
              <a:t>✗  o</a:t>
            </a:r>
          </a:p>
          <a:p>
            <a:pPr algn="l">
              <a:spcAft>
                <a:spcPts val="300"/>
              </a:spcAft>
            </a:pPr>
            <a:r>
              <a:rPr sz="850" b="0" i="0">
                <a:solidFill>
                  <a:srgbClr val="1E293B"/>
                </a:solidFill>
                <a:latin typeface="Calibri"/>
              </a:rPr>
              <a:t>✗  u</a:t>
            </a:r>
          </a:p>
          <a:p>
            <a:pPr algn="l">
              <a:spcAft>
                <a:spcPts val="300"/>
              </a:spcAft>
            </a:pPr>
            <a:r>
              <a:rPr sz="850" b="0" i="0">
                <a:solidFill>
                  <a:srgbClr val="1E293B"/>
                </a:solidFill>
                <a:latin typeface="Calibri"/>
              </a:rPr>
              <a:t>✗  t</a:t>
            </a:r>
          </a:p>
          <a:p>
            <a:pPr algn="l">
              <a:spcAft>
                <a:spcPts val="300"/>
              </a:spcAft>
            </a:pPr>
            <a:r>
              <a:rPr sz="850" b="0" i="0">
                <a:solidFill>
                  <a:srgbClr val="1E293B"/>
                </a:solidFill>
                <a:latin typeface="Calibri"/>
              </a:rPr>
              <a:t>✗  s</a:t>
            </a:r>
          </a:p>
          <a:p>
            <a:pPr algn="l">
              <a:spcAft>
                <a:spcPts val="300"/>
              </a:spcAft>
            </a:pPr>
            <a:r>
              <a:rPr sz="850" b="0" i="0">
                <a:solidFill>
                  <a:srgbClr val="1E293B"/>
                </a:solidFill>
                <a:latin typeface="Calibri"/>
              </a:rPr>
              <a:t>✗  i</a:t>
            </a:r>
          </a:p>
          <a:p>
            <a:pPr algn="l">
              <a:spcAft>
                <a:spcPts val="300"/>
              </a:spcAft>
            </a:pPr>
            <a:r>
              <a:rPr sz="850" b="0" i="0">
                <a:solidFill>
                  <a:srgbClr val="1E293B"/>
                </a:solidFill>
                <a:latin typeface="Calibri"/>
              </a:rPr>
              <a:t>✗  d</a:t>
            </a:r>
          </a:p>
          <a:p>
            <a:pPr algn="l">
              <a:spcAft>
                <a:spcPts val="300"/>
              </a:spcAft>
            </a:pPr>
            <a:r>
              <a:rPr sz="850" b="0" i="0">
                <a:solidFill>
                  <a:srgbClr val="1E293B"/>
                </a:solidFill>
                <a:latin typeface="Calibri"/>
              </a:rPr>
              <a:t>✗  e</a:t>
            </a:r>
          </a:p>
          <a:p>
            <a:pPr algn="l">
              <a:spcAft>
                <a:spcPts val="300"/>
              </a:spcAft>
            </a:pPr>
            <a:r>
              <a:rPr sz="850" b="0" i="0">
                <a:solidFill>
                  <a:srgbClr val="1E293B"/>
                </a:solidFill>
                <a:latin typeface="Calibri"/>
              </a:rPr>
              <a:t>✗   </a:t>
            </a:r>
          </a:p>
          <a:p>
            <a:pPr algn="l">
              <a:spcAft>
                <a:spcPts val="300"/>
              </a:spcAft>
            </a:pPr>
            <a:r>
              <a:rPr sz="850" b="0" i="0">
                <a:solidFill>
                  <a:srgbClr val="1E293B"/>
                </a:solidFill>
                <a:latin typeface="Calibri"/>
              </a:rPr>
              <a:t>✗  S</a:t>
            </a:r>
          </a:p>
          <a:p>
            <a:pPr algn="l">
              <a:spcAft>
                <a:spcPts val="300"/>
              </a:spcAft>
            </a:pPr>
            <a:r>
              <a:rPr sz="850" b="0" i="0">
                <a:solidFill>
                  <a:srgbClr val="1E293B"/>
                </a:solidFill>
                <a:latin typeface="Calibri"/>
              </a:rPr>
              <a:t>✗  A</a:t>
            </a:r>
          </a:p>
          <a:p>
            <a:pPr algn="l">
              <a:spcAft>
                <a:spcPts val="300"/>
              </a:spcAft>
            </a:pPr>
            <a:r>
              <a:rPr sz="850" b="0" i="0">
                <a:solidFill>
                  <a:srgbClr val="1E293B"/>
                </a:solidFill>
                <a:latin typeface="Calibri"/>
              </a:rPr>
              <a:t>✗  M</a:t>
            </a:r>
          </a:p>
          <a:p>
            <a:pPr algn="l">
              <a:spcAft>
                <a:spcPts val="300"/>
              </a:spcAft>
            </a:pPr>
            <a:r>
              <a:rPr sz="850" b="0" i="0">
                <a:solidFill>
                  <a:srgbClr val="1E293B"/>
                </a:solidFill>
                <a:latin typeface="Calibri"/>
              </a:rPr>
              <a:t>✗   </a:t>
            </a:r>
          </a:p>
          <a:p>
            <a:pPr algn="l">
              <a:spcAft>
                <a:spcPts val="300"/>
              </a:spcAft>
            </a:pPr>
            <a:r>
              <a:rPr sz="850" b="0" i="0">
                <a:solidFill>
                  <a:srgbClr val="1E293B"/>
                </a:solidFill>
                <a:latin typeface="Calibri"/>
              </a:rPr>
              <a:t>✗  P</a:t>
            </a:r>
          </a:p>
          <a:p>
            <a:pPr algn="l">
              <a:spcAft>
                <a:spcPts val="300"/>
              </a:spcAft>
            </a:pPr>
            <a:r>
              <a:rPr sz="850" b="0" i="0">
                <a:solidFill>
                  <a:srgbClr val="1E293B"/>
                </a:solidFill>
                <a:latin typeface="Calibri"/>
              </a:rPr>
              <a:t>✗  r</a:t>
            </a:r>
          </a:p>
          <a:p>
            <a:pPr algn="l">
              <a:spcAft>
                <a:spcPts val="300"/>
              </a:spcAft>
            </a:pPr>
            <a:r>
              <a:rPr sz="850" b="0" i="0">
                <a:solidFill>
                  <a:srgbClr val="1E293B"/>
                </a:solidFill>
                <a:latin typeface="Calibri"/>
              </a:rPr>
              <a:t>✗  o</a:t>
            </a:r>
          </a:p>
        </p:txBody>
      </p:sp>
      <p:sp>
        <p:nvSpPr>
          <p:cNvPr id="14" name="Rectangle 13"/>
          <p:cNvSpPr/>
          <p:nvPr/>
        </p:nvSpPr>
        <p:spPr>
          <a:xfrm>
            <a:off x="320040" y="4645152"/>
            <a:ext cx="8503920" cy="164592"/>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4654296"/>
            <a:ext cx="8229600" cy="146304"/>
          </a:xfrm>
          <a:prstGeom prst="rect">
            <a:avLst/>
          </a:prstGeom>
          <a:noFill/>
        </p:spPr>
        <p:txBody>
          <a:bodyPr wrap="square" lIns="36576" rIns="36576" tIns="18288" bIns="18288">
            <a:spAutoFit/>
          </a:bodyPr>
          <a:lstStyle/>
          <a:p>
            <a:pPr algn="l"/>
            <a:r>
              <a:rPr sz="800" b="1" i="0">
                <a:solidFill>
                  <a:srgbClr val="0B1F3A"/>
                </a:solidFill>
                <a:latin typeface="Calibri"/>
              </a:rPr>
              <a:t>The customization bar:  </a:t>
            </a:r>
            <a:r>
              <a:rPr sz="800" b="0" i="0">
                <a:solidFill>
                  <a:srgbClr val="1E293B"/>
                </a:solidFill>
                <a:latin typeface="Calibri"/>
              </a:rPr>
              <a:t>OOTB SAM reconciliation handles the majority of federal software compliance requirements. SAM Pro normalization eliminates manual publisher catalog maintenance. Custom reconciliation scripts break on every ServiceNow upgrade.</a:t>
            </a:r>
          </a:p>
        </p:txBody>
      </p:sp>
      <p:sp>
        <p:nvSpPr>
          <p:cNvPr id="16" name="Rectangle 15"/>
          <p:cNvSpPr/>
          <p:nvPr/>
        </p:nvSpPr>
        <p:spPr>
          <a:xfrm>
            <a:off x="0" y="4818888"/>
            <a:ext cx="9144000" cy="13716"/>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74320" y="4846320"/>
            <a:ext cx="2011680" cy="182880"/>
          </a:xfrm>
          <a:prstGeom prst="rect">
            <a:avLst/>
          </a:prstGeom>
          <a:noFill/>
        </p:spPr>
        <p:txBody>
          <a:bodyPr wrap="square" lIns="36576" rIns="36576" tIns="18288" bIns="18288">
            <a:spAutoFit/>
          </a:bodyPr>
          <a:lstStyle/>
          <a:p>
            <a:pPr algn="l"/>
            <a:r>
              <a:rPr sz="700" b="0" i="0">
                <a:solidFill>
                  <a:srgbClr val="94A3B8"/>
                </a:solidFill>
                <a:latin typeface="Calibri"/>
              </a:rPr>
              <a:t>Everforth ECS Federal</a:t>
            </a:r>
          </a:p>
        </p:txBody>
      </p:sp>
      <p:sp>
        <p:nvSpPr>
          <p:cNvPr id="18" name="TextBox 17"/>
          <p:cNvSpPr txBox="1"/>
          <p:nvPr/>
        </p:nvSpPr>
        <p:spPr>
          <a:xfrm>
            <a:off x="2286000" y="4846320"/>
            <a:ext cx="5029200" cy="182880"/>
          </a:xfrm>
          <a:prstGeom prst="rect">
            <a:avLst/>
          </a:prstGeom>
          <a:noFill/>
        </p:spPr>
        <p:txBody>
          <a:bodyPr wrap="square" lIns="36576" rIns="36576" tIns="18288" bIns="18288">
            <a:spAutoFit/>
          </a:bodyPr>
          <a:lstStyle/>
          <a:p>
            <a:pPr algn="ctr"/>
            <a:r>
              <a:rPr sz="700" b="0" i="0">
                <a:solidFill>
                  <a:srgbClr val="94A3B8"/>
                </a:solidFill>
                <a:latin typeface="Calibri"/>
              </a:rPr>
              <a:t>SERVICENOW PRACTICE  ·  MODERNIZING THE CORE  ·  SOFTWARE ASSET MANAGEMENT</a:t>
            </a:r>
          </a:p>
        </p:txBody>
      </p:sp>
      <p:sp>
        <p:nvSpPr>
          <p:cNvPr id="19" name="TextBox 18"/>
          <p:cNvSpPr txBox="1"/>
          <p:nvPr/>
        </p:nvSpPr>
        <p:spPr>
          <a:xfrm>
            <a:off x="8503920" y="4846320"/>
            <a:ext cx="365760" cy="182880"/>
          </a:xfrm>
          <a:prstGeom prst="rect">
            <a:avLst/>
          </a:prstGeom>
          <a:noFill/>
        </p:spPr>
        <p:txBody>
          <a:bodyPr wrap="square" lIns="36576" rIns="36576" tIns="18288" bIns="18288">
            <a:spAutoFit/>
          </a:bodyPr>
          <a:lstStyle/>
          <a:p>
            <a:pPr algn="r"/>
            <a:r>
              <a:rPr sz="700" b="0" i="0">
                <a:solidFill>
                  <a:srgbClr val="94A3B8"/>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everforth_logo.png"/>
          <p:cNvPicPr>
            <a:picLocks noChangeAspect="1"/>
          </p:cNvPicPr>
          <p:nvPr/>
        </p:nvPicPr>
        <p:blipFill>
          <a:blip r:embed="rId2"/>
          <a:stretch>
            <a:fillRect/>
          </a:stretch>
        </p:blipFill>
        <p:spPr>
          <a:xfrm>
            <a:off x="7909560" y="64008"/>
            <a:ext cx="1115568" cy="420624"/>
          </a:xfrm>
          <a:prstGeom prst="rect">
            <a:avLst/>
          </a:prstGeom>
        </p:spPr>
      </p:pic>
      <p:sp>
        <p:nvSpPr>
          <p:cNvPr id="3" name="TextBox 2"/>
          <p:cNvSpPr txBox="1"/>
          <p:nvPr/>
        </p:nvSpPr>
        <p:spPr>
          <a:xfrm>
            <a:off x="347472" y="164592"/>
            <a:ext cx="4572000" cy="201168"/>
          </a:xfrm>
          <a:prstGeom prst="rect">
            <a:avLst/>
          </a:prstGeom>
          <a:noFill/>
        </p:spPr>
        <p:txBody>
          <a:bodyPr wrap="square" lIns="36576" rIns="36576" tIns="18288" bIns="18288">
            <a:spAutoFit/>
          </a:bodyPr>
          <a:lstStyle/>
          <a:p>
            <a:pPr algn="l"/>
            <a:r>
              <a:rPr sz="800" b="1" i="0">
                <a:solidFill>
                  <a:srgbClr val="14B8A6"/>
                </a:solidFill>
                <a:latin typeface="Calibri"/>
              </a:rPr>
              <a:t>T H E  P R O C E S S</a:t>
            </a:r>
          </a:p>
        </p:txBody>
      </p:sp>
      <p:sp>
        <p:nvSpPr>
          <p:cNvPr id="4" name="TextBox 3"/>
          <p:cNvSpPr txBox="1"/>
          <p:nvPr/>
        </p:nvSpPr>
        <p:spPr>
          <a:xfrm>
            <a:off x="320040" y="384048"/>
            <a:ext cx="7772400" cy="685800"/>
          </a:xfrm>
          <a:prstGeom prst="rect">
            <a:avLst/>
          </a:prstGeom>
          <a:noFill/>
        </p:spPr>
        <p:txBody>
          <a:bodyPr wrap="square" lIns="36576" rIns="36576" tIns="18288" bIns="18288">
            <a:spAutoFit/>
          </a:bodyPr>
          <a:lstStyle/>
          <a:p>
            <a:pPr algn="l"/>
            <a:r>
              <a:rPr sz="2400" b="1" i="0">
                <a:solidFill>
                  <a:srgbClr val="0B1F3A"/>
                </a:solidFill>
                <a:latin typeface="Calibri"/>
              </a:rPr>
              <a:t>SAM Lifecycle: Entitlement to Compliance</a:t>
            </a:r>
          </a:p>
        </p:txBody>
      </p:sp>
      <p:sp>
        <p:nvSpPr>
          <p:cNvPr id="5" name="Rectangle 4"/>
          <p:cNvSpPr/>
          <p:nvPr/>
        </p:nvSpPr>
        <p:spPr>
          <a:xfrm>
            <a:off x="320040" y="1005840"/>
            <a:ext cx="8503920" cy="16459"/>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20040" y="1078992"/>
            <a:ext cx="1627632" cy="347472"/>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59" y="1097280"/>
            <a:ext cx="1536192" cy="292608"/>
          </a:xfrm>
          <a:prstGeom prst="rect">
            <a:avLst/>
          </a:prstGeom>
          <a:noFill/>
        </p:spPr>
        <p:txBody>
          <a:bodyPr wrap="square" lIns="36576" rIns="36576" tIns="18288" bIns="18288">
            <a:spAutoFit/>
          </a:bodyPr>
          <a:lstStyle/>
          <a:p>
            <a:pPr algn="ctr"/>
            <a:r>
              <a:rPr sz="850" b="1" i="0">
                <a:solidFill>
                  <a:srgbClr val="FFFFFF"/>
                </a:solidFill>
                <a:latin typeface="Calibri"/>
              </a:rPr>
              <a:t>LICENSE PURCHASED</a:t>
            </a:r>
          </a:p>
        </p:txBody>
      </p:sp>
      <p:sp>
        <p:nvSpPr>
          <p:cNvPr id="8" name="Rectangle 7"/>
          <p:cNvSpPr/>
          <p:nvPr/>
        </p:nvSpPr>
        <p:spPr>
          <a:xfrm>
            <a:off x="2020824" y="1078992"/>
            <a:ext cx="1627632" cy="347472"/>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066543" y="1097280"/>
            <a:ext cx="1536192" cy="292608"/>
          </a:xfrm>
          <a:prstGeom prst="rect">
            <a:avLst/>
          </a:prstGeom>
          <a:noFill/>
        </p:spPr>
        <p:txBody>
          <a:bodyPr wrap="square" lIns="36576" rIns="36576" tIns="18288" bIns="18288">
            <a:spAutoFit/>
          </a:bodyPr>
          <a:lstStyle/>
          <a:p>
            <a:pPr algn="ctr"/>
            <a:r>
              <a:rPr sz="850" b="1" i="0">
                <a:solidFill>
                  <a:srgbClr val="FFFFFF"/>
                </a:solidFill>
                <a:latin typeface="Calibri"/>
              </a:rPr>
              <a:t>SOFTWARE DISCOVERED</a:t>
            </a:r>
          </a:p>
        </p:txBody>
      </p:sp>
      <p:sp>
        <p:nvSpPr>
          <p:cNvPr id="10" name="Rectangle 9"/>
          <p:cNvSpPr/>
          <p:nvPr/>
        </p:nvSpPr>
        <p:spPr>
          <a:xfrm>
            <a:off x="3721608" y="1078992"/>
            <a:ext cx="1627632" cy="347472"/>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767328" y="1097280"/>
            <a:ext cx="1536192" cy="292608"/>
          </a:xfrm>
          <a:prstGeom prst="rect">
            <a:avLst/>
          </a:prstGeom>
          <a:noFill/>
        </p:spPr>
        <p:txBody>
          <a:bodyPr wrap="square" lIns="36576" rIns="36576" tIns="18288" bIns="18288">
            <a:spAutoFit/>
          </a:bodyPr>
          <a:lstStyle/>
          <a:p>
            <a:pPr algn="ctr"/>
            <a:r>
              <a:rPr sz="850" b="1" i="0">
                <a:solidFill>
                  <a:srgbClr val="FFFFFF"/>
                </a:solidFill>
                <a:latin typeface="Calibri"/>
              </a:rPr>
              <a:t>RECONCILIATION</a:t>
            </a:r>
          </a:p>
        </p:txBody>
      </p:sp>
      <p:sp>
        <p:nvSpPr>
          <p:cNvPr id="12" name="Rectangle 11"/>
          <p:cNvSpPr/>
          <p:nvPr/>
        </p:nvSpPr>
        <p:spPr>
          <a:xfrm>
            <a:off x="5422392" y="1078992"/>
            <a:ext cx="1627632" cy="347472"/>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68112" y="1097280"/>
            <a:ext cx="1536192" cy="292608"/>
          </a:xfrm>
          <a:prstGeom prst="rect">
            <a:avLst/>
          </a:prstGeom>
          <a:noFill/>
        </p:spPr>
        <p:txBody>
          <a:bodyPr wrap="square" lIns="36576" rIns="36576" tIns="18288" bIns="18288">
            <a:spAutoFit/>
          </a:bodyPr>
          <a:lstStyle/>
          <a:p>
            <a:pPr algn="ctr"/>
            <a:r>
              <a:rPr sz="850" b="1" i="0">
                <a:solidFill>
                  <a:srgbClr val="FFFFFF"/>
                </a:solidFill>
                <a:latin typeface="Calibri"/>
              </a:rPr>
              <a:t>RECLAMATION</a:t>
            </a:r>
          </a:p>
        </p:txBody>
      </p:sp>
      <p:sp>
        <p:nvSpPr>
          <p:cNvPr id="14" name="Rectangle 13"/>
          <p:cNvSpPr/>
          <p:nvPr/>
        </p:nvSpPr>
        <p:spPr>
          <a:xfrm>
            <a:off x="7123176" y="1078992"/>
            <a:ext cx="1627632" cy="347472"/>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168896" y="1097280"/>
            <a:ext cx="1536192" cy="292608"/>
          </a:xfrm>
          <a:prstGeom prst="rect">
            <a:avLst/>
          </a:prstGeom>
          <a:noFill/>
        </p:spPr>
        <p:txBody>
          <a:bodyPr wrap="square" lIns="36576" rIns="36576" tIns="18288" bIns="18288">
            <a:spAutoFit/>
          </a:bodyPr>
          <a:lstStyle/>
          <a:p>
            <a:pPr algn="ctr"/>
            <a:r>
              <a:rPr sz="850" b="1" i="0">
                <a:solidFill>
                  <a:srgbClr val="FFFFFF"/>
                </a:solidFill>
                <a:latin typeface="Calibri"/>
              </a:rPr>
              <a:t>COMPLIANCE REPORTING</a:t>
            </a:r>
          </a:p>
        </p:txBody>
      </p:sp>
      <p:sp>
        <p:nvSpPr>
          <p:cNvPr id="16" name="TextBox 15"/>
          <p:cNvSpPr txBox="1"/>
          <p:nvPr/>
        </p:nvSpPr>
        <p:spPr>
          <a:xfrm>
            <a:off x="4297680" y="1444752"/>
            <a:ext cx="457200" cy="201168"/>
          </a:xfrm>
          <a:prstGeom prst="rect">
            <a:avLst/>
          </a:prstGeom>
          <a:noFill/>
        </p:spPr>
        <p:txBody>
          <a:bodyPr wrap="square" lIns="36576" rIns="36576" tIns="18288" bIns="18288">
            <a:spAutoFit/>
          </a:bodyPr>
          <a:lstStyle/>
          <a:p>
            <a:pPr algn="ctr"/>
            <a:r>
              <a:rPr sz="1400" b="1" i="0">
                <a:solidFill>
                  <a:srgbClr val="14B8A6"/>
                </a:solidFill>
                <a:latin typeface="Calibri"/>
              </a:rPr>
              <a:t>↓</a:t>
            </a:r>
          </a:p>
        </p:txBody>
      </p:sp>
      <p:sp>
        <p:nvSpPr>
          <p:cNvPr id="17" name="Rectangle 16"/>
          <p:cNvSpPr/>
          <p:nvPr/>
        </p:nvSpPr>
        <p:spPr>
          <a:xfrm>
            <a:off x="320040" y="1664208"/>
            <a:ext cx="8503920" cy="32004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84048" y="1719072"/>
            <a:ext cx="8321040" cy="237744"/>
          </a:xfrm>
          <a:prstGeom prst="rect">
            <a:avLst/>
          </a:prstGeom>
          <a:noFill/>
        </p:spPr>
        <p:txBody>
          <a:bodyPr wrap="square" lIns="36576" rIns="36576" tIns="18288" bIns="18288">
            <a:spAutoFit/>
          </a:bodyPr>
          <a:lstStyle/>
          <a:p>
            <a:pPr algn="ctr"/>
            <a:r>
              <a:rPr sz="900" b="1" i="0">
                <a:solidFill>
                  <a:srgbClr val="0B1F3A"/>
                </a:solidFill>
                <a:latin typeface="Calibri"/>
              </a:rPr>
              <a:t>License Purchased: Software license purchased via procurement. License entitlement record created in SAM (manually or via PO integration). Publisher, product, version, quantity, and expiry recorded.</a:t>
            </a:r>
          </a:p>
        </p:txBody>
      </p:sp>
      <p:sp>
        <p:nvSpPr>
          <p:cNvPr id="19" name="TextBox 18"/>
          <p:cNvSpPr txBox="1"/>
          <p:nvPr/>
        </p:nvSpPr>
        <p:spPr>
          <a:xfrm>
            <a:off x="4297680" y="2002536"/>
            <a:ext cx="457200" cy="182880"/>
          </a:xfrm>
          <a:prstGeom prst="rect">
            <a:avLst/>
          </a:prstGeom>
          <a:noFill/>
        </p:spPr>
        <p:txBody>
          <a:bodyPr wrap="square" lIns="36576" rIns="36576" tIns="18288" bIns="18288">
            <a:spAutoFit/>
          </a:bodyPr>
          <a:lstStyle/>
          <a:p>
            <a:pPr algn="ctr"/>
            <a:r>
              <a:rPr sz="1200" b="1" i="0">
                <a:solidFill>
                  <a:srgbClr val="14B8A6"/>
                </a:solidFill>
                <a:latin typeface="Calibri"/>
              </a:rPr>
              <a:t>↓</a:t>
            </a:r>
          </a:p>
        </p:txBody>
      </p:sp>
      <p:sp>
        <p:nvSpPr>
          <p:cNvPr id="20" name="Rectangle 19"/>
          <p:cNvSpPr/>
          <p:nvPr/>
        </p:nvSpPr>
        <p:spPr>
          <a:xfrm>
            <a:off x="320040" y="2185416"/>
            <a:ext cx="8503920" cy="32004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84048" y="2240280"/>
            <a:ext cx="8321040" cy="237744"/>
          </a:xfrm>
          <a:prstGeom prst="rect">
            <a:avLst/>
          </a:prstGeom>
          <a:noFill/>
        </p:spPr>
        <p:txBody>
          <a:bodyPr wrap="square" lIns="36576" rIns="36576" tIns="18288" bIns="18288">
            <a:spAutoFit/>
          </a:bodyPr>
          <a:lstStyle/>
          <a:p>
            <a:pPr algn="ctr"/>
            <a:r>
              <a:rPr sz="900" b="1" i="0">
                <a:solidFill>
                  <a:srgbClr val="0B1F3A"/>
                </a:solidFill>
                <a:latin typeface="Calibri"/>
              </a:rPr>
              <a:t>Software Discovered: Discovery scans identify installed software on managed endpoints. Software installation records created. Publisher normalization maps raw scan data to publisher catalog.</a:t>
            </a:r>
          </a:p>
        </p:txBody>
      </p:sp>
      <p:sp>
        <p:nvSpPr>
          <p:cNvPr id="22" name="TextBox 21"/>
          <p:cNvSpPr txBox="1"/>
          <p:nvPr/>
        </p:nvSpPr>
        <p:spPr>
          <a:xfrm>
            <a:off x="4297680" y="2523744"/>
            <a:ext cx="457200" cy="182880"/>
          </a:xfrm>
          <a:prstGeom prst="rect">
            <a:avLst/>
          </a:prstGeom>
          <a:noFill/>
        </p:spPr>
        <p:txBody>
          <a:bodyPr wrap="square" lIns="36576" rIns="36576" tIns="18288" bIns="18288">
            <a:spAutoFit/>
          </a:bodyPr>
          <a:lstStyle/>
          <a:p>
            <a:pPr algn="ctr"/>
            <a:r>
              <a:rPr sz="1200" b="1" i="0">
                <a:solidFill>
                  <a:srgbClr val="14B8A6"/>
                </a:solidFill>
                <a:latin typeface="Calibri"/>
              </a:rPr>
              <a:t>↓</a:t>
            </a:r>
          </a:p>
        </p:txBody>
      </p:sp>
      <p:sp>
        <p:nvSpPr>
          <p:cNvPr id="23" name="Rectangle 22"/>
          <p:cNvSpPr/>
          <p:nvPr/>
        </p:nvSpPr>
        <p:spPr>
          <a:xfrm>
            <a:off x="320040" y="2706624"/>
            <a:ext cx="8503920" cy="32004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84048" y="2761488"/>
            <a:ext cx="8321040" cy="237744"/>
          </a:xfrm>
          <a:prstGeom prst="rect">
            <a:avLst/>
          </a:prstGeom>
          <a:noFill/>
        </p:spPr>
        <p:txBody>
          <a:bodyPr wrap="square" lIns="36576" rIns="36576" tIns="18288" bIns="18288">
            <a:spAutoFit/>
          </a:bodyPr>
          <a:lstStyle/>
          <a:p>
            <a:pPr algn="ctr"/>
            <a:r>
              <a:rPr sz="900" b="1" i="0">
                <a:solidFill>
                  <a:srgbClr val="0B1F3A"/>
                </a:solidFill>
                <a:latin typeface="Calibri"/>
              </a:rPr>
              <a:t>Reconciliation: SAM compares entitlements (what you own) to installations (what is installed). Compliance position calculated: compliant, under-licensed, over-licensed.</a:t>
            </a:r>
          </a:p>
        </p:txBody>
      </p:sp>
      <p:sp>
        <p:nvSpPr>
          <p:cNvPr id="25" name="TextBox 24"/>
          <p:cNvSpPr txBox="1"/>
          <p:nvPr/>
        </p:nvSpPr>
        <p:spPr>
          <a:xfrm>
            <a:off x="4297680" y="3044952"/>
            <a:ext cx="457200" cy="182880"/>
          </a:xfrm>
          <a:prstGeom prst="rect">
            <a:avLst/>
          </a:prstGeom>
          <a:noFill/>
        </p:spPr>
        <p:txBody>
          <a:bodyPr wrap="square" lIns="36576" rIns="36576" tIns="18288" bIns="18288">
            <a:spAutoFit/>
          </a:bodyPr>
          <a:lstStyle/>
          <a:p>
            <a:pPr algn="ctr"/>
            <a:r>
              <a:rPr sz="1200" b="1" i="0">
                <a:solidFill>
                  <a:srgbClr val="14B8A6"/>
                </a:solidFill>
                <a:latin typeface="Calibri"/>
              </a:rPr>
              <a:t>↓</a:t>
            </a:r>
          </a:p>
        </p:txBody>
      </p:sp>
      <p:sp>
        <p:nvSpPr>
          <p:cNvPr id="26" name="Rectangle 25"/>
          <p:cNvSpPr/>
          <p:nvPr/>
        </p:nvSpPr>
        <p:spPr>
          <a:xfrm>
            <a:off x="320040" y="3227832"/>
            <a:ext cx="8503920" cy="32004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84048" y="3282696"/>
            <a:ext cx="8321040" cy="237744"/>
          </a:xfrm>
          <a:prstGeom prst="rect">
            <a:avLst/>
          </a:prstGeom>
          <a:noFill/>
        </p:spPr>
        <p:txBody>
          <a:bodyPr wrap="square" lIns="36576" rIns="36576" tIns="18288" bIns="18288">
            <a:spAutoFit/>
          </a:bodyPr>
          <a:lstStyle/>
          <a:p>
            <a:pPr algn="ctr"/>
            <a:r>
              <a:rPr sz="900" b="1" i="0">
                <a:solidFill>
                  <a:srgbClr val="0B1F3A"/>
                </a:solidFill>
                <a:latin typeface="Calibri"/>
              </a:rPr>
              <a:t>Reclamation: Over-licensed software triggers reclamation workflow. Users with low-usage installs notified. License reclaimed on confirmation or timeout. Compliance position updated.</a:t>
            </a:r>
          </a:p>
        </p:txBody>
      </p:sp>
      <p:sp>
        <p:nvSpPr>
          <p:cNvPr id="28" name="TextBox 27"/>
          <p:cNvSpPr txBox="1"/>
          <p:nvPr/>
        </p:nvSpPr>
        <p:spPr>
          <a:xfrm>
            <a:off x="4297680" y="3566160"/>
            <a:ext cx="457200" cy="182880"/>
          </a:xfrm>
          <a:prstGeom prst="rect">
            <a:avLst/>
          </a:prstGeom>
          <a:noFill/>
        </p:spPr>
        <p:txBody>
          <a:bodyPr wrap="square" lIns="36576" rIns="36576" tIns="18288" bIns="18288">
            <a:spAutoFit/>
          </a:bodyPr>
          <a:lstStyle/>
          <a:p>
            <a:pPr algn="ctr"/>
            <a:r>
              <a:rPr sz="1200" b="1" i="0">
                <a:solidFill>
                  <a:srgbClr val="14B8A6"/>
                </a:solidFill>
                <a:latin typeface="Calibri"/>
              </a:rPr>
              <a:t>↓</a:t>
            </a:r>
          </a:p>
        </p:txBody>
      </p:sp>
      <p:sp>
        <p:nvSpPr>
          <p:cNvPr id="29" name="Rectangle 28"/>
          <p:cNvSpPr/>
          <p:nvPr/>
        </p:nvSpPr>
        <p:spPr>
          <a:xfrm>
            <a:off x="320040" y="3749039"/>
            <a:ext cx="8503920" cy="32004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84048" y="3803903"/>
            <a:ext cx="8321040" cy="237744"/>
          </a:xfrm>
          <a:prstGeom prst="rect">
            <a:avLst/>
          </a:prstGeom>
          <a:noFill/>
        </p:spPr>
        <p:txBody>
          <a:bodyPr wrap="square" lIns="36576" rIns="36576" tIns="18288" bIns="18288">
            <a:spAutoFit/>
          </a:bodyPr>
          <a:lstStyle/>
          <a:p>
            <a:pPr algn="ctr"/>
            <a:r>
              <a:rPr sz="900" b="1" i="0">
                <a:solidFill>
                  <a:srgbClr val="0B1F3A"/>
                </a:solidFill>
                <a:latin typeface="Calibri"/>
              </a:rPr>
              <a:t>Compliance Reporting: SAM dashboard shows compliance position by publisher, product, and department. Audit export available OOTB. Renewal alerts triggered by contract expiry dates.</a:t>
            </a:r>
          </a:p>
        </p:txBody>
      </p:sp>
      <p:sp>
        <p:nvSpPr>
          <p:cNvPr id="31" name="TextBox 30"/>
          <p:cNvSpPr txBox="1"/>
          <p:nvPr/>
        </p:nvSpPr>
        <p:spPr>
          <a:xfrm>
            <a:off x="4297680" y="4087368"/>
            <a:ext cx="457200" cy="182880"/>
          </a:xfrm>
          <a:prstGeom prst="rect">
            <a:avLst/>
          </a:prstGeom>
          <a:noFill/>
        </p:spPr>
        <p:txBody>
          <a:bodyPr wrap="square" lIns="36576" rIns="36576" tIns="18288" bIns="18288">
            <a:spAutoFit/>
          </a:bodyPr>
          <a:lstStyle/>
          <a:p>
            <a:pPr algn="ctr"/>
            <a:r>
              <a:rPr sz="1200" b="1" i="0">
                <a:solidFill>
                  <a:srgbClr val="14B8A6"/>
                </a:solidFill>
                <a:latin typeface="Calibri"/>
              </a:rPr>
              <a:t>↓</a:t>
            </a:r>
          </a:p>
        </p:txBody>
      </p:sp>
      <p:sp>
        <p:nvSpPr>
          <p:cNvPr id="32" name="TextBox 31"/>
          <p:cNvSpPr txBox="1"/>
          <p:nvPr/>
        </p:nvSpPr>
        <p:spPr>
          <a:xfrm>
            <a:off x="320040" y="4315968"/>
            <a:ext cx="8503920" cy="457200"/>
          </a:xfrm>
          <a:prstGeom prst="rect">
            <a:avLst/>
          </a:prstGeom>
          <a:noFill/>
        </p:spPr>
        <p:txBody>
          <a:bodyPr wrap="square" lIns="36576" rIns="36576" tIns="18288" bIns="18288">
            <a:spAutoFit/>
          </a:bodyPr>
          <a:lstStyle/>
          <a:p>
            <a:pPr algn="l"/>
            <a:r>
              <a:rPr sz="850" b="1" i="0">
                <a:solidFill>
                  <a:srgbClr val="0D9488"/>
                </a:solidFill>
                <a:latin typeface="Calibri"/>
              </a:rPr>
              <a:t>AI Features Active at Go-Live:  </a:t>
            </a:r>
            <a:r>
              <a:rPr sz="850" b="0" i="0">
                <a:solidFill>
                  <a:srgbClr val="1E293B"/>
                </a:solidFill>
                <a:latin typeface="Calibri"/>
              </a:rPr>
              <a:t>Predictive Intelligence can forecast license demand based on hire/departure trends and historical usage. Now Assist can draft audit responses using SAM compliance data.</a:t>
            </a:r>
          </a:p>
        </p:txBody>
      </p:sp>
      <p:sp>
        <p:nvSpPr>
          <p:cNvPr id="33" name="Rectangle 32"/>
          <p:cNvSpPr/>
          <p:nvPr/>
        </p:nvSpPr>
        <p:spPr>
          <a:xfrm>
            <a:off x="0" y="4818888"/>
            <a:ext cx="9144000" cy="13716"/>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74320" y="4846320"/>
            <a:ext cx="2011680" cy="182880"/>
          </a:xfrm>
          <a:prstGeom prst="rect">
            <a:avLst/>
          </a:prstGeom>
          <a:noFill/>
        </p:spPr>
        <p:txBody>
          <a:bodyPr wrap="square" lIns="36576" rIns="36576" tIns="18288" bIns="18288">
            <a:spAutoFit/>
          </a:bodyPr>
          <a:lstStyle/>
          <a:p>
            <a:pPr algn="l"/>
            <a:r>
              <a:rPr sz="700" b="0" i="0">
                <a:solidFill>
                  <a:srgbClr val="94A3B8"/>
                </a:solidFill>
                <a:latin typeface="Calibri"/>
              </a:rPr>
              <a:t>Everforth ECS Federal</a:t>
            </a:r>
          </a:p>
        </p:txBody>
      </p:sp>
      <p:sp>
        <p:nvSpPr>
          <p:cNvPr id="35" name="TextBox 34"/>
          <p:cNvSpPr txBox="1"/>
          <p:nvPr/>
        </p:nvSpPr>
        <p:spPr>
          <a:xfrm>
            <a:off x="2286000" y="4846320"/>
            <a:ext cx="5029200" cy="182880"/>
          </a:xfrm>
          <a:prstGeom prst="rect">
            <a:avLst/>
          </a:prstGeom>
          <a:noFill/>
        </p:spPr>
        <p:txBody>
          <a:bodyPr wrap="square" lIns="36576" rIns="36576" tIns="18288" bIns="18288">
            <a:spAutoFit/>
          </a:bodyPr>
          <a:lstStyle/>
          <a:p>
            <a:pPr algn="ctr"/>
            <a:r>
              <a:rPr sz="700" b="0" i="0">
                <a:solidFill>
                  <a:srgbClr val="94A3B8"/>
                </a:solidFill>
                <a:latin typeface="Calibri"/>
              </a:rPr>
              <a:t>SERVICENOW PRACTICE  ·  MODERNIZING THE CORE  ·  SOFTWARE ASSET MANAGEMENT</a:t>
            </a:r>
          </a:p>
        </p:txBody>
      </p:sp>
      <p:sp>
        <p:nvSpPr>
          <p:cNvPr id="36" name="TextBox 35"/>
          <p:cNvSpPr txBox="1"/>
          <p:nvPr/>
        </p:nvSpPr>
        <p:spPr>
          <a:xfrm>
            <a:off x="8503920" y="4846320"/>
            <a:ext cx="365760" cy="182880"/>
          </a:xfrm>
          <a:prstGeom prst="rect">
            <a:avLst/>
          </a:prstGeom>
          <a:noFill/>
        </p:spPr>
        <p:txBody>
          <a:bodyPr wrap="square" lIns="36576" rIns="36576" tIns="18288" bIns="18288">
            <a:spAutoFit/>
          </a:bodyPr>
          <a:lstStyle/>
          <a:p>
            <a:pPr algn="r"/>
            <a:r>
              <a:rPr sz="700" b="0" i="0">
                <a:solidFill>
                  <a:srgbClr val="94A3B8"/>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everforth_logo.png"/>
          <p:cNvPicPr>
            <a:picLocks noChangeAspect="1"/>
          </p:cNvPicPr>
          <p:nvPr/>
        </p:nvPicPr>
        <p:blipFill>
          <a:blip r:embed="rId2"/>
          <a:stretch>
            <a:fillRect/>
          </a:stretch>
        </p:blipFill>
        <p:spPr>
          <a:xfrm>
            <a:off x="7909560" y="64008"/>
            <a:ext cx="1115568" cy="420624"/>
          </a:xfrm>
          <a:prstGeom prst="rect">
            <a:avLst/>
          </a:prstGeom>
        </p:spPr>
      </p:pic>
      <p:sp>
        <p:nvSpPr>
          <p:cNvPr id="3" name="TextBox 2"/>
          <p:cNvSpPr txBox="1"/>
          <p:nvPr/>
        </p:nvSpPr>
        <p:spPr>
          <a:xfrm>
            <a:off x="347472" y="164592"/>
            <a:ext cx="4572000" cy="201168"/>
          </a:xfrm>
          <a:prstGeom prst="rect">
            <a:avLst/>
          </a:prstGeom>
          <a:noFill/>
        </p:spPr>
        <p:txBody>
          <a:bodyPr wrap="square" lIns="36576" rIns="36576" tIns="18288" bIns="18288">
            <a:spAutoFit/>
          </a:bodyPr>
          <a:lstStyle/>
          <a:p>
            <a:pPr algn="l"/>
            <a:r>
              <a:rPr sz="800" b="1" i="0">
                <a:solidFill>
                  <a:srgbClr val="14B8A6"/>
                </a:solidFill>
                <a:latin typeface="Calibri"/>
              </a:rPr>
              <a:t>K E Y  D E C I S I O N   # 1</a:t>
            </a:r>
          </a:p>
        </p:txBody>
      </p:sp>
      <p:sp>
        <p:nvSpPr>
          <p:cNvPr id="4" name="TextBox 3"/>
          <p:cNvSpPr txBox="1"/>
          <p:nvPr/>
        </p:nvSpPr>
        <p:spPr>
          <a:xfrm>
            <a:off x="320040" y="384048"/>
            <a:ext cx="7772400" cy="685800"/>
          </a:xfrm>
          <a:prstGeom prst="rect">
            <a:avLst/>
          </a:prstGeom>
          <a:noFill/>
        </p:spPr>
        <p:txBody>
          <a:bodyPr wrap="square" lIns="36576" rIns="36576" tIns="18288" bIns="18288">
            <a:spAutoFit/>
          </a:bodyPr>
          <a:lstStyle/>
          <a:p>
            <a:pPr algn="l"/>
            <a:r>
              <a:rPr sz="1900" b="1" i="0">
                <a:solidFill>
                  <a:srgbClr val="0B1F3A"/>
                </a:solidFill>
                <a:latin typeface="Calibri"/>
              </a:rPr>
              <a:t>Which software publishers and titles are in scope for SAM?</a:t>
            </a:r>
          </a:p>
        </p:txBody>
      </p:sp>
      <p:sp>
        <p:nvSpPr>
          <p:cNvPr id="5" name="Rectangle 4"/>
          <p:cNvSpPr/>
          <p:nvPr/>
        </p:nvSpPr>
        <p:spPr>
          <a:xfrm>
            <a:off x="320040" y="987552"/>
            <a:ext cx="8503920" cy="16459"/>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20040" y="1024128"/>
            <a:ext cx="4069080" cy="27432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1033271"/>
            <a:ext cx="3977639" cy="237744"/>
          </a:xfrm>
          <a:prstGeom prst="rect">
            <a:avLst/>
          </a:prstGeom>
          <a:noFill/>
        </p:spPr>
        <p:txBody>
          <a:bodyPr wrap="square" lIns="36576" rIns="36576" tIns="18288" bIns="18288">
            <a:spAutoFit/>
          </a:bodyPr>
          <a:lstStyle/>
          <a:p>
            <a:pPr algn="ctr"/>
            <a:r>
              <a:rPr sz="850" b="1" i="0">
                <a:solidFill>
                  <a:srgbClr val="FFFFFF"/>
                </a:solidFill>
                <a:latin typeface="Calibri"/>
              </a:rPr>
              <a:t>OOTB RECOMMENDATION</a:t>
            </a:r>
          </a:p>
        </p:txBody>
      </p:sp>
      <p:sp>
        <p:nvSpPr>
          <p:cNvPr id="8" name="Rectangle 7"/>
          <p:cNvSpPr/>
          <p:nvPr/>
        </p:nvSpPr>
        <p:spPr>
          <a:xfrm>
            <a:off x="320040" y="1298448"/>
            <a:ext cx="4069080" cy="27432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1480" y="1353312"/>
            <a:ext cx="3886200" cy="2651760"/>
          </a:xfrm>
          <a:prstGeom prst="rect">
            <a:avLst/>
          </a:prstGeom>
          <a:noFill/>
        </p:spPr>
        <p:txBody>
          <a:bodyPr wrap="square" lIns="36576" rIns="36576" tIns="18288" bIns="18288">
            <a:spAutoFit/>
          </a:bodyPr>
          <a:lstStyle/>
          <a:p>
            <a:pPr algn="l">
              <a:spcBef>
                <a:spcPts val="400"/>
              </a:spcBef>
              <a:spcAft>
                <a:spcPts val="200"/>
              </a:spcAft>
            </a:pPr>
            <a:r>
              <a:rPr sz="900" b="1" i="0">
                <a:solidFill>
                  <a:srgbClr val="0D9488"/>
                </a:solidFill>
                <a:latin typeface="Calibri"/>
              </a:rPr>
              <a:t>OOTB Publisher Catalog:</a:t>
            </a:r>
          </a:p>
          <a:p>
            <a:pPr algn="l">
              <a:spcAft>
                <a:spcPts val="200"/>
              </a:spcAft>
            </a:pPr>
            <a:r>
              <a:rPr sz="850" b="0" i="0">
                <a:solidFill>
                  <a:srgbClr val="1E293B"/>
                </a:solidFill>
                <a:latin typeface="Calibri"/>
              </a:rPr>
              <a:t>SAM ships with a publisher catalog framework. SAM Pro adds Flexera-normalized catalog data for thousands of publishers. In-scope titles drive reconciliation scope, Discovery normalization rules, and entitlement import volume.</a:t>
            </a:r>
          </a:p>
        </p:txBody>
      </p:sp>
      <p:sp>
        <p:nvSpPr>
          <p:cNvPr id="10" name="Rectangle 9"/>
          <p:cNvSpPr/>
          <p:nvPr/>
        </p:nvSpPr>
        <p:spPr>
          <a:xfrm>
            <a:off x="4480560" y="1024128"/>
            <a:ext cx="4343400" cy="274320"/>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26280" y="1033271"/>
            <a:ext cx="4251960" cy="237744"/>
          </a:xfrm>
          <a:prstGeom prst="rect">
            <a:avLst/>
          </a:prstGeom>
          <a:noFill/>
        </p:spPr>
        <p:txBody>
          <a:bodyPr wrap="square" lIns="36576" rIns="36576" tIns="18288" bIns="18288">
            <a:spAutoFit/>
          </a:bodyPr>
          <a:lstStyle/>
          <a:p>
            <a:pPr algn="ctr"/>
            <a:r>
              <a:rPr sz="850" b="1" i="0">
                <a:solidFill>
                  <a:srgbClr val="FFFFFF"/>
                </a:solidFill>
                <a:latin typeface="Calibri"/>
              </a:rPr>
              <a:t>DECIDE IN THE ROOM</a:t>
            </a:r>
          </a:p>
        </p:txBody>
      </p:sp>
      <p:sp>
        <p:nvSpPr>
          <p:cNvPr id="12" name="Rectangle 11"/>
          <p:cNvSpPr/>
          <p:nvPr/>
        </p:nvSpPr>
        <p:spPr>
          <a:xfrm>
            <a:off x="4480560" y="1298448"/>
            <a:ext cx="4343400" cy="27432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0" y="1353312"/>
            <a:ext cx="4160520" cy="2651760"/>
          </a:xfrm>
          <a:prstGeom prst="rect">
            <a:avLst/>
          </a:prstGeom>
          <a:noFill/>
        </p:spPr>
        <p:txBody>
          <a:bodyPr wrap="square" lIns="36576" rIns="36576" tIns="18288" bIns="18288">
            <a:spAutoFit/>
          </a:bodyPr>
          <a:lstStyle/>
          <a:p>
            <a:pPr algn="l">
              <a:spcBef>
                <a:spcPts val="400"/>
              </a:spcBef>
              <a:spcAft>
                <a:spcPts val="200"/>
              </a:spcAft>
            </a:pPr>
            <a:r>
              <a:rPr sz="900" b="1" i="0">
                <a:solidFill>
                  <a:srgbClr val="0B1F3A"/>
                </a:solidFill>
                <a:latin typeface="Calibri"/>
              </a:rPr>
              <a:t>Questions to answer:</a:t>
            </a:r>
          </a:p>
          <a:p>
            <a:pPr algn="l">
              <a:spcAft>
                <a:spcPts val="300"/>
              </a:spcAft>
            </a:pPr>
            <a:r>
              <a:rPr sz="850" b="0" i="0">
                <a:solidFill>
                  <a:srgbClr val="1E293B"/>
                </a:solidFill>
                <a:latin typeface="Calibri"/>
              </a:rPr>
              <a:t>1.  What are the top 10-20 software titles by license cost or compliance risk?</a:t>
            </a:r>
          </a:p>
          <a:p>
            <a:pPr algn="l">
              <a:spcAft>
                <a:spcPts val="300"/>
              </a:spcAft>
            </a:pPr>
            <a:r>
              <a:rPr sz="850" b="0" i="0">
                <a:solidFill>
                  <a:srgbClr val="1E293B"/>
                </a:solidFill>
                <a:latin typeface="Calibri"/>
              </a:rPr>
              <a:t>2.  Are Microsoft, Adobe, and Oracle in scope (highest audit risk publishers)?</a:t>
            </a:r>
          </a:p>
          <a:p>
            <a:pPr algn="l">
              <a:spcAft>
                <a:spcPts val="300"/>
              </a:spcAft>
            </a:pPr>
            <a:r>
              <a:rPr sz="850" b="0" i="0">
                <a:solidFill>
                  <a:srgbClr val="1E293B"/>
                </a:solidFill>
                <a:latin typeface="Calibri"/>
              </a:rPr>
              <a:t>3.  Are any titles covered by enterprise agreements (ELA) with unlimited use rights?</a:t>
            </a:r>
          </a:p>
          <a:p>
            <a:pPr algn="l">
              <a:spcAft>
                <a:spcPts val="300"/>
              </a:spcAft>
            </a:pPr>
            <a:r>
              <a:rPr sz="850" b="0" i="0">
                <a:solidFill>
                  <a:srgbClr val="1E293B"/>
                </a:solidFill>
                <a:latin typeface="Calibri"/>
              </a:rPr>
              <a:t>4.  Who owns the software asset inventory today (IT, procurement, finance)?</a:t>
            </a:r>
          </a:p>
        </p:txBody>
      </p:sp>
      <p:sp>
        <p:nvSpPr>
          <p:cNvPr id="14" name="Rectangle 13"/>
          <p:cNvSpPr/>
          <p:nvPr/>
        </p:nvSpPr>
        <p:spPr>
          <a:xfrm>
            <a:off x="320040" y="4096512"/>
            <a:ext cx="8503920" cy="493776"/>
          </a:xfrm>
          <a:prstGeom prst="rect">
            <a:avLst/>
          </a:prstGeom>
          <a:solidFill>
            <a:srgbClr val="FEF3C7"/>
          </a:solidFill>
          <a:ln w="6350">
            <a:solidFill>
              <a:srgbClr val="FDD83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4133087"/>
            <a:ext cx="8321040" cy="420624"/>
          </a:xfrm>
          <a:prstGeom prst="rect">
            <a:avLst/>
          </a:prstGeom>
          <a:noFill/>
        </p:spPr>
        <p:txBody>
          <a:bodyPr wrap="square" lIns="36576" rIns="36576" tIns="18288" bIns="18288">
            <a:spAutoFit/>
          </a:bodyPr>
          <a:lstStyle/>
          <a:p>
            <a:pPr algn="l"/>
            <a:r>
              <a:rPr sz="900" b="1" i="0">
                <a:solidFill>
                  <a:srgbClr val="D97706"/>
                </a:solidFill>
                <a:latin typeface="Calibri"/>
              </a:rPr>
              <a:t>⚠  OOTB Defense:  </a:t>
            </a:r>
            <a:r>
              <a:rPr sz="850" b="0" i="0">
                <a:solidFill>
                  <a:srgbClr val="1E293B"/>
                </a:solidFill>
                <a:latin typeface="Calibri"/>
              </a:rPr>
              <a:t>Trying to manage all software in SAM at once is a common failure mode. Start with the top 20 titles by cost and compliance risk -- cover 80% of exposure with 20% of the catalog effort.</a:t>
            </a:r>
          </a:p>
        </p:txBody>
      </p:sp>
      <p:sp>
        <p:nvSpPr>
          <p:cNvPr id="16" name="Rectangle 15"/>
          <p:cNvSpPr/>
          <p:nvPr/>
        </p:nvSpPr>
        <p:spPr>
          <a:xfrm>
            <a:off x="0" y="4818888"/>
            <a:ext cx="9144000" cy="13716"/>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74320" y="4846320"/>
            <a:ext cx="2011680" cy="182880"/>
          </a:xfrm>
          <a:prstGeom prst="rect">
            <a:avLst/>
          </a:prstGeom>
          <a:noFill/>
        </p:spPr>
        <p:txBody>
          <a:bodyPr wrap="square" lIns="36576" rIns="36576" tIns="18288" bIns="18288">
            <a:spAutoFit/>
          </a:bodyPr>
          <a:lstStyle/>
          <a:p>
            <a:pPr algn="l"/>
            <a:r>
              <a:rPr sz="700" b="0" i="0">
                <a:solidFill>
                  <a:srgbClr val="94A3B8"/>
                </a:solidFill>
                <a:latin typeface="Calibri"/>
              </a:rPr>
              <a:t>Everforth ECS Federal</a:t>
            </a:r>
          </a:p>
        </p:txBody>
      </p:sp>
      <p:sp>
        <p:nvSpPr>
          <p:cNvPr id="18" name="TextBox 17"/>
          <p:cNvSpPr txBox="1"/>
          <p:nvPr/>
        </p:nvSpPr>
        <p:spPr>
          <a:xfrm>
            <a:off x="2286000" y="4846320"/>
            <a:ext cx="5029200" cy="182880"/>
          </a:xfrm>
          <a:prstGeom prst="rect">
            <a:avLst/>
          </a:prstGeom>
          <a:noFill/>
        </p:spPr>
        <p:txBody>
          <a:bodyPr wrap="square" lIns="36576" rIns="36576" tIns="18288" bIns="18288">
            <a:spAutoFit/>
          </a:bodyPr>
          <a:lstStyle/>
          <a:p>
            <a:pPr algn="ctr"/>
            <a:r>
              <a:rPr sz="700" b="0" i="0">
                <a:solidFill>
                  <a:srgbClr val="94A3B8"/>
                </a:solidFill>
                <a:latin typeface="Calibri"/>
              </a:rPr>
              <a:t>SERVICENOW PRACTICE  ·  MODERNIZING THE CORE  ·  SOFTWARE ASSET MANAGEMENT</a:t>
            </a:r>
          </a:p>
        </p:txBody>
      </p:sp>
      <p:sp>
        <p:nvSpPr>
          <p:cNvPr id="19" name="TextBox 18"/>
          <p:cNvSpPr txBox="1"/>
          <p:nvPr/>
        </p:nvSpPr>
        <p:spPr>
          <a:xfrm>
            <a:off x="8503920" y="4846320"/>
            <a:ext cx="365760" cy="182880"/>
          </a:xfrm>
          <a:prstGeom prst="rect">
            <a:avLst/>
          </a:prstGeom>
          <a:noFill/>
        </p:spPr>
        <p:txBody>
          <a:bodyPr wrap="square" lIns="36576" rIns="36576" tIns="18288" bIns="18288">
            <a:spAutoFit/>
          </a:bodyPr>
          <a:lstStyle/>
          <a:p>
            <a:pPr algn="r"/>
            <a:r>
              <a:rPr sz="700" b="0" i="0">
                <a:solidFill>
                  <a:srgbClr val="94A3B8"/>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everforth_logo.png"/>
          <p:cNvPicPr>
            <a:picLocks noChangeAspect="1"/>
          </p:cNvPicPr>
          <p:nvPr/>
        </p:nvPicPr>
        <p:blipFill>
          <a:blip r:embed="rId2"/>
          <a:stretch>
            <a:fillRect/>
          </a:stretch>
        </p:blipFill>
        <p:spPr>
          <a:xfrm>
            <a:off x="7909560" y="64008"/>
            <a:ext cx="1115568" cy="420624"/>
          </a:xfrm>
          <a:prstGeom prst="rect">
            <a:avLst/>
          </a:prstGeom>
        </p:spPr>
      </p:pic>
      <p:sp>
        <p:nvSpPr>
          <p:cNvPr id="3" name="TextBox 2"/>
          <p:cNvSpPr txBox="1"/>
          <p:nvPr/>
        </p:nvSpPr>
        <p:spPr>
          <a:xfrm>
            <a:off x="347472" y="164592"/>
            <a:ext cx="4572000" cy="201168"/>
          </a:xfrm>
          <a:prstGeom prst="rect">
            <a:avLst/>
          </a:prstGeom>
          <a:noFill/>
        </p:spPr>
        <p:txBody>
          <a:bodyPr wrap="square" lIns="36576" rIns="36576" tIns="18288" bIns="18288">
            <a:spAutoFit/>
          </a:bodyPr>
          <a:lstStyle/>
          <a:p>
            <a:pPr algn="l"/>
            <a:r>
              <a:rPr sz="800" b="1" i="0">
                <a:solidFill>
                  <a:srgbClr val="14B8A6"/>
                </a:solidFill>
                <a:latin typeface="Calibri"/>
              </a:rPr>
              <a:t>K E Y  D E C I S I O N   # 2</a:t>
            </a:r>
          </a:p>
        </p:txBody>
      </p:sp>
      <p:sp>
        <p:nvSpPr>
          <p:cNvPr id="4" name="TextBox 3"/>
          <p:cNvSpPr txBox="1"/>
          <p:nvPr/>
        </p:nvSpPr>
        <p:spPr>
          <a:xfrm>
            <a:off x="320040" y="384048"/>
            <a:ext cx="7772400" cy="685800"/>
          </a:xfrm>
          <a:prstGeom prst="rect">
            <a:avLst/>
          </a:prstGeom>
          <a:noFill/>
        </p:spPr>
        <p:txBody>
          <a:bodyPr wrap="square" lIns="36576" rIns="36576" tIns="18288" bIns="18288">
            <a:spAutoFit/>
          </a:bodyPr>
          <a:lstStyle/>
          <a:p>
            <a:pPr algn="l"/>
            <a:r>
              <a:rPr sz="1900" b="1" i="0">
                <a:solidFill>
                  <a:srgbClr val="0B1F3A"/>
                </a:solidFill>
                <a:latin typeface="Calibri"/>
              </a:rPr>
              <a:t>What license models do your top titles use?</a:t>
            </a:r>
          </a:p>
        </p:txBody>
      </p:sp>
      <p:sp>
        <p:nvSpPr>
          <p:cNvPr id="5" name="Rectangle 4"/>
          <p:cNvSpPr/>
          <p:nvPr/>
        </p:nvSpPr>
        <p:spPr>
          <a:xfrm>
            <a:off x="320040" y="987552"/>
            <a:ext cx="8503920" cy="16459"/>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20040" y="1024128"/>
            <a:ext cx="4069080" cy="27432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1033271"/>
            <a:ext cx="3977639" cy="237744"/>
          </a:xfrm>
          <a:prstGeom prst="rect">
            <a:avLst/>
          </a:prstGeom>
          <a:noFill/>
        </p:spPr>
        <p:txBody>
          <a:bodyPr wrap="square" lIns="36576" rIns="36576" tIns="18288" bIns="18288">
            <a:spAutoFit/>
          </a:bodyPr>
          <a:lstStyle/>
          <a:p>
            <a:pPr algn="ctr"/>
            <a:r>
              <a:rPr sz="850" b="1" i="0">
                <a:solidFill>
                  <a:srgbClr val="FFFFFF"/>
                </a:solidFill>
                <a:latin typeface="Calibri"/>
              </a:rPr>
              <a:t>OOTB RECOMMENDATION</a:t>
            </a:r>
          </a:p>
        </p:txBody>
      </p:sp>
      <p:sp>
        <p:nvSpPr>
          <p:cNvPr id="8" name="Rectangle 7"/>
          <p:cNvSpPr/>
          <p:nvPr/>
        </p:nvSpPr>
        <p:spPr>
          <a:xfrm>
            <a:off x="320040" y="1298448"/>
            <a:ext cx="4069080" cy="27432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1480" y="1353312"/>
            <a:ext cx="3886200" cy="2651760"/>
          </a:xfrm>
          <a:prstGeom prst="rect">
            <a:avLst/>
          </a:prstGeom>
          <a:noFill/>
        </p:spPr>
        <p:txBody>
          <a:bodyPr wrap="square" lIns="36576" rIns="36576" tIns="18288" bIns="18288">
            <a:spAutoFit/>
          </a:bodyPr>
          <a:lstStyle/>
          <a:p>
            <a:pPr algn="l">
              <a:spcBef>
                <a:spcPts val="400"/>
              </a:spcBef>
              <a:spcAft>
                <a:spcPts val="200"/>
              </a:spcAft>
            </a:pPr>
            <a:r>
              <a:rPr sz="900" b="1" i="0">
                <a:solidFill>
                  <a:srgbClr val="0D9488"/>
                </a:solidFill>
                <a:latin typeface="Calibri"/>
              </a:rPr>
              <a:t>OOTB License Models:</a:t>
            </a:r>
          </a:p>
          <a:p>
            <a:pPr algn="l">
              <a:spcAft>
                <a:spcPts val="200"/>
              </a:spcAft>
            </a:pPr>
            <a:r>
              <a:rPr sz="850" b="0" i="0">
                <a:solidFill>
                  <a:srgbClr val="1E293B"/>
                </a:solidFill>
                <a:latin typeface="Calibri"/>
              </a:rPr>
              <a:t>SAM supports: per-seat, concurrent, processor-based, device-based, subscription, and enterprise agreement. License model drives how reconciliation counts installations vs. entitlements. OOTB license model library covers all major publishers.</a:t>
            </a:r>
          </a:p>
        </p:txBody>
      </p:sp>
      <p:sp>
        <p:nvSpPr>
          <p:cNvPr id="10" name="Rectangle 9"/>
          <p:cNvSpPr/>
          <p:nvPr/>
        </p:nvSpPr>
        <p:spPr>
          <a:xfrm>
            <a:off x="4480560" y="1024128"/>
            <a:ext cx="4343400" cy="274320"/>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26280" y="1033271"/>
            <a:ext cx="4251960" cy="237744"/>
          </a:xfrm>
          <a:prstGeom prst="rect">
            <a:avLst/>
          </a:prstGeom>
          <a:noFill/>
        </p:spPr>
        <p:txBody>
          <a:bodyPr wrap="square" lIns="36576" rIns="36576" tIns="18288" bIns="18288">
            <a:spAutoFit/>
          </a:bodyPr>
          <a:lstStyle/>
          <a:p>
            <a:pPr algn="ctr"/>
            <a:r>
              <a:rPr sz="850" b="1" i="0">
                <a:solidFill>
                  <a:srgbClr val="FFFFFF"/>
                </a:solidFill>
                <a:latin typeface="Calibri"/>
              </a:rPr>
              <a:t>DECIDE IN THE ROOM</a:t>
            </a:r>
          </a:p>
        </p:txBody>
      </p:sp>
      <p:sp>
        <p:nvSpPr>
          <p:cNvPr id="12" name="Rectangle 11"/>
          <p:cNvSpPr/>
          <p:nvPr/>
        </p:nvSpPr>
        <p:spPr>
          <a:xfrm>
            <a:off x="4480560" y="1298448"/>
            <a:ext cx="4343400" cy="27432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0" y="1353312"/>
            <a:ext cx="4160520" cy="2651760"/>
          </a:xfrm>
          <a:prstGeom prst="rect">
            <a:avLst/>
          </a:prstGeom>
          <a:noFill/>
        </p:spPr>
        <p:txBody>
          <a:bodyPr wrap="square" lIns="36576" rIns="36576" tIns="18288" bIns="18288">
            <a:spAutoFit/>
          </a:bodyPr>
          <a:lstStyle/>
          <a:p>
            <a:pPr algn="l">
              <a:spcBef>
                <a:spcPts val="400"/>
              </a:spcBef>
              <a:spcAft>
                <a:spcPts val="200"/>
              </a:spcAft>
            </a:pPr>
            <a:r>
              <a:rPr sz="900" b="1" i="0">
                <a:solidFill>
                  <a:srgbClr val="0B1F3A"/>
                </a:solidFill>
                <a:latin typeface="Calibri"/>
              </a:rPr>
              <a:t>Questions to answer:</a:t>
            </a:r>
          </a:p>
          <a:p>
            <a:pPr algn="l">
              <a:spcAft>
                <a:spcPts val="300"/>
              </a:spcAft>
            </a:pPr>
            <a:r>
              <a:rPr sz="850" b="0" i="0">
                <a:solidFill>
                  <a:srgbClr val="1E293B"/>
                </a:solidFill>
                <a:latin typeface="Calibri"/>
              </a:rPr>
              <a:t>1.  Are any titles per-processor or per-core (Oracle, IBM -- highest compliance risk)?</a:t>
            </a:r>
          </a:p>
          <a:p>
            <a:pPr algn="l">
              <a:spcAft>
                <a:spcPts val="300"/>
              </a:spcAft>
            </a:pPr>
            <a:r>
              <a:rPr sz="850" b="0" i="0">
                <a:solidFill>
                  <a:srgbClr val="1E293B"/>
                </a:solidFill>
                <a:latin typeface="Calibri"/>
              </a:rPr>
              <a:t>2.  Are any titles subscription-based (Microsoft 365, Adobe CC) -- tracked by user assignment?</a:t>
            </a:r>
          </a:p>
          <a:p>
            <a:pPr algn="l">
              <a:spcAft>
                <a:spcPts val="300"/>
              </a:spcAft>
            </a:pPr>
            <a:r>
              <a:rPr sz="850" b="0" i="0">
                <a:solidFill>
                  <a:srgbClr val="1E293B"/>
                </a:solidFill>
                <a:latin typeface="Calibri"/>
              </a:rPr>
              <a:t>3.  Are any titles covered by government-wide agreements (GSA, SEWP) with special terms?</a:t>
            </a:r>
          </a:p>
          <a:p>
            <a:pPr algn="l">
              <a:spcAft>
                <a:spcPts val="300"/>
              </a:spcAft>
            </a:pPr>
            <a:r>
              <a:rPr sz="850" b="0" i="0">
                <a:solidFill>
                  <a:srgbClr val="1E293B"/>
                </a:solidFill>
                <a:latin typeface="Calibri"/>
              </a:rPr>
              <a:t>4.  Does your Microsoft EA include SA rights that affect upgrade entitlements?</a:t>
            </a:r>
          </a:p>
        </p:txBody>
      </p:sp>
      <p:sp>
        <p:nvSpPr>
          <p:cNvPr id="14" name="Rectangle 13"/>
          <p:cNvSpPr/>
          <p:nvPr/>
        </p:nvSpPr>
        <p:spPr>
          <a:xfrm>
            <a:off x="320040" y="4096512"/>
            <a:ext cx="8503920" cy="493776"/>
          </a:xfrm>
          <a:prstGeom prst="rect">
            <a:avLst/>
          </a:prstGeom>
          <a:solidFill>
            <a:srgbClr val="FEF3C7"/>
          </a:solidFill>
          <a:ln w="6350">
            <a:solidFill>
              <a:srgbClr val="FDD83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4133087"/>
            <a:ext cx="8321040" cy="420624"/>
          </a:xfrm>
          <a:prstGeom prst="rect">
            <a:avLst/>
          </a:prstGeom>
          <a:noFill/>
        </p:spPr>
        <p:txBody>
          <a:bodyPr wrap="square" lIns="36576" rIns="36576" tIns="18288" bIns="18288">
            <a:spAutoFit/>
          </a:bodyPr>
          <a:lstStyle/>
          <a:p>
            <a:pPr algn="l"/>
            <a:r>
              <a:rPr sz="900" b="1" i="0">
                <a:solidFill>
                  <a:srgbClr val="D97706"/>
                </a:solidFill>
                <a:latin typeface="Calibri"/>
              </a:rPr>
              <a:t>⚠  OOTB Defense:  </a:t>
            </a:r>
            <a:r>
              <a:rPr sz="850" b="0" i="0">
                <a:solidFill>
                  <a:srgbClr val="1E293B"/>
                </a:solidFill>
                <a:latin typeface="Calibri"/>
              </a:rPr>
              <a:t>License model misclassification is the #1 cause of inaccurate SAM reconciliation. Agree on models for top 20 titles in this room -- do not let it slip to sprint execution.</a:t>
            </a:r>
          </a:p>
        </p:txBody>
      </p:sp>
      <p:sp>
        <p:nvSpPr>
          <p:cNvPr id="16" name="Rectangle 15"/>
          <p:cNvSpPr/>
          <p:nvPr/>
        </p:nvSpPr>
        <p:spPr>
          <a:xfrm>
            <a:off x="0" y="4818888"/>
            <a:ext cx="9144000" cy="13716"/>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74320" y="4846320"/>
            <a:ext cx="2011680" cy="182880"/>
          </a:xfrm>
          <a:prstGeom prst="rect">
            <a:avLst/>
          </a:prstGeom>
          <a:noFill/>
        </p:spPr>
        <p:txBody>
          <a:bodyPr wrap="square" lIns="36576" rIns="36576" tIns="18288" bIns="18288">
            <a:spAutoFit/>
          </a:bodyPr>
          <a:lstStyle/>
          <a:p>
            <a:pPr algn="l"/>
            <a:r>
              <a:rPr sz="700" b="0" i="0">
                <a:solidFill>
                  <a:srgbClr val="94A3B8"/>
                </a:solidFill>
                <a:latin typeface="Calibri"/>
              </a:rPr>
              <a:t>Everforth ECS Federal</a:t>
            </a:r>
          </a:p>
        </p:txBody>
      </p:sp>
      <p:sp>
        <p:nvSpPr>
          <p:cNvPr id="18" name="TextBox 17"/>
          <p:cNvSpPr txBox="1"/>
          <p:nvPr/>
        </p:nvSpPr>
        <p:spPr>
          <a:xfrm>
            <a:off x="2286000" y="4846320"/>
            <a:ext cx="5029200" cy="182880"/>
          </a:xfrm>
          <a:prstGeom prst="rect">
            <a:avLst/>
          </a:prstGeom>
          <a:noFill/>
        </p:spPr>
        <p:txBody>
          <a:bodyPr wrap="square" lIns="36576" rIns="36576" tIns="18288" bIns="18288">
            <a:spAutoFit/>
          </a:bodyPr>
          <a:lstStyle/>
          <a:p>
            <a:pPr algn="ctr"/>
            <a:r>
              <a:rPr sz="700" b="0" i="0">
                <a:solidFill>
                  <a:srgbClr val="94A3B8"/>
                </a:solidFill>
                <a:latin typeface="Calibri"/>
              </a:rPr>
              <a:t>SERVICENOW PRACTICE  ·  MODERNIZING THE CORE  ·  SOFTWARE ASSET MANAGEMENT</a:t>
            </a:r>
          </a:p>
        </p:txBody>
      </p:sp>
      <p:sp>
        <p:nvSpPr>
          <p:cNvPr id="19" name="TextBox 18"/>
          <p:cNvSpPr txBox="1"/>
          <p:nvPr/>
        </p:nvSpPr>
        <p:spPr>
          <a:xfrm>
            <a:off x="8503920" y="4846320"/>
            <a:ext cx="365760" cy="182880"/>
          </a:xfrm>
          <a:prstGeom prst="rect">
            <a:avLst/>
          </a:prstGeom>
          <a:noFill/>
        </p:spPr>
        <p:txBody>
          <a:bodyPr wrap="square" lIns="36576" rIns="36576" tIns="18288" bIns="18288">
            <a:spAutoFit/>
          </a:bodyPr>
          <a:lstStyle/>
          <a:p>
            <a:pPr algn="r"/>
            <a:r>
              <a:rPr sz="700" b="0" i="0">
                <a:solidFill>
                  <a:srgbClr val="94A3B8"/>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everforth_logo.png"/>
          <p:cNvPicPr>
            <a:picLocks noChangeAspect="1"/>
          </p:cNvPicPr>
          <p:nvPr/>
        </p:nvPicPr>
        <p:blipFill>
          <a:blip r:embed="rId2"/>
          <a:stretch>
            <a:fillRect/>
          </a:stretch>
        </p:blipFill>
        <p:spPr>
          <a:xfrm>
            <a:off x="7909560" y="64008"/>
            <a:ext cx="1115568" cy="420624"/>
          </a:xfrm>
          <a:prstGeom prst="rect">
            <a:avLst/>
          </a:prstGeom>
        </p:spPr>
      </p:pic>
      <p:sp>
        <p:nvSpPr>
          <p:cNvPr id="3" name="TextBox 2"/>
          <p:cNvSpPr txBox="1"/>
          <p:nvPr/>
        </p:nvSpPr>
        <p:spPr>
          <a:xfrm>
            <a:off x="347472" y="164592"/>
            <a:ext cx="4572000" cy="201168"/>
          </a:xfrm>
          <a:prstGeom prst="rect">
            <a:avLst/>
          </a:prstGeom>
          <a:noFill/>
        </p:spPr>
        <p:txBody>
          <a:bodyPr wrap="square" lIns="36576" rIns="36576" tIns="18288" bIns="18288">
            <a:spAutoFit/>
          </a:bodyPr>
          <a:lstStyle/>
          <a:p>
            <a:pPr algn="l"/>
            <a:r>
              <a:rPr sz="800" b="1" i="0">
                <a:solidFill>
                  <a:srgbClr val="14B8A6"/>
                </a:solidFill>
                <a:latin typeface="Calibri"/>
              </a:rPr>
              <a:t>K E Y  D E C I S I O N   # 3</a:t>
            </a:r>
          </a:p>
        </p:txBody>
      </p:sp>
      <p:sp>
        <p:nvSpPr>
          <p:cNvPr id="4" name="TextBox 3"/>
          <p:cNvSpPr txBox="1"/>
          <p:nvPr/>
        </p:nvSpPr>
        <p:spPr>
          <a:xfrm>
            <a:off x="320040" y="384048"/>
            <a:ext cx="7772400" cy="685800"/>
          </a:xfrm>
          <a:prstGeom prst="rect">
            <a:avLst/>
          </a:prstGeom>
          <a:noFill/>
        </p:spPr>
        <p:txBody>
          <a:bodyPr wrap="square" lIns="36576" rIns="36576" tIns="18288" bIns="18288">
            <a:spAutoFit/>
          </a:bodyPr>
          <a:lstStyle/>
          <a:p>
            <a:pPr algn="l"/>
            <a:r>
              <a:rPr sz="1900" b="1" i="0">
                <a:solidFill>
                  <a:srgbClr val="0B1F3A"/>
                </a:solidFill>
                <a:latin typeface="Calibri"/>
              </a:rPr>
              <a:t>Where does your current software entitlement data live?</a:t>
            </a:r>
          </a:p>
        </p:txBody>
      </p:sp>
      <p:sp>
        <p:nvSpPr>
          <p:cNvPr id="5" name="Rectangle 4"/>
          <p:cNvSpPr/>
          <p:nvPr/>
        </p:nvSpPr>
        <p:spPr>
          <a:xfrm>
            <a:off x="320040" y="987552"/>
            <a:ext cx="8503920" cy="16459"/>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20040" y="1024128"/>
            <a:ext cx="4069080" cy="27432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1033271"/>
            <a:ext cx="3977639" cy="237744"/>
          </a:xfrm>
          <a:prstGeom prst="rect">
            <a:avLst/>
          </a:prstGeom>
          <a:noFill/>
        </p:spPr>
        <p:txBody>
          <a:bodyPr wrap="square" lIns="36576" rIns="36576" tIns="18288" bIns="18288">
            <a:spAutoFit/>
          </a:bodyPr>
          <a:lstStyle/>
          <a:p>
            <a:pPr algn="ctr"/>
            <a:r>
              <a:rPr sz="850" b="1" i="0">
                <a:solidFill>
                  <a:srgbClr val="FFFFFF"/>
                </a:solidFill>
                <a:latin typeface="Calibri"/>
              </a:rPr>
              <a:t>OOTB RECOMMENDATION</a:t>
            </a:r>
          </a:p>
        </p:txBody>
      </p:sp>
      <p:sp>
        <p:nvSpPr>
          <p:cNvPr id="8" name="Rectangle 7"/>
          <p:cNvSpPr/>
          <p:nvPr/>
        </p:nvSpPr>
        <p:spPr>
          <a:xfrm>
            <a:off x="320040" y="1298448"/>
            <a:ext cx="4069080" cy="27432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1480" y="1353312"/>
            <a:ext cx="3886200" cy="2651760"/>
          </a:xfrm>
          <a:prstGeom prst="rect">
            <a:avLst/>
          </a:prstGeom>
          <a:noFill/>
        </p:spPr>
        <p:txBody>
          <a:bodyPr wrap="square" lIns="36576" rIns="36576" tIns="18288" bIns="18288">
            <a:spAutoFit/>
          </a:bodyPr>
          <a:lstStyle/>
          <a:p>
            <a:pPr algn="l">
              <a:spcBef>
                <a:spcPts val="400"/>
              </a:spcBef>
              <a:spcAft>
                <a:spcPts val="200"/>
              </a:spcAft>
            </a:pPr>
            <a:r>
              <a:rPr sz="900" b="1" i="0">
                <a:solidFill>
                  <a:srgbClr val="0D9488"/>
                </a:solidFill>
                <a:latin typeface="Calibri"/>
              </a:rPr>
              <a:t>OOTB Entitlement Import:</a:t>
            </a:r>
          </a:p>
          <a:p>
            <a:pPr algn="l">
              <a:spcAft>
                <a:spcPts val="200"/>
              </a:spcAft>
            </a:pPr>
            <a:r>
              <a:rPr sz="850" b="0" i="0">
                <a:solidFill>
                  <a:srgbClr val="1E293B"/>
                </a:solidFill>
                <a:latin typeface="Calibri"/>
              </a:rPr>
              <a:t>SAM imports entitlement records via Import Sets (CSV from contracts, PO system, or manual entry). SAM Pro can pull entitlement data from Flexera, Snow Software, or other ITAM platforms via connector. No scripted import needed.</a:t>
            </a:r>
          </a:p>
        </p:txBody>
      </p:sp>
      <p:sp>
        <p:nvSpPr>
          <p:cNvPr id="10" name="Rectangle 9"/>
          <p:cNvSpPr/>
          <p:nvPr/>
        </p:nvSpPr>
        <p:spPr>
          <a:xfrm>
            <a:off x="4480560" y="1024128"/>
            <a:ext cx="4343400" cy="274320"/>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26280" y="1033271"/>
            <a:ext cx="4251960" cy="237744"/>
          </a:xfrm>
          <a:prstGeom prst="rect">
            <a:avLst/>
          </a:prstGeom>
          <a:noFill/>
        </p:spPr>
        <p:txBody>
          <a:bodyPr wrap="square" lIns="36576" rIns="36576" tIns="18288" bIns="18288">
            <a:spAutoFit/>
          </a:bodyPr>
          <a:lstStyle/>
          <a:p>
            <a:pPr algn="ctr"/>
            <a:r>
              <a:rPr sz="850" b="1" i="0">
                <a:solidFill>
                  <a:srgbClr val="FFFFFF"/>
                </a:solidFill>
                <a:latin typeface="Calibri"/>
              </a:rPr>
              <a:t>DECIDE IN THE ROOM</a:t>
            </a:r>
          </a:p>
        </p:txBody>
      </p:sp>
      <p:sp>
        <p:nvSpPr>
          <p:cNvPr id="12" name="Rectangle 11"/>
          <p:cNvSpPr/>
          <p:nvPr/>
        </p:nvSpPr>
        <p:spPr>
          <a:xfrm>
            <a:off x="4480560" y="1298448"/>
            <a:ext cx="4343400" cy="27432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0" y="1353312"/>
            <a:ext cx="4160520" cy="2651760"/>
          </a:xfrm>
          <a:prstGeom prst="rect">
            <a:avLst/>
          </a:prstGeom>
          <a:noFill/>
        </p:spPr>
        <p:txBody>
          <a:bodyPr wrap="square" lIns="36576" rIns="36576" tIns="18288" bIns="18288">
            <a:spAutoFit/>
          </a:bodyPr>
          <a:lstStyle/>
          <a:p>
            <a:pPr algn="l">
              <a:spcBef>
                <a:spcPts val="400"/>
              </a:spcBef>
              <a:spcAft>
                <a:spcPts val="200"/>
              </a:spcAft>
            </a:pPr>
            <a:r>
              <a:rPr sz="900" b="1" i="0">
                <a:solidFill>
                  <a:srgbClr val="0B1F3A"/>
                </a:solidFill>
                <a:latin typeface="Calibri"/>
              </a:rPr>
              <a:t>Questions to answer:</a:t>
            </a:r>
          </a:p>
          <a:p>
            <a:pPr algn="l">
              <a:spcAft>
                <a:spcPts val="300"/>
              </a:spcAft>
            </a:pPr>
            <a:r>
              <a:rPr sz="850" b="0" i="0">
                <a:solidFill>
                  <a:srgbClr val="1E293B"/>
                </a:solidFill>
                <a:latin typeface="Calibri"/>
              </a:rPr>
              <a:t>1.  Is entitlement data in a spreadsheet, ITAM tool, or procurement system?</a:t>
            </a:r>
          </a:p>
          <a:p>
            <a:pPr algn="l">
              <a:spcAft>
                <a:spcPts val="300"/>
              </a:spcAft>
            </a:pPr>
            <a:r>
              <a:rPr sz="850" b="0" i="0">
                <a:solidFill>
                  <a:srgbClr val="1E293B"/>
                </a:solidFill>
                <a:latin typeface="Calibri"/>
              </a:rPr>
              <a:t>2.  Who owns the entitlement data export and cleansing effort?</a:t>
            </a:r>
          </a:p>
          <a:p>
            <a:pPr algn="l">
              <a:spcAft>
                <a:spcPts val="300"/>
              </a:spcAft>
            </a:pPr>
            <a:r>
              <a:rPr sz="850" b="0" i="0">
                <a:solidFill>
                  <a:srgbClr val="1E293B"/>
                </a:solidFill>
                <a:latin typeface="Calibri"/>
              </a:rPr>
              <a:t>3.  How current is the data -- are all recent purchases reflected?</a:t>
            </a:r>
          </a:p>
          <a:p>
            <a:pPr algn="l">
              <a:spcAft>
                <a:spcPts val="300"/>
              </a:spcAft>
            </a:pPr>
            <a:r>
              <a:rPr sz="850" b="0" i="0">
                <a:solidFill>
                  <a:srgbClr val="1E293B"/>
                </a:solidFill>
                <a:latin typeface="Calibri"/>
              </a:rPr>
              <a:t>4.  Are any licenses held at the department level vs. centrally managed?</a:t>
            </a:r>
          </a:p>
        </p:txBody>
      </p:sp>
      <p:sp>
        <p:nvSpPr>
          <p:cNvPr id="14" name="Rectangle 13"/>
          <p:cNvSpPr/>
          <p:nvPr/>
        </p:nvSpPr>
        <p:spPr>
          <a:xfrm>
            <a:off x="320040" y="4096512"/>
            <a:ext cx="8503920" cy="493776"/>
          </a:xfrm>
          <a:prstGeom prst="rect">
            <a:avLst/>
          </a:prstGeom>
          <a:solidFill>
            <a:srgbClr val="FEF3C7"/>
          </a:solidFill>
          <a:ln w="6350">
            <a:solidFill>
              <a:srgbClr val="FDD83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4133087"/>
            <a:ext cx="8321040" cy="420624"/>
          </a:xfrm>
          <a:prstGeom prst="rect">
            <a:avLst/>
          </a:prstGeom>
          <a:noFill/>
        </p:spPr>
        <p:txBody>
          <a:bodyPr wrap="square" lIns="36576" rIns="36576" tIns="18288" bIns="18288">
            <a:spAutoFit/>
          </a:bodyPr>
          <a:lstStyle/>
          <a:p>
            <a:pPr algn="l"/>
            <a:r>
              <a:rPr sz="900" b="1" i="0">
                <a:solidFill>
                  <a:srgbClr val="D97706"/>
                </a:solidFill>
                <a:latin typeface="Calibri"/>
              </a:rPr>
              <a:t>⚠  OOTB Defense:  </a:t>
            </a:r>
            <a:r>
              <a:rPr sz="850" b="0" i="0">
                <a:solidFill>
                  <a:srgbClr val="1E293B"/>
                </a:solidFill>
                <a:latin typeface="Calibri"/>
              </a:rPr>
              <a:t>Stale entitlement data produces a false compliance picture on day one. A data quality sprint before SAM go-live is worth more than the fastest possible activation date.</a:t>
            </a:r>
          </a:p>
        </p:txBody>
      </p:sp>
      <p:sp>
        <p:nvSpPr>
          <p:cNvPr id="16" name="Rectangle 15"/>
          <p:cNvSpPr/>
          <p:nvPr/>
        </p:nvSpPr>
        <p:spPr>
          <a:xfrm>
            <a:off x="0" y="4818888"/>
            <a:ext cx="9144000" cy="13716"/>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74320" y="4846320"/>
            <a:ext cx="2011680" cy="182880"/>
          </a:xfrm>
          <a:prstGeom prst="rect">
            <a:avLst/>
          </a:prstGeom>
          <a:noFill/>
        </p:spPr>
        <p:txBody>
          <a:bodyPr wrap="square" lIns="36576" rIns="36576" tIns="18288" bIns="18288">
            <a:spAutoFit/>
          </a:bodyPr>
          <a:lstStyle/>
          <a:p>
            <a:pPr algn="l"/>
            <a:r>
              <a:rPr sz="700" b="0" i="0">
                <a:solidFill>
                  <a:srgbClr val="94A3B8"/>
                </a:solidFill>
                <a:latin typeface="Calibri"/>
              </a:rPr>
              <a:t>Everforth ECS Federal</a:t>
            </a:r>
          </a:p>
        </p:txBody>
      </p:sp>
      <p:sp>
        <p:nvSpPr>
          <p:cNvPr id="18" name="TextBox 17"/>
          <p:cNvSpPr txBox="1"/>
          <p:nvPr/>
        </p:nvSpPr>
        <p:spPr>
          <a:xfrm>
            <a:off x="2286000" y="4846320"/>
            <a:ext cx="5029200" cy="182880"/>
          </a:xfrm>
          <a:prstGeom prst="rect">
            <a:avLst/>
          </a:prstGeom>
          <a:noFill/>
        </p:spPr>
        <p:txBody>
          <a:bodyPr wrap="square" lIns="36576" rIns="36576" tIns="18288" bIns="18288">
            <a:spAutoFit/>
          </a:bodyPr>
          <a:lstStyle/>
          <a:p>
            <a:pPr algn="ctr"/>
            <a:r>
              <a:rPr sz="700" b="0" i="0">
                <a:solidFill>
                  <a:srgbClr val="94A3B8"/>
                </a:solidFill>
                <a:latin typeface="Calibri"/>
              </a:rPr>
              <a:t>SERVICENOW PRACTICE  ·  MODERNIZING THE CORE  ·  SOFTWARE ASSET MANAGEMENT</a:t>
            </a:r>
          </a:p>
        </p:txBody>
      </p:sp>
      <p:sp>
        <p:nvSpPr>
          <p:cNvPr id="19" name="TextBox 18"/>
          <p:cNvSpPr txBox="1"/>
          <p:nvPr/>
        </p:nvSpPr>
        <p:spPr>
          <a:xfrm>
            <a:off x="8503920" y="4846320"/>
            <a:ext cx="365760" cy="182880"/>
          </a:xfrm>
          <a:prstGeom prst="rect">
            <a:avLst/>
          </a:prstGeom>
          <a:noFill/>
        </p:spPr>
        <p:txBody>
          <a:bodyPr wrap="square" lIns="36576" rIns="36576" tIns="18288" bIns="18288">
            <a:spAutoFit/>
          </a:bodyPr>
          <a:lstStyle/>
          <a:p>
            <a:pPr algn="r"/>
            <a:r>
              <a:rPr sz="700" b="0" i="0">
                <a:solidFill>
                  <a:srgbClr val="94A3B8"/>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everforth_logo.png"/>
          <p:cNvPicPr>
            <a:picLocks noChangeAspect="1"/>
          </p:cNvPicPr>
          <p:nvPr/>
        </p:nvPicPr>
        <p:blipFill>
          <a:blip r:embed="rId2"/>
          <a:stretch>
            <a:fillRect/>
          </a:stretch>
        </p:blipFill>
        <p:spPr>
          <a:xfrm>
            <a:off x="7909560" y="64008"/>
            <a:ext cx="1115568" cy="420624"/>
          </a:xfrm>
          <a:prstGeom prst="rect">
            <a:avLst/>
          </a:prstGeom>
        </p:spPr>
      </p:pic>
      <p:sp>
        <p:nvSpPr>
          <p:cNvPr id="3" name="TextBox 2"/>
          <p:cNvSpPr txBox="1"/>
          <p:nvPr/>
        </p:nvSpPr>
        <p:spPr>
          <a:xfrm>
            <a:off x="347472" y="164592"/>
            <a:ext cx="4572000" cy="201168"/>
          </a:xfrm>
          <a:prstGeom prst="rect">
            <a:avLst/>
          </a:prstGeom>
          <a:noFill/>
        </p:spPr>
        <p:txBody>
          <a:bodyPr wrap="square" lIns="36576" rIns="36576" tIns="18288" bIns="18288">
            <a:spAutoFit/>
          </a:bodyPr>
          <a:lstStyle/>
          <a:p>
            <a:pPr algn="l"/>
            <a:r>
              <a:rPr sz="800" b="1" i="0">
                <a:solidFill>
                  <a:srgbClr val="14B8A6"/>
                </a:solidFill>
                <a:latin typeface="Calibri"/>
              </a:rPr>
              <a:t>K E Y  D E C I S I O N   # 4</a:t>
            </a:r>
          </a:p>
        </p:txBody>
      </p:sp>
      <p:sp>
        <p:nvSpPr>
          <p:cNvPr id="4" name="TextBox 3"/>
          <p:cNvSpPr txBox="1"/>
          <p:nvPr/>
        </p:nvSpPr>
        <p:spPr>
          <a:xfrm>
            <a:off x="320040" y="384048"/>
            <a:ext cx="7772400" cy="685800"/>
          </a:xfrm>
          <a:prstGeom prst="rect">
            <a:avLst/>
          </a:prstGeom>
          <a:noFill/>
        </p:spPr>
        <p:txBody>
          <a:bodyPr wrap="square" lIns="36576" rIns="36576" tIns="18288" bIns="18288">
            <a:spAutoFit/>
          </a:bodyPr>
          <a:lstStyle/>
          <a:p>
            <a:pPr algn="l"/>
            <a:r>
              <a:rPr sz="1900" b="1" i="0">
                <a:solidFill>
                  <a:srgbClr val="0B1F3A"/>
                </a:solidFill>
                <a:latin typeface="Calibri"/>
              </a:rPr>
              <a:t>Will you activate SAM Pro -- and what does it unlock?</a:t>
            </a:r>
          </a:p>
        </p:txBody>
      </p:sp>
      <p:sp>
        <p:nvSpPr>
          <p:cNvPr id="5" name="Rectangle 4"/>
          <p:cNvSpPr/>
          <p:nvPr/>
        </p:nvSpPr>
        <p:spPr>
          <a:xfrm>
            <a:off x="320040" y="987552"/>
            <a:ext cx="8503920" cy="16459"/>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20040" y="1024128"/>
            <a:ext cx="4069080" cy="27432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1033271"/>
            <a:ext cx="3977639" cy="237744"/>
          </a:xfrm>
          <a:prstGeom prst="rect">
            <a:avLst/>
          </a:prstGeom>
          <a:noFill/>
        </p:spPr>
        <p:txBody>
          <a:bodyPr wrap="square" lIns="36576" rIns="36576" tIns="18288" bIns="18288">
            <a:spAutoFit/>
          </a:bodyPr>
          <a:lstStyle/>
          <a:p>
            <a:pPr algn="ctr"/>
            <a:r>
              <a:rPr sz="850" b="1" i="0">
                <a:solidFill>
                  <a:srgbClr val="FFFFFF"/>
                </a:solidFill>
                <a:latin typeface="Calibri"/>
              </a:rPr>
              <a:t>OOTB RECOMMENDATION</a:t>
            </a:r>
          </a:p>
        </p:txBody>
      </p:sp>
      <p:sp>
        <p:nvSpPr>
          <p:cNvPr id="8" name="Rectangle 7"/>
          <p:cNvSpPr/>
          <p:nvPr/>
        </p:nvSpPr>
        <p:spPr>
          <a:xfrm>
            <a:off x="320040" y="1298448"/>
            <a:ext cx="4069080" cy="27432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1480" y="1353312"/>
            <a:ext cx="3886200" cy="2651760"/>
          </a:xfrm>
          <a:prstGeom prst="rect">
            <a:avLst/>
          </a:prstGeom>
          <a:noFill/>
        </p:spPr>
        <p:txBody>
          <a:bodyPr wrap="square" lIns="36576" rIns="36576" tIns="18288" bIns="18288">
            <a:spAutoFit/>
          </a:bodyPr>
          <a:lstStyle/>
          <a:p>
            <a:pPr algn="l">
              <a:spcBef>
                <a:spcPts val="400"/>
              </a:spcBef>
              <a:spcAft>
                <a:spcPts val="200"/>
              </a:spcAft>
            </a:pPr>
            <a:r>
              <a:rPr sz="900" b="1" i="0">
                <a:solidFill>
                  <a:srgbClr val="0D9488"/>
                </a:solidFill>
                <a:latin typeface="Calibri"/>
              </a:rPr>
              <a:t>SAM Pro Capabilities:</a:t>
            </a:r>
          </a:p>
          <a:p>
            <a:pPr algn="l">
              <a:spcAft>
                <a:spcPts val="200"/>
              </a:spcAft>
            </a:pPr>
            <a:r>
              <a:rPr sz="850" b="0" i="0">
                <a:solidFill>
                  <a:srgbClr val="1E293B"/>
                </a:solidFill>
                <a:latin typeface="Calibri"/>
              </a:rPr>
              <a:t>SAM Pro (licensed) adds: Flexera-normalized publisher catalog (auto-updates), automated reconciliation engine, cloud subscription tracking (Microsoft 365, AWS, Azure), effective license position (ELP) reporting, and publisher audit defense reports.</a:t>
            </a:r>
          </a:p>
        </p:txBody>
      </p:sp>
      <p:sp>
        <p:nvSpPr>
          <p:cNvPr id="10" name="Rectangle 9"/>
          <p:cNvSpPr/>
          <p:nvPr/>
        </p:nvSpPr>
        <p:spPr>
          <a:xfrm>
            <a:off x="4480560" y="1024128"/>
            <a:ext cx="4343400" cy="274320"/>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26280" y="1033271"/>
            <a:ext cx="4251960" cy="237744"/>
          </a:xfrm>
          <a:prstGeom prst="rect">
            <a:avLst/>
          </a:prstGeom>
          <a:noFill/>
        </p:spPr>
        <p:txBody>
          <a:bodyPr wrap="square" lIns="36576" rIns="36576" tIns="18288" bIns="18288">
            <a:spAutoFit/>
          </a:bodyPr>
          <a:lstStyle/>
          <a:p>
            <a:pPr algn="ctr"/>
            <a:r>
              <a:rPr sz="850" b="1" i="0">
                <a:solidFill>
                  <a:srgbClr val="FFFFFF"/>
                </a:solidFill>
                <a:latin typeface="Calibri"/>
              </a:rPr>
              <a:t>DECIDE IN THE ROOM</a:t>
            </a:r>
          </a:p>
        </p:txBody>
      </p:sp>
      <p:sp>
        <p:nvSpPr>
          <p:cNvPr id="12" name="Rectangle 11"/>
          <p:cNvSpPr/>
          <p:nvPr/>
        </p:nvSpPr>
        <p:spPr>
          <a:xfrm>
            <a:off x="4480560" y="1298448"/>
            <a:ext cx="4343400" cy="27432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0" y="1353312"/>
            <a:ext cx="4160520" cy="2651760"/>
          </a:xfrm>
          <a:prstGeom prst="rect">
            <a:avLst/>
          </a:prstGeom>
          <a:noFill/>
        </p:spPr>
        <p:txBody>
          <a:bodyPr wrap="square" lIns="36576" rIns="36576" tIns="18288" bIns="18288">
            <a:spAutoFit/>
          </a:bodyPr>
          <a:lstStyle/>
          <a:p>
            <a:pPr algn="l">
              <a:spcBef>
                <a:spcPts val="400"/>
              </a:spcBef>
              <a:spcAft>
                <a:spcPts val="200"/>
              </a:spcAft>
            </a:pPr>
            <a:r>
              <a:rPr sz="900" b="1" i="0">
                <a:solidFill>
                  <a:srgbClr val="0B1F3A"/>
                </a:solidFill>
                <a:latin typeface="Calibri"/>
              </a:rPr>
              <a:t>Questions to answer:</a:t>
            </a:r>
          </a:p>
          <a:p>
            <a:pPr algn="l">
              <a:spcAft>
                <a:spcPts val="300"/>
              </a:spcAft>
            </a:pPr>
            <a:r>
              <a:rPr sz="850" b="0" i="0">
                <a:solidFill>
                  <a:srgbClr val="1E293B"/>
                </a:solidFill>
                <a:latin typeface="Calibri"/>
              </a:rPr>
              <a:t>1.  Is SAM Pro included in your current ServiceNow contract?</a:t>
            </a:r>
          </a:p>
          <a:p>
            <a:pPr algn="l">
              <a:spcAft>
                <a:spcPts val="300"/>
              </a:spcAft>
            </a:pPr>
            <a:r>
              <a:rPr sz="850" b="0" i="0">
                <a:solidFill>
                  <a:srgbClr val="1E293B"/>
                </a:solidFill>
                <a:latin typeface="Calibri"/>
              </a:rPr>
              <a:t>2.  Is manual publisher catalog maintenance a pain point SAM Pro normalization would solve?</a:t>
            </a:r>
          </a:p>
          <a:p>
            <a:pPr algn="l">
              <a:spcAft>
                <a:spcPts val="300"/>
              </a:spcAft>
            </a:pPr>
            <a:r>
              <a:rPr sz="850" b="0" i="0">
                <a:solidFill>
                  <a:srgbClr val="1E293B"/>
                </a:solidFill>
                <a:latin typeface="Calibri"/>
              </a:rPr>
              <a:t>3.  Is Microsoft 365 subscription reconciliation a current gap?</a:t>
            </a:r>
          </a:p>
          <a:p>
            <a:pPr algn="l">
              <a:spcAft>
                <a:spcPts val="300"/>
              </a:spcAft>
            </a:pPr>
            <a:r>
              <a:rPr sz="850" b="0" i="0">
                <a:solidFill>
                  <a:srgbClr val="1E293B"/>
                </a:solidFill>
                <a:latin typeface="Calibri"/>
              </a:rPr>
              <a:t>4.  If not in scope now, is SAM Pro on the roadmap?</a:t>
            </a:r>
          </a:p>
        </p:txBody>
      </p:sp>
      <p:sp>
        <p:nvSpPr>
          <p:cNvPr id="14" name="Rectangle 13"/>
          <p:cNvSpPr/>
          <p:nvPr/>
        </p:nvSpPr>
        <p:spPr>
          <a:xfrm>
            <a:off x="320040" y="4096512"/>
            <a:ext cx="8503920" cy="493776"/>
          </a:xfrm>
          <a:prstGeom prst="rect">
            <a:avLst/>
          </a:prstGeom>
          <a:solidFill>
            <a:srgbClr val="FEF3C7"/>
          </a:solidFill>
          <a:ln w="6350">
            <a:solidFill>
              <a:srgbClr val="FDD83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4133087"/>
            <a:ext cx="8321040" cy="420624"/>
          </a:xfrm>
          <a:prstGeom prst="rect">
            <a:avLst/>
          </a:prstGeom>
          <a:noFill/>
        </p:spPr>
        <p:txBody>
          <a:bodyPr wrap="square" lIns="36576" rIns="36576" tIns="18288" bIns="18288">
            <a:spAutoFit/>
          </a:bodyPr>
          <a:lstStyle/>
          <a:p>
            <a:pPr algn="l"/>
            <a:r>
              <a:rPr sz="900" b="1" i="0">
                <a:solidFill>
                  <a:srgbClr val="D97706"/>
                </a:solidFill>
                <a:latin typeface="Calibri"/>
              </a:rPr>
              <a:t>⚠  OOTB Defense:  </a:t>
            </a:r>
            <a:r>
              <a:rPr sz="850" b="0" i="0">
                <a:solidFill>
                  <a:srgbClr val="1E293B"/>
                </a:solidFill>
                <a:latin typeface="Calibri"/>
              </a:rPr>
              <a:t>SAM Pro is the difference between a license register and a defensible audit position. If it is in your license, activating it in Sprint 5 is the single highest-value SAM decision in this room.</a:t>
            </a:r>
          </a:p>
        </p:txBody>
      </p:sp>
      <p:sp>
        <p:nvSpPr>
          <p:cNvPr id="16" name="Rectangle 15"/>
          <p:cNvSpPr/>
          <p:nvPr/>
        </p:nvSpPr>
        <p:spPr>
          <a:xfrm>
            <a:off x="0" y="4818888"/>
            <a:ext cx="9144000" cy="13716"/>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74320" y="4846320"/>
            <a:ext cx="2011680" cy="182880"/>
          </a:xfrm>
          <a:prstGeom prst="rect">
            <a:avLst/>
          </a:prstGeom>
          <a:noFill/>
        </p:spPr>
        <p:txBody>
          <a:bodyPr wrap="square" lIns="36576" rIns="36576" tIns="18288" bIns="18288">
            <a:spAutoFit/>
          </a:bodyPr>
          <a:lstStyle/>
          <a:p>
            <a:pPr algn="l"/>
            <a:r>
              <a:rPr sz="700" b="0" i="0">
                <a:solidFill>
                  <a:srgbClr val="94A3B8"/>
                </a:solidFill>
                <a:latin typeface="Calibri"/>
              </a:rPr>
              <a:t>Everforth ECS Federal</a:t>
            </a:r>
          </a:p>
        </p:txBody>
      </p:sp>
      <p:sp>
        <p:nvSpPr>
          <p:cNvPr id="18" name="TextBox 17"/>
          <p:cNvSpPr txBox="1"/>
          <p:nvPr/>
        </p:nvSpPr>
        <p:spPr>
          <a:xfrm>
            <a:off x="2286000" y="4846320"/>
            <a:ext cx="5029200" cy="182880"/>
          </a:xfrm>
          <a:prstGeom prst="rect">
            <a:avLst/>
          </a:prstGeom>
          <a:noFill/>
        </p:spPr>
        <p:txBody>
          <a:bodyPr wrap="square" lIns="36576" rIns="36576" tIns="18288" bIns="18288">
            <a:spAutoFit/>
          </a:bodyPr>
          <a:lstStyle/>
          <a:p>
            <a:pPr algn="ctr"/>
            <a:r>
              <a:rPr sz="700" b="0" i="0">
                <a:solidFill>
                  <a:srgbClr val="94A3B8"/>
                </a:solidFill>
                <a:latin typeface="Calibri"/>
              </a:rPr>
              <a:t>SERVICENOW PRACTICE  ·  MODERNIZING THE CORE  ·  SOFTWARE ASSET MANAGEMENT</a:t>
            </a:r>
          </a:p>
        </p:txBody>
      </p:sp>
      <p:sp>
        <p:nvSpPr>
          <p:cNvPr id="19" name="TextBox 18"/>
          <p:cNvSpPr txBox="1"/>
          <p:nvPr/>
        </p:nvSpPr>
        <p:spPr>
          <a:xfrm>
            <a:off x="8503920" y="4846320"/>
            <a:ext cx="365760" cy="182880"/>
          </a:xfrm>
          <a:prstGeom prst="rect">
            <a:avLst/>
          </a:prstGeom>
          <a:noFill/>
        </p:spPr>
        <p:txBody>
          <a:bodyPr wrap="square" lIns="36576" rIns="36576" tIns="18288" bIns="18288">
            <a:spAutoFit/>
          </a:bodyPr>
          <a:lstStyle/>
          <a:p>
            <a:pPr algn="r"/>
            <a:r>
              <a:rPr sz="700" b="0" i="0">
                <a:solidFill>
                  <a:srgbClr val="94A3B8"/>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everforth_logo.png"/>
          <p:cNvPicPr>
            <a:picLocks noChangeAspect="1"/>
          </p:cNvPicPr>
          <p:nvPr/>
        </p:nvPicPr>
        <p:blipFill>
          <a:blip r:embed="rId2"/>
          <a:stretch>
            <a:fillRect/>
          </a:stretch>
        </p:blipFill>
        <p:spPr>
          <a:xfrm>
            <a:off x="7909560" y="64008"/>
            <a:ext cx="1115568" cy="420624"/>
          </a:xfrm>
          <a:prstGeom prst="rect">
            <a:avLst/>
          </a:prstGeom>
        </p:spPr>
      </p:pic>
      <p:sp>
        <p:nvSpPr>
          <p:cNvPr id="3" name="TextBox 2"/>
          <p:cNvSpPr txBox="1"/>
          <p:nvPr/>
        </p:nvSpPr>
        <p:spPr>
          <a:xfrm>
            <a:off x="347472" y="164592"/>
            <a:ext cx="4572000" cy="201168"/>
          </a:xfrm>
          <a:prstGeom prst="rect">
            <a:avLst/>
          </a:prstGeom>
          <a:noFill/>
        </p:spPr>
        <p:txBody>
          <a:bodyPr wrap="square" lIns="36576" rIns="36576" tIns="18288" bIns="18288">
            <a:spAutoFit/>
          </a:bodyPr>
          <a:lstStyle/>
          <a:p>
            <a:pPr algn="l"/>
            <a:r>
              <a:rPr sz="800" b="1" i="0">
                <a:solidFill>
                  <a:srgbClr val="14B8A6"/>
                </a:solidFill>
                <a:latin typeface="Calibri"/>
              </a:rPr>
              <a:t>K E Y  D E C I S I O N   # 5</a:t>
            </a:r>
          </a:p>
        </p:txBody>
      </p:sp>
      <p:sp>
        <p:nvSpPr>
          <p:cNvPr id="4" name="TextBox 3"/>
          <p:cNvSpPr txBox="1"/>
          <p:nvPr/>
        </p:nvSpPr>
        <p:spPr>
          <a:xfrm>
            <a:off x="320040" y="384048"/>
            <a:ext cx="7772400" cy="685800"/>
          </a:xfrm>
          <a:prstGeom prst="rect">
            <a:avLst/>
          </a:prstGeom>
          <a:noFill/>
        </p:spPr>
        <p:txBody>
          <a:bodyPr wrap="square" lIns="36576" rIns="36576" tIns="18288" bIns="18288">
            <a:spAutoFit/>
          </a:bodyPr>
          <a:lstStyle/>
          <a:p>
            <a:pPr algn="l"/>
            <a:r>
              <a:rPr sz="1900" b="1" i="0">
                <a:solidFill>
                  <a:srgbClr val="0B1F3A"/>
                </a:solidFill>
                <a:latin typeface="Calibri"/>
              </a:rPr>
              <a:t>How will software reclamation work -- automated or manual?</a:t>
            </a:r>
          </a:p>
        </p:txBody>
      </p:sp>
      <p:sp>
        <p:nvSpPr>
          <p:cNvPr id="5" name="Rectangle 4"/>
          <p:cNvSpPr/>
          <p:nvPr/>
        </p:nvSpPr>
        <p:spPr>
          <a:xfrm>
            <a:off x="320040" y="987552"/>
            <a:ext cx="8503920" cy="16459"/>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20040" y="1024128"/>
            <a:ext cx="4069080" cy="27432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1033271"/>
            <a:ext cx="3977639" cy="237744"/>
          </a:xfrm>
          <a:prstGeom prst="rect">
            <a:avLst/>
          </a:prstGeom>
          <a:noFill/>
        </p:spPr>
        <p:txBody>
          <a:bodyPr wrap="square" lIns="36576" rIns="36576" tIns="18288" bIns="18288">
            <a:spAutoFit/>
          </a:bodyPr>
          <a:lstStyle/>
          <a:p>
            <a:pPr algn="ctr"/>
            <a:r>
              <a:rPr sz="850" b="1" i="0">
                <a:solidFill>
                  <a:srgbClr val="FFFFFF"/>
                </a:solidFill>
                <a:latin typeface="Calibri"/>
              </a:rPr>
              <a:t>OOTB RECOMMENDATION</a:t>
            </a:r>
          </a:p>
        </p:txBody>
      </p:sp>
      <p:sp>
        <p:nvSpPr>
          <p:cNvPr id="8" name="Rectangle 7"/>
          <p:cNvSpPr/>
          <p:nvPr/>
        </p:nvSpPr>
        <p:spPr>
          <a:xfrm>
            <a:off x="320040" y="1298448"/>
            <a:ext cx="4069080" cy="27432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1480" y="1353312"/>
            <a:ext cx="3886200" cy="2651760"/>
          </a:xfrm>
          <a:prstGeom prst="rect">
            <a:avLst/>
          </a:prstGeom>
          <a:noFill/>
        </p:spPr>
        <p:txBody>
          <a:bodyPr wrap="square" lIns="36576" rIns="36576" tIns="18288" bIns="18288">
            <a:spAutoFit/>
          </a:bodyPr>
          <a:lstStyle/>
          <a:p>
            <a:pPr algn="l">
              <a:spcBef>
                <a:spcPts val="400"/>
              </a:spcBef>
              <a:spcAft>
                <a:spcPts val="200"/>
              </a:spcAft>
            </a:pPr>
            <a:r>
              <a:rPr sz="900" b="1" i="0">
                <a:solidFill>
                  <a:srgbClr val="0D9488"/>
                </a:solidFill>
                <a:latin typeface="Calibri"/>
              </a:rPr>
              <a:t>OOTB Reclamation Workflow:</a:t>
            </a:r>
          </a:p>
          <a:p>
            <a:pPr algn="l">
              <a:spcAft>
                <a:spcPts val="200"/>
              </a:spcAft>
            </a:pPr>
            <a:r>
              <a:rPr sz="850" b="0" i="0">
                <a:solidFill>
                  <a:srgbClr val="1E293B"/>
                </a:solidFill>
                <a:latin typeface="Calibri"/>
              </a:rPr>
              <a:t>SAM identifies over-licensed software based on reconciliation. Reclamation workflow: notify user, user confirms or ignores, auto-reclaim after X days of no response. Reclaim triggers uninstall request or software center removal. All OOTB -- no scripting.</a:t>
            </a:r>
          </a:p>
        </p:txBody>
      </p:sp>
      <p:sp>
        <p:nvSpPr>
          <p:cNvPr id="10" name="Rectangle 9"/>
          <p:cNvSpPr/>
          <p:nvPr/>
        </p:nvSpPr>
        <p:spPr>
          <a:xfrm>
            <a:off x="4480560" y="1024128"/>
            <a:ext cx="4343400" cy="274320"/>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26280" y="1033271"/>
            <a:ext cx="4251960" cy="237744"/>
          </a:xfrm>
          <a:prstGeom prst="rect">
            <a:avLst/>
          </a:prstGeom>
          <a:noFill/>
        </p:spPr>
        <p:txBody>
          <a:bodyPr wrap="square" lIns="36576" rIns="36576" tIns="18288" bIns="18288">
            <a:spAutoFit/>
          </a:bodyPr>
          <a:lstStyle/>
          <a:p>
            <a:pPr algn="ctr"/>
            <a:r>
              <a:rPr sz="850" b="1" i="0">
                <a:solidFill>
                  <a:srgbClr val="FFFFFF"/>
                </a:solidFill>
                <a:latin typeface="Calibri"/>
              </a:rPr>
              <a:t>DECIDE IN THE ROOM</a:t>
            </a:r>
          </a:p>
        </p:txBody>
      </p:sp>
      <p:sp>
        <p:nvSpPr>
          <p:cNvPr id="12" name="Rectangle 11"/>
          <p:cNvSpPr/>
          <p:nvPr/>
        </p:nvSpPr>
        <p:spPr>
          <a:xfrm>
            <a:off x="4480560" y="1298448"/>
            <a:ext cx="4343400" cy="27432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0" y="1353312"/>
            <a:ext cx="4160520" cy="2651760"/>
          </a:xfrm>
          <a:prstGeom prst="rect">
            <a:avLst/>
          </a:prstGeom>
          <a:noFill/>
        </p:spPr>
        <p:txBody>
          <a:bodyPr wrap="square" lIns="36576" rIns="36576" tIns="18288" bIns="18288">
            <a:spAutoFit/>
          </a:bodyPr>
          <a:lstStyle/>
          <a:p>
            <a:pPr algn="l">
              <a:spcBef>
                <a:spcPts val="400"/>
              </a:spcBef>
              <a:spcAft>
                <a:spcPts val="200"/>
              </a:spcAft>
            </a:pPr>
            <a:r>
              <a:rPr sz="900" b="1" i="0">
                <a:solidFill>
                  <a:srgbClr val="0B1F3A"/>
                </a:solidFill>
                <a:latin typeface="Calibri"/>
              </a:rPr>
              <a:t>Questions to answer:</a:t>
            </a:r>
          </a:p>
          <a:p>
            <a:pPr algn="l">
              <a:spcAft>
                <a:spcPts val="300"/>
              </a:spcAft>
            </a:pPr>
            <a:r>
              <a:rPr sz="850" b="0" i="0">
                <a:solidFill>
                  <a:srgbClr val="1E293B"/>
                </a:solidFill>
                <a:latin typeface="Calibri"/>
              </a:rPr>
              <a:t>1.  What is the notification-to-reclaim window (30 days, 60 days)?</a:t>
            </a:r>
          </a:p>
          <a:p>
            <a:pPr algn="l">
              <a:spcAft>
                <a:spcPts val="300"/>
              </a:spcAft>
            </a:pPr>
            <a:r>
              <a:rPr sz="850" b="0" i="0">
                <a:solidFill>
                  <a:srgbClr val="1E293B"/>
                </a:solidFill>
                <a:latin typeface="Calibri"/>
              </a:rPr>
              <a:t>2.  Who approves reclamation for named-user licenses vs. concurrent licenses?</a:t>
            </a:r>
          </a:p>
          <a:p>
            <a:pPr algn="l">
              <a:spcAft>
                <a:spcPts val="300"/>
              </a:spcAft>
            </a:pPr>
            <a:r>
              <a:rPr sz="850" b="0" i="0">
                <a:solidFill>
                  <a:srgbClr val="1E293B"/>
                </a:solidFill>
                <a:latin typeface="Calibri"/>
              </a:rPr>
              <a:t>3.  Are any titles excluded from reclamation (compliance tools, security software)?</a:t>
            </a:r>
          </a:p>
          <a:p>
            <a:pPr algn="l">
              <a:spcAft>
                <a:spcPts val="300"/>
              </a:spcAft>
            </a:pPr>
            <a:r>
              <a:rPr sz="850" b="0" i="0">
                <a:solidFill>
                  <a:srgbClr val="1E293B"/>
                </a:solidFill>
                <a:latin typeface="Calibri"/>
              </a:rPr>
              <a:t>4.  How does uninstall get executed -- ServiceNow Orchestration, SCCM, Intune?</a:t>
            </a:r>
          </a:p>
        </p:txBody>
      </p:sp>
      <p:sp>
        <p:nvSpPr>
          <p:cNvPr id="14" name="Rectangle 13"/>
          <p:cNvSpPr/>
          <p:nvPr/>
        </p:nvSpPr>
        <p:spPr>
          <a:xfrm>
            <a:off x="320040" y="4096512"/>
            <a:ext cx="8503920" cy="493776"/>
          </a:xfrm>
          <a:prstGeom prst="rect">
            <a:avLst/>
          </a:prstGeom>
          <a:solidFill>
            <a:srgbClr val="FEF3C7"/>
          </a:solidFill>
          <a:ln w="6350">
            <a:solidFill>
              <a:srgbClr val="FDD83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4133087"/>
            <a:ext cx="8321040" cy="420624"/>
          </a:xfrm>
          <a:prstGeom prst="rect">
            <a:avLst/>
          </a:prstGeom>
          <a:noFill/>
        </p:spPr>
        <p:txBody>
          <a:bodyPr wrap="square" lIns="36576" rIns="36576" tIns="18288" bIns="18288">
            <a:spAutoFit/>
          </a:bodyPr>
          <a:lstStyle/>
          <a:p>
            <a:pPr algn="l"/>
            <a:r>
              <a:rPr sz="900" b="1" i="0">
                <a:solidFill>
                  <a:srgbClr val="D97706"/>
                </a:solidFill>
                <a:latin typeface="Calibri"/>
              </a:rPr>
              <a:t>⚠  OOTB Defense:  </a:t>
            </a:r>
            <a:r>
              <a:rPr sz="850" b="0" i="0">
                <a:solidFill>
                  <a:srgbClr val="1E293B"/>
                </a:solidFill>
                <a:latin typeface="Calibri"/>
              </a:rPr>
              <a:t>Reclamation without an uninstall mechanism is just a notification system. Confirm the uninstall execution path (Intune push, SCCM, manual IT) before configuring reclamation workflows.</a:t>
            </a:r>
          </a:p>
        </p:txBody>
      </p:sp>
      <p:sp>
        <p:nvSpPr>
          <p:cNvPr id="16" name="Rectangle 15"/>
          <p:cNvSpPr/>
          <p:nvPr/>
        </p:nvSpPr>
        <p:spPr>
          <a:xfrm>
            <a:off x="0" y="4818888"/>
            <a:ext cx="9144000" cy="13716"/>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74320" y="4846320"/>
            <a:ext cx="2011680" cy="182880"/>
          </a:xfrm>
          <a:prstGeom prst="rect">
            <a:avLst/>
          </a:prstGeom>
          <a:noFill/>
        </p:spPr>
        <p:txBody>
          <a:bodyPr wrap="square" lIns="36576" rIns="36576" tIns="18288" bIns="18288">
            <a:spAutoFit/>
          </a:bodyPr>
          <a:lstStyle/>
          <a:p>
            <a:pPr algn="l"/>
            <a:r>
              <a:rPr sz="700" b="0" i="0">
                <a:solidFill>
                  <a:srgbClr val="94A3B8"/>
                </a:solidFill>
                <a:latin typeface="Calibri"/>
              </a:rPr>
              <a:t>Everforth ECS Federal</a:t>
            </a:r>
          </a:p>
        </p:txBody>
      </p:sp>
      <p:sp>
        <p:nvSpPr>
          <p:cNvPr id="18" name="TextBox 17"/>
          <p:cNvSpPr txBox="1"/>
          <p:nvPr/>
        </p:nvSpPr>
        <p:spPr>
          <a:xfrm>
            <a:off x="2286000" y="4846320"/>
            <a:ext cx="5029200" cy="182880"/>
          </a:xfrm>
          <a:prstGeom prst="rect">
            <a:avLst/>
          </a:prstGeom>
          <a:noFill/>
        </p:spPr>
        <p:txBody>
          <a:bodyPr wrap="square" lIns="36576" rIns="36576" tIns="18288" bIns="18288">
            <a:spAutoFit/>
          </a:bodyPr>
          <a:lstStyle/>
          <a:p>
            <a:pPr algn="ctr"/>
            <a:r>
              <a:rPr sz="700" b="0" i="0">
                <a:solidFill>
                  <a:srgbClr val="94A3B8"/>
                </a:solidFill>
                <a:latin typeface="Calibri"/>
              </a:rPr>
              <a:t>SERVICENOW PRACTICE  ·  MODERNIZING THE CORE  ·  SOFTWARE ASSET MANAGEMENT</a:t>
            </a:r>
          </a:p>
        </p:txBody>
      </p:sp>
      <p:sp>
        <p:nvSpPr>
          <p:cNvPr id="19" name="TextBox 18"/>
          <p:cNvSpPr txBox="1"/>
          <p:nvPr/>
        </p:nvSpPr>
        <p:spPr>
          <a:xfrm>
            <a:off x="8503920" y="4846320"/>
            <a:ext cx="365760" cy="182880"/>
          </a:xfrm>
          <a:prstGeom prst="rect">
            <a:avLst/>
          </a:prstGeom>
          <a:noFill/>
        </p:spPr>
        <p:txBody>
          <a:bodyPr wrap="square" lIns="36576" rIns="36576" tIns="18288" bIns="18288">
            <a:spAutoFit/>
          </a:bodyPr>
          <a:lstStyle/>
          <a:p>
            <a:pPr algn="r"/>
            <a:r>
              <a:rPr sz="700" b="0" i="0">
                <a:solidFill>
                  <a:srgbClr val="94A3B8"/>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everforth_logo.png"/>
          <p:cNvPicPr>
            <a:picLocks noChangeAspect="1"/>
          </p:cNvPicPr>
          <p:nvPr/>
        </p:nvPicPr>
        <p:blipFill>
          <a:blip r:embed="rId2"/>
          <a:stretch>
            <a:fillRect/>
          </a:stretch>
        </p:blipFill>
        <p:spPr>
          <a:xfrm>
            <a:off x="7909560" y="64008"/>
            <a:ext cx="1115568" cy="420624"/>
          </a:xfrm>
          <a:prstGeom prst="rect">
            <a:avLst/>
          </a:prstGeom>
        </p:spPr>
      </p:pic>
      <p:sp>
        <p:nvSpPr>
          <p:cNvPr id="3" name="TextBox 2"/>
          <p:cNvSpPr txBox="1"/>
          <p:nvPr/>
        </p:nvSpPr>
        <p:spPr>
          <a:xfrm>
            <a:off x="347472" y="164592"/>
            <a:ext cx="4572000" cy="201168"/>
          </a:xfrm>
          <a:prstGeom prst="rect">
            <a:avLst/>
          </a:prstGeom>
          <a:noFill/>
        </p:spPr>
        <p:txBody>
          <a:bodyPr wrap="square" lIns="36576" rIns="36576" tIns="18288" bIns="18288">
            <a:spAutoFit/>
          </a:bodyPr>
          <a:lstStyle/>
          <a:p>
            <a:pPr algn="l"/>
            <a:r>
              <a:rPr sz="800" b="1" i="0">
                <a:solidFill>
                  <a:srgbClr val="14B8A6"/>
                </a:solidFill>
                <a:latin typeface="Calibri"/>
              </a:rPr>
              <a:t>K E Y  D E C I S I O N   # 6</a:t>
            </a:r>
          </a:p>
        </p:txBody>
      </p:sp>
      <p:sp>
        <p:nvSpPr>
          <p:cNvPr id="4" name="TextBox 3"/>
          <p:cNvSpPr txBox="1"/>
          <p:nvPr/>
        </p:nvSpPr>
        <p:spPr>
          <a:xfrm>
            <a:off x="320040" y="384048"/>
            <a:ext cx="7772400" cy="685800"/>
          </a:xfrm>
          <a:prstGeom prst="rect">
            <a:avLst/>
          </a:prstGeom>
          <a:noFill/>
        </p:spPr>
        <p:txBody>
          <a:bodyPr wrap="square" lIns="36576" rIns="36576" tIns="18288" bIns="18288">
            <a:spAutoFit/>
          </a:bodyPr>
          <a:lstStyle/>
          <a:p>
            <a:pPr algn="l"/>
            <a:r>
              <a:rPr sz="1900" b="1" i="0">
                <a:solidFill>
                  <a:srgbClr val="0B1F3A"/>
                </a:solidFill>
                <a:latin typeface="Calibri"/>
              </a:rPr>
              <a:t>How do software requests integrate with SAM entitlement checks?</a:t>
            </a:r>
          </a:p>
        </p:txBody>
      </p:sp>
      <p:sp>
        <p:nvSpPr>
          <p:cNvPr id="5" name="Rectangle 4"/>
          <p:cNvSpPr/>
          <p:nvPr/>
        </p:nvSpPr>
        <p:spPr>
          <a:xfrm>
            <a:off x="320040" y="987552"/>
            <a:ext cx="8503920" cy="16459"/>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20040" y="1024128"/>
            <a:ext cx="4069080" cy="27432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1033271"/>
            <a:ext cx="3977639" cy="237744"/>
          </a:xfrm>
          <a:prstGeom prst="rect">
            <a:avLst/>
          </a:prstGeom>
          <a:noFill/>
        </p:spPr>
        <p:txBody>
          <a:bodyPr wrap="square" lIns="36576" rIns="36576" tIns="18288" bIns="18288">
            <a:spAutoFit/>
          </a:bodyPr>
          <a:lstStyle/>
          <a:p>
            <a:pPr algn="ctr"/>
            <a:r>
              <a:rPr sz="850" b="1" i="0">
                <a:solidFill>
                  <a:srgbClr val="FFFFFF"/>
                </a:solidFill>
                <a:latin typeface="Calibri"/>
              </a:rPr>
              <a:t>OOTB RECOMMENDATION</a:t>
            </a:r>
          </a:p>
        </p:txBody>
      </p:sp>
      <p:sp>
        <p:nvSpPr>
          <p:cNvPr id="8" name="Rectangle 7"/>
          <p:cNvSpPr/>
          <p:nvPr/>
        </p:nvSpPr>
        <p:spPr>
          <a:xfrm>
            <a:off x="320040" y="1298448"/>
            <a:ext cx="4069080" cy="27432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1480" y="1353312"/>
            <a:ext cx="3886200" cy="2651760"/>
          </a:xfrm>
          <a:prstGeom prst="rect">
            <a:avLst/>
          </a:prstGeom>
          <a:noFill/>
        </p:spPr>
        <p:txBody>
          <a:bodyPr wrap="square" lIns="36576" rIns="36576" tIns="18288" bIns="18288">
            <a:spAutoFit/>
          </a:bodyPr>
          <a:lstStyle/>
          <a:p>
            <a:pPr algn="l">
              <a:spcBef>
                <a:spcPts val="400"/>
              </a:spcBef>
              <a:spcAft>
                <a:spcPts val="200"/>
              </a:spcAft>
            </a:pPr>
            <a:r>
              <a:rPr sz="900" b="1" i="0">
                <a:solidFill>
                  <a:srgbClr val="0D9488"/>
                </a:solidFill>
                <a:latin typeface="Calibri"/>
              </a:rPr>
              <a:t>OOTB Integration:</a:t>
            </a:r>
          </a:p>
          <a:p>
            <a:pPr algn="l">
              <a:spcAft>
                <a:spcPts val="200"/>
              </a:spcAft>
            </a:pPr>
            <a:r>
              <a:rPr sz="850" b="0" i="0">
                <a:solidFill>
                  <a:srgbClr val="1E293B"/>
                </a:solidFill>
                <a:latin typeface="Calibri"/>
              </a:rPr>
              <a:t>Service Catalog software request items can trigger an SAM entitlement check before fulfillment. If licenses are available: auto-approve and fulfill. If no licenses: route to procurement. All OOTB via SAM + Service Catalog integration. No scripting.</a:t>
            </a:r>
          </a:p>
        </p:txBody>
      </p:sp>
      <p:sp>
        <p:nvSpPr>
          <p:cNvPr id="10" name="Rectangle 9"/>
          <p:cNvSpPr/>
          <p:nvPr/>
        </p:nvSpPr>
        <p:spPr>
          <a:xfrm>
            <a:off x="4480560" y="1024128"/>
            <a:ext cx="4343400" cy="274320"/>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26280" y="1033271"/>
            <a:ext cx="4251960" cy="237744"/>
          </a:xfrm>
          <a:prstGeom prst="rect">
            <a:avLst/>
          </a:prstGeom>
          <a:noFill/>
        </p:spPr>
        <p:txBody>
          <a:bodyPr wrap="square" lIns="36576" rIns="36576" tIns="18288" bIns="18288">
            <a:spAutoFit/>
          </a:bodyPr>
          <a:lstStyle/>
          <a:p>
            <a:pPr algn="ctr"/>
            <a:r>
              <a:rPr sz="850" b="1" i="0">
                <a:solidFill>
                  <a:srgbClr val="FFFFFF"/>
                </a:solidFill>
                <a:latin typeface="Calibri"/>
              </a:rPr>
              <a:t>DECIDE IN THE ROOM</a:t>
            </a:r>
          </a:p>
        </p:txBody>
      </p:sp>
      <p:sp>
        <p:nvSpPr>
          <p:cNvPr id="12" name="Rectangle 11"/>
          <p:cNvSpPr/>
          <p:nvPr/>
        </p:nvSpPr>
        <p:spPr>
          <a:xfrm>
            <a:off x="4480560" y="1298448"/>
            <a:ext cx="4343400" cy="27432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0" y="1353312"/>
            <a:ext cx="4160520" cy="2651760"/>
          </a:xfrm>
          <a:prstGeom prst="rect">
            <a:avLst/>
          </a:prstGeom>
          <a:noFill/>
        </p:spPr>
        <p:txBody>
          <a:bodyPr wrap="square" lIns="36576" rIns="36576" tIns="18288" bIns="18288">
            <a:spAutoFit/>
          </a:bodyPr>
          <a:lstStyle/>
          <a:p>
            <a:pPr algn="l">
              <a:spcBef>
                <a:spcPts val="400"/>
              </a:spcBef>
              <a:spcAft>
                <a:spcPts val="200"/>
              </a:spcAft>
            </a:pPr>
            <a:r>
              <a:rPr sz="900" b="1" i="0">
                <a:solidFill>
                  <a:srgbClr val="0B1F3A"/>
                </a:solidFill>
                <a:latin typeface="Calibri"/>
              </a:rPr>
              <a:t>Questions to answer:</a:t>
            </a:r>
          </a:p>
          <a:p>
            <a:pPr algn="l">
              <a:spcAft>
                <a:spcPts val="300"/>
              </a:spcAft>
            </a:pPr>
            <a:r>
              <a:rPr sz="850" b="0" i="0">
                <a:solidFill>
                  <a:srgbClr val="1E293B"/>
                </a:solidFill>
                <a:latin typeface="Calibri"/>
              </a:rPr>
              <a:t>1.  Are software requests currently handled through the Service Catalog?</a:t>
            </a:r>
          </a:p>
          <a:p>
            <a:pPr algn="l">
              <a:spcAft>
                <a:spcPts val="300"/>
              </a:spcAft>
            </a:pPr>
            <a:r>
              <a:rPr sz="850" b="0" i="0">
                <a:solidFill>
                  <a:srgbClr val="1E293B"/>
                </a:solidFill>
                <a:latin typeface="Calibri"/>
              </a:rPr>
              <a:t>2.  Should software requests auto-fulfill if a license is available, or always require approval?</a:t>
            </a:r>
          </a:p>
          <a:p>
            <a:pPr algn="l">
              <a:spcAft>
                <a:spcPts val="300"/>
              </a:spcAft>
            </a:pPr>
            <a:r>
              <a:rPr sz="850" b="0" i="0">
                <a:solidFill>
                  <a:srgbClr val="1E293B"/>
                </a:solidFill>
                <a:latin typeface="Calibri"/>
              </a:rPr>
              <a:t>3.  Who approves software requests when no license is available (manager + IT, or IT only)?</a:t>
            </a:r>
          </a:p>
          <a:p>
            <a:pPr algn="l">
              <a:spcAft>
                <a:spcPts val="300"/>
              </a:spcAft>
            </a:pPr>
            <a:r>
              <a:rPr sz="850" b="0" i="0">
                <a:solidFill>
                  <a:srgbClr val="1E293B"/>
                </a:solidFill>
                <a:latin typeface="Calibri"/>
              </a:rPr>
              <a:t>4.  Are any titles restricted to specific departments regardless of license availability?</a:t>
            </a:r>
          </a:p>
        </p:txBody>
      </p:sp>
      <p:sp>
        <p:nvSpPr>
          <p:cNvPr id="14" name="Rectangle 13"/>
          <p:cNvSpPr/>
          <p:nvPr/>
        </p:nvSpPr>
        <p:spPr>
          <a:xfrm>
            <a:off x="320040" y="4096512"/>
            <a:ext cx="8503920" cy="493776"/>
          </a:xfrm>
          <a:prstGeom prst="rect">
            <a:avLst/>
          </a:prstGeom>
          <a:solidFill>
            <a:srgbClr val="FEF3C7"/>
          </a:solidFill>
          <a:ln w="6350">
            <a:solidFill>
              <a:srgbClr val="FDD83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4133087"/>
            <a:ext cx="8321040" cy="420624"/>
          </a:xfrm>
          <a:prstGeom prst="rect">
            <a:avLst/>
          </a:prstGeom>
          <a:noFill/>
        </p:spPr>
        <p:txBody>
          <a:bodyPr wrap="square" lIns="36576" rIns="36576" tIns="18288" bIns="18288">
            <a:spAutoFit/>
          </a:bodyPr>
          <a:lstStyle/>
          <a:p>
            <a:pPr algn="l"/>
            <a:r>
              <a:rPr sz="900" b="1" i="0">
                <a:solidFill>
                  <a:srgbClr val="D97706"/>
                </a:solidFill>
                <a:latin typeface="Calibri"/>
              </a:rPr>
              <a:t>⚠  OOTB Defense:  </a:t>
            </a:r>
            <a:r>
              <a:rPr sz="850" b="0" i="0">
                <a:solidFill>
                  <a:srgbClr val="1E293B"/>
                </a:solidFill>
                <a:latin typeface="Calibri"/>
              </a:rPr>
              <a:t>SAM + Service Catalog integration is the fastest ROI in the SAM deployment. Users get faster software access and IT gets license consumption telemetry automatically.</a:t>
            </a:r>
          </a:p>
        </p:txBody>
      </p:sp>
      <p:sp>
        <p:nvSpPr>
          <p:cNvPr id="16" name="Rectangle 15"/>
          <p:cNvSpPr/>
          <p:nvPr/>
        </p:nvSpPr>
        <p:spPr>
          <a:xfrm>
            <a:off x="0" y="4818888"/>
            <a:ext cx="9144000" cy="13716"/>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74320" y="4846320"/>
            <a:ext cx="2011680" cy="182880"/>
          </a:xfrm>
          <a:prstGeom prst="rect">
            <a:avLst/>
          </a:prstGeom>
          <a:noFill/>
        </p:spPr>
        <p:txBody>
          <a:bodyPr wrap="square" lIns="36576" rIns="36576" tIns="18288" bIns="18288">
            <a:spAutoFit/>
          </a:bodyPr>
          <a:lstStyle/>
          <a:p>
            <a:pPr algn="l"/>
            <a:r>
              <a:rPr sz="700" b="0" i="0">
                <a:solidFill>
                  <a:srgbClr val="94A3B8"/>
                </a:solidFill>
                <a:latin typeface="Calibri"/>
              </a:rPr>
              <a:t>Everforth ECS Federal</a:t>
            </a:r>
          </a:p>
        </p:txBody>
      </p:sp>
      <p:sp>
        <p:nvSpPr>
          <p:cNvPr id="18" name="TextBox 17"/>
          <p:cNvSpPr txBox="1"/>
          <p:nvPr/>
        </p:nvSpPr>
        <p:spPr>
          <a:xfrm>
            <a:off x="2286000" y="4846320"/>
            <a:ext cx="5029200" cy="182880"/>
          </a:xfrm>
          <a:prstGeom prst="rect">
            <a:avLst/>
          </a:prstGeom>
          <a:noFill/>
        </p:spPr>
        <p:txBody>
          <a:bodyPr wrap="square" lIns="36576" rIns="36576" tIns="18288" bIns="18288">
            <a:spAutoFit/>
          </a:bodyPr>
          <a:lstStyle/>
          <a:p>
            <a:pPr algn="ctr"/>
            <a:r>
              <a:rPr sz="700" b="0" i="0">
                <a:solidFill>
                  <a:srgbClr val="94A3B8"/>
                </a:solidFill>
                <a:latin typeface="Calibri"/>
              </a:rPr>
              <a:t>SERVICENOW PRACTICE  ·  MODERNIZING THE CORE  ·  SOFTWARE ASSET MANAGEMENT</a:t>
            </a:r>
          </a:p>
        </p:txBody>
      </p:sp>
      <p:sp>
        <p:nvSpPr>
          <p:cNvPr id="19" name="TextBox 18"/>
          <p:cNvSpPr txBox="1"/>
          <p:nvPr/>
        </p:nvSpPr>
        <p:spPr>
          <a:xfrm>
            <a:off x="8503920" y="4846320"/>
            <a:ext cx="365760" cy="182880"/>
          </a:xfrm>
          <a:prstGeom prst="rect">
            <a:avLst/>
          </a:prstGeom>
          <a:noFill/>
        </p:spPr>
        <p:txBody>
          <a:bodyPr wrap="square" lIns="36576" rIns="36576" tIns="18288" bIns="18288">
            <a:spAutoFit/>
          </a:bodyPr>
          <a:lstStyle/>
          <a:p>
            <a:pPr algn="r"/>
            <a:r>
              <a:rPr sz="700" b="0" i="0">
                <a:solidFill>
                  <a:srgbClr val="94A3B8"/>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everforth_logo.png"/>
          <p:cNvPicPr>
            <a:picLocks noChangeAspect="1"/>
          </p:cNvPicPr>
          <p:nvPr/>
        </p:nvPicPr>
        <p:blipFill>
          <a:blip r:embed="rId2"/>
          <a:stretch>
            <a:fillRect/>
          </a:stretch>
        </p:blipFill>
        <p:spPr>
          <a:xfrm>
            <a:off x="7909560" y="64008"/>
            <a:ext cx="1115568" cy="420624"/>
          </a:xfrm>
          <a:prstGeom prst="rect">
            <a:avLst/>
          </a:prstGeom>
        </p:spPr>
      </p:pic>
      <p:sp>
        <p:nvSpPr>
          <p:cNvPr id="3" name="TextBox 2"/>
          <p:cNvSpPr txBox="1"/>
          <p:nvPr/>
        </p:nvSpPr>
        <p:spPr>
          <a:xfrm>
            <a:off x="347472" y="164592"/>
            <a:ext cx="4572000" cy="201168"/>
          </a:xfrm>
          <a:prstGeom prst="rect">
            <a:avLst/>
          </a:prstGeom>
          <a:noFill/>
        </p:spPr>
        <p:txBody>
          <a:bodyPr wrap="square" lIns="36576" rIns="36576" tIns="18288" bIns="18288">
            <a:spAutoFit/>
          </a:bodyPr>
          <a:lstStyle/>
          <a:p>
            <a:pPr algn="l"/>
            <a:r>
              <a:rPr sz="800" b="1" i="0">
                <a:solidFill>
                  <a:srgbClr val="14B8A6"/>
                </a:solidFill>
                <a:latin typeface="Calibri"/>
              </a:rPr>
              <a:t>K E Y  D E C I S I O N   # 7</a:t>
            </a:r>
          </a:p>
        </p:txBody>
      </p:sp>
      <p:sp>
        <p:nvSpPr>
          <p:cNvPr id="4" name="TextBox 3"/>
          <p:cNvSpPr txBox="1"/>
          <p:nvPr/>
        </p:nvSpPr>
        <p:spPr>
          <a:xfrm>
            <a:off x="320040" y="384048"/>
            <a:ext cx="7772400" cy="685800"/>
          </a:xfrm>
          <a:prstGeom prst="rect">
            <a:avLst/>
          </a:prstGeom>
          <a:noFill/>
        </p:spPr>
        <p:txBody>
          <a:bodyPr wrap="square" lIns="36576" rIns="36576" tIns="18288" bIns="18288">
            <a:spAutoFit/>
          </a:bodyPr>
          <a:lstStyle/>
          <a:p>
            <a:pPr algn="l"/>
            <a:r>
              <a:rPr sz="1900" b="1" i="0">
                <a:solidFill>
                  <a:srgbClr val="0B1F3A"/>
                </a:solidFill>
                <a:latin typeface="Calibri"/>
              </a:rPr>
              <a:t>How will you handle cloud software subscriptions (Microsoft 365, Google Workspace)?</a:t>
            </a:r>
          </a:p>
        </p:txBody>
      </p:sp>
      <p:sp>
        <p:nvSpPr>
          <p:cNvPr id="5" name="Rectangle 4"/>
          <p:cNvSpPr/>
          <p:nvPr/>
        </p:nvSpPr>
        <p:spPr>
          <a:xfrm>
            <a:off x="320040" y="987552"/>
            <a:ext cx="8503920" cy="16459"/>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20040" y="1024128"/>
            <a:ext cx="4069080" cy="27432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1033271"/>
            <a:ext cx="3977639" cy="237744"/>
          </a:xfrm>
          <a:prstGeom prst="rect">
            <a:avLst/>
          </a:prstGeom>
          <a:noFill/>
        </p:spPr>
        <p:txBody>
          <a:bodyPr wrap="square" lIns="36576" rIns="36576" tIns="18288" bIns="18288">
            <a:spAutoFit/>
          </a:bodyPr>
          <a:lstStyle/>
          <a:p>
            <a:pPr algn="ctr"/>
            <a:r>
              <a:rPr sz="850" b="1" i="0">
                <a:solidFill>
                  <a:srgbClr val="FFFFFF"/>
                </a:solidFill>
                <a:latin typeface="Calibri"/>
              </a:rPr>
              <a:t>OOTB RECOMMENDATION</a:t>
            </a:r>
          </a:p>
        </p:txBody>
      </p:sp>
      <p:sp>
        <p:nvSpPr>
          <p:cNvPr id="8" name="Rectangle 7"/>
          <p:cNvSpPr/>
          <p:nvPr/>
        </p:nvSpPr>
        <p:spPr>
          <a:xfrm>
            <a:off x="320040" y="1298448"/>
            <a:ext cx="4069080" cy="27432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1480" y="1353312"/>
            <a:ext cx="3886200" cy="2651760"/>
          </a:xfrm>
          <a:prstGeom prst="rect">
            <a:avLst/>
          </a:prstGeom>
          <a:noFill/>
        </p:spPr>
        <p:txBody>
          <a:bodyPr wrap="square" lIns="36576" rIns="36576" tIns="18288" bIns="18288">
            <a:spAutoFit/>
          </a:bodyPr>
          <a:lstStyle/>
          <a:p>
            <a:pPr algn="l">
              <a:spcBef>
                <a:spcPts val="400"/>
              </a:spcBef>
              <a:spcAft>
                <a:spcPts val="200"/>
              </a:spcAft>
            </a:pPr>
            <a:r>
              <a:rPr sz="900" b="1" i="0">
                <a:solidFill>
                  <a:srgbClr val="0D9488"/>
                </a:solidFill>
                <a:latin typeface="Calibri"/>
              </a:rPr>
              <a:t>OOTB Cloud Subscription Tracking:</a:t>
            </a:r>
          </a:p>
          <a:p>
            <a:pPr algn="l">
              <a:spcAft>
                <a:spcPts val="200"/>
              </a:spcAft>
            </a:pPr>
            <a:r>
              <a:rPr sz="850" b="0" i="0">
                <a:solidFill>
                  <a:srgbClr val="1E293B"/>
                </a:solidFill>
                <a:latin typeface="Calibri"/>
              </a:rPr>
              <a:t>SAM (with SAM Pro) tracks Microsoft 365 and other cloud subscriptions via API connector. User-level license assignment tracked. Unassigned licenses flagged for reclamation. Renewal dates and subscription costs visible in SAM dashboard.</a:t>
            </a:r>
          </a:p>
        </p:txBody>
      </p:sp>
      <p:sp>
        <p:nvSpPr>
          <p:cNvPr id="10" name="Rectangle 9"/>
          <p:cNvSpPr/>
          <p:nvPr/>
        </p:nvSpPr>
        <p:spPr>
          <a:xfrm>
            <a:off x="4480560" y="1024128"/>
            <a:ext cx="4343400" cy="274320"/>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26280" y="1033271"/>
            <a:ext cx="4251960" cy="237744"/>
          </a:xfrm>
          <a:prstGeom prst="rect">
            <a:avLst/>
          </a:prstGeom>
          <a:noFill/>
        </p:spPr>
        <p:txBody>
          <a:bodyPr wrap="square" lIns="36576" rIns="36576" tIns="18288" bIns="18288">
            <a:spAutoFit/>
          </a:bodyPr>
          <a:lstStyle/>
          <a:p>
            <a:pPr algn="ctr"/>
            <a:r>
              <a:rPr sz="850" b="1" i="0">
                <a:solidFill>
                  <a:srgbClr val="FFFFFF"/>
                </a:solidFill>
                <a:latin typeface="Calibri"/>
              </a:rPr>
              <a:t>DECIDE IN THE ROOM</a:t>
            </a:r>
          </a:p>
        </p:txBody>
      </p:sp>
      <p:sp>
        <p:nvSpPr>
          <p:cNvPr id="12" name="Rectangle 11"/>
          <p:cNvSpPr/>
          <p:nvPr/>
        </p:nvSpPr>
        <p:spPr>
          <a:xfrm>
            <a:off x="4480560" y="1298448"/>
            <a:ext cx="4343400" cy="27432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0" y="1353312"/>
            <a:ext cx="4160520" cy="2651760"/>
          </a:xfrm>
          <a:prstGeom prst="rect">
            <a:avLst/>
          </a:prstGeom>
          <a:noFill/>
        </p:spPr>
        <p:txBody>
          <a:bodyPr wrap="square" lIns="36576" rIns="36576" tIns="18288" bIns="18288">
            <a:spAutoFit/>
          </a:bodyPr>
          <a:lstStyle/>
          <a:p>
            <a:pPr algn="l">
              <a:spcBef>
                <a:spcPts val="400"/>
              </a:spcBef>
              <a:spcAft>
                <a:spcPts val="200"/>
              </a:spcAft>
            </a:pPr>
            <a:r>
              <a:rPr sz="900" b="1" i="0">
                <a:solidFill>
                  <a:srgbClr val="0B1F3A"/>
                </a:solidFill>
                <a:latin typeface="Calibri"/>
              </a:rPr>
              <a:t>Questions to answer:</a:t>
            </a:r>
          </a:p>
          <a:p>
            <a:pPr algn="l">
              <a:spcAft>
                <a:spcPts val="300"/>
              </a:spcAft>
            </a:pPr>
            <a:r>
              <a:rPr sz="850" b="0" i="0">
                <a:solidFill>
                  <a:srgbClr val="1E293B"/>
                </a:solidFill>
                <a:latin typeface="Calibri"/>
              </a:rPr>
              <a:t>1.  Is Microsoft 365 subscription management in scope for SAM?</a:t>
            </a:r>
          </a:p>
          <a:p>
            <a:pPr algn="l">
              <a:spcAft>
                <a:spcPts val="300"/>
              </a:spcAft>
            </a:pPr>
            <a:r>
              <a:rPr sz="850" b="0" i="0">
                <a:solidFill>
                  <a:srgbClr val="1E293B"/>
                </a:solidFill>
                <a:latin typeface="Calibri"/>
              </a:rPr>
              <a:t>2.  Are there other SaaS subscriptions (Zoom, Salesforce, Adobe CC) to track?</a:t>
            </a:r>
          </a:p>
          <a:p>
            <a:pPr algn="l">
              <a:spcAft>
                <a:spcPts val="300"/>
              </a:spcAft>
            </a:pPr>
            <a:r>
              <a:rPr sz="850" b="0" i="0">
                <a:solidFill>
                  <a:srgbClr val="1E293B"/>
                </a:solidFill>
                <a:latin typeface="Calibri"/>
              </a:rPr>
              <a:t>3.  Who manages Microsoft 365 license assignment today (IT, cloud team, vendor)?</a:t>
            </a:r>
          </a:p>
          <a:p>
            <a:pPr algn="l">
              <a:spcAft>
                <a:spcPts val="300"/>
              </a:spcAft>
            </a:pPr>
            <a:r>
              <a:rPr sz="850" b="0" i="0">
                <a:solidFill>
                  <a:srgbClr val="1E293B"/>
                </a:solidFill>
                <a:latin typeface="Calibri"/>
              </a:rPr>
              <a:t>4.  Is there a cloud spend dashboard requirement beyond what SAM Pro provides?</a:t>
            </a:r>
          </a:p>
        </p:txBody>
      </p:sp>
      <p:sp>
        <p:nvSpPr>
          <p:cNvPr id="14" name="Rectangle 13"/>
          <p:cNvSpPr/>
          <p:nvPr/>
        </p:nvSpPr>
        <p:spPr>
          <a:xfrm>
            <a:off x="320040" y="4096512"/>
            <a:ext cx="8503920" cy="493776"/>
          </a:xfrm>
          <a:prstGeom prst="rect">
            <a:avLst/>
          </a:prstGeom>
          <a:solidFill>
            <a:srgbClr val="FEF3C7"/>
          </a:solidFill>
          <a:ln w="6350">
            <a:solidFill>
              <a:srgbClr val="FDD83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4133087"/>
            <a:ext cx="8321040" cy="420624"/>
          </a:xfrm>
          <a:prstGeom prst="rect">
            <a:avLst/>
          </a:prstGeom>
          <a:noFill/>
        </p:spPr>
        <p:txBody>
          <a:bodyPr wrap="square" lIns="36576" rIns="36576" tIns="18288" bIns="18288">
            <a:spAutoFit/>
          </a:bodyPr>
          <a:lstStyle/>
          <a:p>
            <a:pPr algn="l"/>
            <a:r>
              <a:rPr sz="900" b="1" i="0">
                <a:solidFill>
                  <a:srgbClr val="D97706"/>
                </a:solidFill>
                <a:latin typeface="Calibri"/>
              </a:rPr>
              <a:t>⚠  OOTB Defense:  </a:t>
            </a:r>
            <a:r>
              <a:rPr sz="850" b="0" i="0">
                <a:solidFill>
                  <a:srgbClr val="1E293B"/>
                </a:solidFill>
                <a:latin typeface="Calibri"/>
              </a:rPr>
              <a:t>Microsoft 365 is the #1 software license cost for most federal agencies. SAM Pro M365 integration typically pays for itself in reclaimed licenses within 60 days of go-live.</a:t>
            </a:r>
          </a:p>
        </p:txBody>
      </p:sp>
      <p:sp>
        <p:nvSpPr>
          <p:cNvPr id="16" name="Rectangle 15"/>
          <p:cNvSpPr/>
          <p:nvPr/>
        </p:nvSpPr>
        <p:spPr>
          <a:xfrm>
            <a:off x="0" y="4818888"/>
            <a:ext cx="9144000" cy="13716"/>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74320" y="4846320"/>
            <a:ext cx="2011680" cy="182880"/>
          </a:xfrm>
          <a:prstGeom prst="rect">
            <a:avLst/>
          </a:prstGeom>
          <a:noFill/>
        </p:spPr>
        <p:txBody>
          <a:bodyPr wrap="square" lIns="36576" rIns="36576" tIns="18288" bIns="18288">
            <a:spAutoFit/>
          </a:bodyPr>
          <a:lstStyle/>
          <a:p>
            <a:pPr algn="l"/>
            <a:r>
              <a:rPr sz="700" b="0" i="0">
                <a:solidFill>
                  <a:srgbClr val="94A3B8"/>
                </a:solidFill>
                <a:latin typeface="Calibri"/>
              </a:rPr>
              <a:t>Everforth ECS Federal</a:t>
            </a:r>
          </a:p>
        </p:txBody>
      </p:sp>
      <p:sp>
        <p:nvSpPr>
          <p:cNvPr id="18" name="TextBox 17"/>
          <p:cNvSpPr txBox="1"/>
          <p:nvPr/>
        </p:nvSpPr>
        <p:spPr>
          <a:xfrm>
            <a:off x="2286000" y="4846320"/>
            <a:ext cx="5029200" cy="182880"/>
          </a:xfrm>
          <a:prstGeom prst="rect">
            <a:avLst/>
          </a:prstGeom>
          <a:noFill/>
        </p:spPr>
        <p:txBody>
          <a:bodyPr wrap="square" lIns="36576" rIns="36576" tIns="18288" bIns="18288">
            <a:spAutoFit/>
          </a:bodyPr>
          <a:lstStyle/>
          <a:p>
            <a:pPr algn="ctr"/>
            <a:r>
              <a:rPr sz="700" b="0" i="0">
                <a:solidFill>
                  <a:srgbClr val="94A3B8"/>
                </a:solidFill>
                <a:latin typeface="Calibri"/>
              </a:rPr>
              <a:t>SERVICENOW PRACTICE  ·  MODERNIZING THE CORE  ·  SOFTWARE ASSET MANAGEMENT</a:t>
            </a:r>
          </a:p>
        </p:txBody>
      </p:sp>
      <p:sp>
        <p:nvSpPr>
          <p:cNvPr id="19" name="TextBox 18"/>
          <p:cNvSpPr txBox="1"/>
          <p:nvPr/>
        </p:nvSpPr>
        <p:spPr>
          <a:xfrm>
            <a:off x="8503920" y="4846320"/>
            <a:ext cx="365760" cy="182880"/>
          </a:xfrm>
          <a:prstGeom prst="rect">
            <a:avLst/>
          </a:prstGeom>
          <a:noFill/>
        </p:spPr>
        <p:txBody>
          <a:bodyPr wrap="square" lIns="36576" rIns="36576" tIns="18288" bIns="18288">
            <a:spAutoFit/>
          </a:bodyPr>
          <a:lstStyle/>
          <a:p>
            <a:pPr algn="r"/>
            <a:r>
              <a:rPr sz="700" b="0" i="0">
                <a:solidFill>
                  <a:srgbClr val="94A3B8"/>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everforth_logo.png"/>
          <p:cNvPicPr>
            <a:picLocks noChangeAspect="1"/>
          </p:cNvPicPr>
          <p:nvPr/>
        </p:nvPicPr>
        <p:blipFill>
          <a:blip r:embed="rId2"/>
          <a:stretch>
            <a:fillRect/>
          </a:stretch>
        </p:blipFill>
        <p:spPr>
          <a:xfrm>
            <a:off x="7909560" y="64008"/>
            <a:ext cx="1115568" cy="420624"/>
          </a:xfrm>
          <a:prstGeom prst="rect">
            <a:avLst/>
          </a:prstGeom>
        </p:spPr>
      </p:pic>
      <p:sp>
        <p:nvSpPr>
          <p:cNvPr id="3" name="TextBox 2"/>
          <p:cNvSpPr txBox="1"/>
          <p:nvPr/>
        </p:nvSpPr>
        <p:spPr>
          <a:xfrm>
            <a:off x="347472" y="164592"/>
            <a:ext cx="4572000" cy="201168"/>
          </a:xfrm>
          <a:prstGeom prst="rect">
            <a:avLst/>
          </a:prstGeom>
          <a:noFill/>
        </p:spPr>
        <p:txBody>
          <a:bodyPr wrap="square" lIns="36576" rIns="36576" tIns="18288" bIns="18288">
            <a:spAutoFit/>
          </a:bodyPr>
          <a:lstStyle/>
          <a:p>
            <a:pPr algn="l"/>
            <a:r>
              <a:rPr sz="800" b="1" i="0">
                <a:solidFill>
                  <a:srgbClr val="14B8A6"/>
                </a:solidFill>
                <a:latin typeface="Calibri"/>
              </a:rPr>
              <a:t>K E Y  D E C I S I O N   # 8</a:t>
            </a:r>
          </a:p>
        </p:txBody>
      </p:sp>
      <p:sp>
        <p:nvSpPr>
          <p:cNvPr id="4" name="TextBox 3"/>
          <p:cNvSpPr txBox="1"/>
          <p:nvPr/>
        </p:nvSpPr>
        <p:spPr>
          <a:xfrm>
            <a:off x="320040" y="384048"/>
            <a:ext cx="7772400" cy="685800"/>
          </a:xfrm>
          <a:prstGeom prst="rect">
            <a:avLst/>
          </a:prstGeom>
          <a:noFill/>
        </p:spPr>
        <p:txBody>
          <a:bodyPr wrap="square" lIns="36576" rIns="36576" tIns="18288" bIns="18288">
            <a:spAutoFit/>
          </a:bodyPr>
          <a:lstStyle/>
          <a:p>
            <a:pPr algn="l"/>
            <a:r>
              <a:rPr sz="1900" b="1" i="0">
                <a:solidFill>
                  <a:srgbClr val="0B1F3A"/>
                </a:solidFill>
                <a:latin typeface="Calibri"/>
              </a:rPr>
              <a:t>What compliance reports are required -- and for which audits?</a:t>
            </a:r>
          </a:p>
        </p:txBody>
      </p:sp>
      <p:sp>
        <p:nvSpPr>
          <p:cNvPr id="5" name="Rectangle 4"/>
          <p:cNvSpPr/>
          <p:nvPr/>
        </p:nvSpPr>
        <p:spPr>
          <a:xfrm>
            <a:off x="320040" y="987552"/>
            <a:ext cx="8503920" cy="16459"/>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20040" y="1024128"/>
            <a:ext cx="4069080" cy="27432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1033271"/>
            <a:ext cx="3977639" cy="237744"/>
          </a:xfrm>
          <a:prstGeom prst="rect">
            <a:avLst/>
          </a:prstGeom>
          <a:noFill/>
        </p:spPr>
        <p:txBody>
          <a:bodyPr wrap="square" lIns="36576" rIns="36576" tIns="18288" bIns="18288">
            <a:spAutoFit/>
          </a:bodyPr>
          <a:lstStyle/>
          <a:p>
            <a:pPr algn="ctr"/>
            <a:r>
              <a:rPr sz="850" b="1" i="0">
                <a:solidFill>
                  <a:srgbClr val="FFFFFF"/>
                </a:solidFill>
                <a:latin typeface="Calibri"/>
              </a:rPr>
              <a:t>OOTB RECOMMENDATION</a:t>
            </a:r>
          </a:p>
        </p:txBody>
      </p:sp>
      <p:sp>
        <p:nvSpPr>
          <p:cNvPr id="8" name="Rectangle 7"/>
          <p:cNvSpPr/>
          <p:nvPr/>
        </p:nvSpPr>
        <p:spPr>
          <a:xfrm>
            <a:off x="320040" y="1298448"/>
            <a:ext cx="4069080" cy="27432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1480" y="1353312"/>
            <a:ext cx="3886200" cy="2651760"/>
          </a:xfrm>
          <a:prstGeom prst="rect">
            <a:avLst/>
          </a:prstGeom>
          <a:noFill/>
        </p:spPr>
        <p:txBody>
          <a:bodyPr wrap="square" lIns="36576" rIns="36576" tIns="18288" bIns="18288">
            <a:spAutoFit/>
          </a:bodyPr>
          <a:lstStyle/>
          <a:p>
            <a:pPr algn="l">
              <a:spcBef>
                <a:spcPts val="400"/>
              </a:spcBef>
              <a:spcAft>
                <a:spcPts val="200"/>
              </a:spcAft>
            </a:pPr>
            <a:r>
              <a:rPr sz="900" b="1" i="0">
                <a:solidFill>
                  <a:srgbClr val="0D9488"/>
                </a:solidFill>
                <a:latin typeface="Calibri"/>
              </a:rPr>
              <a:t>OOTB Compliance Reporting:</a:t>
            </a:r>
          </a:p>
          <a:p>
            <a:pPr algn="l">
              <a:spcAft>
                <a:spcPts val="200"/>
              </a:spcAft>
            </a:pPr>
            <a:r>
              <a:rPr sz="850" b="0" i="0">
                <a:solidFill>
                  <a:srgbClr val="1E293B"/>
                </a:solidFill>
                <a:latin typeface="Calibri"/>
              </a:rPr>
              <a:t>SAM dashboard: compliance position by publisher, product, department. Effective license position (ELP) report. Under-licensed alert list. Audit export (CSV/PDF) OOTB. Publisher-specific audit defense reports in SAM Pro. PA dashboard for trend tracking.</a:t>
            </a:r>
          </a:p>
        </p:txBody>
      </p:sp>
      <p:sp>
        <p:nvSpPr>
          <p:cNvPr id="10" name="Rectangle 9"/>
          <p:cNvSpPr/>
          <p:nvPr/>
        </p:nvSpPr>
        <p:spPr>
          <a:xfrm>
            <a:off x="4480560" y="1024128"/>
            <a:ext cx="4343400" cy="274320"/>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26280" y="1033271"/>
            <a:ext cx="4251960" cy="237744"/>
          </a:xfrm>
          <a:prstGeom prst="rect">
            <a:avLst/>
          </a:prstGeom>
          <a:noFill/>
        </p:spPr>
        <p:txBody>
          <a:bodyPr wrap="square" lIns="36576" rIns="36576" tIns="18288" bIns="18288">
            <a:spAutoFit/>
          </a:bodyPr>
          <a:lstStyle/>
          <a:p>
            <a:pPr algn="ctr"/>
            <a:r>
              <a:rPr sz="850" b="1" i="0">
                <a:solidFill>
                  <a:srgbClr val="FFFFFF"/>
                </a:solidFill>
                <a:latin typeface="Calibri"/>
              </a:rPr>
              <a:t>DECIDE IN THE ROOM</a:t>
            </a:r>
          </a:p>
        </p:txBody>
      </p:sp>
      <p:sp>
        <p:nvSpPr>
          <p:cNvPr id="12" name="Rectangle 11"/>
          <p:cNvSpPr/>
          <p:nvPr/>
        </p:nvSpPr>
        <p:spPr>
          <a:xfrm>
            <a:off x="4480560" y="1298448"/>
            <a:ext cx="4343400" cy="27432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0" y="1353312"/>
            <a:ext cx="4160520" cy="2651760"/>
          </a:xfrm>
          <a:prstGeom prst="rect">
            <a:avLst/>
          </a:prstGeom>
          <a:noFill/>
        </p:spPr>
        <p:txBody>
          <a:bodyPr wrap="square" lIns="36576" rIns="36576" tIns="18288" bIns="18288">
            <a:spAutoFit/>
          </a:bodyPr>
          <a:lstStyle/>
          <a:p>
            <a:pPr algn="l">
              <a:spcBef>
                <a:spcPts val="400"/>
              </a:spcBef>
              <a:spcAft>
                <a:spcPts val="200"/>
              </a:spcAft>
            </a:pPr>
            <a:r>
              <a:rPr sz="900" b="1" i="0">
                <a:solidFill>
                  <a:srgbClr val="0B1F3A"/>
                </a:solidFill>
                <a:latin typeface="Calibri"/>
              </a:rPr>
              <a:t>Questions to answer:</a:t>
            </a:r>
          </a:p>
          <a:p>
            <a:pPr algn="l">
              <a:spcAft>
                <a:spcPts val="300"/>
              </a:spcAft>
            </a:pPr>
            <a:r>
              <a:rPr sz="850" b="0" i="0">
                <a:solidFill>
                  <a:srgbClr val="1E293B"/>
                </a:solidFill>
                <a:latin typeface="Calibri"/>
              </a:rPr>
              <a:t>1.  Are there specific audit frameworks driving SAM (FISMA, FITARA, OMB M-16-04)?</a:t>
            </a:r>
          </a:p>
          <a:p>
            <a:pPr algn="l">
              <a:spcAft>
                <a:spcPts val="300"/>
              </a:spcAft>
            </a:pPr>
            <a:r>
              <a:rPr sz="850" b="0" i="0">
                <a:solidFill>
                  <a:srgbClr val="1E293B"/>
                </a:solidFill>
                <a:latin typeface="Calibri"/>
              </a:rPr>
              <a:t>2.  Is there a recurring software compliance report sent to CIO or CISO?</a:t>
            </a:r>
          </a:p>
          <a:p>
            <a:pPr algn="l">
              <a:spcAft>
                <a:spcPts val="300"/>
              </a:spcAft>
            </a:pPr>
            <a:r>
              <a:rPr sz="850" b="0" i="0">
                <a:solidFill>
                  <a:srgbClr val="1E293B"/>
                </a:solidFill>
                <a:latin typeface="Calibri"/>
              </a:rPr>
              <a:t>3.  What is the reporting period -- monthly, quarterly, annual?</a:t>
            </a:r>
          </a:p>
          <a:p>
            <a:pPr algn="l">
              <a:spcAft>
                <a:spcPts val="300"/>
              </a:spcAft>
            </a:pPr>
            <a:r>
              <a:rPr sz="850" b="0" i="0">
                <a:solidFill>
                  <a:srgbClr val="1E293B"/>
                </a:solidFill>
                <a:latin typeface="Calibri"/>
              </a:rPr>
              <a:t>4.  Does the audit output need to integrate with GRC or a compliance system?</a:t>
            </a:r>
          </a:p>
        </p:txBody>
      </p:sp>
      <p:sp>
        <p:nvSpPr>
          <p:cNvPr id="14" name="Rectangle 13"/>
          <p:cNvSpPr/>
          <p:nvPr/>
        </p:nvSpPr>
        <p:spPr>
          <a:xfrm>
            <a:off x="320040" y="4096512"/>
            <a:ext cx="8503920" cy="493776"/>
          </a:xfrm>
          <a:prstGeom prst="rect">
            <a:avLst/>
          </a:prstGeom>
          <a:solidFill>
            <a:srgbClr val="FEF3C7"/>
          </a:solidFill>
          <a:ln w="6350">
            <a:solidFill>
              <a:srgbClr val="FDD83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4133087"/>
            <a:ext cx="8321040" cy="420624"/>
          </a:xfrm>
          <a:prstGeom prst="rect">
            <a:avLst/>
          </a:prstGeom>
          <a:noFill/>
        </p:spPr>
        <p:txBody>
          <a:bodyPr wrap="square" lIns="36576" rIns="36576" tIns="18288" bIns="18288">
            <a:spAutoFit/>
          </a:bodyPr>
          <a:lstStyle/>
          <a:p>
            <a:pPr algn="l"/>
            <a:r>
              <a:rPr sz="900" b="1" i="0">
                <a:solidFill>
                  <a:srgbClr val="D97706"/>
                </a:solidFill>
                <a:latin typeface="Calibri"/>
              </a:rPr>
              <a:t>⚠  OOTB Defense:  </a:t>
            </a:r>
            <a:r>
              <a:rPr sz="850" b="0" i="0">
                <a:solidFill>
                  <a:srgbClr val="1E293B"/>
                </a:solidFill>
                <a:latin typeface="Calibri"/>
              </a:rPr>
              <a:t>Define the compliance report format before go-live -- not after. Retrofitting report format to OOTB output is far easier than building custom reports after the fact.</a:t>
            </a:r>
          </a:p>
        </p:txBody>
      </p:sp>
      <p:sp>
        <p:nvSpPr>
          <p:cNvPr id="16" name="Rectangle 15"/>
          <p:cNvSpPr/>
          <p:nvPr/>
        </p:nvSpPr>
        <p:spPr>
          <a:xfrm>
            <a:off x="0" y="4818888"/>
            <a:ext cx="9144000" cy="13716"/>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74320" y="4846320"/>
            <a:ext cx="2011680" cy="182880"/>
          </a:xfrm>
          <a:prstGeom prst="rect">
            <a:avLst/>
          </a:prstGeom>
          <a:noFill/>
        </p:spPr>
        <p:txBody>
          <a:bodyPr wrap="square" lIns="36576" rIns="36576" tIns="18288" bIns="18288">
            <a:spAutoFit/>
          </a:bodyPr>
          <a:lstStyle/>
          <a:p>
            <a:pPr algn="l"/>
            <a:r>
              <a:rPr sz="700" b="0" i="0">
                <a:solidFill>
                  <a:srgbClr val="94A3B8"/>
                </a:solidFill>
                <a:latin typeface="Calibri"/>
              </a:rPr>
              <a:t>Everforth ECS Federal</a:t>
            </a:r>
          </a:p>
        </p:txBody>
      </p:sp>
      <p:sp>
        <p:nvSpPr>
          <p:cNvPr id="18" name="TextBox 17"/>
          <p:cNvSpPr txBox="1"/>
          <p:nvPr/>
        </p:nvSpPr>
        <p:spPr>
          <a:xfrm>
            <a:off x="2286000" y="4846320"/>
            <a:ext cx="5029200" cy="182880"/>
          </a:xfrm>
          <a:prstGeom prst="rect">
            <a:avLst/>
          </a:prstGeom>
          <a:noFill/>
        </p:spPr>
        <p:txBody>
          <a:bodyPr wrap="square" lIns="36576" rIns="36576" tIns="18288" bIns="18288">
            <a:spAutoFit/>
          </a:bodyPr>
          <a:lstStyle/>
          <a:p>
            <a:pPr algn="ctr"/>
            <a:r>
              <a:rPr sz="700" b="0" i="0">
                <a:solidFill>
                  <a:srgbClr val="94A3B8"/>
                </a:solidFill>
                <a:latin typeface="Calibri"/>
              </a:rPr>
              <a:t>SERVICENOW PRACTICE  ·  MODERNIZING THE CORE  ·  SOFTWARE ASSET MANAGEMENT</a:t>
            </a:r>
          </a:p>
        </p:txBody>
      </p:sp>
      <p:sp>
        <p:nvSpPr>
          <p:cNvPr id="19" name="TextBox 18"/>
          <p:cNvSpPr txBox="1"/>
          <p:nvPr/>
        </p:nvSpPr>
        <p:spPr>
          <a:xfrm>
            <a:off x="8503920" y="4846320"/>
            <a:ext cx="365760" cy="182880"/>
          </a:xfrm>
          <a:prstGeom prst="rect">
            <a:avLst/>
          </a:prstGeom>
          <a:noFill/>
        </p:spPr>
        <p:txBody>
          <a:bodyPr wrap="square" lIns="36576" rIns="36576" tIns="18288" bIns="18288">
            <a:spAutoFit/>
          </a:bodyPr>
          <a:lstStyle/>
          <a:p>
            <a:pPr algn="r"/>
            <a:r>
              <a:rPr sz="700" b="0" i="0">
                <a:solidFill>
                  <a:srgbClr val="94A3B8"/>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B1F3A"/>
        </a:solidFill>
        <a:effectLst/>
      </p:bgPr>
    </p:bg>
    <p:spTree>
      <p:nvGrpSpPr>
        <p:cNvPr id="1" name=""/>
        <p:cNvGrpSpPr/>
        <p:nvPr/>
      </p:nvGrpSpPr>
      <p:grpSpPr/>
      <p:sp>
        <p:nvSpPr>
          <p:cNvPr id="2" name="Rectangle 1"/>
          <p:cNvSpPr/>
          <p:nvPr/>
        </p:nvSpPr>
        <p:spPr>
          <a:xfrm>
            <a:off x="292608" y="1572768"/>
            <a:ext cx="64008" cy="1645920"/>
          </a:xfrm>
          <a:prstGeom prst="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75488" y="1572768"/>
            <a:ext cx="6858000" cy="804672"/>
          </a:xfrm>
          <a:prstGeom prst="rect">
            <a:avLst/>
          </a:prstGeom>
          <a:noFill/>
        </p:spPr>
        <p:txBody>
          <a:bodyPr wrap="square" lIns="36576" rIns="36576" tIns="18288" bIns="18288">
            <a:spAutoFit/>
          </a:bodyPr>
          <a:lstStyle/>
          <a:p>
            <a:pPr algn="l"/>
            <a:r>
              <a:rPr sz="4400" b="1" i="0">
                <a:solidFill>
                  <a:srgbClr val="FFFFFF"/>
                </a:solidFill>
                <a:latin typeface="Calibri"/>
              </a:rPr>
              <a:t>Decision Log</a:t>
            </a:r>
          </a:p>
        </p:txBody>
      </p:sp>
      <p:sp>
        <p:nvSpPr>
          <p:cNvPr id="4" name="TextBox 3"/>
          <p:cNvSpPr txBox="1"/>
          <p:nvPr/>
        </p:nvSpPr>
        <p:spPr>
          <a:xfrm>
            <a:off x="475488" y="2377440"/>
            <a:ext cx="7315200" cy="347472"/>
          </a:xfrm>
          <a:prstGeom prst="rect">
            <a:avLst/>
          </a:prstGeom>
          <a:noFill/>
        </p:spPr>
        <p:txBody>
          <a:bodyPr wrap="square" lIns="36576" rIns="36576" tIns="18288" bIns="18288">
            <a:spAutoFit/>
          </a:bodyPr>
          <a:lstStyle/>
          <a:p>
            <a:pPr algn="l"/>
            <a:r>
              <a:rPr sz="1600" b="1" i="0">
                <a:solidFill>
                  <a:srgbClr val="14B8A6"/>
                </a:solidFill>
                <a:latin typeface="Calibri"/>
              </a:rPr>
              <a:t>Every decision on the next page is an action.</a:t>
            </a:r>
          </a:p>
        </p:txBody>
      </p:sp>
      <p:sp>
        <p:nvSpPr>
          <p:cNvPr id="5" name="TextBox 4"/>
          <p:cNvSpPr txBox="1"/>
          <p:nvPr/>
        </p:nvSpPr>
        <p:spPr>
          <a:xfrm>
            <a:off x="475488" y="2706624"/>
            <a:ext cx="7315200" cy="347472"/>
          </a:xfrm>
          <a:prstGeom prst="rect">
            <a:avLst/>
          </a:prstGeom>
          <a:noFill/>
        </p:spPr>
        <p:txBody>
          <a:bodyPr wrap="square" lIns="36576" rIns="36576" tIns="18288" bIns="18288">
            <a:spAutoFit/>
          </a:bodyPr>
          <a:lstStyle/>
          <a:p>
            <a:pPr algn="l"/>
            <a:r>
              <a:rPr sz="1600" b="1" i="0">
                <a:solidFill>
                  <a:srgbClr val="14B8A6"/>
                </a:solidFill>
                <a:latin typeface="Calibri"/>
              </a:rPr>
              <a:t>Decisions left blank leave this room with a named owner and a date.</a:t>
            </a:r>
          </a:p>
        </p:txBody>
      </p:sp>
      <p:sp>
        <p:nvSpPr>
          <p:cNvPr id="6" name="TextBox 5"/>
          <p:cNvSpPr txBox="1"/>
          <p:nvPr/>
        </p:nvSpPr>
        <p:spPr>
          <a:xfrm>
            <a:off x="475488" y="3200400"/>
            <a:ext cx="7315200" cy="347472"/>
          </a:xfrm>
          <a:prstGeom prst="rect">
            <a:avLst/>
          </a:prstGeom>
          <a:noFill/>
        </p:spPr>
        <p:txBody>
          <a:bodyPr wrap="square" lIns="36576" rIns="36576" tIns="18288" bIns="18288">
            <a:spAutoFit/>
          </a:bodyPr>
          <a:lstStyle/>
          <a:p>
            <a:pPr algn="l"/>
            <a:r>
              <a:rPr sz="1200" b="0" i="1">
                <a:solidFill>
                  <a:srgbClr val="FFFFFF"/>
                </a:solidFill>
                <a:latin typeface="Calibri"/>
              </a:rPr>
              <a:t>Before we close: no decision is unresolved — it is either made, or owned.</a:t>
            </a:r>
          </a:p>
        </p:txBody>
      </p:sp>
      <p:pic>
        <p:nvPicPr>
          <p:cNvPr id="7" name="Picture 6" descr="everforth_logo.png"/>
          <p:cNvPicPr>
            <a:picLocks noChangeAspect="1"/>
          </p:cNvPicPr>
          <p:nvPr/>
        </p:nvPicPr>
        <p:blipFill>
          <a:blip r:embed="rId2"/>
          <a:stretch>
            <a:fillRect/>
          </a:stretch>
        </p:blipFill>
        <p:spPr>
          <a:xfrm>
            <a:off x="7909560" y="64008"/>
            <a:ext cx="1115568" cy="420624"/>
          </a:xfrm>
          <a:prstGeom prst="rect">
            <a:avLst/>
          </a:prstGeom>
        </p:spPr>
      </p:pic>
      <p:sp>
        <p:nvSpPr>
          <p:cNvPr id="8" name="Rectangle 7"/>
          <p:cNvSpPr/>
          <p:nvPr/>
        </p:nvSpPr>
        <p:spPr>
          <a:xfrm>
            <a:off x="0" y="4818888"/>
            <a:ext cx="9144000" cy="13716"/>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74320" y="4846320"/>
            <a:ext cx="2011680" cy="182880"/>
          </a:xfrm>
          <a:prstGeom prst="rect">
            <a:avLst/>
          </a:prstGeom>
          <a:noFill/>
        </p:spPr>
        <p:txBody>
          <a:bodyPr wrap="square" lIns="36576" rIns="36576" tIns="18288" bIns="18288">
            <a:spAutoFit/>
          </a:bodyPr>
          <a:lstStyle/>
          <a:p>
            <a:pPr algn="l"/>
            <a:r>
              <a:rPr sz="700" b="0" i="0">
                <a:solidFill>
                  <a:srgbClr val="94A3B8"/>
                </a:solidFill>
                <a:latin typeface="Calibri"/>
              </a:rPr>
              <a:t>Everforth ECS Federal</a:t>
            </a:r>
          </a:p>
        </p:txBody>
      </p:sp>
      <p:sp>
        <p:nvSpPr>
          <p:cNvPr id="10" name="TextBox 9"/>
          <p:cNvSpPr txBox="1"/>
          <p:nvPr/>
        </p:nvSpPr>
        <p:spPr>
          <a:xfrm>
            <a:off x="2286000" y="4846320"/>
            <a:ext cx="5029200" cy="182880"/>
          </a:xfrm>
          <a:prstGeom prst="rect">
            <a:avLst/>
          </a:prstGeom>
          <a:noFill/>
        </p:spPr>
        <p:txBody>
          <a:bodyPr wrap="square" lIns="36576" rIns="36576" tIns="18288" bIns="18288">
            <a:spAutoFit/>
          </a:bodyPr>
          <a:lstStyle/>
          <a:p>
            <a:pPr algn="ctr"/>
            <a:r>
              <a:rPr sz="700" b="0" i="0">
                <a:solidFill>
                  <a:srgbClr val="94A3B8"/>
                </a:solidFill>
                <a:latin typeface="Calibri"/>
              </a:rPr>
              <a:t>SERVICENOW PRACTICE  ·  MODERNIZING THE CORE  ·  SOFTWARE ASSET MANAGEMENT</a:t>
            </a:r>
          </a:p>
        </p:txBody>
      </p:sp>
      <p:sp>
        <p:nvSpPr>
          <p:cNvPr id="11" name="TextBox 10"/>
          <p:cNvSpPr txBox="1"/>
          <p:nvPr/>
        </p:nvSpPr>
        <p:spPr>
          <a:xfrm>
            <a:off x="8503920" y="4846320"/>
            <a:ext cx="365760" cy="182880"/>
          </a:xfrm>
          <a:prstGeom prst="rect">
            <a:avLst/>
          </a:prstGeom>
          <a:noFill/>
        </p:spPr>
        <p:txBody>
          <a:bodyPr wrap="square" lIns="36576" rIns="36576" tIns="18288" bIns="18288">
            <a:spAutoFit/>
          </a:bodyPr>
          <a:lstStyle/>
          <a:p>
            <a:pPr algn="r"/>
            <a:r>
              <a:rPr sz="700" b="0" i="0">
                <a:solidFill>
                  <a:srgbClr val="94A3B8"/>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everforth_logo.png"/>
          <p:cNvPicPr>
            <a:picLocks noChangeAspect="1"/>
          </p:cNvPicPr>
          <p:nvPr/>
        </p:nvPicPr>
        <p:blipFill>
          <a:blip r:embed="rId2"/>
          <a:stretch>
            <a:fillRect/>
          </a:stretch>
        </p:blipFill>
        <p:spPr>
          <a:xfrm>
            <a:off x="7909560" y="64008"/>
            <a:ext cx="1115568" cy="420624"/>
          </a:xfrm>
          <a:prstGeom prst="rect">
            <a:avLst/>
          </a:prstGeom>
        </p:spPr>
      </p:pic>
      <p:sp>
        <p:nvSpPr>
          <p:cNvPr id="3" name="TextBox 2"/>
          <p:cNvSpPr txBox="1"/>
          <p:nvPr/>
        </p:nvSpPr>
        <p:spPr>
          <a:xfrm>
            <a:off x="347472" y="164592"/>
            <a:ext cx="4572000" cy="201168"/>
          </a:xfrm>
          <a:prstGeom prst="rect">
            <a:avLst/>
          </a:prstGeom>
          <a:noFill/>
        </p:spPr>
        <p:txBody>
          <a:bodyPr wrap="square" lIns="36576" rIns="36576" tIns="18288" bIns="18288">
            <a:spAutoFit/>
          </a:bodyPr>
          <a:lstStyle/>
          <a:p>
            <a:pPr algn="l"/>
            <a:r>
              <a:rPr sz="800" b="1" i="0">
                <a:solidFill>
                  <a:srgbClr val="14B8A6"/>
                </a:solidFill>
                <a:latin typeface="Calibri"/>
              </a:rPr>
              <a:t>D E C I S I O N  L O G</a:t>
            </a:r>
          </a:p>
        </p:txBody>
      </p:sp>
      <p:sp>
        <p:nvSpPr>
          <p:cNvPr id="4" name="TextBox 3"/>
          <p:cNvSpPr txBox="1"/>
          <p:nvPr/>
        </p:nvSpPr>
        <p:spPr>
          <a:xfrm>
            <a:off x="320040" y="384048"/>
            <a:ext cx="7772400" cy="685800"/>
          </a:xfrm>
          <a:prstGeom prst="rect">
            <a:avLst/>
          </a:prstGeom>
          <a:noFill/>
        </p:spPr>
        <p:txBody>
          <a:bodyPr wrap="square" lIns="36576" rIns="36576" tIns="18288" bIns="18288">
            <a:spAutoFit/>
          </a:bodyPr>
          <a:lstStyle/>
          <a:p>
            <a:pPr algn="l"/>
            <a:r>
              <a:rPr sz="2000" b="1" i="0">
                <a:solidFill>
                  <a:srgbClr val="0B1F3A"/>
                </a:solidFill>
                <a:latin typeface="Calibri"/>
              </a:rPr>
              <a:t>Software Asset Management — Decisions Made in This Workshop</a:t>
            </a:r>
          </a:p>
        </p:txBody>
      </p:sp>
      <p:sp>
        <p:nvSpPr>
          <p:cNvPr id="5" name="Rectangle 4"/>
          <p:cNvSpPr/>
          <p:nvPr/>
        </p:nvSpPr>
        <p:spPr>
          <a:xfrm>
            <a:off x="320040" y="987552"/>
            <a:ext cx="8503920" cy="16459"/>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20040" y="1042415"/>
            <a:ext cx="292608" cy="274320"/>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59" y="1078992"/>
            <a:ext cx="201168" cy="201168"/>
          </a:xfrm>
          <a:prstGeom prst="rect">
            <a:avLst/>
          </a:prstGeom>
          <a:noFill/>
        </p:spPr>
        <p:txBody>
          <a:bodyPr wrap="square" lIns="36576" rIns="36576" tIns="18288" bIns="18288">
            <a:spAutoFit/>
          </a:bodyPr>
          <a:lstStyle/>
          <a:p>
            <a:pPr algn="l"/>
            <a:r>
              <a:rPr sz="850" b="1" i="0">
                <a:solidFill>
                  <a:srgbClr val="FFFFFF"/>
                </a:solidFill>
                <a:latin typeface="Calibri"/>
              </a:rPr>
              <a:t>#</a:t>
            </a:r>
          </a:p>
        </p:txBody>
      </p:sp>
      <p:sp>
        <p:nvSpPr>
          <p:cNvPr id="8" name="Rectangle 7"/>
          <p:cNvSpPr/>
          <p:nvPr/>
        </p:nvSpPr>
        <p:spPr>
          <a:xfrm>
            <a:off x="612647" y="1042415"/>
            <a:ext cx="1737360" cy="274320"/>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1078992"/>
            <a:ext cx="1645919" cy="201168"/>
          </a:xfrm>
          <a:prstGeom prst="rect">
            <a:avLst/>
          </a:prstGeom>
          <a:noFill/>
        </p:spPr>
        <p:txBody>
          <a:bodyPr wrap="square" lIns="36576" rIns="36576" tIns="18288" bIns="18288">
            <a:spAutoFit/>
          </a:bodyPr>
          <a:lstStyle/>
          <a:p>
            <a:pPr algn="l"/>
            <a:r>
              <a:rPr sz="850" b="1" i="0">
                <a:solidFill>
                  <a:srgbClr val="FFFFFF"/>
                </a:solidFill>
                <a:latin typeface="Calibri"/>
              </a:rPr>
              <a:t>Decision Topic</a:t>
            </a:r>
          </a:p>
        </p:txBody>
      </p:sp>
      <p:sp>
        <p:nvSpPr>
          <p:cNvPr id="10" name="Rectangle 9"/>
          <p:cNvSpPr/>
          <p:nvPr/>
        </p:nvSpPr>
        <p:spPr>
          <a:xfrm>
            <a:off x="2350008" y="1042415"/>
            <a:ext cx="3931920" cy="274320"/>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395727" y="1078992"/>
            <a:ext cx="3840480" cy="201168"/>
          </a:xfrm>
          <a:prstGeom prst="rect">
            <a:avLst/>
          </a:prstGeom>
          <a:noFill/>
        </p:spPr>
        <p:txBody>
          <a:bodyPr wrap="square" lIns="36576" rIns="36576" tIns="18288" bIns="18288">
            <a:spAutoFit/>
          </a:bodyPr>
          <a:lstStyle/>
          <a:p>
            <a:pPr algn="l"/>
            <a:r>
              <a:rPr sz="850" b="1" i="0">
                <a:solidFill>
                  <a:srgbClr val="FFFFFF"/>
                </a:solidFill>
                <a:latin typeface="Calibri"/>
              </a:rPr>
              <a:t>Scope</a:t>
            </a:r>
          </a:p>
        </p:txBody>
      </p:sp>
      <p:sp>
        <p:nvSpPr>
          <p:cNvPr id="12" name="Rectangle 11"/>
          <p:cNvSpPr/>
          <p:nvPr/>
        </p:nvSpPr>
        <p:spPr>
          <a:xfrm>
            <a:off x="6281927" y="1042415"/>
            <a:ext cx="1508760" cy="274320"/>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27647" y="1078992"/>
            <a:ext cx="1417319" cy="201168"/>
          </a:xfrm>
          <a:prstGeom prst="rect">
            <a:avLst/>
          </a:prstGeom>
          <a:noFill/>
        </p:spPr>
        <p:txBody>
          <a:bodyPr wrap="square" lIns="36576" rIns="36576" tIns="18288" bIns="18288">
            <a:spAutoFit/>
          </a:bodyPr>
          <a:lstStyle/>
          <a:p>
            <a:pPr algn="l"/>
            <a:r>
              <a:rPr sz="850" b="1" i="0">
                <a:solidFill>
                  <a:srgbClr val="FFFFFF"/>
                </a:solidFill>
                <a:latin typeface="Calibri"/>
              </a:rPr>
              <a:t>Decision Made</a:t>
            </a:r>
          </a:p>
        </p:txBody>
      </p:sp>
      <p:sp>
        <p:nvSpPr>
          <p:cNvPr id="14" name="Rectangle 13"/>
          <p:cNvSpPr/>
          <p:nvPr/>
        </p:nvSpPr>
        <p:spPr>
          <a:xfrm>
            <a:off x="7790688" y="1042415"/>
            <a:ext cx="1005840" cy="274320"/>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836408" y="1078992"/>
            <a:ext cx="914400" cy="201168"/>
          </a:xfrm>
          <a:prstGeom prst="rect">
            <a:avLst/>
          </a:prstGeom>
          <a:noFill/>
        </p:spPr>
        <p:txBody>
          <a:bodyPr wrap="square" lIns="36576" rIns="36576" tIns="18288" bIns="18288">
            <a:spAutoFit/>
          </a:bodyPr>
          <a:lstStyle/>
          <a:p>
            <a:pPr algn="l"/>
            <a:r>
              <a:rPr sz="850" b="1" i="0">
                <a:solidFill>
                  <a:srgbClr val="FFFFFF"/>
                </a:solidFill>
                <a:latin typeface="Calibri"/>
              </a:rPr>
              <a:t>Owner / Due</a:t>
            </a:r>
          </a:p>
        </p:txBody>
      </p:sp>
      <p:sp>
        <p:nvSpPr>
          <p:cNvPr id="16" name="Rectangle 15"/>
          <p:cNvSpPr/>
          <p:nvPr/>
        </p:nvSpPr>
        <p:spPr>
          <a:xfrm>
            <a:off x="320040" y="1316736"/>
            <a:ext cx="292608" cy="36576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7" y="1316736"/>
            <a:ext cx="1737360" cy="36576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350008" y="1316736"/>
            <a:ext cx="3931920" cy="36576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281927" y="1316736"/>
            <a:ext cx="1508760" cy="36576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90688" y="1316736"/>
            <a:ext cx="1005840" cy="36576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56615" y="1408176"/>
            <a:ext cx="219456" cy="201168"/>
          </a:xfrm>
          <a:prstGeom prst="rect">
            <a:avLst/>
          </a:prstGeom>
          <a:noFill/>
        </p:spPr>
        <p:txBody>
          <a:bodyPr wrap="square" lIns="36576" rIns="36576" tIns="18288" bIns="18288">
            <a:spAutoFit/>
          </a:bodyPr>
          <a:lstStyle/>
          <a:p>
            <a:pPr algn="l"/>
            <a:r>
              <a:rPr sz="900" b="1" i="0">
                <a:solidFill>
                  <a:srgbClr val="14B8A6"/>
                </a:solidFill>
                <a:latin typeface="Calibri"/>
              </a:rPr>
              <a:t>#1</a:t>
            </a:r>
          </a:p>
        </p:txBody>
      </p:sp>
      <p:sp>
        <p:nvSpPr>
          <p:cNvPr id="22" name="TextBox 21"/>
          <p:cNvSpPr txBox="1"/>
          <p:nvPr/>
        </p:nvSpPr>
        <p:spPr>
          <a:xfrm>
            <a:off x="658368" y="1389888"/>
            <a:ext cx="1645919" cy="274320"/>
          </a:xfrm>
          <a:prstGeom prst="rect">
            <a:avLst/>
          </a:prstGeom>
          <a:noFill/>
        </p:spPr>
        <p:txBody>
          <a:bodyPr wrap="square" lIns="36576" rIns="36576" tIns="18288" bIns="18288">
            <a:spAutoFit/>
          </a:bodyPr>
          <a:lstStyle/>
          <a:p>
            <a:pPr algn="l"/>
            <a:r>
              <a:rPr sz="850" b="1" i="0">
                <a:solidFill>
                  <a:srgbClr val="1E293B"/>
                </a:solidFill>
                <a:latin typeface="Calibri"/>
              </a:rPr>
              <a:t>Software titles in scope</a:t>
            </a:r>
          </a:p>
        </p:txBody>
      </p:sp>
      <p:sp>
        <p:nvSpPr>
          <p:cNvPr id="23" name="TextBox 22"/>
          <p:cNvSpPr txBox="1"/>
          <p:nvPr/>
        </p:nvSpPr>
        <p:spPr>
          <a:xfrm>
            <a:off x="2395727" y="1389888"/>
            <a:ext cx="3840480" cy="274320"/>
          </a:xfrm>
          <a:prstGeom prst="rect">
            <a:avLst/>
          </a:prstGeom>
          <a:noFill/>
        </p:spPr>
        <p:txBody>
          <a:bodyPr wrap="square" lIns="36576" rIns="36576" tIns="18288" bIns="18288">
            <a:spAutoFit/>
          </a:bodyPr>
          <a:lstStyle/>
          <a:p>
            <a:pPr algn="l"/>
            <a:r>
              <a:rPr sz="850" b="0" i="0">
                <a:solidFill>
                  <a:srgbClr val="1E293B"/>
                </a:solidFill>
                <a:latin typeface="Calibri"/>
              </a:rPr>
              <a:t/>
            </a:r>
          </a:p>
        </p:txBody>
      </p:sp>
      <p:sp>
        <p:nvSpPr>
          <p:cNvPr id="24" name="Rectangle 23"/>
          <p:cNvSpPr/>
          <p:nvPr/>
        </p:nvSpPr>
        <p:spPr>
          <a:xfrm>
            <a:off x="320040" y="1682495"/>
            <a:ext cx="292608" cy="36576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12647" y="1682495"/>
            <a:ext cx="1737360" cy="36576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2350008" y="1682495"/>
            <a:ext cx="3931920" cy="36576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281927" y="1682495"/>
            <a:ext cx="1508760" cy="36576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90688" y="1682495"/>
            <a:ext cx="1005840" cy="36576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56615" y="1773936"/>
            <a:ext cx="219456" cy="201168"/>
          </a:xfrm>
          <a:prstGeom prst="rect">
            <a:avLst/>
          </a:prstGeom>
          <a:noFill/>
        </p:spPr>
        <p:txBody>
          <a:bodyPr wrap="square" lIns="36576" rIns="36576" tIns="18288" bIns="18288">
            <a:spAutoFit/>
          </a:bodyPr>
          <a:lstStyle/>
          <a:p>
            <a:pPr algn="l"/>
            <a:r>
              <a:rPr sz="900" b="1" i="0">
                <a:solidFill>
                  <a:srgbClr val="14B8A6"/>
                </a:solidFill>
                <a:latin typeface="Calibri"/>
              </a:rPr>
              <a:t>#2</a:t>
            </a:r>
          </a:p>
        </p:txBody>
      </p:sp>
      <p:sp>
        <p:nvSpPr>
          <p:cNvPr id="30" name="TextBox 29"/>
          <p:cNvSpPr txBox="1"/>
          <p:nvPr/>
        </p:nvSpPr>
        <p:spPr>
          <a:xfrm>
            <a:off x="658368" y="1755648"/>
            <a:ext cx="1645919" cy="274320"/>
          </a:xfrm>
          <a:prstGeom prst="rect">
            <a:avLst/>
          </a:prstGeom>
          <a:noFill/>
        </p:spPr>
        <p:txBody>
          <a:bodyPr wrap="square" lIns="36576" rIns="36576" tIns="18288" bIns="18288">
            <a:spAutoFit/>
          </a:bodyPr>
          <a:lstStyle/>
          <a:p>
            <a:pPr algn="l"/>
            <a:r>
              <a:rPr sz="850" b="1" i="0">
                <a:solidFill>
                  <a:srgbClr val="1E293B"/>
                </a:solidFill>
                <a:latin typeface="Calibri"/>
              </a:rPr>
              <a:t>License models per top title</a:t>
            </a:r>
          </a:p>
        </p:txBody>
      </p:sp>
      <p:sp>
        <p:nvSpPr>
          <p:cNvPr id="31" name="TextBox 30"/>
          <p:cNvSpPr txBox="1"/>
          <p:nvPr/>
        </p:nvSpPr>
        <p:spPr>
          <a:xfrm>
            <a:off x="2395727" y="1755648"/>
            <a:ext cx="3840480" cy="274320"/>
          </a:xfrm>
          <a:prstGeom prst="rect">
            <a:avLst/>
          </a:prstGeom>
          <a:noFill/>
        </p:spPr>
        <p:txBody>
          <a:bodyPr wrap="square" lIns="36576" rIns="36576" tIns="18288" bIns="18288">
            <a:spAutoFit/>
          </a:bodyPr>
          <a:lstStyle/>
          <a:p>
            <a:pPr algn="l"/>
            <a:r>
              <a:rPr sz="850" b="0" i="0">
                <a:solidFill>
                  <a:srgbClr val="1E293B"/>
                </a:solidFill>
                <a:latin typeface="Calibri"/>
              </a:rPr>
              <a:t/>
            </a:r>
          </a:p>
        </p:txBody>
      </p:sp>
      <p:sp>
        <p:nvSpPr>
          <p:cNvPr id="32" name="Rectangle 31"/>
          <p:cNvSpPr/>
          <p:nvPr/>
        </p:nvSpPr>
        <p:spPr>
          <a:xfrm>
            <a:off x="320040" y="2048256"/>
            <a:ext cx="292608" cy="36576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12647" y="2048256"/>
            <a:ext cx="1737360" cy="36576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2350008" y="2048256"/>
            <a:ext cx="3931920" cy="36576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6281927" y="2048256"/>
            <a:ext cx="1508760" cy="36576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790688" y="2048256"/>
            <a:ext cx="1005840" cy="36576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56615" y="2139696"/>
            <a:ext cx="219456" cy="201168"/>
          </a:xfrm>
          <a:prstGeom prst="rect">
            <a:avLst/>
          </a:prstGeom>
          <a:noFill/>
        </p:spPr>
        <p:txBody>
          <a:bodyPr wrap="square" lIns="36576" rIns="36576" tIns="18288" bIns="18288">
            <a:spAutoFit/>
          </a:bodyPr>
          <a:lstStyle/>
          <a:p>
            <a:pPr algn="l"/>
            <a:r>
              <a:rPr sz="900" b="1" i="0">
                <a:solidFill>
                  <a:srgbClr val="14B8A6"/>
                </a:solidFill>
                <a:latin typeface="Calibri"/>
              </a:rPr>
              <a:t>#3</a:t>
            </a:r>
          </a:p>
        </p:txBody>
      </p:sp>
      <p:sp>
        <p:nvSpPr>
          <p:cNvPr id="38" name="TextBox 37"/>
          <p:cNvSpPr txBox="1"/>
          <p:nvPr/>
        </p:nvSpPr>
        <p:spPr>
          <a:xfrm>
            <a:off x="658368" y="2121408"/>
            <a:ext cx="1645919" cy="274320"/>
          </a:xfrm>
          <a:prstGeom prst="rect">
            <a:avLst/>
          </a:prstGeom>
          <a:noFill/>
        </p:spPr>
        <p:txBody>
          <a:bodyPr wrap="square" lIns="36576" rIns="36576" tIns="18288" bIns="18288">
            <a:spAutoFit/>
          </a:bodyPr>
          <a:lstStyle/>
          <a:p>
            <a:pPr algn="l"/>
            <a:r>
              <a:rPr sz="850" b="1" i="0">
                <a:solidFill>
                  <a:srgbClr val="1E293B"/>
                </a:solidFill>
                <a:latin typeface="Calibri"/>
              </a:rPr>
              <a:t>Entitlement data source and owner</a:t>
            </a:r>
          </a:p>
        </p:txBody>
      </p:sp>
      <p:sp>
        <p:nvSpPr>
          <p:cNvPr id="39" name="TextBox 38"/>
          <p:cNvSpPr txBox="1"/>
          <p:nvPr/>
        </p:nvSpPr>
        <p:spPr>
          <a:xfrm>
            <a:off x="2395727" y="2121408"/>
            <a:ext cx="3840480" cy="274320"/>
          </a:xfrm>
          <a:prstGeom prst="rect">
            <a:avLst/>
          </a:prstGeom>
          <a:noFill/>
        </p:spPr>
        <p:txBody>
          <a:bodyPr wrap="square" lIns="36576" rIns="36576" tIns="18288" bIns="18288">
            <a:spAutoFit/>
          </a:bodyPr>
          <a:lstStyle/>
          <a:p>
            <a:pPr algn="l"/>
            <a:r>
              <a:rPr sz="850" b="0" i="0">
                <a:solidFill>
                  <a:srgbClr val="1E293B"/>
                </a:solidFill>
                <a:latin typeface="Calibri"/>
              </a:rPr>
              <a:t/>
            </a:r>
          </a:p>
        </p:txBody>
      </p:sp>
      <p:sp>
        <p:nvSpPr>
          <p:cNvPr id="40" name="Rectangle 39"/>
          <p:cNvSpPr/>
          <p:nvPr/>
        </p:nvSpPr>
        <p:spPr>
          <a:xfrm>
            <a:off x="320040" y="2414016"/>
            <a:ext cx="292608" cy="36576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12647" y="2414016"/>
            <a:ext cx="1737360" cy="36576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2350008" y="2414016"/>
            <a:ext cx="3931920" cy="36576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6281927" y="2414016"/>
            <a:ext cx="1508760" cy="36576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7790688" y="2414016"/>
            <a:ext cx="1005840" cy="36576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356615" y="2505456"/>
            <a:ext cx="219456" cy="201168"/>
          </a:xfrm>
          <a:prstGeom prst="rect">
            <a:avLst/>
          </a:prstGeom>
          <a:noFill/>
        </p:spPr>
        <p:txBody>
          <a:bodyPr wrap="square" lIns="36576" rIns="36576" tIns="18288" bIns="18288">
            <a:spAutoFit/>
          </a:bodyPr>
          <a:lstStyle/>
          <a:p>
            <a:pPr algn="l"/>
            <a:r>
              <a:rPr sz="900" b="1" i="0">
                <a:solidFill>
                  <a:srgbClr val="14B8A6"/>
                </a:solidFill>
                <a:latin typeface="Calibri"/>
              </a:rPr>
              <a:t>#4</a:t>
            </a:r>
          </a:p>
        </p:txBody>
      </p:sp>
      <p:sp>
        <p:nvSpPr>
          <p:cNvPr id="46" name="TextBox 45"/>
          <p:cNvSpPr txBox="1"/>
          <p:nvPr/>
        </p:nvSpPr>
        <p:spPr>
          <a:xfrm>
            <a:off x="658368" y="2487168"/>
            <a:ext cx="1645919" cy="274320"/>
          </a:xfrm>
          <a:prstGeom prst="rect">
            <a:avLst/>
          </a:prstGeom>
          <a:noFill/>
        </p:spPr>
        <p:txBody>
          <a:bodyPr wrap="square" lIns="36576" rIns="36576" tIns="18288" bIns="18288">
            <a:spAutoFit/>
          </a:bodyPr>
          <a:lstStyle/>
          <a:p>
            <a:pPr algn="l"/>
            <a:r>
              <a:rPr sz="850" b="1" i="0">
                <a:solidFill>
                  <a:srgbClr val="1E293B"/>
                </a:solidFill>
                <a:latin typeface="Calibri"/>
              </a:rPr>
              <a:t>SAM Pro activation decision</a:t>
            </a:r>
          </a:p>
        </p:txBody>
      </p:sp>
      <p:sp>
        <p:nvSpPr>
          <p:cNvPr id="47" name="TextBox 46"/>
          <p:cNvSpPr txBox="1"/>
          <p:nvPr/>
        </p:nvSpPr>
        <p:spPr>
          <a:xfrm>
            <a:off x="2395727" y="2487168"/>
            <a:ext cx="3840480" cy="274320"/>
          </a:xfrm>
          <a:prstGeom prst="rect">
            <a:avLst/>
          </a:prstGeom>
          <a:noFill/>
        </p:spPr>
        <p:txBody>
          <a:bodyPr wrap="square" lIns="36576" rIns="36576" tIns="18288" bIns="18288">
            <a:spAutoFit/>
          </a:bodyPr>
          <a:lstStyle/>
          <a:p>
            <a:pPr algn="l"/>
            <a:r>
              <a:rPr sz="850" b="0" i="0">
                <a:solidFill>
                  <a:srgbClr val="1E293B"/>
                </a:solidFill>
                <a:latin typeface="Calibri"/>
              </a:rPr>
              <a:t/>
            </a:r>
          </a:p>
        </p:txBody>
      </p:sp>
      <p:sp>
        <p:nvSpPr>
          <p:cNvPr id="48" name="Rectangle 47"/>
          <p:cNvSpPr/>
          <p:nvPr/>
        </p:nvSpPr>
        <p:spPr>
          <a:xfrm>
            <a:off x="320040" y="2779776"/>
            <a:ext cx="292608" cy="36576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612647" y="2779776"/>
            <a:ext cx="1737360" cy="36576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2350008" y="2779776"/>
            <a:ext cx="3931920" cy="36576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6281927" y="2779776"/>
            <a:ext cx="1508760" cy="36576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7790688" y="2779776"/>
            <a:ext cx="1005840" cy="36576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356615" y="2871216"/>
            <a:ext cx="219456" cy="201168"/>
          </a:xfrm>
          <a:prstGeom prst="rect">
            <a:avLst/>
          </a:prstGeom>
          <a:noFill/>
        </p:spPr>
        <p:txBody>
          <a:bodyPr wrap="square" lIns="36576" rIns="36576" tIns="18288" bIns="18288">
            <a:spAutoFit/>
          </a:bodyPr>
          <a:lstStyle/>
          <a:p>
            <a:pPr algn="l"/>
            <a:r>
              <a:rPr sz="900" b="1" i="0">
                <a:solidFill>
                  <a:srgbClr val="14B8A6"/>
                </a:solidFill>
                <a:latin typeface="Calibri"/>
              </a:rPr>
              <a:t>#5</a:t>
            </a:r>
          </a:p>
        </p:txBody>
      </p:sp>
      <p:sp>
        <p:nvSpPr>
          <p:cNvPr id="54" name="TextBox 53"/>
          <p:cNvSpPr txBox="1"/>
          <p:nvPr/>
        </p:nvSpPr>
        <p:spPr>
          <a:xfrm>
            <a:off x="658368" y="2852928"/>
            <a:ext cx="1645919" cy="274320"/>
          </a:xfrm>
          <a:prstGeom prst="rect">
            <a:avLst/>
          </a:prstGeom>
          <a:noFill/>
        </p:spPr>
        <p:txBody>
          <a:bodyPr wrap="square" lIns="36576" rIns="36576" tIns="18288" bIns="18288">
            <a:spAutoFit/>
          </a:bodyPr>
          <a:lstStyle/>
          <a:p>
            <a:pPr algn="l"/>
            <a:r>
              <a:rPr sz="850" b="1" i="0">
                <a:solidFill>
                  <a:srgbClr val="1E293B"/>
                </a:solidFill>
                <a:latin typeface="Calibri"/>
              </a:rPr>
              <a:t>Reclamation window and uninstall method</a:t>
            </a:r>
          </a:p>
        </p:txBody>
      </p:sp>
      <p:sp>
        <p:nvSpPr>
          <p:cNvPr id="55" name="TextBox 54"/>
          <p:cNvSpPr txBox="1"/>
          <p:nvPr/>
        </p:nvSpPr>
        <p:spPr>
          <a:xfrm>
            <a:off x="2395727" y="2852928"/>
            <a:ext cx="3840480" cy="274320"/>
          </a:xfrm>
          <a:prstGeom prst="rect">
            <a:avLst/>
          </a:prstGeom>
          <a:noFill/>
        </p:spPr>
        <p:txBody>
          <a:bodyPr wrap="square" lIns="36576" rIns="36576" tIns="18288" bIns="18288">
            <a:spAutoFit/>
          </a:bodyPr>
          <a:lstStyle/>
          <a:p>
            <a:pPr algn="l"/>
            <a:r>
              <a:rPr sz="850" b="0" i="0">
                <a:solidFill>
                  <a:srgbClr val="1E293B"/>
                </a:solidFill>
                <a:latin typeface="Calibri"/>
              </a:rPr>
              <a:t/>
            </a:r>
          </a:p>
        </p:txBody>
      </p:sp>
      <p:sp>
        <p:nvSpPr>
          <p:cNvPr id="56" name="Rectangle 55"/>
          <p:cNvSpPr/>
          <p:nvPr/>
        </p:nvSpPr>
        <p:spPr>
          <a:xfrm>
            <a:off x="320040" y="3145536"/>
            <a:ext cx="292608" cy="36576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612647" y="3145536"/>
            <a:ext cx="1737360" cy="36576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2350008" y="3145536"/>
            <a:ext cx="3931920" cy="36576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6281927" y="3145536"/>
            <a:ext cx="1508760" cy="36576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7790688" y="3145536"/>
            <a:ext cx="1005840" cy="36576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356615" y="3236976"/>
            <a:ext cx="219456" cy="201168"/>
          </a:xfrm>
          <a:prstGeom prst="rect">
            <a:avLst/>
          </a:prstGeom>
          <a:noFill/>
        </p:spPr>
        <p:txBody>
          <a:bodyPr wrap="square" lIns="36576" rIns="36576" tIns="18288" bIns="18288">
            <a:spAutoFit/>
          </a:bodyPr>
          <a:lstStyle/>
          <a:p>
            <a:pPr algn="l"/>
            <a:r>
              <a:rPr sz="900" b="1" i="0">
                <a:solidFill>
                  <a:srgbClr val="14B8A6"/>
                </a:solidFill>
                <a:latin typeface="Calibri"/>
              </a:rPr>
              <a:t>#6</a:t>
            </a:r>
          </a:p>
        </p:txBody>
      </p:sp>
      <p:sp>
        <p:nvSpPr>
          <p:cNvPr id="62" name="TextBox 61"/>
          <p:cNvSpPr txBox="1"/>
          <p:nvPr/>
        </p:nvSpPr>
        <p:spPr>
          <a:xfrm>
            <a:off x="658368" y="3218688"/>
            <a:ext cx="1645919" cy="274320"/>
          </a:xfrm>
          <a:prstGeom prst="rect">
            <a:avLst/>
          </a:prstGeom>
          <a:noFill/>
        </p:spPr>
        <p:txBody>
          <a:bodyPr wrap="square" lIns="36576" rIns="36576" tIns="18288" bIns="18288">
            <a:spAutoFit/>
          </a:bodyPr>
          <a:lstStyle/>
          <a:p>
            <a:pPr algn="l"/>
            <a:r>
              <a:rPr sz="850" b="1" i="0">
                <a:solidFill>
                  <a:srgbClr val="1E293B"/>
                </a:solidFill>
                <a:latin typeface="Calibri"/>
              </a:rPr>
              <a:t>Software request-to-SAM integration</a:t>
            </a:r>
          </a:p>
        </p:txBody>
      </p:sp>
      <p:sp>
        <p:nvSpPr>
          <p:cNvPr id="63" name="TextBox 62"/>
          <p:cNvSpPr txBox="1"/>
          <p:nvPr/>
        </p:nvSpPr>
        <p:spPr>
          <a:xfrm>
            <a:off x="2395727" y="3218688"/>
            <a:ext cx="3840480" cy="274320"/>
          </a:xfrm>
          <a:prstGeom prst="rect">
            <a:avLst/>
          </a:prstGeom>
          <a:noFill/>
        </p:spPr>
        <p:txBody>
          <a:bodyPr wrap="square" lIns="36576" rIns="36576" tIns="18288" bIns="18288">
            <a:spAutoFit/>
          </a:bodyPr>
          <a:lstStyle/>
          <a:p>
            <a:pPr algn="l"/>
            <a:r>
              <a:rPr sz="850" b="0" i="0">
                <a:solidFill>
                  <a:srgbClr val="1E293B"/>
                </a:solidFill>
                <a:latin typeface="Calibri"/>
              </a:rPr>
              <a:t/>
            </a:r>
          </a:p>
        </p:txBody>
      </p:sp>
      <p:sp>
        <p:nvSpPr>
          <p:cNvPr id="64" name="Rectangle 63"/>
          <p:cNvSpPr/>
          <p:nvPr/>
        </p:nvSpPr>
        <p:spPr>
          <a:xfrm>
            <a:off x="320040" y="3511296"/>
            <a:ext cx="292608" cy="36576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612647" y="3511296"/>
            <a:ext cx="1737360" cy="36576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2350008" y="3511296"/>
            <a:ext cx="3931920" cy="36576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6281927" y="3511296"/>
            <a:ext cx="1508760" cy="36576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7790688" y="3511296"/>
            <a:ext cx="1005840" cy="36576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356615" y="3602736"/>
            <a:ext cx="219456" cy="201168"/>
          </a:xfrm>
          <a:prstGeom prst="rect">
            <a:avLst/>
          </a:prstGeom>
          <a:noFill/>
        </p:spPr>
        <p:txBody>
          <a:bodyPr wrap="square" lIns="36576" rIns="36576" tIns="18288" bIns="18288">
            <a:spAutoFit/>
          </a:bodyPr>
          <a:lstStyle/>
          <a:p>
            <a:pPr algn="l"/>
            <a:r>
              <a:rPr sz="900" b="1" i="0">
                <a:solidFill>
                  <a:srgbClr val="14B8A6"/>
                </a:solidFill>
                <a:latin typeface="Calibri"/>
              </a:rPr>
              <a:t>#7</a:t>
            </a:r>
          </a:p>
        </p:txBody>
      </p:sp>
      <p:sp>
        <p:nvSpPr>
          <p:cNvPr id="70" name="TextBox 69"/>
          <p:cNvSpPr txBox="1"/>
          <p:nvPr/>
        </p:nvSpPr>
        <p:spPr>
          <a:xfrm>
            <a:off x="658368" y="3584448"/>
            <a:ext cx="1645919" cy="274320"/>
          </a:xfrm>
          <a:prstGeom prst="rect">
            <a:avLst/>
          </a:prstGeom>
          <a:noFill/>
        </p:spPr>
        <p:txBody>
          <a:bodyPr wrap="square" lIns="36576" rIns="36576" tIns="18288" bIns="18288">
            <a:spAutoFit/>
          </a:bodyPr>
          <a:lstStyle/>
          <a:p>
            <a:pPr algn="l"/>
            <a:r>
              <a:rPr sz="850" b="1" i="0">
                <a:solidFill>
                  <a:srgbClr val="1E293B"/>
                </a:solidFill>
                <a:latin typeface="Calibri"/>
              </a:rPr>
              <a:t>Cloud subscription tracking scope</a:t>
            </a:r>
          </a:p>
        </p:txBody>
      </p:sp>
      <p:sp>
        <p:nvSpPr>
          <p:cNvPr id="71" name="TextBox 70"/>
          <p:cNvSpPr txBox="1"/>
          <p:nvPr/>
        </p:nvSpPr>
        <p:spPr>
          <a:xfrm>
            <a:off x="2395727" y="3584448"/>
            <a:ext cx="3840480" cy="274320"/>
          </a:xfrm>
          <a:prstGeom prst="rect">
            <a:avLst/>
          </a:prstGeom>
          <a:noFill/>
        </p:spPr>
        <p:txBody>
          <a:bodyPr wrap="square" lIns="36576" rIns="36576" tIns="18288" bIns="18288">
            <a:spAutoFit/>
          </a:bodyPr>
          <a:lstStyle/>
          <a:p>
            <a:pPr algn="l"/>
            <a:r>
              <a:rPr sz="850" b="0" i="0">
                <a:solidFill>
                  <a:srgbClr val="1E293B"/>
                </a:solidFill>
                <a:latin typeface="Calibri"/>
              </a:rPr>
              <a:t/>
            </a:r>
          </a:p>
        </p:txBody>
      </p:sp>
      <p:sp>
        <p:nvSpPr>
          <p:cNvPr id="72" name="Rectangle 71"/>
          <p:cNvSpPr/>
          <p:nvPr/>
        </p:nvSpPr>
        <p:spPr>
          <a:xfrm>
            <a:off x="320040" y="3877056"/>
            <a:ext cx="292608" cy="36576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612647" y="3877056"/>
            <a:ext cx="1737360" cy="36576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2350008" y="3877056"/>
            <a:ext cx="3931920" cy="36576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6281927" y="3877056"/>
            <a:ext cx="1508760" cy="36576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7790688" y="3877056"/>
            <a:ext cx="1005840" cy="36576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356615" y="3968496"/>
            <a:ext cx="219456" cy="201168"/>
          </a:xfrm>
          <a:prstGeom prst="rect">
            <a:avLst/>
          </a:prstGeom>
          <a:noFill/>
        </p:spPr>
        <p:txBody>
          <a:bodyPr wrap="square" lIns="36576" rIns="36576" tIns="18288" bIns="18288">
            <a:spAutoFit/>
          </a:bodyPr>
          <a:lstStyle/>
          <a:p>
            <a:pPr algn="l"/>
            <a:r>
              <a:rPr sz="900" b="1" i="0">
                <a:solidFill>
                  <a:srgbClr val="14B8A6"/>
                </a:solidFill>
                <a:latin typeface="Calibri"/>
              </a:rPr>
              <a:t>#8</a:t>
            </a:r>
          </a:p>
        </p:txBody>
      </p:sp>
      <p:sp>
        <p:nvSpPr>
          <p:cNvPr id="78" name="TextBox 77"/>
          <p:cNvSpPr txBox="1"/>
          <p:nvPr/>
        </p:nvSpPr>
        <p:spPr>
          <a:xfrm>
            <a:off x="658368" y="3950208"/>
            <a:ext cx="1645919" cy="274320"/>
          </a:xfrm>
          <a:prstGeom prst="rect">
            <a:avLst/>
          </a:prstGeom>
          <a:noFill/>
        </p:spPr>
        <p:txBody>
          <a:bodyPr wrap="square" lIns="36576" rIns="36576" tIns="18288" bIns="18288">
            <a:spAutoFit/>
          </a:bodyPr>
          <a:lstStyle/>
          <a:p>
            <a:pPr algn="l"/>
            <a:r>
              <a:rPr sz="850" b="1" i="0">
                <a:solidFill>
                  <a:srgbClr val="1E293B"/>
                </a:solidFill>
                <a:latin typeface="Calibri"/>
              </a:rPr>
              <a:t>Compliance report requirements</a:t>
            </a:r>
          </a:p>
        </p:txBody>
      </p:sp>
      <p:sp>
        <p:nvSpPr>
          <p:cNvPr id="79" name="TextBox 78"/>
          <p:cNvSpPr txBox="1"/>
          <p:nvPr/>
        </p:nvSpPr>
        <p:spPr>
          <a:xfrm>
            <a:off x="2395727" y="3950208"/>
            <a:ext cx="3840480" cy="274320"/>
          </a:xfrm>
          <a:prstGeom prst="rect">
            <a:avLst/>
          </a:prstGeom>
          <a:noFill/>
        </p:spPr>
        <p:txBody>
          <a:bodyPr wrap="square" lIns="36576" rIns="36576" tIns="18288" bIns="18288">
            <a:spAutoFit/>
          </a:bodyPr>
          <a:lstStyle/>
          <a:p>
            <a:pPr algn="l"/>
            <a:r>
              <a:rPr sz="850" b="0" i="0">
                <a:solidFill>
                  <a:srgbClr val="1E293B"/>
                </a:solidFill>
                <a:latin typeface="Calibri"/>
              </a:rPr>
              <a:t/>
            </a:r>
          </a:p>
        </p:txBody>
      </p:sp>
      <p:sp>
        <p:nvSpPr>
          <p:cNvPr id="80" name="Rectangle 79"/>
          <p:cNvSpPr/>
          <p:nvPr/>
        </p:nvSpPr>
        <p:spPr>
          <a:xfrm>
            <a:off x="0" y="4818888"/>
            <a:ext cx="9144000" cy="13716"/>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274320" y="4846320"/>
            <a:ext cx="2011680" cy="182880"/>
          </a:xfrm>
          <a:prstGeom prst="rect">
            <a:avLst/>
          </a:prstGeom>
          <a:noFill/>
        </p:spPr>
        <p:txBody>
          <a:bodyPr wrap="square" lIns="36576" rIns="36576" tIns="18288" bIns="18288">
            <a:spAutoFit/>
          </a:bodyPr>
          <a:lstStyle/>
          <a:p>
            <a:pPr algn="l"/>
            <a:r>
              <a:rPr sz="700" b="0" i="0">
                <a:solidFill>
                  <a:srgbClr val="94A3B8"/>
                </a:solidFill>
                <a:latin typeface="Calibri"/>
              </a:rPr>
              <a:t>Everforth ECS Federal</a:t>
            </a:r>
          </a:p>
        </p:txBody>
      </p:sp>
      <p:sp>
        <p:nvSpPr>
          <p:cNvPr id="82" name="TextBox 81"/>
          <p:cNvSpPr txBox="1"/>
          <p:nvPr/>
        </p:nvSpPr>
        <p:spPr>
          <a:xfrm>
            <a:off x="2286000" y="4846320"/>
            <a:ext cx="5029200" cy="182880"/>
          </a:xfrm>
          <a:prstGeom prst="rect">
            <a:avLst/>
          </a:prstGeom>
          <a:noFill/>
        </p:spPr>
        <p:txBody>
          <a:bodyPr wrap="square" lIns="36576" rIns="36576" tIns="18288" bIns="18288">
            <a:spAutoFit/>
          </a:bodyPr>
          <a:lstStyle/>
          <a:p>
            <a:pPr algn="ctr"/>
            <a:r>
              <a:rPr sz="700" b="0" i="0">
                <a:solidFill>
                  <a:srgbClr val="94A3B8"/>
                </a:solidFill>
                <a:latin typeface="Calibri"/>
              </a:rPr>
              <a:t>SERVICENOW PRACTICE  ·  MODERNIZING THE CORE  ·  SOFTWARE ASSET MANAGEMENT</a:t>
            </a:r>
          </a:p>
        </p:txBody>
      </p:sp>
      <p:sp>
        <p:nvSpPr>
          <p:cNvPr id="83" name="TextBox 82"/>
          <p:cNvSpPr txBox="1"/>
          <p:nvPr/>
        </p:nvSpPr>
        <p:spPr>
          <a:xfrm>
            <a:off x="8503920" y="4846320"/>
            <a:ext cx="365760" cy="182880"/>
          </a:xfrm>
          <a:prstGeom prst="rect">
            <a:avLst/>
          </a:prstGeom>
          <a:noFill/>
        </p:spPr>
        <p:txBody>
          <a:bodyPr wrap="square" lIns="36576" rIns="36576" tIns="18288" bIns="18288">
            <a:spAutoFit/>
          </a:bodyPr>
          <a:lstStyle/>
          <a:p>
            <a:pPr algn="r"/>
            <a:r>
              <a:rPr sz="700" b="0" i="0">
                <a:solidFill>
                  <a:srgbClr val="94A3B8"/>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everforth_logo.png"/>
          <p:cNvPicPr>
            <a:picLocks noChangeAspect="1"/>
          </p:cNvPicPr>
          <p:nvPr/>
        </p:nvPicPr>
        <p:blipFill>
          <a:blip r:embed="rId2"/>
          <a:stretch>
            <a:fillRect/>
          </a:stretch>
        </p:blipFill>
        <p:spPr>
          <a:xfrm>
            <a:off x="7909560" y="64008"/>
            <a:ext cx="1115568" cy="420624"/>
          </a:xfrm>
          <a:prstGeom prst="rect">
            <a:avLst/>
          </a:prstGeom>
        </p:spPr>
      </p:pic>
      <p:sp>
        <p:nvSpPr>
          <p:cNvPr id="3" name="TextBox 2"/>
          <p:cNvSpPr txBox="1"/>
          <p:nvPr/>
        </p:nvSpPr>
        <p:spPr>
          <a:xfrm>
            <a:off x="347472" y="164592"/>
            <a:ext cx="4572000" cy="201168"/>
          </a:xfrm>
          <a:prstGeom prst="rect">
            <a:avLst/>
          </a:prstGeom>
          <a:noFill/>
        </p:spPr>
        <p:txBody>
          <a:bodyPr wrap="square" lIns="36576" rIns="36576" tIns="18288" bIns="18288">
            <a:spAutoFit/>
          </a:bodyPr>
          <a:lstStyle/>
          <a:p>
            <a:pPr algn="l"/>
            <a:r>
              <a:rPr sz="800" b="1" i="0">
                <a:solidFill>
                  <a:srgbClr val="14B8A6"/>
                </a:solidFill>
                <a:latin typeface="Calibri"/>
              </a:rPr>
              <a:t>N E X T  S T E P S</a:t>
            </a:r>
          </a:p>
        </p:txBody>
      </p:sp>
      <p:sp>
        <p:nvSpPr>
          <p:cNvPr id="4" name="TextBox 3"/>
          <p:cNvSpPr txBox="1"/>
          <p:nvPr/>
        </p:nvSpPr>
        <p:spPr>
          <a:xfrm>
            <a:off x="320040" y="384048"/>
            <a:ext cx="7772400" cy="685800"/>
          </a:xfrm>
          <a:prstGeom prst="rect">
            <a:avLst/>
          </a:prstGeom>
          <a:noFill/>
        </p:spPr>
        <p:txBody>
          <a:bodyPr wrap="square" lIns="36576" rIns="36576" tIns="18288" bIns="18288">
            <a:spAutoFit/>
          </a:bodyPr>
          <a:lstStyle/>
          <a:p>
            <a:pPr algn="l"/>
            <a:r>
              <a:rPr sz="2400" b="1" i="0">
                <a:solidFill>
                  <a:srgbClr val="0B1F3A"/>
                </a:solidFill>
                <a:latin typeface="Calibri"/>
              </a:rPr>
              <a:t>What Happens After This Workshop</a:t>
            </a:r>
          </a:p>
        </p:txBody>
      </p:sp>
      <p:sp>
        <p:nvSpPr>
          <p:cNvPr id="5" name="Rectangle 4"/>
          <p:cNvSpPr/>
          <p:nvPr/>
        </p:nvSpPr>
        <p:spPr>
          <a:xfrm>
            <a:off x="320040" y="987552"/>
            <a:ext cx="8503920" cy="16459"/>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20040" y="1051560"/>
            <a:ext cx="4114800" cy="128016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20040" y="1051560"/>
            <a:ext cx="310896" cy="310896"/>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20040" y="1051560"/>
            <a:ext cx="310896" cy="310896"/>
          </a:xfrm>
          <a:prstGeom prst="rect">
            <a:avLst/>
          </a:prstGeom>
          <a:noFill/>
        </p:spPr>
        <p:txBody>
          <a:bodyPr wrap="square" lIns="36576" rIns="36576" tIns="18288" bIns="18288">
            <a:spAutoFit/>
          </a:bodyPr>
          <a:lstStyle/>
          <a:p>
            <a:pPr algn="ctr"/>
            <a:r>
              <a:rPr sz="1200" b="1" i="0">
                <a:solidFill>
                  <a:srgbClr val="FFFFFF"/>
                </a:solidFill>
                <a:latin typeface="Calibri"/>
              </a:rPr>
              <a:t>1</a:t>
            </a:r>
          </a:p>
        </p:txBody>
      </p:sp>
      <p:sp>
        <p:nvSpPr>
          <p:cNvPr id="9" name="TextBox 8"/>
          <p:cNvSpPr txBox="1"/>
          <p:nvPr/>
        </p:nvSpPr>
        <p:spPr>
          <a:xfrm>
            <a:off x="704088" y="1088136"/>
            <a:ext cx="3657600" cy="274320"/>
          </a:xfrm>
          <a:prstGeom prst="rect">
            <a:avLst/>
          </a:prstGeom>
          <a:noFill/>
        </p:spPr>
        <p:txBody>
          <a:bodyPr wrap="square" lIns="36576" rIns="36576" tIns="18288" bIns="18288">
            <a:spAutoFit/>
          </a:bodyPr>
          <a:lstStyle/>
          <a:p>
            <a:pPr algn="l"/>
            <a:r>
              <a:rPr sz="1100" b="1" i="0">
                <a:solidFill>
                  <a:srgbClr val="0B1F3A"/>
                </a:solidFill>
                <a:latin typeface="Calibri"/>
              </a:rPr>
              <a:t>Entitlement Data Prep</a:t>
            </a:r>
          </a:p>
        </p:txBody>
      </p:sp>
      <p:sp>
        <p:nvSpPr>
          <p:cNvPr id="10" name="TextBox 9"/>
          <p:cNvSpPr txBox="1"/>
          <p:nvPr/>
        </p:nvSpPr>
        <p:spPr>
          <a:xfrm>
            <a:off x="411479" y="1380743"/>
            <a:ext cx="3931920" cy="896112"/>
          </a:xfrm>
          <a:prstGeom prst="rect">
            <a:avLst/>
          </a:prstGeom>
          <a:noFill/>
        </p:spPr>
        <p:txBody>
          <a:bodyPr wrap="square" lIns="36576" rIns="36576" tIns="18288" bIns="18288">
            <a:spAutoFit/>
          </a:bodyPr>
          <a:lstStyle/>
          <a:p>
            <a:pPr algn="l"/>
            <a:r>
              <a:rPr sz="900" b="0" i="0">
                <a:solidFill>
                  <a:srgbClr val="1E293B"/>
                </a:solidFill>
                <a:latin typeface="Calibri"/>
              </a:rPr>
              <a:t>Export current license entitlements from contracts and procurement. Assign data owner for cleansing and import readiness.</a:t>
            </a:r>
          </a:p>
        </p:txBody>
      </p:sp>
      <p:sp>
        <p:nvSpPr>
          <p:cNvPr id="11" name="Rectangle 10"/>
          <p:cNvSpPr/>
          <p:nvPr/>
        </p:nvSpPr>
        <p:spPr>
          <a:xfrm>
            <a:off x="4636007" y="1051560"/>
            <a:ext cx="4114800" cy="128016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636007" y="1051560"/>
            <a:ext cx="310896" cy="310896"/>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36007" y="1051560"/>
            <a:ext cx="310896" cy="310896"/>
          </a:xfrm>
          <a:prstGeom prst="rect">
            <a:avLst/>
          </a:prstGeom>
          <a:noFill/>
        </p:spPr>
        <p:txBody>
          <a:bodyPr wrap="square" lIns="36576" rIns="36576" tIns="18288" bIns="18288">
            <a:spAutoFit/>
          </a:bodyPr>
          <a:lstStyle/>
          <a:p>
            <a:pPr algn="ctr"/>
            <a:r>
              <a:rPr sz="1200" b="1" i="0">
                <a:solidFill>
                  <a:srgbClr val="FFFFFF"/>
                </a:solidFill>
                <a:latin typeface="Calibri"/>
              </a:rPr>
              <a:t>2</a:t>
            </a:r>
          </a:p>
        </p:txBody>
      </p:sp>
      <p:sp>
        <p:nvSpPr>
          <p:cNvPr id="14" name="TextBox 13"/>
          <p:cNvSpPr txBox="1"/>
          <p:nvPr/>
        </p:nvSpPr>
        <p:spPr>
          <a:xfrm>
            <a:off x="5020055" y="1088136"/>
            <a:ext cx="3657600" cy="274320"/>
          </a:xfrm>
          <a:prstGeom prst="rect">
            <a:avLst/>
          </a:prstGeom>
          <a:noFill/>
        </p:spPr>
        <p:txBody>
          <a:bodyPr wrap="square" lIns="36576" rIns="36576" tIns="18288" bIns="18288">
            <a:spAutoFit/>
          </a:bodyPr>
          <a:lstStyle/>
          <a:p>
            <a:pPr algn="l"/>
            <a:r>
              <a:rPr sz="1100" b="1" i="0">
                <a:solidFill>
                  <a:srgbClr val="0B1F3A"/>
                </a:solidFill>
                <a:latin typeface="Calibri"/>
              </a:rPr>
              <a:t>Publisher Catalog Scope</a:t>
            </a:r>
          </a:p>
        </p:txBody>
      </p:sp>
      <p:sp>
        <p:nvSpPr>
          <p:cNvPr id="15" name="TextBox 14"/>
          <p:cNvSpPr txBox="1"/>
          <p:nvPr/>
        </p:nvSpPr>
        <p:spPr>
          <a:xfrm>
            <a:off x="4727447" y="1380743"/>
            <a:ext cx="3931920" cy="896112"/>
          </a:xfrm>
          <a:prstGeom prst="rect">
            <a:avLst/>
          </a:prstGeom>
          <a:noFill/>
        </p:spPr>
        <p:txBody>
          <a:bodyPr wrap="square" lIns="36576" rIns="36576" tIns="18288" bIns="18288">
            <a:spAutoFit/>
          </a:bodyPr>
          <a:lstStyle/>
          <a:p>
            <a:pPr algn="l"/>
            <a:r>
              <a:rPr sz="900" b="0" i="0">
                <a:solidFill>
                  <a:srgbClr val="1E293B"/>
                </a:solidFill>
                <a:latin typeface="Calibri"/>
              </a:rPr>
              <a:t>Agree on top 20 titles list. Validate license models for each title before Sprint 5 import.</a:t>
            </a:r>
          </a:p>
        </p:txBody>
      </p:sp>
      <p:sp>
        <p:nvSpPr>
          <p:cNvPr id="16" name="Rectangle 15"/>
          <p:cNvSpPr/>
          <p:nvPr/>
        </p:nvSpPr>
        <p:spPr>
          <a:xfrm>
            <a:off x="320040" y="2468880"/>
            <a:ext cx="4114800" cy="128016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0040" y="2468880"/>
            <a:ext cx="310896" cy="310896"/>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20040" y="2468880"/>
            <a:ext cx="310896" cy="310896"/>
          </a:xfrm>
          <a:prstGeom prst="rect">
            <a:avLst/>
          </a:prstGeom>
          <a:noFill/>
        </p:spPr>
        <p:txBody>
          <a:bodyPr wrap="square" lIns="36576" rIns="36576" tIns="18288" bIns="18288">
            <a:spAutoFit/>
          </a:bodyPr>
          <a:lstStyle/>
          <a:p>
            <a:pPr algn="ctr"/>
            <a:r>
              <a:rPr sz="1200" b="1" i="0">
                <a:solidFill>
                  <a:srgbClr val="FFFFFF"/>
                </a:solidFill>
                <a:latin typeface="Calibri"/>
              </a:rPr>
              <a:t>3</a:t>
            </a:r>
          </a:p>
        </p:txBody>
      </p:sp>
      <p:sp>
        <p:nvSpPr>
          <p:cNvPr id="19" name="TextBox 18"/>
          <p:cNvSpPr txBox="1"/>
          <p:nvPr/>
        </p:nvSpPr>
        <p:spPr>
          <a:xfrm>
            <a:off x="704088" y="2505456"/>
            <a:ext cx="3657600" cy="274320"/>
          </a:xfrm>
          <a:prstGeom prst="rect">
            <a:avLst/>
          </a:prstGeom>
          <a:noFill/>
        </p:spPr>
        <p:txBody>
          <a:bodyPr wrap="square" lIns="36576" rIns="36576" tIns="18288" bIns="18288">
            <a:spAutoFit/>
          </a:bodyPr>
          <a:lstStyle/>
          <a:p>
            <a:pPr algn="l"/>
            <a:r>
              <a:rPr sz="1100" b="1" i="0">
                <a:solidFill>
                  <a:srgbClr val="0B1F3A"/>
                </a:solidFill>
                <a:latin typeface="Calibri"/>
              </a:rPr>
              <a:t>SAM Pro Confirmation</a:t>
            </a:r>
          </a:p>
        </p:txBody>
      </p:sp>
      <p:sp>
        <p:nvSpPr>
          <p:cNvPr id="20" name="TextBox 19"/>
          <p:cNvSpPr txBox="1"/>
          <p:nvPr/>
        </p:nvSpPr>
        <p:spPr>
          <a:xfrm>
            <a:off x="411479" y="2798064"/>
            <a:ext cx="3931920" cy="896112"/>
          </a:xfrm>
          <a:prstGeom prst="rect">
            <a:avLst/>
          </a:prstGeom>
          <a:noFill/>
        </p:spPr>
        <p:txBody>
          <a:bodyPr wrap="square" lIns="36576" rIns="36576" tIns="18288" bIns="18288">
            <a:spAutoFit/>
          </a:bodyPr>
          <a:lstStyle/>
          <a:p>
            <a:pPr algn="l"/>
            <a:r>
              <a:rPr sz="900" b="0" i="0">
                <a:solidFill>
                  <a:srgbClr val="1E293B"/>
                </a:solidFill>
                <a:latin typeface="Calibri"/>
              </a:rPr>
              <a:t>Confirm SAM Pro license entitlement with ServiceNow AE. Activate in Sprint 5 before publisher catalog import.</a:t>
            </a:r>
          </a:p>
        </p:txBody>
      </p:sp>
      <p:sp>
        <p:nvSpPr>
          <p:cNvPr id="21" name="Rectangle 20"/>
          <p:cNvSpPr/>
          <p:nvPr/>
        </p:nvSpPr>
        <p:spPr>
          <a:xfrm>
            <a:off x="4636007" y="2468880"/>
            <a:ext cx="4114800" cy="128016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636007" y="2468880"/>
            <a:ext cx="310896" cy="310896"/>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636007" y="2468880"/>
            <a:ext cx="310896" cy="310896"/>
          </a:xfrm>
          <a:prstGeom prst="rect">
            <a:avLst/>
          </a:prstGeom>
          <a:noFill/>
        </p:spPr>
        <p:txBody>
          <a:bodyPr wrap="square" lIns="36576" rIns="36576" tIns="18288" bIns="18288">
            <a:spAutoFit/>
          </a:bodyPr>
          <a:lstStyle/>
          <a:p>
            <a:pPr algn="ctr"/>
            <a:r>
              <a:rPr sz="1200" b="1" i="0">
                <a:solidFill>
                  <a:srgbClr val="FFFFFF"/>
                </a:solidFill>
                <a:latin typeface="Calibri"/>
              </a:rPr>
              <a:t>4</a:t>
            </a:r>
          </a:p>
        </p:txBody>
      </p:sp>
      <p:sp>
        <p:nvSpPr>
          <p:cNvPr id="24" name="TextBox 23"/>
          <p:cNvSpPr txBox="1"/>
          <p:nvPr/>
        </p:nvSpPr>
        <p:spPr>
          <a:xfrm>
            <a:off x="5020055" y="2505456"/>
            <a:ext cx="3657600" cy="274320"/>
          </a:xfrm>
          <a:prstGeom prst="rect">
            <a:avLst/>
          </a:prstGeom>
          <a:noFill/>
        </p:spPr>
        <p:txBody>
          <a:bodyPr wrap="square" lIns="36576" rIns="36576" tIns="18288" bIns="18288">
            <a:spAutoFit/>
          </a:bodyPr>
          <a:lstStyle/>
          <a:p>
            <a:pPr algn="l"/>
            <a:r>
              <a:rPr sz="1100" b="1" i="0">
                <a:solidFill>
                  <a:srgbClr val="0B1F3A"/>
                </a:solidFill>
                <a:latin typeface="Calibri"/>
              </a:rPr>
              <a:t>Reclamation Path</a:t>
            </a:r>
          </a:p>
        </p:txBody>
      </p:sp>
      <p:sp>
        <p:nvSpPr>
          <p:cNvPr id="25" name="TextBox 24"/>
          <p:cNvSpPr txBox="1"/>
          <p:nvPr/>
        </p:nvSpPr>
        <p:spPr>
          <a:xfrm>
            <a:off x="4727447" y="2798064"/>
            <a:ext cx="3931920" cy="896112"/>
          </a:xfrm>
          <a:prstGeom prst="rect">
            <a:avLst/>
          </a:prstGeom>
          <a:noFill/>
        </p:spPr>
        <p:txBody>
          <a:bodyPr wrap="square" lIns="36576" rIns="36576" tIns="18288" bIns="18288">
            <a:spAutoFit/>
          </a:bodyPr>
          <a:lstStyle/>
          <a:p>
            <a:pPr algn="l"/>
            <a:r>
              <a:rPr sz="900" b="0" i="0">
                <a:solidFill>
                  <a:srgbClr val="1E293B"/>
                </a:solidFill>
                <a:latin typeface="Calibri"/>
              </a:rPr>
              <a:t>Confirm uninstall execution mechanism (Intune, SCCM, manual). Required before reclamation workflow config in Sprint 6.</a:t>
            </a:r>
          </a:p>
        </p:txBody>
      </p:sp>
      <p:sp>
        <p:nvSpPr>
          <p:cNvPr id="26" name="Rectangle 25"/>
          <p:cNvSpPr/>
          <p:nvPr/>
        </p:nvSpPr>
        <p:spPr>
          <a:xfrm>
            <a:off x="320040" y="3886200"/>
            <a:ext cx="4114800" cy="128016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20040" y="3886200"/>
            <a:ext cx="310896" cy="310896"/>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20040" y="3886200"/>
            <a:ext cx="310896" cy="310896"/>
          </a:xfrm>
          <a:prstGeom prst="rect">
            <a:avLst/>
          </a:prstGeom>
          <a:noFill/>
        </p:spPr>
        <p:txBody>
          <a:bodyPr wrap="square" lIns="36576" rIns="36576" tIns="18288" bIns="18288">
            <a:spAutoFit/>
          </a:bodyPr>
          <a:lstStyle/>
          <a:p>
            <a:pPr algn="ctr"/>
            <a:r>
              <a:rPr sz="1200" b="1" i="0">
                <a:solidFill>
                  <a:srgbClr val="FFFFFF"/>
                </a:solidFill>
                <a:latin typeface="Calibri"/>
              </a:rPr>
              <a:t>5</a:t>
            </a:r>
          </a:p>
        </p:txBody>
      </p:sp>
      <p:sp>
        <p:nvSpPr>
          <p:cNvPr id="29" name="TextBox 28"/>
          <p:cNvSpPr txBox="1"/>
          <p:nvPr/>
        </p:nvSpPr>
        <p:spPr>
          <a:xfrm>
            <a:off x="704088" y="3922776"/>
            <a:ext cx="3657600" cy="274320"/>
          </a:xfrm>
          <a:prstGeom prst="rect">
            <a:avLst/>
          </a:prstGeom>
          <a:noFill/>
        </p:spPr>
        <p:txBody>
          <a:bodyPr wrap="square" lIns="36576" rIns="36576" tIns="18288" bIns="18288">
            <a:spAutoFit/>
          </a:bodyPr>
          <a:lstStyle/>
          <a:p>
            <a:pPr algn="l"/>
            <a:r>
              <a:rPr sz="1100" b="1" i="0">
                <a:solidFill>
                  <a:srgbClr val="0B1F3A"/>
                </a:solidFill>
                <a:latin typeface="Calibri"/>
              </a:rPr>
              <a:t>M365 Integration</a:t>
            </a:r>
          </a:p>
        </p:txBody>
      </p:sp>
      <p:sp>
        <p:nvSpPr>
          <p:cNvPr id="30" name="TextBox 29"/>
          <p:cNvSpPr txBox="1"/>
          <p:nvPr/>
        </p:nvSpPr>
        <p:spPr>
          <a:xfrm>
            <a:off x="411479" y="4215384"/>
            <a:ext cx="3931920" cy="896112"/>
          </a:xfrm>
          <a:prstGeom prst="rect">
            <a:avLst/>
          </a:prstGeom>
          <a:noFill/>
        </p:spPr>
        <p:txBody>
          <a:bodyPr wrap="square" lIns="36576" rIns="36576" tIns="18288" bIns="18288">
            <a:spAutoFit/>
          </a:bodyPr>
          <a:lstStyle/>
          <a:p>
            <a:pPr algn="l"/>
            <a:r>
              <a:rPr sz="900" b="0" i="0">
                <a:solidFill>
                  <a:srgbClr val="1E293B"/>
                </a:solidFill>
                <a:latin typeface="Calibri"/>
              </a:rPr>
              <a:t>If Microsoft 365 in scope, confirm tenant admin access for SAM Pro API connector setup in Sprint 5.</a:t>
            </a:r>
          </a:p>
        </p:txBody>
      </p:sp>
      <p:sp>
        <p:nvSpPr>
          <p:cNvPr id="31" name="Rectangle 30"/>
          <p:cNvSpPr/>
          <p:nvPr/>
        </p:nvSpPr>
        <p:spPr>
          <a:xfrm>
            <a:off x="0" y="4818888"/>
            <a:ext cx="9144000" cy="13716"/>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274320" y="4846320"/>
            <a:ext cx="2011680" cy="182880"/>
          </a:xfrm>
          <a:prstGeom prst="rect">
            <a:avLst/>
          </a:prstGeom>
          <a:noFill/>
        </p:spPr>
        <p:txBody>
          <a:bodyPr wrap="square" lIns="36576" rIns="36576" tIns="18288" bIns="18288">
            <a:spAutoFit/>
          </a:bodyPr>
          <a:lstStyle/>
          <a:p>
            <a:pPr algn="l"/>
            <a:r>
              <a:rPr sz="700" b="0" i="0">
                <a:solidFill>
                  <a:srgbClr val="94A3B8"/>
                </a:solidFill>
                <a:latin typeface="Calibri"/>
              </a:rPr>
              <a:t>Everforth ECS Federal</a:t>
            </a:r>
          </a:p>
        </p:txBody>
      </p:sp>
      <p:sp>
        <p:nvSpPr>
          <p:cNvPr id="33" name="TextBox 32"/>
          <p:cNvSpPr txBox="1"/>
          <p:nvPr/>
        </p:nvSpPr>
        <p:spPr>
          <a:xfrm>
            <a:off x="2286000" y="4846320"/>
            <a:ext cx="5029200" cy="182880"/>
          </a:xfrm>
          <a:prstGeom prst="rect">
            <a:avLst/>
          </a:prstGeom>
          <a:noFill/>
        </p:spPr>
        <p:txBody>
          <a:bodyPr wrap="square" lIns="36576" rIns="36576" tIns="18288" bIns="18288">
            <a:spAutoFit/>
          </a:bodyPr>
          <a:lstStyle/>
          <a:p>
            <a:pPr algn="ctr"/>
            <a:r>
              <a:rPr sz="700" b="0" i="0">
                <a:solidFill>
                  <a:srgbClr val="94A3B8"/>
                </a:solidFill>
                <a:latin typeface="Calibri"/>
              </a:rPr>
              <a:t>SERVICENOW PRACTICE  ·  MODERNIZING THE CORE  ·  SOFTWARE ASSET MANAGEMENT</a:t>
            </a:r>
          </a:p>
        </p:txBody>
      </p:sp>
      <p:sp>
        <p:nvSpPr>
          <p:cNvPr id="34" name="TextBox 33"/>
          <p:cNvSpPr txBox="1"/>
          <p:nvPr/>
        </p:nvSpPr>
        <p:spPr>
          <a:xfrm>
            <a:off x="8503920" y="4846320"/>
            <a:ext cx="365760" cy="182880"/>
          </a:xfrm>
          <a:prstGeom prst="rect">
            <a:avLst/>
          </a:prstGeom>
          <a:noFill/>
        </p:spPr>
        <p:txBody>
          <a:bodyPr wrap="square" lIns="36576" rIns="36576" tIns="18288" bIns="18288">
            <a:spAutoFit/>
          </a:bodyPr>
          <a:lstStyle/>
          <a:p>
            <a:pPr algn="r"/>
            <a:r>
              <a:rPr sz="700" b="0" i="0">
                <a:solidFill>
                  <a:srgbClr val="94A3B8"/>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B1F3A"/>
        </a:solidFill>
        <a:effectLst/>
      </p:bgPr>
    </p:bg>
    <p:spTree>
      <p:nvGrpSpPr>
        <p:cNvPr id="1" name=""/>
        <p:cNvGrpSpPr/>
        <p:nvPr/>
      </p:nvGrpSpPr>
      <p:grpSpPr/>
      <p:sp>
        <p:nvSpPr>
          <p:cNvPr id="2" name="Rectangle 1"/>
          <p:cNvSpPr/>
          <p:nvPr/>
        </p:nvSpPr>
        <p:spPr>
          <a:xfrm>
            <a:off x="292608" y="1645920"/>
            <a:ext cx="64008" cy="1554480"/>
          </a:xfrm>
          <a:prstGeom prst="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75488" y="1627632"/>
            <a:ext cx="6400800" cy="548640"/>
          </a:xfrm>
          <a:prstGeom prst="rect">
            <a:avLst/>
          </a:prstGeom>
          <a:noFill/>
        </p:spPr>
        <p:txBody>
          <a:bodyPr wrap="square" lIns="36576" rIns="36576" tIns="18288" bIns="18288">
            <a:spAutoFit/>
          </a:bodyPr>
          <a:lstStyle/>
          <a:p>
            <a:pPr algn="l"/>
            <a:r>
              <a:rPr sz="3200" b="1" i="0">
                <a:solidFill>
                  <a:srgbClr val="FFFFFF"/>
                </a:solidFill>
                <a:latin typeface="Calibri"/>
              </a:rPr>
              <a:t>Everforth ECS Federal</a:t>
            </a:r>
          </a:p>
        </p:txBody>
      </p:sp>
      <p:sp>
        <p:nvSpPr>
          <p:cNvPr id="4" name="TextBox 3"/>
          <p:cNvSpPr txBox="1"/>
          <p:nvPr/>
        </p:nvSpPr>
        <p:spPr>
          <a:xfrm>
            <a:off x="475488" y="2176272"/>
            <a:ext cx="6400800" cy="402336"/>
          </a:xfrm>
          <a:prstGeom prst="rect">
            <a:avLst/>
          </a:prstGeom>
          <a:noFill/>
        </p:spPr>
        <p:txBody>
          <a:bodyPr wrap="square" lIns="36576" rIns="36576" tIns="18288" bIns="18288">
            <a:spAutoFit/>
          </a:bodyPr>
          <a:lstStyle/>
          <a:p>
            <a:pPr algn="l"/>
            <a:r>
              <a:rPr sz="2000" b="0" i="0">
                <a:solidFill>
                  <a:srgbClr val="14B8A6"/>
                </a:solidFill>
                <a:latin typeface="Calibri"/>
              </a:rPr>
              <a:t>ServiceNow Practice</a:t>
            </a:r>
          </a:p>
        </p:txBody>
      </p:sp>
      <p:sp>
        <p:nvSpPr>
          <p:cNvPr id="5" name="TextBox 4"/>
          <p:cNvSpPr txBox="1"/>
          <p:nvPr/>
        </p:nvSpPr>
        <p:spPr>
          <a:xfrm>
            <a:off x="475488" y="2743200"/>
            <a:ext cx="7772400" cy="274320"/>
          </a:xfrm>
          <a:prstGeom prst="rect">
            <a:avLst/>
          </a:prstGeom>
          <a:noFill/>
        </p:spPr>
        <p:txBody>
          <a:bodyPr wrap="square" lIns="36576" rIns="36576" tIns="18288" bIns="18288">
            <a:spAutoFit/>
          </a:bodyPr>
          <a:lstStyle/>
          <a:p>
            <a:pPr algn="l"/>
            <a:r>
              <a:rPr sz="900" b="0" i="0">
                <a:solidFill>
                  <a:srgbClr val="94A3B8"/>
                </a:solidFill>
                <a:latin typeface="Calibri"/>
              </a:rPr>
              <a:t>SERVICENOW PRACTICE  ·  MODERNIZING THE CORE  ·  SOFTWARE ASSET MANAGEMENT</a:t>
            </a:r>
          </a:p>
        </p:txBody>
      </p:sp>
      <p:pic>
        <p:nvPicPr>
          <p:cNvPr id="6" name="Picture 5" descr="everforth_logo.png"/>
          <p:cNvPicPr>
            <a:picLocks noChangeAspect="1"/>
          </p:cNvPicPr>
          <p:nvPr/>
        </p:nvPicPr>
        <p:blipFill>
          <a:blip r:embed="rId2"/>
          <a:stretch>
            <a:fillRect/>
          </a:stretch>
        </p:blipFill>
        <p:spPr>
          <a:xfrm>
            <a:off x="7909560" y="64008"/>
            <a:ext cx="1115568" cy="420624"/>
          </a:xfrm>
          <a:prstGeom prst="rect">
            <a:avLst/>
          </a:prstGeom>
        </p:spPr>
      </p:pic>
      <p:sp>
        <p:nvSpPr>
          <p:cNvPr id="7" name="Rectangle 6"/>
          <p:cNvSpPr/>
          <p:nvPr/>
        </p:nvSpPr>
        <p:spPr>
          <a:xfrm>
            <a:off x="0" y="4818888"/>
            <a:ext cx="9144000" cy="13716"/>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4846320"/>
            <a:ext cx="2011680" cy="182880"/>
          </a:xfrm>
          <a:prstGeom prst="rect">
            <a:avLst/>
          </a:prstGeom>
          <a:noFill/>
        </p:spPr>
        <p:txBody>
          <a:bodyPr wrap="square" lIns="36576" rIns="36576" tIns="18288" bIns="18288">
            <a:spAutoFit/>
          </a:bodyPr>
          <a:lstStyle/>
          <a:p>
            <a:pPr algn="l"/>
            <a:r>
              <a:rPr sz="700" b="0" i="0">
                <a:solidFill>
                  <a:srgbClr val="94A3B8"/>
                </a:solidFill>
                <a:latin typeface="Calibri"/>
              </a:rPr>
              <a:t>Everforth ECS Federal</a:t>
            </a:r>
          </a:p>
        </p:txBody>
      </p:sp>
      <p:sp>
        <p:nvSpPr>
          <p:cNvPr id="9" name="TextBox 8"/>
          <p:cNvSpPr txBox="1"/>
          <p:nvPr/>
        </p:nvSpPr>
        <p:spPr>
          <a:xfrm>
            <a:off x="2286000" y="4846320"/>
            <a:ext cx="5029200" cy="182880"/>
          </a:xfrm>
          <a:prstGeom prst="rect">
            <a:avLst/>
          </a:prstGeom>
          <a:noFill/>
        </p:spPr>
        <p:txBody>
          <a:bodyPr wrap="square" lIns="36576" rIns="36576" tIns="18288" bIns="18288">
            <a:spAutoFit/>
          </a:bodyPr>
          <a:lstStyle/>
          <a:p>
            <a:pPr algn="ctr"/>
            <a:r>
              <a:rPr sz="700" b="0" i="0">
                <a:solidFill>
                  <a:srgbClr val="94A3B8"/>
                </a:solidFill>
                <a:latin typeface="Calibri"/>
              </a:rPr>
              <a:t>SERVICENOW PRACTICE  ·  MODERNIZING THE CORE  ·  SOFTWARE ASSET MANAGEMENT</a:t>
            </a:r>
          </a:p>
        </p:txBody>
      </p:sp>
      <p:sp>
        <p:nvSpPr>
          <p:cNvPr id="10" name="TextBox 9"/>
          <p:cNvSpPr txBox="1"/>
          <p:nvPr/>
        </p:nvSpPr>
        <p:spPr>
          <a:xfrm>
            <a:off x="8503920" y="4846320"/>
            <a:ext cx="365760" cy="182880"/>
          </a:xfrm>
          <a:prstGeom prst="rect">
            <a:avLst/>
          </a:prstGeom>
          <a:noFill/>
        </p:spPr>
        <p:txBody>
          <a:bodyPr wrap="square" lIns="36576" rIns="36576" tIns="18288" bIns="18288">
            <a:spAutoFit/>
          </a:bodyPr>
          <a:lstStyle/>
          <a:p>
            <a:pPr algn="r"/>
            <a:r>
              <a:rPr sz="700" b="0" i="0">
                <a:solidFill>
                  <a:srgbClr val="94A3B8"/>
                </a:solidFill>
                <a:latin typeface="Calibri"/>
              </a:rPr>
              <a:t>17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