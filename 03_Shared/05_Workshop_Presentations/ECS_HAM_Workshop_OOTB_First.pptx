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Hardware Asset Management</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HAM in the ServiceNow Platform</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How HAM connects to CMDB, Procurement, and Discovery</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HAM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Asset lifecycle: procurement, receiving, deployment, disposal</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#1-#8</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Asset classes, lifecycle states, disposal workflow, integrations, stockrooms, contracts, software bundling, HAM Pro</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Data import, stockroom setup, Discovery scan, HAM Pro activation</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HAM OOTB covers: asset records, lifecycle states, procurement integration, stockroom management, disposal workflow, and contract association.</a:t>
            </a:r>
          </a:p>
          <a:p>
            <a:pPr algn="l">
              <a:spcAft>
                <a:spcPts val="400"/>
              </a:spcAft>
            </a:pPr>
            <a:r>
              <a:rPr sz="850" b="0" i="0">
                <a:solidFill>
                  <a:srgbClr val="1E293B"/>
                </a:solidFill>
                <a:latin typeface="Calibri"/>
              </a:rPr>
              <a:t>•  The OOTB model tracks hardware from purchase order through end-of-life without custom tables or scripts.</a:t>
            </a:r>
          </a:p>
          <a:p>
            <a:pPr algn="l">
              <a:spcAft>
                <a:spcPts val="400"/>
              </a:spcAft>
            </a:pPr>
            <a:r>
              <a:rPr sz="850" b="0" i="0">
                <a:solidFill>
                  <a:srgbClr val="1E293B"/>
                </a:solidFill>
                <a:latin typeface="Calibri"/>
              </a:rPr>
              <a:t>•  HAM Pro (licensed add-on) extends with normalization, hardware model catalog, and enhanced lifecycle automation -- we will decide today if it is in scope.</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Asset classes and CI classes aligned to your hardware taxonomy.</a:t>
            </a:r>
          </a:p>
          <a:p>
            <a:pPr algn="l">
              <a:spcAft>
                <a:spcPts val="400"/>
              </a:spcAft>
            </a:pPr>
            <a:r>
              <a:rPr sz="850" b="0" i="0">
                <a:solidFill>
                  <a:srgbClr val="1E293B"/>
                </a:solidFill>
                <a:latin typeface="Calibri"/>
              </a:rPr>
              <a:t>•  Lifecycle states mapped to your procurement and disposal process.</a:t>
            </a:r>
          </a:p>
          <a:p>
            <a:pPr algn="l">
              <a:spcAft>
                <a:spcPts val="400"/>
              </a:spcAft>
            </a:pPr>
            <a:r>
              <a:rPr sz="850" b="0" i="0">
                <a:solidFill>
                  <a:srgbClr val="1E293B"/>
                </a:solidFill>
                <a:latin typeface="Calibri"/>
              </a:rPr>
              <a:t>•  Stockroom locations, default assignees, and disposal vendor integrations.</a:t>
            </a:r>
          </a:p>
          <a:p>
            <a:pPr algn="l">
              <a:spcAft>
                <a:spcPts val="400"/>
              </a:spcAft>
            </a:pPr>
            <a:r>
              <a:rPr sz="850" b="0" i="0">
                <a:solidFill>
                  <a:srgbClr val="1E293B"/>
                </a:solidFill>
                <a:latin typeface="Calibri"/>
              </a:rPr>
              <a:t>•  Contract association rules for warranty and lease tracking.</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HAM, imports asset data, and configures core lifecycle.</a:t>
            </a:r>
          </a:p>
          <a:p>
            <a:pPr algn="l">
              <a:spcAft>
                <a:spcPts val="400"/>
              </a:spcAft>
            </a:pPr>
            <a:r>
              <a:rPr sz="850" b="0" i="0">
                <a:solidFill>
                  <a:srgbClr val="1E293B"/>
                </a:solidFill>
                <a:latin typeface="Calibri"/>
              </a:rPr>
              <a:t>•  Sprint 6 wires procurement, stockroom, and disposal workflows.</a:t>
            </a:r>
          </a:p>
          <a:p>
            <a:pPr algn="l">
              <a:spcAft>
                <a:spcPts val="400"/>
              </a:spcAft>
            </a:pPr>
            <a:r>
              <a:rPr sz="850" b="0" i="0">
                <a:solidFill>
                  <a:srgbClr val="1E293B"/>
                </a:solidFill>
                <a:latin typeface="Calibri"/>
              </a:rPr>
              <a:t>•  All configuration through the HAM workspace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y</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y</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HAM lifecycle covers 90% of federal hardware asset management needs. HAM Pro normalization eliminates the need for manual model cataloging. Scripting asset transitions creates upgrade risk with every ServiceNow release.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HAM Lifecycle: Procurement to Disposal</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PURCHASE ORDER CREATED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RECEIVING</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DEPLOYMENT</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MAINTENANCE / TRANSFER</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END OF LIFE / DISPOSAL</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Purchase Order Created: Procurement raises PO in ServiceNow (or integrated ERP). Asset record auto-created in Pre-Production state.</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Receiving: Asset received at stockroom. Serial number, model, and location recorded. State moves to In Stock.</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Deployment: Asset assigned to user or CI. State moves to In Use. Discovery validates CI record alignment.</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Maintenance / Transfer: Asset tracked through moves, transfers, and maintenance events. Full audit trail OOTB.</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End of Life / Disposal: Asset flagged for disposal. Approval workflow routes to asset manager. Disposal vendor notified. State moves to Retired.</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Predictive Intelligence can flag anomalous asset lifecycle patterns (e.g., assets skipping receiving, unusually fast disposal). Now Assist can summarize asset history for audit responses.</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hardware asset classes will you track in HAM?</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Asset Classes:</a:t>
            </a:r>
          </a:p>
          <a:p>
            <a:pPr algn="l">
              <a:spcAft>
                <a:spcPts val="200"/>
              </a:spcAft>
            </a:pPr>
            <a:r>
              <a:rPr sz="850" b="0" i="0">
                <a:solidFill>
                  <a:srgbClr val="1E293B"/>
                </a:solidFill>
                <a:latin typeface="Calibri"/>
              </a:rPr>
              <a:t>Laptop, Desktop, Server, Monitor, Printer, Mobile Device, Network Equipment, Peripheral. All mapped to CI classes in CMDB. HAM workspace allows class-level configuration of lifecycle states, fields, and disposal rules.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Which asset classes are in scope for this engagement?</a:t>
            </a:r>
          </a:p>
          <a:p>
            <a:pPr algn="l">
              <a:spcAft>
                <a:spcPts val="300"/>
              </a:spcAft>
            </a:pPr>
            <a:r>
              <a:rPr sz="850" b="0" i="0">
                <a:solidFill>
                  <a:srgbClr val="1E293B"/>
                </a:solidFill>
                <a:latin typeface="Calibri"/>
              </a:rPr>
              <a:t>2.  Do any classes require unique lifecycle states not covered by OOTB?</a:t>
            </a:r>
          </a:p>
          <a:p>
            <a:pPr algn="l">
              <a:spcAft>
                <a:spcPts val="300"/>
              </a:spcAft>
            </a:pPr>
            <a:r>
              <a:rPr sz="850" b="0" i="0">
                <a:solidFill>
                  <a:srgbClr val="1E293B"/>
                </a:solidFill>
                <a:latin typeface="Calibri"/>
              </a:rPr>
              <a:t>3.  Are mobile devices tracked in HAM or a separate MDM system (Intune/SCCM)?</a:t>
            </a:r>
          </a:p>
          <a:p>
            <a:pPr algn="l">
              <a:spcAft>
                <a:spcPts val="300"/>
              </a:spcAft>
            </a:pPr>
            <a:r>
              <a:rPr sz="850" b="0" i="0">
                <a:solidFill>
                  <a:srgbClr val="1E293B"/>
                </a:solidFill>
                <a:latin typeface="Calibri"/>
              </a:rPr>
              <a:t>4.  Are servers tracked in HAM, CMDB, or both?</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Defining asset classes up front drives stockroom setup, Discovery mapping, and contract association rules. Scope creep mid-sprint when new classes are added is the #1 cause of HAM delays.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are your lifecycle states -- and who approves transitions?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Lifecycle States:</a:t>
            </a:r>
          </a:p>
          <a:p>
            <a:pPr algn="l">
              <a:spcAft>
                <a:spcPts val="200"/>
              </a:spcAft>
            </a:pPr>
            <a:r>
              <a:rPr sz="850" b="0" i="0">
                <a:solidFill>
                  <a:srgbClr val="1E293B"/>
                </a:solidFill>
                <a:latin typeface="Calibri"/>
              </a:rPr>
              <a:t>Pre-Production, In Stock, In Use, In Maintenance, Retired. Each state transition can have an approval step (configurable, no scripting). Disposal requires an approval workflow -- OOTB approval engine, no custom code.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the OOTB lifecycle states sufficient or do you need agency-specific states?</a:t>
            </a:r>
          </a:p>
          <a:p>
            <a:pPr algn="l">
              <a:spcAft>
                <a:spcPts val="300"/>
              </a:spcAft>
            </a:pPr>
            <a:r>
              <a:rPr sz="850" b="0" i="0">
                <a:solidFill>
                  <a:srgbClr val="1E293B"/>
                </a:solidFill>
                <a:latin typeface="Calibri"/>
              </a:rPr>
              <a:t>2.  Who approves disposal (asset manager, ISSO, supervisor)?</a:t>
            </a:r>
          </a:p>
          <a:p>
            <a:pPr algn="l">
              <a:spcAft>
                <a:spcPts val="300"/>
              </a:spcAft>
            </a:pPr>
            <a:r>
              <a:rPr sz="850" b="0" i="0">
                <a:solidFill>
                  <a:srgbClr val="1E293B"/>
                </a:solidFill>
                <a:latin typeface="Calibri"/>
              </a:rPr>
              <a:t>3.  Is there a "Lost/Stolen" state needed for federal accountability?</a:t>
            </a:r>
          </a:p>
          <a:p>
            <a:pPr algn="l">
              <a:spcAft>
                <a:spcPts val="300"/>
              </a:spcAft>
            </a:pPr>
            <a:r>
              <a:rPr sz="850" b="0" i="0">
                <a:solidFill>
                  <a:srgbClr val="1E293B"/>
                </a:solidFill>
                <a:latin typeface="Calibri"/>
              </a:rPr>
              <a:t>4.  Who can move an asset from In Stock to In Use (self-service vs. IT-only)?</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Custom lifecycle states created mid-project require re-mapping all existing assets. Agree on states in this room and freeze them before data import.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hardware assets enter ServiceNow -- import, Discovery, or manual?</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Data Entry Options:</a:t>
            </a:r>
          </a:p>
          <a:p>
            <a:pPr algn="l">
              <a:spcAft>
                <a:spcPts val="200"/>
              </a:spcAft>
            </a:pPr>
            <a:r>
              <a:rPr sz="850" b="0" i="0">
                <a:solidFill>
                  <a:srgbClr val="1E293B"/>
                </a:solidFill>
                <a:latin typeface="Calibri"/>
              </a:rPr>
              <a:t>1) Import Set from existing CMDB/spreadsheet (OOTB transform maps). 2) Discovery auto-creates CI records that can be promoted to assets. 3) HAM workspace manual entry for low-volume. Integration with procurement (PO creation triggers asset record) is OOTB via PO module.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Do you have an existing asset inventory to import (spreadsheet, SCCM export, CMDB extract)?</a:t>
            </a:r>
          </a:p>
          <a:p>
            <a:pPr algn="l">
              <a:spcAft>
                <a:spcPts val="300"/>
              </a:spcAft>
            </a:pPr>
            <a:r>
              <a:rPr sz="850" b="0" i="0">
                <a:solidFill>
                  <a:srgbClr val="1E293B"/>
                </a:solidFill>
                <a:latin typeface="Calibri"/>
              </a:rPr>
              <a:t>2.  Will Discovery be the system of record for CI data aligned to assets?</a:t>
            </a:r>
          </a:p>
          <a:p>
            <a:pPr algn="l">
              <a:spcAft>
                <a:spcPts val="300"/>
              </a:spcAft>
            </a:pPr>
            <a:r>
              <a:rPr sz="850" b="0" i="0">
                <a:solidFill>
                  <a:srgbClr val="1E293B"/>
                </a:solidFill>
                <a:latin typeface="Calibri"/>
              </a:rPr>
              <a:t>3.  Is procurement in ServiceNow (PO module) or an external system (ERP, GSA system)?</a:t>
            </a:r>
          </a:p>
          <a:p>
            <a:pPr algn="l">
              <a:spcAft>
                <a:spcPts val="300"/>
              </a:spcAft>
            </a:pPr>
            <a:r>
              <a:rPr sz="850" b="0" i="0">
                <a:solidFill>
                  <a:srgbClr val="1E293B"/>
                </a:solidFill>
                <a:latin typeface="Calibri"/>
              </a:rPr>
              <a:t>4.  Who owns the initial data import and cleansing effort?</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Data quality at import determines HAM value for 2 years. Importing dirty data (missing serials, wrong models, duplicate records) costs more to fix than doing it right the first time.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Where are your stockroom locations and who manages them?</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Stockroom Model:</a:t>
            </a:r>
          </a:p>
          <a:p>
            <a:pPr algn="l">
              <a:spcAft>
                <a:spcPts val="200"/>
              </a:spcAft>
            </a:pPr>
            <a:r>
              <a:rPr sz="850" b="0" i="0">
                <a:solidFill>
                  <a:srgbClr val="1E293B"/>
                </a:solidFill>
                <a:latin typeface="Calibri"/>
              </a:rPr>
              <a:t>Stockrooms are named locations in ServiceNow. Each asset in In Stock state is assigned to a stockroom. Stockroom managers can be assigned per location. Transfer between stockrooms tracked with full audit trail. No custom tables needed.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How many physical stockroom/storage locations are in scope?</a:t>
            </a:r>
          </a:p>
          <a:p>
            <a:pPr algn="l">
              <a:spcAft>
                <a:spcPts val="300"/>
              </a:spcAft>
            </a:pPr>
            <a:r>
              <a:rPr sz="850" b="0" i="0">
                <a:solidFill>
                  <a:srgbClr val="1E293B"/>
                </a:solidFill>
                <a:latin typeface="Calibri"/>
              </a:rPr>
              <a:t>2.  Are stockrooms regional (one per site) or centralized?</a:t>
            </a:r>
          </a:p>
          <a:p>
            <a:pPr algn="l">
              <a:spcAft>
                <a:spcPts val="300"/>
              </a:spcAft>
            </a:pPr>
            <a:r>
              <a:rPr sz="850" b="0" i="0">
                <a:solidFill>
                  <a:srgbClr val="1E293B"/>
                </a:solidFill>
                <a:latin typeface="Calibri"/>
              </a:rPr>
              <a:t>3.  Who is the stockroom manager per location (asset team, facilities, IT)?</a:t>
            </a:r>
          </a:p>
          <a:p>
            <a:pPr algn="l">
              <a:spcAft>
                <a:spcPts val="300"/>
              </a:spcAft>
            </a:pPr>
            <a:r>
              <a:rPr sz="850" b="0" i="0">
                <a:solidFill>
                  <a:srgbClr val="1E293B"/>
                </a:solidFill>
                <a:latin typeface="Calibri"/>
              </a:rPr>
              <a:t>4.  Is inter-site transfer tracked in ServiceNow or handled outside?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Stockrooms defined after data import require a full re-assignment of all In Stock assets. Define stockroom list now -- even a draft list is better than none.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do hardware contracts (warranty, lease) associate to assets?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Contract Association:</a:t>
            </a:r>
          </a:p>
          <a:p>
            <a:pPr algn="l">
              <a:spcAft>
                <a:spcPts val="200"/>
              </a:spcAft>
            </a:pPr>
            <a:r>
              <a:rPr sz="850" b="0" i="0">
                <a:solidFill>
                  <a:srgbClr val="1E293B"/>
                </a:solidFill>
                <a:latin typeface="Calibri"/>
              </a:rPr>
              <a:t>HAM links assets to contracts via the Contract Management module. Warranty expiry date field on asset record. Lease contracts track end date and renewal workflow. Contract workspace shows assets per contract. No scripting required.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hardware warranties tracked in ServiceNow or an external system?</a:t>
            </a:r>
          </a:p>
          <a:p>
            <a:pPr algn="l">
              <a:spcAft>
                <a:spcPts val="300"/>
              </a:spcAft>
            </a:pPr>
            <a:r>
              <a:rPr sz="850" b="0" i="0">
                <a:solidFill>
                  <a:srgbClr val="1E293B"/>
                </a:solidFill>
                <a:latin typeface="Calibri"/>
              </a:rPr>
              <a:t>2.  Are any assets under lease (vs. owned)? If so, is lease tracking in scope?</a:t>
            </a:r>
          </a:p>
          <a:p>
            <a:pPr algn="l">
              <a:spcAft>
                <a:spcPts val="300"/>
              </a:spcAft>
            </a:pPr>
            <a:r>
              <a:rPr sz="850" b="0" i="0">
                <a:solidFill>
                  <a:srgbClr val="1E293B"/>
                </a:solidFill>
                <a:latin typeface="Calibri"/>
              </a:rPr>
              <a:t>3.  Who is responsible for contract renewal workflows?</a:t>
            </a:r>
          </a:p>
          <a:p>
            <a:pPr algn="l">
              <a:spcAft>
                <a:spcPts val="300"/>
              </a:spcAft>
            </a:pPr>
            <a:r>
              <a:rPr sz="850" b="0" i="0">
                <a:solidFill>
                  <a:srgbClr val="1E293B"/>
                </a:solidFill>
                <a:latin typeface="Calibri"/>
              </a:rPr>
              <a:t>4.  Should warranty expiry trigger an alert to the asset owner?</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Contract data is often in spreadsheets or vendor portals. Migrating contract data is a separate workstream from asset data -- plan for it in Sprint 5 data prep or it slips to post-go-live.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is your hardware disposal process -- and who approves it?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Disposal Workflow:</a:t>
            </a:r>
          </a:p>
          <a:p>
            <a:pPr algn="l">
              <a:spcAft>
                <a:spcPts val="200"/>
              </a:spcAft>
            </a:pPr>
            <a:r>
              <a:rPr sz="850" b="0" i="0">
                <a:solidFill>
                  <a:srgbClr val="1E293B"/>
                </a:solidFill>
                <a:latin typeface="Calibri"/>
              </a:rPr>
              <a:t>Asset disposal: state set to Pending Disposal, approval workflow routes to asset manager. Disposal vendor field on asset record. Disposal date and method recorded. Certificate of destruction can be attached to asset record. State moves to Retired on completion.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there a federal data sanitization requirement (NIST 800-88) that must be documented in ServiceNow?</a:t>
            </a:r>
          </a:p>
          <a:p>
            <a:pPr algn="l">
              <a:spcAft>
                <a:spcPts val="300"/>
              </a:spcAft>
            </a:pPr>
            <a:r>
              <a:rPr sz="850" b="0" i="0">
                <a:solidFill>
                  <a:srgbClr val="1E293B"/>
                </a:solidFill>
                <a:latin typeface="Calibri"/>
              </a:rPr>
              <a:t>2.  Who approves disposal (IT, ISSO, supervisor)?</a:t>
            </a:r>
          </a:p>
          <a:p>
            <a:pPr algn="l">
              <a:spcAft>
                <a:spcPts val="300"/>
              </a:spcAft>
            </a:pPr>
            <a:r>
              <a:rPr sz="850" b="0" i="0">
                <a:solidFill>
                  <a:srgbClr val="1E293B"/>
                </a:solidFill>
                <a:latin typeface="Calibri"/>
              </a:rPr>
              <a:t>3.  Is there a disposal vendor integration needed or is manual recording sufficient?</a:t>
            </a:r>
          </a:p>
          <a:p>
            <a:pPr algn="l">
              <a:spcAft>
                <a:spcPts val="300"/>
              </a:spcAft>
            </a:pPr>
            <a:r>
              <a:rPr sz="850" b="0" i="0">
                <a:solidFill>
                  <a:srgbClr val="1E293B"/>
                </a:solidFill>
                <a:latin typeface="Calibri"/>
              </a:rPr>
              <a:t>4.  Are end-of-life assets donated, destroyed, or returned to manufacturer?</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Federal agencies must document hardware disposal for audit. OOTB disposal workflow + certificate attachment satisfies most federal audit requirements without any scripting.</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Will you activate HAM Pro -- and what does that unlock?</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HAM Pro Capabilities:</a:t>
            </a:r>
          </a:p>
          <a:p>
            <a:pPr algn="l">
              <a:spcAft>
                <a:spcPts val="200"/>
              </a:spcAft>
            </a:pPr>
            <a:r>
              <a:rPr sz="850" b="0" i="0">
                <a:solidFill>
                  <a:srgbClr val="1E293B"/>
                </a:solidFill>
                <a:latin typeface="Calibri"/>
              </a:rPr>
              <a:t>HAM Pro (licensed) adds: Hardware Model Catalog (normalized model data from Computacenter), automated asset normalization, EOL/EOS date tracking from vendor data, enhanced workspace dashboards, and model-level spend analytics.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HAM Pro included in your current ServiceNow contract?</a:t>
            </a:r>
          </a:p>
          <a:p>
            <a:pPr algn="l">
              <a:spcAft>
                <a:spcPts val="300"/>
              </a:spcAft>
            </a:pPr>
            <a:r>
              <a:rPr sz="850" b="0" i="0">
                <a:solidFill>
                  <a:srgbClr val="1E293B"/>
                </a:solidFill>
                <a:latin typeface="Calibri"/>
              </a:rPr>
              <a:t>2.  Is manual model cataloging a pain point that HAM Pro normalization would solve?</a:t>
            </a:r>
          </a:p>
          <a:p>
            <a:pPr algn="l">
              <a:spcAft>
                <a:spcPts val="300"/>
              </a:spcAft>
            </a:pPr>
            <a:r>
              <a:rPr sz="850" b="0" i="0">
                <a:solidFill>
                  <a:srgbClr val="1E293B"/>
                </a:solidFill>
                <a:latin typeface="Calibri"/>
              </a:rPr>
              <a:t>3.  Is EOL/EOS tracking a requirement for your asset lifecycle program?</a:t>
            </a:r>
          </a:p>
          <a:p>
            <a:pPr algn="l">
              <a:spcAft>
                <a:spcPts val="300"/>
              </a:spcAft>
            </a:pPr>
            <a:r>
              <a:rPr sz="850" b="0" i="0">
                <a:solidFill>
                  <a:srgbClr val="1E293B"/>
                </a:solidFill>
                <a:latin typeface="Calibri"/>
              </a:rPr>
              <a:t>4.  If HAM Pro is not in scope now, is it on the roadmap?</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HAM Pro is the difference between a basic asset register and a true lifecycle management program. If it is in your license, activating it in Sprint 5 costs nothing and saves significant manual cataloging effort.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8</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does HAM integrate with Discovery and CMDB?</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HAM-CMDB-Discovery Integration:</a:t>
            </a:r>
          </a:p>
          <a:p>
            <a:pPr algn="l">
              <a:spcAft>
                <a:spcPts val="200"/>
              </a:spcAft>
            </a:pPr>
            <a:r>
              <a:rPr sz="850" b="0" i="0">
                <a:solidFill>
                  <a:srgbClr val="1E293B"/>
                </a:solidFill>
                <a:latin typeface="Calibri"/>
              </a:rPr>
              <a:t>Discovery auto-populates CI records. HAM links asset records to CI records (one-to-one). Reconciliation workspace in HAM Pro flags assets without CI matches and CIs without asset records. No scripting -- OOTB reconciliation rules.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Will Discovery be running before HAM go-live (CI data available for asset linking)?</a:t>
            </a:r>
          </a:p>
          <a:p>
            <a:pPr algn="l">
              <a:spcAft>
                <a:spcPts val="300"/>
              </a:spcAft>
            </a:pPr>
            <a:r>
              <a:rPr sz="850" b="0" i="0">
                <a:solidFill>
                  <a:srgbClr val="1E293B"/>
                </a:solidFill>
                <a:latin typeface="Calibri"/>
              </a:rPr>
              <a:t>2.  Is CMDB the source of truth for CI data, or does HAM maintain a separate model?</a:t>
            </a:r>
          </a:p>
          <a:p>
            <a:pPr algn="l">
              <a:spcAft>
                <a:spcPts val="300"/>
              </a:spcAft>
            </a:pPr>
            <a:r>
              <a:rPr sz="850" b="0" i="0">
                <a:solidFill>
                  <a:srgbClr val="1E293B"/>
                </a:solidFill>
                <a:latin typeface="Calibri"/>
              </a:rPr>
              <a:t>3.  How will you handle assets not yet discoverable (new hardware, isolated networks)?</a:t>
            </a:r>
          </a:p>
          <a:p>
            <a:pPr algn="l">
              <a:spcAft>
                <a:spcPts val="300"/>
              </a:spcAft>
            </a:pPr>
            <a:r>
              <a:rPr sz="850" b="0" i="0">
                <a:solidFill>
                  <a:srgbClr val="1E293B"/>
                </a:solidFill>
                <a:latin typeface="Calibri"/>
              </a:rPr>
              <a:t>4.  Who resolves asset-CI mismatches -- HAM team or CMDB team?</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HAM without Discovery produces an asset register. HAM with Discovery produces a configuration-verified asset register. The difference matters for audit and security posture.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Hardware Asset Management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Asset classes in scope</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Lifecycle states adopted</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Data import source and owner</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Stockroom locations defined</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Contract tracking approach</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Disposal approval workflow</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HAM Pro activation decision</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320040" y="387705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2647" y="387705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350008" y="387705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81927" y="387705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790688" y="387705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56615" y="39684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#8</a:t>
            </a:r>
          </a:p>
        </p:txBody>
      </p:sp>
      <p:sp>
        <p:nvSpPr>
          <p:cNvPr id="78" name="TextBox 77"/>
          <p:cNvSpPr txBox="1"/>
          <p:nvPr/>
        </p:nvSpPr>
        <p:spPr>
          <a:xfrm>
            <a:off x="658368" y="39502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HAM-CMDB-Discovery integration model</a:t>
            </a:r>
          </a:p>
        </p:txBody>
      </p:sp>
      <p:sp>
        <p:nvSpPr>
          <p:cNvPr id="79" name="TextBox 78"/>
          <p:cNvSpPr txBox="1"/>
          <p:nvPr/>
        </p:nvSpPr>
        <p:spPr>
          <a:xfrm>
            <a:off x="2395727" y="39502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80" name="Rectangle 79"/>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82" name="TextBox 81"/>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83" name="TextBox 82"/>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Data Prep</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Export existing asset inventory from current source. Cleanse serial numbers, model names, and location data. Assign data owner for import validation.</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Stockroom Setup</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Define stockroom list with location names and managers. Configure in HAM workspace before data import.</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Discovery Alignment</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Discovery sprint timeline so CI data is available before HAM go-live for asset-CI linking.</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HAM Pro Decision</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license entitlement with ServiceNow AE. If in scope, activate in Sprint 5 before data import.</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Contract Data</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warranty and lease data sources. Assign owner to prepare contract import alongside asset import.</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HARDWARE ASSET MANAGEMENT</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HARDWARE ASSET MANAGEMENT</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