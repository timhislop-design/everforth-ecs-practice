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858000" cy="749808"/>
          </a:xfrm>
          <a:prstGeom prst="rect">
            <a:avLst/>
          </a:prstGeom>
          <a:noFill/>
        </p:spPr>
        <p:txBody>
          <a:bodyPr wrap="square" lIns="36576" rIns="36576" tIns="18288" bIns="18288">
            <a:spAutoFit/>
          </a:bodyPr>
          <a:lstStyle/>
          <a:p>
            <a:pPr algn="l"/>
            <a:r>
              <a:rPr sz="4000" b="1" i="0">
                <a:solidFill>
                  <a:srgbClr val="FFFFFF"/>
                </a:solidFill>
                <a:latin typeface="Calibri"/>
              </a:rPr>
              <a:t>Modernizing the Core</a:t>
            </a:r>
          </a:p>
        </p:txBody>
      </p:sp>
      <p:sp>
        <p:nvSpPr>
          <p:cNvPr id="4" name="TextBox 3"/>
          <p:cNvSpPr txBox="1"/>
          <p:nvPr/>
        </p:nvSpPr>
        <p:spPr>
          <a:xfrm>
            <a:off x="475488" y="2304288"/>
            <a:ext cx="7772400" cy="621792"/>
          </a:xfrm>
          <a:prstGeom prst="rect">
            <a:avLst/>
          </a:prstGeom>
          <a:noFill/>
        </p:spPr>
        <p:txBody>
          <a:bodyPr wrap="square" lIns="36576" rIns="36576" tIns="18288" bIns="18288">
            <a:spAutoFit/>
          </a:bodyPr>
          <a:lstStyle/>
          <a:p>
            <a:pPr algn="l"/>
            <a:r>
              <a:rPr sz="3000" b="1" i="0">
                <a:solidFill>
                  <a:srgbClr val="14B8A6"/>
                </a:solidFill>
                <a:latin typeface="Calibri"/>
              </a:rPr>
              <a:t>Hardware Asset Management</a:t>
            </a:r>
          </a:p>
        </p:txBody>
      </p:sp>
      <p:sp>
        <p:nvSpPr>
          <p:cNvPr id="5" name="TextBox 4"/>
          <p:cNvSpPr txBox="1"/>
          <p:nvPr/>
        </p:nvSpPr>
        <p:spPr>
          <a:xfrm>
            <a:off x="475488" y="2907792"/>
            <a:ext cx="6858000" cy="384048"/>
          </a:xfrm>
          <a:prstGeom prst="rect">
            <a:avLst/>
          </a:prstGeom>
          <a:noFill/>
        </p:spPr>
        <p:txBody>
          <a:bodyPr wrap="square" lIns="36576" rIns="36576" tIns="18288" bIns="18288">
            <a:spAutoFit/>
          </a:bodyPr>
          <a:lstStyle/>
          <a:p>
            <a:pPr algn="l"/>
            <a:r>
              <a:rPr sz="1300" b="0" i="1">
                <a:solidFill>
                  <a:srgbClr val="FFFFFF"/>
                </a:solidFill>
                <a:latin typeface="Calibri"/>
              </a:rPr>
              <a:t>Ensuring AI Realization and Optimizing Long-Term Value</a:t>
            </a:r>
          </a:p>
        </p:txBody>
      </p:sp>
      <p:sp>
        <p:nvSpPr>
          <p:cNvPr id="6" name="TextBox 5"/>
          <p:cNvSpPr txBox="1"/>
          <p:nvPr/>
        </p:nvSpPr>
        <p:spPr>
          <a:xfrm>
            <a:off x="274320" y="4407408"/>
            <a:ext cx="5486400" cy="228600"/>
          </a:xfrm>
          <a:prstGeom prst="rect">
            <a:avLst/>
          </a:prstGeom>
          <a:noFill/>
        </p:spPr>
        <p:txBody>
          <a:bodyPr wrap="square" lIns="36576" rIns="36576" tIns="18288" bIns="18288">
            <a:spAutoFit/>
          </a:bodyPr>
          <a:lstStyle/>
          <a:p>
            <a:pPr algn="l"/>
            <a:r>
              <a:rPr sz="750" b="0" i="0">
                <a:solidFill>
                  <a:srgbClr val="94A3B8"/>
                </a:solidFill>
                <a:latin typeface="Calibri"/>
              </a:rPr>
              <a:t>Prepared by Everforth ECS Federal  ·  ServiceNow Practice  ·  Confidential</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A G E N D A</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We'll Cover Today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01</a:t>
            </a:r>
          </a:p>
        </p:txBody>
      </p:sp>
      <p:sp>
        <p:nvSpPr>
          <p:cNvPr id="8" name="TextBox 7"/>
          <p:cNvSpPr txBox="1"/>
          <p:nvPr/>
        </p:nvSpPr>
        <p:spPr>
          <a:xfrm>
            <a:off x="8321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The OOTB-First Frame</a:t>
            </a:r>
          </a:p>
        </p:txBody>
      </p:sp>
      <p:sp>
        <p:nvSpPr>
          <p:cNvPr id="9" name="TextBox 8"/>
          <p:cNvSpPr txBox="1"/>
          <p:nvPr/>
        </p:nvSpPr>
        <p:spPr>
          <a:xfrm>
            <a:off x="8321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Why this engagement commits to OOTB -- and what it means in the room</a:t>
            </a:r>
          </a:p>
        </p:txBody>
      </p:sp>
      <p:sp>
        <p:nvSpPr>
          <p:cNvPr id="10" name="Rectangle 9"/>
          <p:cNvSpPr/>
          <p:nvPr/>
        </p:nvSpPr>
        <p:spPr>
          <a:xfrm>
            <a:off x="3200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02</a:t>
            </a:r>
          </a:p>
        </p:txBody>
      </p:sp>
      <p:sp>
        <p:nvSpPr>
          <p:cNvPr id="12" name="TextBox 11"/>
          <p:cNvSpPr txBox="1"/>
          <p:nvPr/>
        </p:nvSpPr>
        <p:spPr>
          <a:xfrm>
            <a:off x="8321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HAM in the ServiceNow Platform</a:t>
            </a:r>
          </a:p>
        </p:txBody>
      </p:sp>
      <p:sp>
        <p:nvSpPr>
          <p:cNvPr id="13" name="TextBox 12"/>
          <p:cNvSpPr txBox="1"/>
          <p:nvPr/>
        </p:nvSpPr>
        <p:spPr>
          <a:xfrm>
            <a:off x="8321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How HAM connects to CMDB, Procurement, and Discovery</a:t>
            </a:r>
          </a:p>
        </p:txBody>
      </p:sp>
      <p:sp>
        <p:nvSpPr>
          <p:cNvPr id="14" name="Rectangle 13"/>
          <p:cNvSpPr/>
          <p:nvPr/>
        </p:nvSpPr>
        <p:spPr>
          <a:xfrm>
            <a:off x="3200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03</a:t>
            </a:r>
          </a:p>
        </p:txBody>
      </p:sp>
      <p:sp>
        <p:nvSpPr>
          <p:cNvPr id="16" name="TextBox 15"/>
          <p:cNvSpPr txBox="1"/>
          <p:nvPr/>
        </p:nvSpPr>
        <p:spPr>
          <a:xfrm>
            <a:off x="8321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HAM Process Walkthrough</a:t>
            </a:r>
          </a:p>
        </p:txBody>
      </p:sp>
      <p:sp>
        <p:nvSpPr>
          <p:cNvPr id="17" name="TextBox 16"/>
          <p:cNvSpPr txBox="1"/>
          <p:nvPr/>
        </p:nvSpPr>
        <p:spPr>
          <a:xfrm>
            <a:off x="8321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Asset lifecycle: procurement, receiving, deployment, disposal</a:t>
            </a:r>
          </a:p>
        </p:txBody>
      </p:sp>
      <p:sp>
        <p:nvSpPr>
          <p:cNvPr id="18" name="Rectangle 17"/>
          <p:cNvSpPr/>
          <p:nvPr/>
        </p:nvSpPr>
        <p:spPr>
          <a:xfrm>
            <a:off x="46634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04</a:t>
            </a:r>
          </a:p>
        </p:txBody>
      </p:sp>
      <p:sp>
        <p:nvSpPr>
          <p:cNvPr id="20" name="TextBox 19"/>
          <p:cNvSpPr txBox="1"/>
          <p:nvPr/>
        </p:nvSpPr>
        <p:spPr>
          <a:xfrm>
            <a:off x="51755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Key Decisions #1-#8</a:t>
            </a:r>
          </a:p>
        </p:txBody>
      </p:sp>
      <p:sp>
        <p:nvSpPr>
          <p:cNvPr id="21" name="TextBox 20"/>
          <p:cNvSpPr txBox="1"/>
          <p:nvPr/>
        </p:nvSpPr>
        <p:spPr>
          <a:xfrm>
            <a:off x="51755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Asset classes, lifecycle states, disposal workflow, integrations, stockrooms, contracts, software bundling, HAM Pro</a:t>
            </a:r>
          </a:p>
        </p:txBody>
      </p:sp>
      <p:sp>
        <p:nvSpPr>
          <p:cNvPr id="22" name="Rectangle 21"/>
          <p:cNvSpPr/>
          <p:nvPr/>
        </p:nvSpPr>
        <p:spPr>
          <a:xfrm>
            <a:off x="46634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05</a:t>
            </a:r>
          </a:p>
        </p:txBody>
      </p:sp>
      <p:sp>
        <p:nvSpPr>
          <p:cNvPr id="24" name="TextBox 23"/>
          <p:cNvSpPr txBox="1"/>
          <p:nvPr/>
        </p:nvSpPr>
        <p:spPr>
          <a:xfrm>
            <a:off x="51755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Decision Log</a:t>
            </a:r>
          </a:p>
        </p:txBody>
      </p:sp>
      <p:sp>
        <p:nvSpPr>
          <p:cNvPr id="25" name="TextBox 24"/>
          <p:cNvSpPr txBox="1"/>
          <p:nvPr/>
        </p:nvSpPr>
        <p:spPr>
          <a:xfrm>
            <a:off x="51755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Every decision is recorded before we leave this room</a:t>
            </a:r>
          </a:p>
        </p:txBody>
      </p:sp>
      <p:sp>
        <p:nvSpPr>
          <p:cNvPr id="26" name="Rectangle 25"/>
          <p:cNvSpPr/>
          <p:nvPr/>
        </p:nvSpPr>
        <p:spPr>
          <a:xfrm>
            <a:off x="46634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06</a:t>
            </a:r>
          </a:p>
        </p:txBody>
      </p:sp>
      <p:sp>
        <p:nvSpPr>
          <p:cNvPr id="28" name="TextBox 27"/>
          <p:cNvSpPr txBox="1"/>
          <p:nvPr/>
        </p:nvSpPr>
        <p:spPr>
          <a:xfrm>
            <a:off x="51755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What Comes Next</a:t>
            </a:r>
          </a:p>
        </p:txBody>
      </p:sp>
      <p:sp>
        <p:nvSpPr>
          <p:cNvPr id="29" name="TextBox 28"/>
          <p:cNvSpPr txBox="1"/>
          <p:nvPr/>
        </p:nvSpPr>
        <p:spPr>
          <a:xfrm>
            <a:off x="51755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Data import, stockroom setup, Discovery scan, HAM Pro activation</a:t>
            </a:r>
          </a:p>
        </p:txBody>
      </p:sp>
      <p:sp>
        <p:nvSpPr>
          <p:cNvPr id="30" name="Rectangle 29"/>
          <p:cNvSpPr/>
          <p:nvPr/>
        </p:nvSpPr>
        <p:spPr>
          <a:xfrm>
            <a:off x="320040" y="3529583"/>
            <a:ext cx="850392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611879"/>
            <a:ext cx="8229600" cy="347472"/>
          </a:xfrm>
          <a:prstGeom prst="rect">
            <a:avLst/>
          </a:prstGeom>
          <a:noFill/>
        </p:spPr>
        <p:txBody>
          <a:bodyPr wrap="square" lIns="36576" rIns="36576" tIns="18288" bIns="18288">
            <a:spAutoFit/>
          </a:bodyPr>
          <a:lstStyle/>
          <a:p>
            <a:pPr algn="l"/>
            <a:r>
              <a:rPr sz="950" b="1" i="0">
                <a:solidFill>
                  <a:srgbClr val="0B1F3A"/>
                </a:solidFill>
                <a:latin typeface="Calibri"/>
              </a:rPr>
              <a:t>Ground rule: </a:t>
            </a:r>
            <a:r>
              <a:rPr sz="950" b="0" i="0">
                <a:solidFill>
                  <a:srgbClr val="1E293B"/>
                </a:solidFill>
                <a:latin typeface="Calibri"/>
              </a:rPr>
              <a:t>Decisions get made in this room. The OOTB recommendation is pre-populated. Your job is to confirm, adjust with rationale, or defer with a named owner and date.</a:t>
            </a:r>
          </a:p>
        </p:txBody>
      </p:sp>
      <p:sp>
        <p:nvSpPr>
          <p:cNvPr id="32" name="Rectangle 31"/>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4" name="TextBox 33"/>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35" name="TextBox 34"/>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A P P R O A C H</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OOTB-first is not a constraint — it is the AI strategy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OOTB-First Means</a:t>
            </a:r>
          </a:p>
        </p:txBody>
      </p:sp>
      <p:sp>
        <p:nvSpPr>
          <p:cNvPr id="8" name="Rectangle 7"/>
          <p:cNvSpPr/>
          <p:nvPr/>
        </p:nvSpPr>
        <p:spPr>
          <a:xfrm>
            <a:off x="32004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HAM OOTB covers: asset records, lifecycle states, procurement integration, stockroom management, disposal workflow, and contract association.</a:t>
            </a:r>
          </a:p>
          <a:p>
            <a:pPr algn="l">
              <a:spcAft>
                <a:spcPts val="400"/>
              </a:spcAft>
            </a:pPr>
            <a:r>
              <a:rPr sz="850" b="0" i="0">
                <a:solidFill>
                  <a:srgbClr val="1E293B"/>
                </a:solidFill>
                <a:latin typeface="Calibri"/>
              </a:rPr>
              <a:t>•  The OOTB model tracks hardware from purchase order through end-of-life without custom tables or scripts.</a:t>
            </a:r>
          </a:p>
          <a:p>
            <a:pPr algn="l">
              <a:spcAft>
                <a:spcPts val="400"/>
              </a:spcAft>
            </a:pPr>
            <a:r>
              <a:rPr sz="850" b="0" i="0">
                <a:solidFill>
                  <a:srgbClr val="1E293B"/>
                </a:solidFill>
                <a:latin typeface="Calibri"/>
              </a:rPr>
              <a:t>•  HAM Pro (licensed add-on) extends with normalization, hardware model catalog, and enhanced lifecycle automation -- we will decide today if it is in scope.</a:t>
            </a:r>
          </a:p>
        </p:txBody>
      </p:sp>
      <p:sp>
        <p:nvSpPr>
          <p:cNvPr id="10" name="Rectangle 9"/>
          <p:cNvSpPr/>
          <p:nvPr/>
        </p:nvSpPr>
        <p:spPr>
          <a:xfrm>
            <a:off x="313182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7754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We Configure (Not Code)</a:t>
            </a:r>
          </a:p>
        </p:txBody>
      </p:sp>
      <p:sp>
        <p:nvSpPr>
          <p:cNvPr id="12" name="Rectangle 11"/>
          <p:cNvSpPr/>
          <p:nvPr/>
        </p:nvSpPr>
        <p:spPr>
          <a:xfrm>
            <a:off x="313182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2326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Asset classes and CI classes aligned to your hardware taxonomy.</a:t>
            </a:r>
          </a:p>
          <a:p>
            <a:pPr algn="l">
              <a:spcAft>
                <a:spcPts val="400"/>
              </a:spcAft>
            </a:pPr>
            <a:r>
              <a:rPr sz="850" b="0" i="0">
                <a:solidFill>
                  <a:srgbClr val="1E293B"/>
                </a:solidFill>
                <a:latin typeface="Calibri"/>
              </a:rPr>
              <a:t>•  Lifecycle states mapped to your procurement and disposal process.</a:t>
            </a:r>
          </a:p>
          <a:p>
            <a:pPr algn="l">
              <a:spcAft>
                <a:spcPts val="400"/>
              </a:spcAft>
            </a:pPr>
            <a:r>
              <a:rPr sz="850" b="0" i="0">
                <a:solidFill>
                  <a:srgbClr val="1E293B"/>
                </a:solidFill>
                <a:latin typeface="Calibri"/>
              </a:rPr>
              <a:t>•  Stockroom locations, default assignees, and disposal vendor integrations.</a:t>
            </a:r>
          </a:p>
          <a:p>
            <a:pPr algn="l">
              <a:spcAft>
                <a:spcPts val="400"/>
              </a:spcAft>
            </a:pPr>
            <a:r>
              <a:rPr sz="850" b="0" i="0">
                <a:solidFill>
                  <a:srgbClr val="1E293B"/>
                </a:solidFill>
                <a:latin typeface="Calibri"/>
              </a:rPr>
              <a:t>•  Contract association rules for warranty and lease tracking.</a:t>
            </a:r>
          </a:p>
        </p:txBody>
      </p:sp>
      <p:sp>
        <p:nvSpPr>
          <p:cNvPr id="14" name="Rectangle 13"/>
          <p:cNvSpPr/>
          <p:nvPr/>
        </p:nvSpPr>
        <p:spPr>
          <a:xfrm>
            <a:off x="594360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The Delivery Approach</a:t>
            </a:r>
          </a:p>
        </p:txBody>
      </p:sp>
      <p:sp>
        <p:nvSpPr>
          <p:cNvPr id="16" name="Rectangle 15"/>
          <p:cNvSpPr/>
          <p:nvPr/>
        </p:nvSpPr>
        <p:spPr>
          <a:xfrm>
            <a:off x="594360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Sprint 5 activates HAM, imports asset data, and configures core lifecycle.</a:t>
            </a:r>
          </a:p>
          <a:p>
            <a:pPr algn="l">
              <a:spcAft>
                <a:spcPts val="400"/>
              </a:spcAft>
            </a:pPr>
            <a:r>
              <a:rPr sz="850" b="0" i="0">
                <a:solidFill>
                  <a:srgbClr val="1E293B"/>
                </a:solidFill>
                <a:latin typeface="Calibri"/>
              </a:rPr>
              <a:t>•  Sprint 6 wires procurement, stockroom, and disposal workflows.</a:t>
            </a:r>
          </a:p>
          <a:p>
            <a:pPr algn="l">
              <a:spcAft>
                <a:spcPts val="400"/>
              </a:spcAft>
            </a:pPr>
            <a:r>
              <a:rPr sz="850" b="0" i="0">
                <a:solidFill>
                  <a:srgbClr val="1E293B"/>
                </a:solidFill>
                <a:latin typeface="Calibri"/>
              </a:rPr>
              <a:t>•  All configuration through the HAM workspace -- zero scripting.</a:t>
            </a:r>
          </a:p>
        </p:txBody>
      </p:sp>
      <p:sp>
        <p:nvSpPr>
          <p:cNvPr id="18" name="Rectangle 1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20" name="TextBox 1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21" name="TextBox 2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L I N E</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a customization is — and what it isn’t</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160520" cy="2926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4904"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CONFIGURATION  —  This is always available</a:t>
            </a:r>
          </a:p>
        </p:txBody>
      </p:sp>
      <p:sp>
        <p:nvSpPr>
          <p:cNvPr id="8" name="Rectangle 7"/>
          <p:cNvSpPr/>
          <p:nvPr/>
        </p:nvSpPr>
        <p:spPr>
          <a:xfrm>
            <a:off x="32004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71600"/>
            <a:ext cx="3977639" cy="3200400"/>
          </a:xfrm>
          <a:prstGeom prst="rect">
            <a:avLst/>
          </a:prstGeom>
          <a:noFill/>
        </p:spPr>
        <p:txBody>
          <a:bodyPr wrap="square" lIns="36576" rIns="36576" tIns="18288" bIns="18288">
            <a:spAutoFit/>
          </a:bodyPr>
          <a:lstStyle/>
          <a:p>
            <a:r>
              <a:rPr lang="en-US" dirty="0" sz="850">
                <a:solidFill>
                  <a:srgbClr val="16A34A"/>
                </a:solidFill>
                <a:latin typeface="Calibri"/>
              </a:rPr>
              <a:t>✓  </a:t>
            </a:r>
            <a:r>
              <a:rPr lang="en-US" dirty="0" sz="850">
                <a:solidFill>
                  <a:srgbClr val="1A1A1A"/>
                </a:solidFill>
                <a:latin typeface="Calibri"/>
              </a:rPr>
              <a:t>Asset classes</a:t>
            </a:r>
          </a:p>
          <a:p>
            <a:r>
              <a:rPr lang="en-US" dirty="0" sz="850">
                <a:solidFill>
                  <a:srgbClr val="16A34A"/>
                </a:solidFill>
                <a:latin typeface="Calibri"/>
              </a:rPr>
              <a:t>✓  </a:t>
            </a:r>
            <a:r>
              <a:rPr lang="en-US" dirty="0" sz="850">
                <a:solidFill>
                  <a:srgbClr val="1A1A1A"/>
                </a:solidFill>
                <a:latin typeface="Calibri"/>
              </a:rPr>
              <a:t>lifecycle states</a:t>
            </a:r>
          </a:p>
          <a:p>
            <a:r>
              <a:rPr lang="en-US" dirty="0" sz="850">
                <a:solidFill>
                  <a:srgbClr val="16A34A"/>
                </a:solidFill>
                <a:latin typeface="Calibri"/>
              </a:rPr>
              <a:t>✓  </a:t>
            </a:r>
            <a:r>
              <a:rPr lang="en-US" dirty="0" sz="850">
                <a:solidFill>
                  <a:srgbClr val="1A1A1A"/>
                </a:solidFill>
                <a:latin typeface="Calibri"/>
              </a:rPr>
              <a:t>stockrooms</a:t>
            </a:r>
          </a:p>
          <a:p>
            <a:r>
              <a:rPr lang="en-US" dirty="0" sz="850">
                <a:solidFill>
                  <a:srgbClr val="16A34A"/>
                </a:solidFill>
                <a:latin typeface="Calibri"/>
              </a:rPr>
              <a:t>✓  </a:t>
            </a:r>
            <a:r>
              <a:rPr lang="en-US" dirty="0" sz="850">
                <a:solidFill>
                  <a:srgbClr val="1A1A1A"/>
                </a:solidFill>
                <a:latin typeface="Calibri"/>
              </a:rPr>
              <a:t>disposal vendors</a:t>
            </a:r>
          </a:p>
          <a:p>
            <a:r>
              <a:rPr lang="en-US" dirty="0" sz="850">
                <a:solidFill>
                  <a:srgbClr val="16A34A"/>
                </a:solidFill>
                <a:latin typeface="Calibri"/>
              </a:rPr>
              <a:t>✓  </a:t>
            </a:r>
            <a:r>
              <a:rPr lang="en-US" dirty="0" sz="850">
                <a:solidFill>
                  <a:srgbClr val="1A1A1A"/>
                </a:solidFill>
                <a:latin typeface="Calibri"/>
              </a:rPr>
              <a:t>contract association</a:t>
            </a:r>
          </a:p>
          <a:p>
            <a:r>
              <a:rPr lang="en-US" dirty="0" sz="850">
                <a:solidFill>
                  <a:srgbClr val="16A34A"/>
                </a:solidFill>
                <a:latin typeface="Calibri"/>
              </a:rPr>
              <a:t>✓  </a:t>
            </a:r>
            <a:r>
              <a:rPr lang="en-US" dirty="0" sz="850">
                <a:solidFill>
                  <a:srgbClr val="1A1A1A"/>
                </a:solidFill>
                <a:latin typeface="Calibri"/>
              </a:rPr>
              <a:t>procurement integration</a:t>
            </a:r>
          </a:p>
          <a:p>
            <a:r>
              <a:rPr lang="en-US" dirty="0" sz="850">
                <a:solidFill>
                  <a:srgbClr val="16A34A"/>
                </a:solidFill>
                <a:latin typeface="Calibri"/>
              </a:rPr>
              <a:t>✓  </a:t>
            </a:r>
            <a:r>
              <a:rPr lang="en-US" dirty="0" sz="850">
                <a:solidFill>
                  <a:srgbClr val="1A1A1A"/>
                </a:solidFill>
                <a:latin typeface="Calibri"/>
              </a:rPr>
              <a:t>HAM Pro activation</a:t>
            </a:r>
          </a:p>
        </p:txBody>
      </p:sp>
      <p:sp>
        <p:nvSpPr>
          <p:cNvPr id="10" name="Rectangle 9"/>
          <p:cNvSpPr/>
          <p:nvPr/>
        </p:nvSpPr>
        <p:spPr>
          <a:xfrm>
            <a:off x="4617720" y="1024128"/>
            <a:ext cx="4160520" cy="29260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72583"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CUSTOMIZATION  —  Requires Approval + Business Case</a:t>
            </a:r>
          </a:p>
        </p:txBody>
      </p:sp>
      <p:sp>
        <p:nvSpPr>
          <p:cNvPr id="12" name="Rectangle 11"/>
          <p:cNvSpPr/>
          <p:nvPr/>
        </p:nvSpPr>
        <p:spPr>
          <a:xfrm>
            <a:off x="461772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59" y="1371600"/>
            <a:ext cx="3977639" cy="3200400"/>
          </a:xfrm>
          <a:prstGeom prst="rect">
            <a:avLst/>
          </a:prstGeom>
          <a:noFill/>
        </p:spPr>
        <p:txBody>
          <a:bodyPr wrap="square" lIns="36576" rIns="36576" tIns="18288" bIns="18288">
            <a:spAutoFit/>
          </a:bodyPr>
          <a:lstStyle/>
          <a:p>
            <a:r>
              <a:rPr lang="en-US" dirty="0" sz="850">
                <a:solidFill>
                  <a:srgbClr val="B91C1C"/>
                </a:solidFill>
                <a:latin typeface="Calibri"/>
              </a:rPr>
              <a:t>✗  </a:t>
            </a:r>
            <a:r>
              <a:rPr lang="en-US" dirty="0" sz="850">
                <a:solidFill>
                  <a:srgbClr val="1A1A1A"/>
                </a:solidFill>
                <a:latin typeface="Calibri"/>
              </a:rPr>
              <a:t>Custom asset tables</a:t>
            </a:r>
          </a:p>
          <a:p>
            <a:r>
              <a:rPr lang="en-US" dirty="0" sz="850">
                <a:solidFill>
                  <a:srgbClr val="B91C1C"/>
                </a:solidFill>
                <a:latin typeface="Calibri"/>
              </a:rPr>
              <a:t>✗  </a:t>
            </a:r>
            <a:r>
              <a:rPr lang="en-US" dirty="0" sz="850">
                <a:solidFill>
                  <a:srgbClr val="1A1A1A"/>
                </a:solidFill>
                <a:latin typeface="Calibri"/>
              </a:rPr>
              <a:t>scripted lifecycle transitions</a:t>
            </a:r>
          </a:p>
          <a:p>
            <a:r>
              <a:rPr lang="en-US" dirty="0" sz="850">
                <a:solidFill>
                  <a:srgbClr val="B91C1C"/>
                </a:solidFill>
                <a:latin typeface="Calibri"/>
              </a:rPr>
              <a:t>✗  </a:t>
            </a:r>
            <a:r>
              <a:rPr lang="en-US" dirty="0" sz="850">
                <a:solidFill>
                  <a:srgbClr val="1A1A1A"/>
                </a:solidFill>
                <a:latin typeface="Calibri"/>
              </a:rPr>
              <a:t>custom procurement connectors outside OOTB PO integration</a:t>
            </a:r>
          </a:p>
        </p:txBody>
      </p:sp>
      <p:sp>
        <p:nvSpPr>
          <p:cNvPr id="14" name="Rectangle 13"/>
          <p:cNvSpPr/>
          <p:nvPr/>
        </p:nvSpPr>
        <p:spPr>
          <a:xfrm>
            <a:off x="320040" y="4645152"/>
            <a:ext cx="8503920" cy="1645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654296"/>
            <a:ext cx="8229600" cy="146304"/>
          </a:xfrm>
          <a:prstGeom prst="rect">
            <a:avLst/>
          </a:prstGeom>
          <a:noFill/>
        </p:spPr>
        <p:txBody>
          <a:bodyPr wrap="square" lIns="36576" rIns="36576" tIns="18288" bIns="18288">
            <a:spAutoFit/>
          </a:bodyPr>
          <a:lstStyle/>
          <a:p>
            <a:pPr algn="l"/>
            <a:r>
              <a:rPr sz="800" b="1" i="0">
                <a:solidFill>
                  <a:srgbClr val="0B1F3A"/>
                </a:solidFill>
                <a:latin typeface="Calibri"/>
              </a:rPr>
              <a:t>The customization bar:  </a:t>
            </a:r>
            <a:r>
              <a:rPr sz="800" b="0" i="0">
                <a:solidFill>
                  <a:srgbClr val="1E293B"/>
                </a:solidFill>
                <a:latin typeface="Calibri"/>
              </a:rPr>
              <a:t>OOTB HAM lifecycle covers 90% of federal hardware asset management needs. HAM Pro normalization eliminates the need for manual model cataloging. Scripting asset transitions creates upgrade risk with every ServiceNow release.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P R O C E S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HAM Lifecycle: Procurement to Disposal</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PURCHASE ORDER CREATED</a:t>
            </a:r>
          </a:p>
        </p:txBody>
      </p:sp>
      <p:sp>
        <p:nvSpPr>
          <p:cNvPr id="8" name="Rectangle 7"/>
          <p:cNvSpPr/>
          <p:nvPr/>
        </p:nvSpPr>
        <p:spPr>
          <a:xfrm>
            <a:off x="2020824"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66543"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RECEIVING</a:t>
            </a:r>
          </a:p>
        </p:txBody>
      </p:sp>
      <p:sp>
        <p:nvSpPr>
          <p:cNvPr id="10" name="Rectangle 9"/>
          <p:cNvSpPr/>
          <p:nvPr/>
        </p:nvSpPr>
        <p:spPr>
          <a:xfrm>
            <a:off x="3721608"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67328"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DEPLOYMENT</a:t>
            </a:r>
          </a:p>
        </p:txBody>
      </p:sp>
      <p:sp>
        <p:nvSpPr>
          <p:cNvPr id="12" name="Rectangle 11"/>
          <p:cNvSpPr/>
          <p:nvPr/>
        </p:nvSpPr>
        <p:spPr>
          <a:xfrm>
            <a:off x="5422392"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68112"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MAINTENANCE / TRANSFER</a:t>
            </a:r>
          </a:p>
        </p:txBody>
      </p:sp>
      <p:sp>
        <p:nvSpPr>
          <p:cNvPr id="14" name="Rectangle 13"/>
          <p:cNvSpPr/>
          <p:nvPr/>
        </p:nvSpPr>
        <p:spPr>
          <a:xfrm>
            <a:off x="7123176"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68896"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END OF LIFE / DISPOSAL</a:t>
            </a:r>
          </a:p>
        </p:txBody>
      </p:sp>
      <p:sp>
        <p:nvSpPr>
          <p:cNvPr id="16" name="TextBox 15"/>
          <p:cNvSpPr txBox="1"/>
          <p:nvPr/>
        </p:nvSpPr>
        <p:spPr>
          <a:xfrm>
            <a:off x="4297680" y="1444752"/>
            <a:ext cx="457200" cy="201168"/>
          </a:xfrm>
          <a:prstGeom prst="rect">
            <a:avLst/>
          </a:prstGeom>
          <a:noFill/>
        </p:spPr>
        <p:txBody>
          <a:bodyPr wrap="square" lIns="36576" rIns="36576" tIns="18288" bIns="18288">
            <a:spAutoFit/>
          </a:bodyPr>
          <a:lstStyle/>
          <a:p>
            <a:pPr algn="ctr"/>
            <a:r>
              <a:rPr sz="1400" b="1" i="0">
                <a:solidFill>
                  <a:srgbClr val="14B8A6"/>
                </a:solidFill>
                <a:latin typeface="Calibri"/>
              </a:rPr>
              <a:t>↓</a:t>
            </a:r>
          </a:p>
        </p:txBody>
      </p:sp>
      <p:sp>
        <p:nvSpPr>
          <p:cNvPr id="17" name="Rectangle 16"/>
          <p:cNvSpPr/>
          <p:nvPr/>
        </p:nvSpPr>
        <p:spPr>
          <a:xfrm>
            <a:off x="320040" y="1664208"/>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4048" y="1719072"/>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Purchase Order Created: Procurement raises PO in ServiceNow (or integrated ERP). Asset record auto-created in Pre-Production state.</a:t>
            </a:r>
          </a:p>
        </p:txBody>
      </p:sp>
      <p:sp>
        <p:nvSpPr>
          <p:cNvPr id="19" name="TextBox 18"/>
          <p:cNvSpPr txBox="1"/>
          <p:nvPr/>
        </p:nvSpPr>
        <p:spPr>
          <a:xfrm>
            <a:off x="4297680" y="2002536"/>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0" name="Rectangle 19"/>
          <p:cNvSpPr/>
          <p:nvPr/>
        </p:nvSpPr>
        <p:spPr>
          <a:xfrm>
            <a:off x="320040" y="2185416"/>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4048" y="2240280"/>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Receiving: Asset received at stockroom. Serial number, model, and location recorded. State moves to In Stock.</a:t>
            </a:r>
          </a:p>
        </p:txBody>
      </p:sp>
      <p:sp>
        <p:nvSpPr>
          <p:cNvPr id="22" name="TextBox 21"/>
          <p:cNvSpPr txBox="1"/>
          <p:nvPr/>
        </p:nvSpPr>
        <p:spPr>
          <a:xfrm>
            <a:off x="4297680" y="2523744"/>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3" name="Rectangle 22"/>
          <p:cNvSpPr/>
          <p:nvPr/>
        </p:nvSpPr>
        <p:spPr>
          <a:xfrm>
            <a:off x="320040" y="2706624"/>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 y="2761488"/>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Deployment: Asset assigned to user or CI. State moves to In Use. Discovery validates CI record alignment.</a:t>
            </a:r>
          </a:p>
        </p:txBody>
      </p:sp>
      <p:sp>
        <p:nvSpPr>
          <p:cNvPr id="25" name="TextBox 24"/>
          <p:cNvSpPr txBox="1"/>
          <p:nvPr/>
        </p:nvSpPr>
        <p:spPr>
          <a:xfrm>
            <a:off x="4297680" y="3044952"/>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6" name="Rectangle 25"/>
          <p:cNvSpPr/>
          <p:nvPr/>
        </p:nvSpPr>
        <p:spPr>
          <a:xfrm>
            <a:off x="320040" y="3227832"/>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4048" y="3282696"/>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Maintenance / Transfer: Asset tracked through moves, transfers, and maintenance events. Full audit trail OOTB.</a:t>
            </a:r>
          </a:p>
        </p:txBody>
      </p:sp>
      <p:sp>
        <p:nvSpPr>
          <p:cNvPr id="28" name="TextBox 27"/>
          <p:cNvSpPr txBox="1"/>
          <p:nvPr/>
        </p:nvSpPr>
        <p:spPr>
          <a:xfrm>
            <a:off x="4297680" y="3566160"/>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9" name="Rectangle 28"/>
          <p:cNvSpPr/>
          <p:nvPr/>
        </p:nvSpPr>
        <p:spPr>
          <a:xfrm>
            <a:off x="320040" y="3749039"/>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4048" y="3803903"/>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End of Life / Disposal: Asset flagged for disposal. Approval workflow routes to asset manager. Disposal vendor notified. State moves to Retired.</a:t>
            </a:r>
          </a:p>
        </p:txBody>
      </p:sp>
      <p:sp>
        <p:nvSpPr>
          <p:cNvPr id="31" name="TextBox 30"/>
          <p:cNvSpPr txBox="1"/>
          <p:nvPr/>
        </p:nvSpPr>
        <p:spPr>
          <a:xfrm>
            <a:off x="4297680" y="4087368"/>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32" name="TextBox 31"/>
          <p:cNvSpPr txBox="1"/>
          <p:nvPr/>
        </p:nvSpPr>
        <p:spPr>
          <a:xfrm>
            <a:off x="320040" y="4315968"/>
            <a:ext cx="8503920" cy="457200"/>
          </a:xfrm>
          <a:prstGeom prst="rect">
            <a:avLst/>
          </a:prstGeom>
          <a:noFill/>
        </p:spPr>
        <p:txBody>
          <a:bodyPr wrap="square" lIns="36576" rIns="36576" tIns="18288" bIns="18288">
            <a:spAutoFit/>
          </a:bodyPr>
          <a:lstStyle/>
          <a:p>
            <a:pPr algn="l"/>
            <a:r>
              <a:rPr sz="850" b="1" i="0">
                <a:solidFill>
                  <a:srgbClr val="0D9488"/>
                </a:solidFill>
                <a:latin typeface="Calibri"/>
              </a:rPr>
              <a:t>AI Features Active at Go-Live:  </a:t>
            </a:r>
            <a:r>
              <a:rPr sz="850" b="0" i="0">
                <a:solidFill>
                  <a:srgbClr val="1E293B"/>
                </a:solidFill>
                <a:latin typeface="Calibri"/>
              </a:rPr>
              <a:t>Predictive Intelligence can flag anomalous asset lifecycle patterns (e.g., assets skipping receiving, unusually fast disposal). Now Assist can summarize asset history for audit responses.</a:t>
            </a:r>
          </a:p>
        </p:txBody>
      </p:sp>
      <p:sp>
        <p:nvSpPr>
          <p:cNvPr id="33" name="Rectangle 32"/>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5" name="TextBox 34"/>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36" name="TextBox 35"/>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1</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hardware asset classes will you track in HAM?</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Asset Classes:</a:t>
            </a:r>
          </a:p>
          <a:p>
            <a:pPr algn="l">
              <a:spcAft>
                <a:spcPts val="200"/>
              </a:spcAft>
            </a:pPr>
            <a:r>
              <a:rPr sz="850" b="0" i="0">
                <a:solidFill>
                  <a:srgbClr val="1E293B"/>
                </a:solidFill>
                <a:latin typeface="Calibri"/>
              </a:rPr>
              <a:t>Laptop, Desktop, Server, Monitor, Printer, Mobile Device, Network Equipment, Peripheral. All mapped to CI classes in CMDB. HAM workspace allows class-level configuration of lifecycle states, fields, and disposal rules.</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Which asset classes are in scope for this engagement?</a:t>
            </a:r>
          </a:p>
          <a:p>
            <a:pPr algn="l">
              <a:spcAft>
                <a:spcPts val="300"/>
              </a:spcAft>
            </a:pPr>
            <a:r>
              <a:rPr sz="850" b="0" i="0">
                <a:solidFill>
                  <a:srgbClr val="1E293B"/>
                </a:solidFill>
                <a:latin typeface="Calibri"/>
              </a:rPr>
              <a:t>2.  Do any classes require unique lifecycle states not covered by OOTB?</a:t>
            </a:r>
          </a:p>
          <a:p>
            <a:pPr algn="l">
              <a:spcAft>
                <a:spcPts val="300"/>
              </a:spcAft>
            </a:pPr>
            <a:r>
              <a:rPr sz="850" b="0" i="0">
                <a:solidFill>
                  <a:srgbClr val="1E293B"/>
                </a:solidFill>
                <a:latin typeface="Calibri"/>
              </a:rPr>
              <a:t>3.  Are mobile devices tracked in HAM or a separate MDM system (Intune/SCCM)?</a:t>
            </a:r>
          </a:p>
          <a:p>
            <a:pPr algn="l">
              <a:spcAft>
                <a:spcPts val="300"/>
              </a:spcAft>
            </a:pPr>
            <a:r>
              <a:rPr sz="850" b="0" i="0">
                <a:solidFill>
                  <a:srgbClr val="1E293B"/>
                </a:solidFill>
                <a:latin typeface="Calibri"/>
              </a:rPr>
              <a:t>4.  Are servers tracked in HAM, CMDB, or both?</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Defining asset classes up front drives stockroom setup, Discovery mapping, and contract association rules. Scope creep mid-sprint when new classes are added is the #1 cause of HAM delays.</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2</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are your lifecycle states -- and who approves transitions?</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Lifecycle States:</a:t>
            </a:r>
          </a:p>
          <a:p>
            <a:pPr algn="l">
              <a:spcAft>
                <a:spcPts val="200"/>
              </a:spcAft>
            </a:pPr>
            <a:r>
              <a:rPr sz="850" b="0" i="0">
                <a:solidFill>
                  <a:srgbClr val="1E293B"/>
                </a:solidFill>
                <a:latin typeface="Calibri"/>
              </a:rPr>
              <a:t>Pre-Production, In Stock, In Use, In Maintenance, Retired. Each state transition can have an approval step (configurable, no scripting). Disposal requires an approval workflow -- OOTB approval engine, no custom code.</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Are the OOTB lifecycle states sufficient or do you need agency-specific states?</a:t>
            </a:r>
          </a:p>
          <a:p>
            <a:pPr algn="l">
              <a:spcAft>
                <a:spcPts val="300"/>
              </a:spcAft>
            </a:pPr>
            <a:r>
              <a:rPr sz="850" b="0" i="0">
                <a:solidFill>
                  <a:srgbClr val="1E293B"/>
                </a:solidFill>
                <a:latin typeface="Calibri"/>
              </a:rPr>
              <a:t>2.  Who approves disposal (asset manager, ISSO, supervisor)?</a:t>
            </a:r>
          </a:p>
          <a:p>
            <a:pPr algn="l">
              <a:spcAft>
                <a:spcPts val="300"/>
              </a:spcAft>
            </a:pPr>
            <a:r>
              <a:rPr sz="850" b="0" i="0">
                <a:solidFill>
                  <a:srgbClr val="1E293B"/>
                </a:solidFill>
                <a:latin typeface="Calibri"/>
              </a:rPr>
              <a:t>3.  Is there a "Lost/Stolen" state needed for federal accountability?</a:t>
            </a:r>
          </a:p>
          <a:p>
            <a:pPr algn="l">
              <a:spcAft>
                <a:spcPts val="300"/>
              </a:spcAft>
            </a:pPr>
            <a:r>
              <a:rPr sz="850" b="0" i="0">
                <a:solidFill>
                  <a:srgbClr val="1E293B"/>
                </a:solidFill>
                <a:latin typeface="Calibri"/>
              </a:rPr>
              <a:t>4.  Who can move an asset from In Stock to In Use (self-service vs. IT-only)?</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Custom lifecycle states created mid-project require re-mapping all existing assets. Agree on states in this room and freeze them before data import.</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3</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will hardware assets enter ServiceNow -- import, Discovery, or manual?</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Data Entry Options:</a:t>
            </a:r>
          </a:p>
          <a:p>
            <a:pPr algn="l">
              <a:spcAft>
                <a:spcPts val="200"/>
              </a:spcAft>
            </a:pPr>
            <a:r>
              <a:rPr sz="850" b="0" i="0">
                <a:solidFill>
                  <a:srgbClr val="1E293B"/>
                </a:solidFill>
                <a:latin typeface="Calibri"/>
              </a:rPr>
              <a:t>1) Import Set from existing CMDB/spreadsheet (OOTB transform maps). 2) Discovery auto-creates CI records that can be promoted to assets. 3) HAM workspace manual entry for low-volume. Integration with procurement (PO creation triggers asset record) is OOTB via PO module.</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Do you have an existing asset inventory to import (spreadsheet, SCCM export, CMDB extract)?</a:t>
            </a:r>
          </a:p>
          <a:p>
            <a:pPr algn="l">
              <a:spcAft>
                <a:spcPts val="300"/>
              </a:spcAft>
            </a:pPr>
            <a:r>
              <a:rPr sz="850" b="0" i="0">
                <a:solidFill>
                  <a:srgbClr val="1E293B"/>
                </a:solidFill>
                <a:latin typeface="Calibri"/>
              </a:rPr>
              <a:t>2.  Will Discovery be the system of record for CI data aligned to assets?</a:t>
            </a:r>
          </a:p>
          <a:p>
            <a:pPr algn="l">
              <a:spcAft>
                <a:spcPts val="300"/>
              </a:spcAft>
            </a:pPr>
            <a:r>
              <a:rPr sz="850" b="0" i="0">
                <a:solidFill>
                  <a:srgbClr val="1E293B"/>
                </a:solidFill>
                <a:latin typeface="Calibri"/>
              </a:rPr>
              <a:t>3.  Is procurement in ServiceNow (PO module) or an external system (ERP, GSA system)?</a:t>
            </a:r>
          </a:p>
          <a:p>
            <a:pPr algn="l">
              <a:spcAft>
                <a:spcPts val="300"/>
              </a:spcAft>
            </a:pPr>
            <a:r>
              <a:rPr sz="850" b="0" i="0">
                <a:solidFill>
                  <a:srgbClr val="1E293B"/>
                </a:solidFill>
                <a:latin typeface="Calibri"/>
              </a:rPr>
              <a:t>4.  Who owns the initial data import and cleansing effort?</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Data quality at import determines HAM value for 2 years. Importing dirty data (missing serials, wrong models, duplicate records) costs more to fix than doing it right the first time.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4</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Where are your stockroom locations and who manages them?</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Stockroom Model:</a:t>
            </a:r>
          </a:p>
          <a:p>
            <a:pPr algn="l">
              <a:spcAft>
                <a:spcPts val="200"/>
              </a:spcAft>
            </a:pPr>
            <a:r>
              <a:rPr sz="850" b="0" i="0">
                <a:solidFill>
                  <a:srgbClr val="1E293B"/>
                </a:solidFill>
                <a:latin typeface="Calibri"/>
              </a:rPr>
              <a:t>Stockrooms are named locations in ServiceNow. Each asset in In Stock state is assigned to a stockroom. Stockroom managers can be assigned per location. Transfer between stockrooms tracked with full audit trail. No custom tables needed.</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How many physical stockroom/storage locations are in scope?</a:t>
            </a:r>
          </a:p>
          <a:p>
            <a:pPr algn="l">
              <a:spcAft>
                <a:spcPts val="300"/>
              </a:spcAft>
            </a:pPr>
            <a:r>
              <a:rPr sz="850" b="0" i="0">
                <a:solidFill>
                  <a:srgbClr val="1E293B"/>
                </a:solidFill>
                <a:latin typeface="Calibri"/>
              </a:rPr>
              <a:t>2.  Are stockrooms regional (one per site) or centralized?</a:t>
            </a:r>
          </a:p>
          <a:p>
            <a:pPr algn="l">
              <a:spcAft>
                <a:spcPts val="300"/>
              </a:spcAft>
            </a:pPr>
            <a:r>
              <a:rPr sz="850" b="0" i="0">
                <a:solidFill>
                  <a:srgbClr val="1E293B"/>
                </a:solidFill>
                <a:latin typeface="Calibri"/>
              </a:rPr>
              <a:t>3.  Who is the stockroom manager per location (asset team, facilities, IT)?</a:t>
            </a:r>
          </a:p>
          <a:p>
            <a:pPr algn="l">
              <a:spcAft>
                <a:spcPts val="300"/>
              </a:spcAft>
            </a:pPr>
            <a:r>
              <a:rPr sz="850" b="0" i="0">
                <a:solidFill>
                  <a:srgbClr val="1E293B"/>
                </a:solidFill>
                <a:latin typeface="Calibri"/>
              </a:rPr>
              <a:t>4.  Is inter-site transfer tracked in ServiceNow or handled outside?</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Stockrooms defined after data import require a full re-assignment of all In Stock assets. Define stockroom list now -- even a draft list is better than none.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5</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do hardware contracts (warranty, lease) associate to assets?</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Contract Association:</a:t>
            </a:r>
          </a:p>
          <a:p>
            <a:pPr algn="l">
              <a:spcAft>
                <a:spcPts val="200"/>
              </a:spcAft>
            </a:pPr>
            <a:r>
              <a:rPr sz="850" b="0" i="0">
                <a:solidFill>
                  <a:srgbClr val="1E293B"/>
                </a:solidFill>
                <a:latin typeface="Calibri"/>
              </a:rPr>
              <a:t>HAM links assets to contracts via the Contract Management module. Warranty expiry date field on asset record. Lease contracts track end date and renewal workflow. Contract workspace shows assets per contract. No scripting required.</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Are hardware warranties tracked in ServiceNow or an external system?</a:t>
            </a:r>
          </a:p>
          <a:p>
            <a:pPr algn="l">
              <a:spcAft>
                <a:spcPts val="300"/>
              </a:spcAft>
            </a:pPr>
            <a:r>
              <a:rPr sz="850" b="0" i="0">
                <a:solidFill>
                  <a:srgbClr val="1E293B"/>
                </a:solidFill>
                <a:latin typeface="Calibri"/>
              </a:rPr>
              <a:t>2.  Are any assets under lease (vs. owned)? If so, is lease tracking in scope?</a:t>
            </a:r>
          </a:p>
          <a:p>
            <a:pPr algn="l">
              <a:spcAft>
                <a:spcPts val="300"/>
              </a:spcAft>
            </a:pPr>
            <a:r>
              <a:rPr sz="850" b="0" i="0">
                <a:solidFill>
                  <a:srgbClr val="1E293B"/>
                </a:solidFill>
                <a:latin typeface="Calibri"/>
              </a:rPr>
              <a:t>3.  Who is responsible for contract renewal workflows?</a:t>
            </a:r>
          </a:p>
          <a:p>
            <a:pPr algn="l">
              <a:spcAft>
                <a:spcPts val="300"/>
              </a:spcAft>
            </a:pPr>
            <a:r>
              <a:rPr sz="850" b="0" i="0">
                <a:solidFill>
                  <a:srgbClr val="1E293B"/>
                </a:solidFill>
                <a:latin typeface="Calibri"/>
              </a:rPr>
              <a:t>4.  Should warranty expiry trigger an alert to the asset owner?</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Contract data is often in spreadsheets or vendor portals. Migrating contract data is a separate workstream from asset data -- plan for it in Sprint 5 data prep or it slips to post-go-live.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6</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is your hardware disposal process -- and who approves it?</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Disposal Workflow:</a:t>
            </a:r>
          </a:p>
          <a:p>
            <a:pPr algn="l">
              <a:spcAft>
                <a:spcPts val="200"/>
              </a:spcAft>
            </a:pPr>
            <a:r>
              <a:rPr sz="850" b="0" i="0">
                <a:solidFill>
                  <a:srgbClr val="1E293B"/>
                </a:solidFill>
                <a:latin typeface="Calibri"/>
              </a:rPr>
              <a:t>Asset disposal: state set to Pending Disposal, approval workflow routes to asset manager. Disposal vendor field on asset record. Disposal date and method recorded. Certificate of destruction can be attached to asset record. State moves to Retired on completion.</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there a federal data sanitization requirement (NIST 800-88) that must be documented in ServiceNow?</a:t>
            </a:r>
          </a:p>
          <a:p>
            <a:pPr algn="l">
              <a:spcAft>
                <a:spcPts val="300"/>
              </a:spcAft>
            </a:pPr>
            <a:r>
              <a:rPr sz="850" b="0" i="0">
                <a:solidFill>
                  <a:srgbClr val="1E293B"/>
                </a:solidFill>
                <a:latin typeface="Calibri"/>
              </a:rPr>
              <a:t>2.  Who approves disposal (IT, ISSO, supervisor)?</a:t>
            </a:r>
          </a:p>
          <a:p>
            <a:pPr algn="l">
              <a:spcAft>
                <a:spcPts val="300"/>
              </a:spcAft>
            </a:pPr>
            <a:r>
              <a:rPr sz="850" b="0" i="0">
                <a:solidFill>
                  <a:srgbClr val="1E293B"/>
                </a:solidFill>
                <a:latin typeface="Calibri"/>
              </a:rPr>
              <a:t>3.  Is there a disposal vendor integration needed or is manual recording sufficient?</a:t>
            </a:r>
          </a:p>
          <a:p>
            <a:pPr algn="l">
              <a:spcAft>
                <a:spcPts val="300"/>
              </a:spcAft>
            </a:pPr>
            <a:r>
              <a:rPr sz="850" b="0" i="0">
                <a:solidFill>
                  <a:srgbClr val="1E293B"/>
                </a:solidFill>
                <a:latin typeface="Calibri"/>
              </a:rPr>
              <a:t>4.  Are end-of-life assets donated, destroyed, or returned to manufacturer?</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Federal agencies must document hardware disposal for audit. OOTB disposal workflow + certificate attachment satisfies most federal audit requirements without any scripting.</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7</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Will you activate HAM Pro -- and what does that unlock?</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HAM Pro Capabilities:</a:t>
            </a:r>
          </a:p>
          <a:p>
            <a:pPr algn="l">
              <a:spcAft>
                <a:spcPts val="200"/>
              </a:spcAft>
            </a:pPr>
            <a:r>
              <a:rPr sz="850" b="0" i="0">
                <a:solidFill>
                  <a:srgbClr val="1E293B"/>
                </a:solidFill>
                <a:latin typeface="Calibri"/>
              </a:rPr>
              <a:t>HAM Pro (licensed) adds: Hardware Model Catalog (normalized model data from Computacenter), automated asset normalization, EOL/EOS date tracking from vendor data, enhanced workspace dashboards, and model-level spend analytics.</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HAM Pro included in your current ServiceNow contract?</a:t>
            </a:r>
          </a:p>
          <a:p>
            <a:pPr algn="l">
              <a:spcAft>
                <a:spcPts val="300"/>
              </a:spcAft>
            </a:pPr>
            <a:r>
              <a:rPr sz="850" b="0" i="0">
                <a:solidFill>
                  <a:srgbClr val="1E293B"/>
                </a:solidFill>
                <a:latin typeface="Calibri"/>
              </a:rPr>
              <a:t>2.  Is manual model cataloging a pain point that HAM Pro normalization would solve?</a:t>
            </a:r>
          </a:p>
          <a:p>
            <a:pPr algn="l">
              <a:spcAft>
                <a:spcPts val="300"/>
              </a:spcAft>
            </a:pPr>
            <a:r>
              <a:rPr sz="850" b="0" i="0">
                <a:solidFill>
                  <a:srgbClr val="1E293B"/>
                </a:solidFill>
                <a:latin typeface="Calibri"/>
              </a:rPr>
              <a:t>3.  Is EOL/EOS tracking a requirement for your asset lifecycle program?</a:t>
            </a:r>
          </a:p>
          <a:p>
            <a:pPr algn="l">
              <a:spcAft>
                <a:spcPts val="300"/>
              </a:spcAft>
            </a:pPr>
            <a:r>
              <a:rPr sz="850" b="0" i="0">
                <a:solidFill>
                  <a:srgbClr val="1E293B"/>
                </a:solidFill>
                <a:latin typeface="Calibri"/>
              </a:rPr>
              <a:t>4.  If HAM Pro is not in scope now, is it on the roadmap?</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HAM Pro is the difference between a basic asset register and a true lifecycle management program. If it is in your license, activating it in Sprint 5 costs nothing and saves significant manual cataloging effort.</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8</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does HAM integrate with Discovery and CMDB?</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HAM-CMDB-Discovery Integration:</a:t>
            </a:r>
          </a:p>
          <a:p>
            <a:pPr algn="l">
              <a:spcAft>
                <a:spcPts val="200"/>
              </a:spcAft>
            </a:pPr>
            <a:r>
              <a:rPr sz="850" b="0" i="0">
                <a:solidFill>
                  <a:srgbClr val="1E293B"/>
                </a:solidFill>
                <a:latin typeface="Calibri"/>
              </a:rPr>
              <a:t>Discovery auto-populates CI records. HAM links asset records to CI records (one-to-one). Reconciliation workspace in HAM Pro flags assets without CI matches and CIs without asset records. No scripting -- OOTB reconciliation rules.</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Will Discovery be running before HAM go-live (CI data available for asset linking)?</a:t>
            </a:r>
          </a:p>
          <a:p>
            <a:pPr algn="l">
              <a:spcAft>
                <a:spcPts val="300"/>
              </a:spcAft>
            </a:pPr>
            <a:r>
              <a:rPr sz="850" b="0" i="0">
                <a:solidFill>
                  <a:srgbClr val="1E293B"/>
                </a:solidFill>
                <a:latin typeface="Calibri"/>
              </a:rPr>
              <a:t>2.  Is CMDB the source of truth for CI data, or does HAM maintain a separate model?</a:t>
            </a:r>
          </a:p>
          <a:p>
            <a:pPr algn="l">
              <a:spcAft>
                <a:spcPts val="300"/>
              </a:spcAft>
            </a:pPr>
            <a:r>
              <a:rPr sz="850" b="0" i="0">
                <a:solidFill>
                  <a:srgbClr val="1E293B"/>
                </a:solidFill>
                <a:latin typeface="Calibri"/>
              </a:rPr>
              <a:t>3.  How will you handle assets not yet discoverable (new hardware, isolated networks)?</a:t>
            </a:r>
          </a:p>
          <a:p>
            <a:pPr algn="l">
              <a:spcAft>
                <a:spcPts val="300"/>
              </a:spcAft>
            </a:pPr>
            <a:r>
              <a:rPr sz="850" b="0" i="0">
                <a:solidFill>
                  <a:srgbClr val="1E293B"/>
                </a:solidFill>
                <a:latin typeface="Calibri"/>
              </a:rPr>
              <a:t>4.  Who resolves asset-CI mismatches -- HAM team or CMDB team?</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HAM without Discovery produces an asset register. HAM with Discovery produces a configuration-verified asset register. The difference matters for audit and security posture.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572768"/>
            <a:ext cx="64008" cy="1645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572768"/>
            <a:ext cx="6858000" cy="804672"/>
          </a:xfrm>
          <a:prstGeom prst="rect">
            <a:avLst/>
          </a:prstGeom>
          <a:noFill/>
        </p:spPr>
        <p:txBody>
          <a:bodyPr wrap="square" lIns="36576" rIns="36576" tIns="18288" bIns="18288">
            <a:spAutoFit/>
          </a:bodyPr>
          <a:lstStyle/>
          <a:p>
            <a:pPr algn="l"/>
            <a:r>
              <a:rPr sz="4400" b="1" i="0">
                <a:solidFill>
                  <a:srgbClr val="FFFFFF"/>
                </a:solidFill>
                <a:latin typeface="Calibri"/>
              </a:rPr>
              <a:t>Decision Log</a:t>
            </a:r>
          </a:p>
        </p:txBody>
      </p:sp>
      <p:sp>
        <p:nvSpPr>
          <p:cNvPr id="4" name="TextBox 3"/>
          <p:cNvSpPr txBox="1"/>
          <p:nvPr/>
        </p:nvSpPr>
        <p:spPr>
          <a:xfrm>
            <a:off x="475488" y="2377440"/>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Every decision on the next page is an action.</a:t>
            </a:r>
          </a:p>
        </p:txBody>
      </p:sp>
      <p:sp>
        <p:nvSpPr>
          <p:cNvPr id="5" name="TextBox 4"/>
          <p:cNvSpPr txBox="1"/>
          <p:nvPr/>
        </p:nvSpPr>
        <p:spPr>
          <a:xfrm>
            <a:off x="475488" y="2706624"/>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Decisions left blank leave this room with a named owner and a date.</a:t>
            </a:r>
          </a:p>
        </p:txBody>
      </p:sp>
      <p:sp>
        <p:nvSpPr>
          <p:cNvPr id="6" name="TextBox 5"/>
          <p:cNvSpPr txBox="1"/>
          <p:nvPr/>
        </p:nvSpPr>
        <p:spPr>
          <a:xfrm>
            <a:off x="475488" y="3200400"/>
            <a:ext cx="7315200" cy="347472"/>
          </a:xfrm>
          <a:prstGeom prst="rect">
            <a:avLst/>
          </a:prstGeom>
          <a:noFill/>
        </p:spPr>
        <p:txBody>
          <a:bodyPr wrap="square" lIns="36576" rIns="36576" tIns="18288" bIns="18288">
            <a:spAutoFit/>
          </a:bodyPr>
          <a:lstStyle/>
          <a:p>
            <a:pPr algn="l"/>
            <a:r>
              <a:rPr sz="1200" b="0" i="1">
                <a:solidFill>
                  <a:srgbClr val="FFFFFF"/>
                </a:solidFill>
                <a:latin typeface="Calibri"/>
              </a:rPr>
              <a:t>Before we close: no decision is unresolved — it is either made, or owned.</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D E C I S I O N  L O G</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000" b="1" i="0">
                <a:solidFill>
                  <a:srgbClr val="0B1F3A"/>
                </a:solidFill>
                <a:latin typeface="Calibri"/>
              </a:rPr>
              <a:t>Hardware Asset Management — Decisions Made in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42415"/>
            <a:ext cx="292608"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78992"/>
            <a:ext cx="201168" cy="201168"/>
          </a:xfrm>
          <a:prstGeom prst="rect">
            <a:avLst/>
          </a:prstGeom>
          <a:noFill/>
        </p:spPr>
        <p:txBody>
          <a:bodyPr wrap="square" lIns="36576" rIns="36576" tIns="18288" bIns="18288">
            <a:spAutoFit/>
          </a:bodyPr>
          <a:lstStyle/>
          <a:p>
            <a:pPr algn="l"/>
            <a:r>
              <a:rPr sz="850" b="1" i="0">
                <a:solidFill>
                  <a:srgbClr val="FFFFFF"/>
                </a:solidFill>
                <a:latin typeface="Calibri"/>
              </a:rPr>
              <a:t>#</a:t>
            </a:r>
          </a:p>
        </p:txBody>
      </p:sp>
      <p:sp>
        <p:nvSpPr>
          <p:cNvPr id="8" name="Rectangle 7"/>
          <p:cNvSpPr/>
          <p:nvPr/>
        </p:nvSpPr>
        <p:spPr>
          <a:xfrm>
            <a:off x="612647" y="1042415"/>
            <a:ext cx="17373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078992"/>
            <a:ext cx="1645919" cy="201168"/>
          </a:xfrm>
          <a:prstGeom prst="rect">
            <a:avLst/>
          </a:prstGeom>
          <a:noFill/>
        </p:spPr>
        <p:txBody>
          <a:bodyPr wrap="square" lIns="36576" rIns="36576" tIns="18288" bIns="18288">
            <a:spAutoFit/>
          </a:bodyPr>
          <a:lstStyle/>
          <a:p>
            <a:pPr algn="l"/>
            <a:r>
              <a:rPr sz="850" b="1" i="0">
                <a:solidFill>
                  <a:srgbClr val="FFFFFF"/>
                </a:solidFill>
                <a:latin typeface="Calibri"/>
              </a:rPr>
              <a:t>Decision Topic</a:t>
            </a:r>
          </a:p>
        </p:txBody>
      </p:sp>
      <p:sp>
        <p:nvSpPr>
          <p:cNvPr id="10" name="Rectangle 9"/>
          <p:cNvSpPr/>
          <p:nvPr/>
        </p:nvSpPr>
        <p:spPr>
          <a:xfrm>
            <a:off x="2350008" y="1042415"/>
            <a:ext cx="393192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5727" y="1078992"/>
            <a:ext cx="3840480" cy="201168"/>
          </a:xfrm>
          <a:prstGeom prst="rect">
            <a:avLst/>
          </a:prstGeom>
          <a:noFill/>
        </p:spPr>
        <p:txBody>
          <a:bodyPr wrap="square" lIns="36576" rIns="36576" tIns="18288" bIns="18288">
            <a:spAutoFit/>
          </a:bodyPr>
          <a:lstStyle/>
          <a:p>
            <a:pPr algn="l"/>
            <a:r>
              <a:rPr sz="850" b="1" i="0">
                <a:solidFill>
                  <a:srgbClr val="FFFFFF"/>
                </a:solidFill>
                <a:latin typeface="Calibri"/>
              </a:rPr>
              <a:t>Scope</a:t>
            </a:r>
          </a:p>
        </p:txBody>
      </p:sp>
      <p:sp>
        <p:nvSpPr>
          <p:cNvPr id="12" name="Rectangle 11"/>
          <p:cNvSpPr/>
          <p:nvPr/>
        </p:nvSpPr>
        <p:spPr>
          <a:xfrm>
            <a:off x="6281927" y="1042415"/>
            <a:ext cx="15087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7" y="1078992"/>
            <a:ext cx="1417319" cy="201168"/>
          </a:xfrm>
          <a:prstGeom prst="rect">
            <a:avLst/>
          </a:prstGeom>
          <a:noFill/>
        </p:spPr>
        <p:txBody>
          <a:bodyPr wrap="square" lIns="36576" rIns="36576" tIns="18288" bIns="18288">
            <a:spAutoFit/>
          </a:bodyPr>
          <a:lstStyle/>
          <a:p>
            <a:pPr algn="l"/>
            <a:r>
              <a:rPr sz="850" b="1" i="0">
                <a:solidFill>
                  <a:srgbClr val="FFFFFF"/>
                </a:solidFill>
                <a:latin typeface="Calibri"/>
              </a:rPr>
              <a:t>Decision Made</a:t>
            </a:r>
          </a:p>
        </p:txBody>
      </p:sp>
      <p:sp>
        <p:nvSpPr>
          <p:cNvPr id="14" name="Rectangle 13"/>
          <p:cNvSpPr/>
          <p:nvPr/>
        </p:nvSpPr>
        <p:spPr>
          <a:xfrm>
            <a:off x="7790688" y="1042415"/>
            <a:ext cx="100584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36408" y="1078992"/>
            <a:ext cx="914400" cy="201168"/>
          </a:xfrm>
          <a:prstGeom prst="rect">
            <a:avLst/>
          </a:prstGeom>
          <a:noFill/>
        </p:spPr>
        <p:txBody>
          <a:bodyPr wrap="square" lIns="36576" rIns="36576" tIns="18288" bIns="18288">
            <a:spAutoFit/>
          </a:bodyPr>
          <a:lstStyle/>
          <a:p>
            <a:pPr algn="l"/>
            <a:r>
              <a:rPr sz="850" b="1" i="0">
                <a:solidFill>
                  <a:srgbClr val="FFFFFF"/>
                </a:solidFill>
                <a:latin typeface="Calibri"/>
              </a:rPr>
              <a:t>Owner / Due</a:t>
            </a:r>
          </a:p>
        </p:txBody>
      </p:sp>
      <p:sp>
        <p:nvSpPr>
          <p:cNvPr id="16" name="Rectangle 15"/>
          <p:cNvSpPr/>
          <p:nvPr/>
        </p:nvSpPr>
        <p:spPr>
          <a:xfrm>
            <a:off x="320040" y="131673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 y="131673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50008" y="131673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81927" y="131673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90688" y="131673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5" y="14081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#1</a:t>
            </a:r>
          </a:p>
        </p:txBody>
      </p:sp>
      <p:sp>
        <p:nvSpPr>
          <p:cNvPr id="22" name="TextBox 21"/>
          <p:cNvSpPr txBox="1"/>
          <p:nvPr/>
        </p:nvSpPr>
        <p:spPr>
          <a:xfrm>
            <a:off x="658368" y="13898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Asset classes in scope</a:t>
            </a:r>
          </a:p>
        </p:txBody>
      </p:sp>
      <p:sp>
        <p:nvSpPr>
          <p:cNvPr id="23" name="TextBox 22"/>
          <p:cNvSpPr txBox="1"/>
          <p:nvPr/>
        </p:nvSpPr>
        <p:spPr>
          <a:xfrm>
            <a:off x="2395727" y="13898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24" name="Rectangle 23"/>
          <p:cNvSpPr/>
          <p:nvPr/>
        </p:nvSpPr>
        <p:spPr>
          <a:xfrm>
            <a:off x="320040" y="1682495"/>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 y="1682495"/>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50008" y="1682495"/>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81927" y="1682495"/>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90688" y="1682495"/>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615" y="17739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#2</a:t>
            </a:r>
          </a:p>
        </p:txBody>
      </p:sp>
      <p:sp>
        <p:nvSpPr>
          <p:cNvPr id="30" name="TextBox 29"/>
          <p:cNvSpPr txBox="1"/>
          <p:nvPr/>
        </p:nvSpPr>
        <p:spPr>
          <a:xfrm>
            <a:off x="658368" y="17556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Lifecycle states adopted</a:t>
            </a:r>
          </a:p>
        </p:txBody>
      </p:sp>
      <p:sp>
        <p:nvSpPr>
          <p:cNvPr id="31" name="TextBox 30"/>
          <p:cNvSpPr txBox="1"/>
          <p:nvPr/>
        </p:nvSpPr>
        <p:spPr>
          <a:xfrm>
            <a:off x="2395727" y="17556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32" name="Rectangle 31"/>
          <p:cNvSpPr/>
          <p:nvPr/>
        </p:nvSpPr>
        <p:spPr>
          <a:xfrm>
            <a:off x="320040" y="204825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2647" y="204825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50008" y="204825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81927" y="204825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90688" y="204825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6615" y="213969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#3</a:t>
            </a:r>
          </a:p>
        </p:txBody>
      </p:sp>
      <p:sp>
        <p:nvSpPr>
          <p:cNvPr id="38" name="TextBox 37"/>
          <p:cNvSpPr txBox="1"/>
          <p:nvPr/>
        </p:nvSpPr>
        <p:spPr>
          <a:xfrm>
            <a:off x="658368" y="212140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Data import source and owner</a:t>
            </a:r>
          </a:p>
        </p:txBody>
      </p:sp>
      <p:sp>
        <p:nvSpPr>
          <p:cNvPr id="39" name="TextBox 38"/>
          <p:cNvSpPr txBox="1"/>
          <p:nvPr/>
        </p:nvSpPr>
        <p:spPr>
          <a:xfrm>
            <a:off x="2395727" y="212140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0" name="Rectangle 39"/>
          <p:cNvSpPr/>
          <p:nvPr/>
        </p:nvSpPr>
        <p:spPr>
          <a:xfrm>
            <a:off x="320040" y="241401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7" y="241401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350008" y="241401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81927" y="241401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90688" y="241401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6615" y="250545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#4</a:t>
            </a:r>
          </a:p>
        </p:txBody>
      </p:sp>
      <p:sp>
        <p:nvSpPr>
          <p:cNvPr id="46" name="TextBox 45"/>
          <p:cNvSpPr txBox="1"/>
          <p:nvPr/>
        </p:nvSpPr>
        <p:spPr>
          <a:xfrm>
            <a:off x="658368" y="248716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Stockroom locations defined</a:t>
            </a:r>
          </a:p>
        </p:txBody>
      </p:sp>
      <p:sp>
        <p:nvSpPr>
          <p:cNvPr id="47" name="TextBox 46"/>
          <p:cNvSpPr txBox="1"/>
          <p:nvPr/>
        </p:nvSpPr>
        <p:spPr>
          <a:xfrm>
            <a:off x="2395727" y="248716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8" name="Rectangle 47"/>
          <p:cNvSpPr/>
          <p:nvPr/>
        </p:nvSpPr>
        <p:spPr>
          <a:xfrm>
            <a:off x="320040" y="277977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2647" y="277977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350008" y="277977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81927" y="277977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90688" y="277977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6615" y="287121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#5</a:t>
            </a:r>
          </a:p>
        </p:txBody>
      </p:sp>
      <p:sp>
        <p:nvSpPr>
          <p:cNvPr id="54" name="TextBox 53"/>
          <p:cNvSpPr txBox="1"/>
          <p:nvPr/>
        </p:nvSpPr>
        <p:spPr>
          <a:xfrm>
            <a:off x="658368" y="285292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Contract tracking approach</a:t>
            </a:r>
          </a:p>
        </p:txBody>
      </p:sp>
      <p:sp>
        <p:nvSpPr>
          <p:cNvPr id="55" name="TextBox 54"/>
          <p:cNvSpPr txBox="1"/>
          <p:nvPr/>
        </p:nvSpPr>
        <p:spPr>
          <a:xfrm>
            <a:off x="2395727" y="285292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56" name="Rectangle 55"/>
          <p:cNvSpPr/>
          <p:nvPr/>
        </p:nvSpPr>
        <p:spPr>
          <a:xfrm>
            <a:off x="320040" y="314553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2647" y="314553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350008" y="314553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81927" y="314553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790688" y="314553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6615" y="32369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#6</a:t>
            </a:r>
          </a:p>
        </p:txBody>
      </p:sp>
      <p:sp>
        <p:nvSpPr>
          <p:cNvPr id="62" name="TextBox 61"/>
          <p:cNvSpPr txBox="1"/>
          <p:nvPr/>
        </p:nvSpPr>
        <p:spPr>
          <a:xfrm>
            <a:off x="658368" y="32186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Disposal approval workflow</a:t>
            </a:r>
          </a:p>
        </p:txBody>
      </p:sp>
      <p:sp>
        <p:nvSpPr>
          <p:cNvPr id="63" name="TextBox 62"/>
          <p:cNvSpPr txBox="1"/>
          <p:nvPr/>
        </p:nvSpPr>
        <p:spPr>
          <a:xfrm>
            <a:off x="2395727" y="32186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64" name="Rectangle 63"/>
          <p:cNvSpPr/>
          <p:nvPr/>
        </p:nvSpPr>
        <p:spPr>
          <a:xfrm>
            <a:off x="320040" y="351129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12647" y="351129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350008" y="351129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281927" y="351129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790688" y="351129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56615" y="36027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#7</a:t>
            </a:r>
          </a:p>
        </p:txBody>
      </p:sp>
      <p:sp>
        <p:nvSpPr>
          <p:cNvPr id="70" name="TextBox 69"/>
          <p:cNvSpPr txBox="1"/>
          <p:nvPr/>
        </p:nvSpPr>
        <p:spPr>
          <a:xfrm>
            <a:off x="658368" y="35844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HAM Pro activation decision</a:t>
            </a:r>
          </a:p>
        </p:txBody>
      </p:sp>
      <p:sp>
        <p:nvSpPr>
          <p:cNvPr id="71" name="TextBox 70"/>
          <p:cNvSpPr txBox="1"/>
          <p:nvPr/>
        </p:nvSpPr>
        <p:spPr>
          <a:xfrm>
            <a:off x="2395727" y="35844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72" name="Rectangle 71"/>
          <p:cNvSpPr/>
          <p:nvPr/>
        </p:nvSpPr>
        <p:spPr>
          <a:xfrm>
            <a:off x="320040" y="387705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12647" y="387705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350008" y="387705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81927" y="387705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790688" y="387705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56615" y="396849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#8</a:t>
            </a:r>
          </a:p>
        </p:txBody>
      </p:sp>
      <p:sp>
        <p:nvSpPr>
          <p:cNvPr id="78" name="TextBox 77"/>
          <p:cNvSpPr txBox="1"/>
          <p:nvPr/>
        </p:nvSpPr>
        <p:spPr>
          <a:xfrm>
            <a:off x="658368" y="395020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HAM-CMDB-Discovery integration model</a:t>
            </a:r>
          </a:p>
        </p:txBody>
      </p:sp>
      <p:sp>
        <p:nvSpPr>
          <p:cNvPr id="79" name="TextBox 78"/>
          <p:cNvSpPr txBox="1"/>
          <p:nvPr/>
        </p:nvSpPr>
        <p:spPr>
          <a:xfrm>
            <a:off x="2395727" y="395020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80" name="Rectangle 79"/>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82" name="TextBox 81"/>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83" name="TextBox 82"/>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N E X T  S T E P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Happens After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1</a:t>
            </a:r>
          </a:p>
        </p:txBody>
      </p:sp>
      <p:sp>
        <p:nvSpPr>
          <p:cNvPr id="9" name="TextBox 8"/>
          <p:cNvSpPr txBox="1"/>
          <p:nvPr/>
        </p:nvSpPr>
        <p:spPr>
          <a:xfrm>
            <a:off x="704088"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Data Prep</a:t>
            </a:r>
          </a:p>
        </p:txBody>
      </p:sp>
      <p:sp>
        <p:nvSpPr>
          <p:cNvPr id="10" name="TextBox 9"/>
          <p:cNvSpPr txBox="1"/>
          <p:nvPr/>
        </p:nvSpPr>
        <p:spPr>
          <a:xfrm>
            <a:off x="411479"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Export existing asset inventory from current source. Cleanse serial numbers, model names, and location data. Assign data owner for import validation.</a:t>
            </a:r>
          </a:p>
        </p:txBody>
      </p:sp>
      <p:sp>
        <p:nvSpPr>
          <p:cNvPr id="11" name="Rectangle 10"/>
          <p:cNvSpPr/>
          <p:nvPr/>
        </p:nvSpPr>
        <p:spPr>
          <a:xfrm>
            <a:off x="4636007"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36007"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2</a:t>
            </a:r>
          </a:p>
        </p:txBody>
      </p:sp>
      <p:sp>
        <p:nvSpPr>
          <p:cNvPr id="14" name="TextBox 13"/>
          <p:cNvSpPr txBox="1"/>
          <p:nvPr/>
        </p:nvSpPr>
        <p:spPr>
          <a:xfrm>
            <a:off x="5020055"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Stockroom Setup</a:t>
            </a:r>
          </a:p>
        </p:txBody>
      </p:sp>
      <p:sp>
        <p:nvSpPr>
          <p:cNvPr id="15" name="TextBox 14"/>
          <p:cNvSpPr txBox="1"/>
          <p:nvPr/>
        </p:nvSpPr>
        <p:spPr>
          <a:xfrm>
            <a:off x="4727447"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Define stockroom list with location names and managers. Configure in HAM workspace before data import.</a:t>
            </a:r>
          </a:p>
        </p:txBody>
      </p:sp>
      <p:sp>
        <p:nvSpPr>
          <p:cNvPr id="16" name="Rectangle 15"/>
          <p:cNvSpPr/>
          <p:nvPr/>
        </p:nvSpPr>
        <p:spPr>
          <a:xfrm>
            <a:off x="320040"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3</a:t>
            </a:r>
          </a:p>
        </p:txBody>
      </p:sp>
      <p:sp>
        <p:nvSpPr>
          <p:cNvPr id="19" name="TextBox 18"/>
          <p:cNvSpPr txBox="1"/>
          <p:nvPr/>
        </p:nvSpPr>
        <p:spPr>
          <a:xfrm>
            <a:off x="704088"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Discovery Alignment</a:t>
            </a:r>
          </a:p>
        </p:txBody>
      </p:sp>
      <p:sp>
        <p:nvSpPr>
          <p:cNvPr id="20" name="TextBox 19"/>
          <p:cNvSpPr txBox="1"/>
          <p:nvPr/>
        </p:nvSpPr>
        <p:spPr>
          <a:xfrm>
            <a:off x="411479"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Confirm Discovery sprint timeline so CI data is available before HAM go-live for asset-CI linking.</a:t>
            </a:r>
          </a:p>
        </p:txBody>
      </p:sp>
      <p:sp>
        <p:nvSpPr>
          <p:cNvPr id="21" name="Rectangle 20"/>
          <p:cNvSpPr/>
          <p:nvPr/>
        </p:nvSpPr>
        <p:spPr>
          <a:xfrm>
            <a:off x="4636007"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36007"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6007"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4</a:t>
            </a:r>
          </a:p>
        </p:txBody>
      </p:sp>
      <p:sp>
        <p:nvSpPr>
          <p:cNvPr id="24" name="TextBox 23"/>
          <p:cNvSpPr txBox="1"/>
          <p:nvPr/>
        </p:nvSpPr>
        <p:spPr>
          <a:xfrm>
            <a:off x="5020055"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HAM Pro Decision</a:t>
            </a:r>
          </a:p>
        </p:txBody>
      </p:sp>
      <p:sp>
        <p:nvSpPr>
          <p:cNvPr id="25" name="TextBox 24"/>
          <p:cNvSpPr txBox="1"/>
          <p:nvPr/>
        </p:nvSpPr>
        <p:spPr>
          <a:xfrm>
            <a:off x="4727447"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Confirm license entitlement with ServiceNow AE. If in scope, activate in Sprint 5 before data import.</a:t>
            </a:r>
          </a:p>
        </p:txBody>
      </p:sp>
      <p:sp>
        <p:nvSpPr>
          <p:cNvPr id="26" name="Rectangle 25"/>
          <p:cNvSpPr/>
          <p:nvPr/>
        </p:nvSpPr>
        <p:spPr>
          <a:xfrm>
            <a:off x="320040" y="388620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0040" y="388620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8620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5</a:t>
            </a:r>
          </a:p>
        </p:txBody>
      </p:sp>
      <p:sp>
        <p:nvSpPr>
          <p:cNvPr id="29" name="TextBox 28"/>
          <p:cNvSpPr txBox="1"/>
          <p:nvPr/>
        </p:nvSpPr>
        <p:spPr>
          <a:xfrm>
            <a:off x="704088" y="392277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Contract Data</a:t>
            </a:r>
          </a:p>
        </p:txBody>
      </p:sp>
      <p:sp>
        <p:nvSpPr>
          <p:cNvPr id="30" name="TextBox 29"/>
          <p:cNvSpPr txBox="1"/>
          <p:nvPr/>
        </p:nvSpPr>
        <p:spPr>
          <a:xfrm>
            <a:off x="411479" y="421538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Identify warranty and lease data sources. Assign owner to prepare contract import alongside asset import.</a:t>
            </a:r>
          </a:p>
        </p:txBody>
      </p:sp>
      <p:sp>
        <p:nvSpPr>
          <p:cNvPr id="31" name="Rectangle 30"/>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3" name="TextBox 32"/>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34" name="TextBox 33"/>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400800" cy="548640"/>
          </a:xfrm>
          <a:prstGeom prst="rect">
            <a:avLst/>
          </a:prstGeom>
          <a:noFill/>
        </p:spPr>
        <p:txBody>
          <a:bodyPr wrap="square" lIns="36576" rIns="36576" tIns="18288" bIns="18288">
            <a:spAutoFit/>
          </a:bodyPr>
          <a:lstStyle/>
          <a:p>
            <a:pPr algn="l"/>
            <a:r>
              <a:rPr sz="3200" b="1" i="0">
                <a:solidFill>
                  <a:srgbClr val="FFFFFF"/>
                </a:solidFill>
                <a:latin typeface="Calibri"/>
              </a:rPr>
              <a:t>Everforth ECS Federal</a:t>
            </a:r>
          </a:p>
        </p:txBody>
      </p:sp>
      <p:sp>
        <p:nvSpPr>
          <p:cNvPr id="4" name="TextBox 3"/>
          <p:cNvSpPr txBox="1"/>
          <p:nvPr/>
        </p:nvSpPr>
        <p:spPr>
          <a:xfrm>
            <a:off x="475488" y="2176272"/>
            <a:ext cx="6400800" cy="402336"/>
          </a:xfrm>
          <a:prstGeom prst="rect">
            <a:avLst/>
          </a:prstGeom>
          <a:noFill/>
        </p:spPr>
        <p:txBody>
          <a:bodyPr wrap="square" lIns="36576" rIns="36576" tIns="18288" bIns="18288">
            <a:spAutoFit/>
          </a:bodyPr>
          <a:lstStyle/>
          <a:p>
            <a:pPr algn="l"/>
            <a:r>
              <a:rPr sz="2000" b="0" i="0">
                <a:solidFill>
                  <a:srgbClr val="14B8A6"/>
                </a:solidFill>
                <a:latin typeface="Calibri"/>
              </a:rPr>
              <a:t>ServiceNow Practice</a:t>
            </a:r>
          </a:p>
        </p:txBody>
      </p:sp>
      <p:sp>
        <p:nvSpPr>
          <p:cNvPr id="5" name="TextBox 4"/>
          <p:cNvSpPr txBox="1"/>
          <p:nvPr/>
        </p:nvSpPr>
        <p:spPr>
          <a:xfrm>
            <a:off x="475488" y="2743200"/>
            <a:ext cx="7772400" cy="274320"/>
          </a:xfrm>
          <a:prstGeom prst="rect">
            <a:avLst/>
          </a:prstGeom>
          <a:noFill/>
        </p:spPr>
        <p:txBody>
          <a:bodyPr wrap="square" lIns="36576" rIns="36576" tIns="18288" bIns="18288">
            <a:spAutoFit/>
          </a:bodyPr>
          <a:lstStyle/>
          <a:p>
            <a:pPr algn="l"/>
            <a:r>
              <a:rPr sz="900" b="0" i="0">
                <a:solidFill>
                  <a:srgbClr val="94A3B8"/>
                </a:solidFill>
                <a:latin typeface="Calibri"/>
              </a:rPr>
              <a:t>SERVICENOW PRACTICE  ·  MODERNIZING THE CORE  ·  HARDWARE ASSET MANAGEMENT</a:t>
            </a:r>
          </a:p>
        </p:txBody>
      </p:sp>
      <p:pic>
        <p:nvPicPr>
          <p:cNvPr id="6" name="Picture 5"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7" name="Rectangle 6"/>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9" name="TextBox 8"/>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HARDWARE ASSET MANAGEMENT</a:t>
            </a:r>
          </a:p>
        </p:txBody>
      </p:sp>
      <p:sp>
        <p:nvSpPr>
          <p:cNvPr id="10" name="TextBox 9"/>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