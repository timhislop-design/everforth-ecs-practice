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</p:sldIdLst>
  <p:notesMasterIdLst>
    <p:notesMasterId r:id="rId19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notesMaster" Target="notesMasters/notesMaster1.xml"/><Relationship Id="rId20" Type="http://schemas.openxmlformats.org/officeDocument/2006/relationships/presProps" Target="presProps.xml"/><Relationship Id="rId21" Type="http://schemas.openxmlformats.org/officeDocument/2006/relationships/viewProps" Target="viewProps.xml"/><Relationship Id="rId22" Type="http://schemas.openxmlformats.org/officeDocument/2006/relationships/theme" Target="theme/theme1.xml"/><Relationship Id="rId2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3A5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424160" y="137160"/>
            <a:ext cx="1554480" cy="530352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457200" y="1554480"/>
            <a:ext cx="64008" cy="2194560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4" name="Text 1"/>
          <p:cNvSpPr/>
          <p:nvPr/>
        </p:nvSpPr>
        <p:spPr>
          <a:xfrm>
            <a:off x="685800" y="1417320"/>
            <a:ext cx="96012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Modernizing the Core</a:t>
            </a:r>
            <a:endParaRPr lang="en-US" sz="4600" dirty="0"/>
          </a:p>
        </p:txBody>
      </p:sp>
      <p:sp>
        <p:nvSpPr>
          <p:cNvPr id="5" name="Text 2"/>
          <p:cNvSpPr/>
          <p:nvPr/>
        </p:nvSpPr>
        <p:spPr>
          <a:xfrm>
            <a:off x="685800" y="2880360"/>
            <a:ext cx="9601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4B8A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Performance Analytics</a:t>
            </a:r>
            <a:endParaRPr lang="en-US" sz="3000" dirty="0"/>
          </a:p>
        </p:txBody>
      </p:sp>
      <p:sp>
        <p:nvSpPr>
          <p:cNvPr id="6" name="Text 3"/>
          <p:cNvSpPr/>
          <p:nvPr/>
        </p:nvSpPr>
        <p:spPr>
          <a:xfrm>
            <a:off x="685800" y="3611880"/>
            <a:ext cx="9601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9CB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Activating Operational Intelligence for Continuous Improvement and AI-Ready Reporting</a:t>
            </a:r>
            <a:endParaRPr lang="en-US" sz="1500" dirty="0"/>
          </a:p>
        </p:txBody>
      </p:sp>
      <p:sp>
        <p:nvSpPr>
          <p:cNvPr id="7" name="Text 4"/>
          <p:cNvSpPr/>
          <p:nvPr/>
        </p:nvSpPr>
        <p:spPr>
          <a:xfrm>
            <a:off x="457200" y="6263640"/>
            <a:ext cx="9144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A5A7F"/>
                </a:solidFill>
              </a:rPr>
              <a:t>Prepared by Everforth ECS Federal  ·  ServiceNow Practice  ·  Confidential</a:t>
            </a:r>
            <a:endParaRPr lang="en-US" sz="900" dirty="0"/>
          </a:p>
        </p:txBody>
      </p:sp>
      <p:sp>
        <p:nvSpPr>
          <p:cNvPr id="8" name="Shape 5"/>
          <p:cNvSpPr/>
          <p:nvPr/>
        </p:nvSpPr>
        <p:spPr>
          <a:xfrm>
            <a:off x="365760" y="6556248"/>
            <a:ext cx="11430000" cy="0"/>
          </a:xfrm>
          <a:prstGeom prst="line">
            <a:avLst/>
          </a:prstGeom>
          <a:noFill/>
          <a:ln w="6350">
            <a:solidFill>
              <a:srgbClr val="2A4A70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365760" y="6601968"/>
            <a:ext cx="3200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A7A9F"/>
                </a:solidFill>
              </a:rPr>
              <a:t>Everforth ECS Federal</a:t>
            </a:r>
            <a:endParaRPr lang="en-US" sz="800" dirty="0"/>
          </a:p>
        </p:txBody>
      </p:sp>
      <p:sp>
        <p:nvSpPr>
          <p:cNvPr id="10" name="Text 7"/>
          <p:cNvSpPr/>
          <p:nvPr/>
        </p:nvSpPr>
        <p:spPr>
          <a:xfrm>
            <a:off x="3566160" y="6601968"/>
            <a:ext cx="6400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5A7A9F"/>
                </a:solidFill>
              </a:rPr>
              <a:t>SERVICENOW PRACTICE  ·  MODERNIZING THE CORE  ·  PERFORMANCE ANALYTICS</a:t>
            </a:r>
            <a:endParaRPr lang="en-US" sz="800" dirty="0"/>
          </a:p>
        </p:txBody>
      </p:sp>
      <p:sp>
        <p:nvSpPr>
          <p:cNvPr id="11" name="Text 8"/>
          <p:cNvSpPr/>
          <p:nvPr/>
        </p:nvSpPr>
        <p:spPr>
          <a:xfrm>
            <a:off x="11430000" y="6601968"/>
            <a:ext cx="457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5A7A9F"/>
                </a:solidFill>
              </a:rPr>
              <a:t>1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424160" y="137160"/>
            <a:ext cx="1554480" cy="530352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57200" y="256032"/>
            <a:ext cx="7315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spc="300" kern="0" dirty="0">
                <a:solidFill>
                  <a:srgbClr val="14B8A6"/>
                </a:solidFill>
              </a:rPr>
              <a:t>AGENDA</a:t>
            </a:r>
            <a:endParaRPr lang="en-US" sz="800" dirty="0"/>
          </a:p>
        </p:txBody>
      </p:sp>
      <p:sp>
        <p:nvSpPr>
          <p:cNvPr id="4" name="Shape 1"/>
          <p:cNvSpPr/>
          <p:nvPr/>
        </p:nvSpPr>
        <p:spPr>
          <a:xfrm>
            <a:off x="365760" y="6556248"/>
            <a:ext cx="11430000" cy="0"/>
          </a:xfrm>
          <a:prstGeom prst="line">
            <a:avLst/>
          </a:prstGeom>
          <a:noFill/>
          <a:ln w="6350">
            <a:solidFill>
              <a:srgbClr val="CBD5E1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365760" y="6601968"/>
            <a:ext cx="3200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</a:rPr>
              <a:t>Everforth ECS Federal</a:t>
            </a:r>
            <a:endParaRPr lang="en-US" sz="800" dirty="0"/>
          </a:p>
        </p:txBody>
      </p:sp>
      <p:sp>
        <p:nvSpPr>
          <p:cNvPr id="6" name="Text 3"/>
          <p:cNvSpPr/>
          <p:nvPr/>
        </p:nvSpPr>
        <p:spPr>
          <a:xfrm>
            <a:off x="3566160" y="6601968"/>
            <a:ext cx="6400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94A3B8"/>
                </a:solidFill>
              </a:rPr>
              <a:t>SERVICENOW PRACTICE  ·  MODERNIZING THE CORE  ·  PERFORMANCE ANALYTICS</a:t>
            </a:r>
            <a:endParaRPr lang="en-US" sz="800" dirty="0"/>
          </a:p>
        </p:txBody>
      </p:sp>
      <p:sp>
        <p:nvSpPr>
          <p:cNvPr id="7" name="Text 4"/>
          <p:cNvSpPr/>
          <p:nvPr/>
        </p:nvSpPr>
        <p:spPr>
          <a:xfrm>
            <a:off x="11430000" y="6601968"/>
            <a:ext cx="457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4A3B8"/>
                </a:solidFill>
              </a:rPr>
              <a:t>2</a:t>
            </a:r>
            <a:endParaRPr lang="en-US" sz="800" dirty="0"/>
          </a:p>
        </p:txBody>
      </p:sp>
      <p:sp>
        <p:nvSpPr>
          <p:cNvPr id="8" name="Text 5"/>
          <p:cNvSpPr/>
          <p:nvPr/>
        </p:nvSpPr>
        <p:spPr>
          <a:xfrm>
            <a:off x="457200" y="502920"/>
            <a:ext cx="100584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3A5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What We'll Cover Today</a:t>
            </a:r>
            <a:endParaRPr lang="en-US" sz="2600" dirty="0"/>
          </a:p>
        </p:txBody>
      </p:sp>
      <p:sp>
        <p:nvSpPr>
          <p:cNvPr id="9" name="Shape 6"/>
          <p:cNvSpPr/>
          <p:nvPr/>
        </p:nvSpPr>
        <p:spPr>
          <a:xfrm>
            <a:off x="457200" y="1234440"/>
            <a:ext cx="11247120" cy="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457200" y="1371600"/>
            <a:ext cx="5394960" cy="896112"/>
          </a:xfrm>
          <a:prstGeom prst="rect">
            <a:avLst/>
          </a:prstGeom>
          <a:solidFill>
            <a:srgbClr val="F7F9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457200" y="1371600"/>
            <a:ext cx="438912" cy="89611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457200" y="1371600"/>
            <a:ext cx="438912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01</a:t>
            </a:r>
            <a:endParaRPr lang="en-US" sz="1100" dirty="0"/>
          </a:p>
        </p:txBody>
      </p:sp>
      <p:sp>
        <p:nvSpPr>
          <p:cNvPr id="13" name="Text 10"/>
          <p:cNvSpPr/>
          <p:nvPr/>
        </p:nvSpPr>
        <p:spPr>
          <a:xfrm>
            <a:off x="987552" y="1426464"/>
            <a:ext cx="4773168" cy="2926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1E3A5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The OOTB-First Frame</a:t>
            </a:r>
            <a:endParaRPr lang="en-US" sz="1200" dirty="0"/>
          </a:p>
        </p:txBody>
      </p:sp>
      <p:sp>
        <p:nvSpPr>
          <p:cNvPr id="14" name="Text 11"/>
          <p:cNvSpPr/>
          <p:nvPr/>
        </p:nvSpPr>
        <p:spPr>
          <a:xfrm>
            <a:off x="987552" y="1737360"/>
            <a:ext cx="4773168" cy="4754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this engagement commits to OOTB — and what it means in the room</a:t>
            </a:r>
            <a:endParaRPr lang="en-US" sz="1000" dirty="0"/>
          </a:p>
        </p:txBody>
      </p:sp>
      <p:sp>
        <p:nvSpPr>
          <p:cNvPr id="15" name="Shape 12"/>
          <p:cNvSpPr/>
          <p:nvPr/>
        </p:nvSpPr>
        <p:spPr>
          <a:xfrm>
            <a:off x="6236208" y="1371600"/>
            <a:ext cx="5394960" cy="896112"/>
          </a:xfrm>
          <a:prstGeom prst="rect">
            <a:avLst/>
          </a:prstGeom>
          <a:solidFill>
            <a:srgbClr val="F7F9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6236208" y="1371600"/>
            <a:ext cx="438912" cy="89611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6236208" y="1371600"/>
            <a:ext cx="438912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02</a:t>
            </a:r>
            <a:endParaRPr lang="en-US" sz="1100" dirty="0"/>
          </a:p>
        </p:txBody>
      </p:sp>
      <p:sp>
        <p:nvSpPr>
          <p:cNvPr id="18" name="Text 15"/>
          <p:cNvSpPr/>
          <p:nvPr/>
        </p:nvSpPr>
        <p:spPr>
          <a:xfrm>
            <a:off x="6766560" y="1426464"/>
            <a:ext cx="4773168" cy="2926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1E3A5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What a Customization Is (and Isn't)</a:t>
            </a:r>
            <a:endParaRPr lang="en-US" sz="1200" dirty="0"/>
          </a:p>
        </p:txBody>
      </p:sp>
      <p:sp>
        <p:nvSpPr>
          <p:cNvPr id="19" name="Text 16"/>
          <p:cNvSpPr/>
          <p:nvPr/>
        </p:nvSpPr>
        <p:spPr>
          <a:xfrm>
            <a:off x="6766560" y="1737360"/>
            <a:ext cx="4773168" cy="4754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Configuration vs. customization — with examples relevant to Performance Analytics</a:t>
            </a:r>
            <a:endParaRPr lang="en-US" sz="1000" dirty="0"/>
          </a:p>
        </p:txBody>
      </p:sp>
      <p:sp>
        <p:nvSpPr>
          <p:cNvPr id="20" name="Shape 17"/>
          <p:cNvSpPr/>
          <p:nvPr/>
        </p:nvSpPr>
        <p:spPr>
          <a:xfrm>
            <a:off x="457200" y="2487168"/>
            <a:ext cx="5394960" cy="896112"/>
          </a:xfrm>
          <a:prstGeom prst="rect">
            <a:avLst/>
          </a:prstGeom>
          <a:solidFill>
            <a:srgbClr val="F7F9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1" name="Shape 18"/>
          <p:cNvSpPr/>
          <p:nvPr/>
        </p:nvSpPr>
        <p:spPr>
          <a:xfrm>
            <a:off x="457200" y="2487168"/>
            <a:ext cx="438912" cy="89611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457200" y="2487168"/>
            <a:ext cx="438912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03</a:t>
            </a:r>
            <a:endParaRPr lang="en-US" sz="1100" dirty="0"/>
          </a:p>
        </p:txBody>
      </p:sp>
      <p:sp>
        <p:nvSpPr>
          <p:cNvPr id="23" name="Text 20"/>
          <p:cNvSpPr/>
          <p:nvPr/>
        </p:nvSpPr>
        <p:spPr>
          <a:xfrm>
            <a:off x="987552" y="2542032"/>
            <a:ext cx="4773168" cy="2926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1E3A5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OOTB PA Architecture Overview</a:t>
            </a:r>
            <a:endParaRPr lang="en-US" sz="1200" dirty="0"/>
          </a:p>
        </p:txBody>
      </p:sp>
      <p:sp>
        <p:nvSpPr>
          <p:cNvPr id="24" name="Text 21"/>
          <p:cNvSpPr/>
          <p:nvPr/>
        </p:nvSpPr>
        <p:spPr>
          <a:xfrm>
            <a:off x="987552" y="2852928"/>
            <a:ext cx="4773168" cy="4754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collection, indicator aggregation, scorecards, and the dashboard-to-decision feedback loop</a:t>
            </a:r>
            <a:endParaRPr lang="en-US" sz="1000" dirty="0"/>
          </a:p>
        </p:txBody>
      </p:sp>
      <p:sp>
        <p:nvSpPr>
          <p:cNvPr id="25" name="Shape 22"/>
          <p:cNvSpPr/>
          <p:nvPr/>
        </p:nvSpPr>
        <p:spPr>
          <a:xfrm>
            <a:off x="6236208" y="2487168"/>
            <a:ext cx="5394960" cy="896112"/>
          </a:xfrm>
          <a:prstGeom prst="rect">
            <a:avLst/>
          </a:prstGeom>
          <a:solidFill>
            <a:srgbClr val="F7F9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6" name="Shape 23"/>
          <p:cNvSpPr/>
          <p:nvPr/>
        </p:nvSpPr>
        <p:spPr>
          <a:xfrm>
            <a:off x="6236208" y="2487168"/>
            <a:ext cx="438912" cy="89611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6236208" y="2487168"/>
            <a:ext cx="438912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04</a:t>
            </a:r>
            <a:endParaRPr lang="en-US" sz="1100" dirty="0"/>
          </a:p>
        </p:txBody>
      </p:sp>
      <p:sp>
        <p:nvSpPr>
          <p:cNvPr id="28" name="Text 25"/>
          <p:cNvSpPr/>
          <p:nvPr/>
        </p:nvSpPr>
        <p:spPr>
          <a:xfrm>
            <a:off x="6766560" y="2542032"/>
            <a:ext cx="4773168" cy="2926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1E3A5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Key Decisions #1–#8</a:t>
            </a:r>
            <a:endParaRPr lang="en-US" sz="1200" dirty="0"/>
          </a:p>
        </p:txBody>
      </p:sp>
      <p:sp>
        <p:nvSpPr>
          <p:cNvPr id="29" name="Text 26"/>
          <p:cNvSpPr/>
          <p:nvPr/>
        </p:nvSpPr>
        <p:spPr>
          <a:xfrm>
            <a:off x="6766560" y="2852928"/>
            <a:ext cx="4773168" cy="4754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Decisions #1–#8  ·  Indicator selection, breakdowns, scorecard design, thresholds, collection cadence, dashboard access, trending, report migration</a:t>
            </a:r>
            <a:endParaRPr lang="en-US" sz="1000" dirty="0"/>
          </a:p>
        </p:txBody>
      </p:sp>
      <p:sp>
        <p:nvSpPr>
          <p:cNvPr id="30" name="Shape 27"/>
          <p:cNvSpPr/>
          <p:nvPr/>
        </p:nvSpPr>
        <p:spPr>
          <a:xfrm>
            <a:off x="457200" y="3602736"/>
            <a:ext cx="5394960" cy="896112"/>
          </a:xfrm>
          <a:prstGeom prst="rect">
            <a:avLst/>
          </a:prstGeom>
          <a:solidFill>
            <a:srgbClr val="F7F9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1" name="Shape 28"/>
          <p:cNvSpPr/>
          <p:nvPr/>
        </p:nvSpPr>
        <p:spPr>
          <a:xfrm>
            <a:off x="457200" y="3602736"/>
            <a:ext cx="438912" cy="89611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2" name="Text 29"/>
          <p:cNvSpPr/>
          <p:nvPr/>
        </p:nvSpPr>
        <p:spPr>
          <a:xfrm>
            <a:off x="457200" y="3602736"/>
            <a:ext cx="438912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05</a:t>
            </a:r>
            <a:endParaRPr lang="en-US" sz="1100" dirty="0"/>
          </a:p>
        </p:txBody>
      </p:sp>
      <p:sp>
        <p:nvSpPr>
          <p:cNvPr id="33" name="Text 30"/>
          <p:cNvSpPr/>
          <p:nvPr/>
        </p:nvSpPr>
        <p:spPr>
          <a:xfrm>
            <a:off x="987552" y="3657600"/>
            <a:ext cx="4773168" cy="2926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1E3A5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Decision Log</a:t>
            </a:r>
            <a:endParaRPr lang="en-US" sz="1200" dirty="0"/>
          </a:p>
        </p:txBody>
      </p:sp>
      <p:sp>
        <p:nvSpPr>
          <p:cNvPr id="34" name="Text 31"/>
          <p:cNvSpPr/>
          <p:nvPr/>
        </p:nvSpPr>
        <p:spPr>
          <a:xfrm>
            <a:off x="987552" y="3968496"/>
            <a:ext cx="4773168" cy="4754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decision is recorded before we leave this room</a:t>
            </a:r>
            <a:endParaRPr lang="en-US" sz="1000" dirty="0"/>
          </a:p>
        </p:txBody>
      </p:sp>
      <p:sp>
        <p:nvSpPr>
          <p:cNvPr id="35" name="Shape 32"/>
          <p:cNvSpPr/>
          <p:nvPr/>
        </p:nvSpPr>
        <p:spPr>
          <a:xfrm>
            <a:off x="6236208" y="3602736"/>
            <a:ext cx="5394960" cy="896112"/>
          </a:xfrm>
          <a:prstGeom prst="rect">
            <a:avLst/>
          </a:prstGeom>
          <a:solidFill>
            <a:srgbClr val="F7F9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6" name="Shape 33"/>
          <p:cNvSpPr/>
          <p:nvPr/>
        </p:nvSpPr>
        <p:spPr>
          <a:xfrm>
            <a:off x="6236208" y="3602736"/>
            <a:ext cx="438912" cy="89611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7" name="Text 34"/>
          <p:cNvSpPr/>
          <p:nvPr/>
        </p:nvSpPr>
        <p:spPr>
          <a:xfrm>
            <a:off x="6236208" y="3602736"/>
            <a:ext cx="438912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06</a:t>
            </a:r>
            <a:endParaRPr lang="en-US" sz="1100" dirty="0"/>
          </a:p>
        </p:txBody>
      </p:sp>
      <p:sp>
        <p:nvSpPr>
          <p:cNvPr id="38" name="Text 35"/>
          <p:cNvSpPr/>
          <p:nvPr/>
        </p:nvSpPr>
        <p:spPr>
          <a:xfrm>
            <a:off x="6766560" y="3657600"/>
            <a:ext cx="4773168" cy="2926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1E3A5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What Comes Next</a:t>
            </a:r>
            <a:endParaRPr lang="en-US" sz="1200" dirty="0"/>
          </a:p>
        </p:txBody>
      </p:sp>
      <p:sp>
        <p:nvSpPr>
          <p:cNvPr id="39" name="Text 36"/>
          <p:cNvSpPr/>
          <p:nvPr/>
        </p:nvSpPr>
        <p:spPr>
          <a:xfrm>
            <a:off x="6766560" y="3968496"/>
            <a:ext cx="4773168" cy="4754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Accelerator Pack workbook, configuration sprint, live ServiceNow demo</a:t>
            </a:r>
            <a:endParaRPr lang="en-US" sz="1000" dirty="0"/>
          </a:p>
        </p:txBody>
      </p:sp>
      <p:sp>
        <p:nvSpPr>
          <p:cNvPr id="40" name="Shape 37"/>
          <p:cNvSpPr/>
          <p:nvPr/>
        </p:nvSpPr>
        <p:spPr>
          <a:xfrm>
            <a:off x="457200" y="4663440"/>
            <a:ext cx="11247120" cy="502920"/>
          </a:xfrm>
          <a:prstGeom prst="rect">
            <a:avLst/>
          </a:prstGeom>
          <a:solidFill>
            <a:srgbClr val="F0FDFA"/>
          </a:solidFill>
          <a:ln w="12700">
            <a:solidFill>
              <a:srgbClr val="CCF0EA"/>
            </a:solidFill>
            <a:prstDash val="solid"/>
          </a:ln>
        </p:spPr>
      </p:sp>
      <p:sp>
        <p:nvSpPr>
          <p:cNvPr id="41" name="Text 38"/>
          <p:cNvSpPr/>
          <p:nvPr/>
        </p:nvSpPr>
        <p:spPr>
          <a:xfrm>
            <a:off x="594360" y="4709160"/>
            <a:ext cx="10972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Ground rule:  </a:t>
            </a:r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Decisions get made in this room. The OOTB recommendation is pre-populated. Your team's job is to confirm, adjust, or document the exception.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424160" y="137160"/>
            <a:ext cx="1554480" cy="530352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57200" y="256032"/>
            <a:ext cx="7315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spc="300" kern="0" dirty="0">
                <a:solidFill>
                  <a:srgbClr val="14B8A6"/>
                </a:solidFill>
              </a:rPr>
              <a:t>THE APPROACH</a:t>
            </a:r>
            <a:endParaRPr lang="en-US" sz="800" dirty="0"/>
          </a:p>
        </p:txBody>
      </p:sp>
      <p:sp>
        <p:nvSpPr>
          <p:cNvPr id="4" name="Shape 1"/>
          <p:cNvSpPr/>
          <p:nvPr/>
        </p:nvSpPr>
        <p:spPr>
          <a:xfrm>
            <a:off x="365760" y="6556248"/>
            <a:ext cx="11430000" cy="0"/>
          </a:xfrm>
          <a:prstGeom prst="line">
            <a:avLst/>
          </a:prstGeom>
          <a:noFill/>
          <a:ln w="6350">
            <a:solidFill>
              <a:srgbClr val="CBD5E1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365760" y="6601968"/>
            <a:ext cx="3200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</a:rPr>
              <a:t>Everforth ECS Federal</a:t>
            </a:r>
            <a:endParaRPr lang="en-US" sz="800" dirty="0"/>
          </a:p>
        </p:txBody>
      </p:sp>
      <p:sp>
        <p:nvSpPr>
          <p:cNvPr id="6" name="Text 3"/>
          <p:cNvSpPr/>
          <p:nvPr/>
        </p:nvSpPr>
        <p:spPr>
          <a:xfrm>
            <a:off x="3566160" y="6601968"/>
            <a:ext cx="6400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94A3B8"/>
                </a:solidFill>
              </a:rPr>
              <a:t>SERVICENOW PRACTICE  ·  MODERNIZING THE CORE  ·  PERFORMANCE ANALYTICS</a:t>
            </a:r>
            <a:endParaRPr lang="en-US" sz="800" dirty="0"/>
          </a:p>
        </p:txBody>
      </p:sp>
      <p:sp>
        <p:nvSpPr>
          <p:cNvPr id="7" name="Text 4"/>
          <p:cNvSpPr/>
          <p:nvPr/>
        </p:nvSpPr>
        <p:spPr>
          <a:xfrm>
            <a:off x="11430000" y="6601968"/>
            <a:ext cx="457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4A3B8"/>
                </a:solidFill>
              </a:rPr>
              <a:t>3</a:t>
            </a:r>
            <a:endParaRPr lang="en-US" sz="800" dirty="0"/>
          </a:p>
        </p:txBody>
      </p:sp>
      <p:sp>
        <p:nvSpPr>
          <p:cNvPr id="8" name="Text 5"/>
          <p:cNvSpPr/>
          <p:nvPr/>
        </p:nvSpPr>
        <p:spPr>
          <a:xfrm>
            <a:off x="457200" y="502920"/>
            <a:ext cx="100584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3A5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OOTB-first is not a constraint — it is the AI strategy</a:t>
            </a:r>
            <a:endParaRPr lang="en-US" sz="2600" dirty="0"/>
          </a:p>
        </p:txBody>
      </p:sp>
      <p:sp>
        <p:nvSpPr>
          <p:cNvPr id="9" name="Shape 6"/>
          <p:cNvSpPr/>
          <p:nvPr/>
        </p:nvSpPr>
        <p:spPr>
          <a:xfrm>
            <a:off x="457200" y="1234440"/>
            <a:ext cx="11247120" cy="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457200" y="1371600"/>
            <a:ext cx="5394960" cy="34747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457200" y="1371600"/>
            <a:ext cx="5394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What OOTB-First Means</a:t>
            </a:r>
            <a:endParaRPr lang="en-US" sz="1000" dirty="0"/>
          </a:p>
        </p:txBody>
      </p:sp>
      <p:sp>
        <p:nvSpPr>
          <p:cNvPr id="12" name="Shape 9"/>
          <p:cNvSpPr/>
          <p:nvPr/>
        </p:nvSpPr>
        <p:spPr>
          <a:xfrm>
            <a:off x="457200" y="1719072"/>
            <a:ext cx="5394960" cy="4206240"/>
          </a:xfrm>
          <a:prstGeom prst="rect">
            <a:avLst/>
          </a:prstGeom>
          <a:solidFill>
            <a:srgbClr val="F0FDFA"/>
          </a:solidFill>
          <a:ln w="12700">
            <a:solidFill>
              <a:srgbClr val="CCF0EA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594360" y="1828800"/>
            <a:ext cx="5120640" cy="4023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decision starts with the OOTB Performance Analytics capability — not the legacy system pattern.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Configuration (activating features, setting values, building taxonomies, writing rules) is always available — it is how OOTB is tailored to your organization.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Customization (code changes, new database fields, custom scripts) requires a documented business case and Customization Council sign-off.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18-week engagement is scoped and priced for OOTB execution. Customization expands scope.</a:t>
            </a:r>
            <a:endParaRPr lang="en-US" sz="1200" dirty="0"/>
          </a:p>
        </p:txBody>
      </p:sp>
      <p:sp>
        <p:nvSpPr>
          <p:cNvPr id="14" name="Shape 11"/>
          <p:cNvSpPr/>
          <p:nvPr/>
        </p:nvSpPr>
        <p:spPr>
          <a:xfrm>
            <a:off x="6236208" y="1371600"/>
            <a:ext cx="5486400" cy="347472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6236208" y="1371600"/>
            <a:ext cx="5486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What It Protects</a:t>
            </a:r>
            <a:endParaRPr lang="en-US" sz="1000" dirty="0"/>
          </a:p>
        </p:txBody>
      </p:sp>
      <p:sp>
        <p:nvSpPr>
          <p:cNvPr id="16" name="Shape 13"/>
          <p:cNvSpPr/>
          <p:nvPr/>
        </p:nvSpPr>
        <p:spPr>
          <a:xfrm>
            <a:off x="6236208" y="1719072"/>
            <a:ext cx="5486400" cy="4206240"/>
          </a:xfrm>
          <a:prstGeom prst="rect">
            <a:avLst/>
          </a:prstGeom>
          <a:solidFill>
            <a:srgbClr val="F7F9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6373368" y="1828800"/>
            <a:ext cx="5212080" cy="4023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features — Predictive Intelligence, Now Assist, Virtual Agent — require clean OOTB-aligned data and process structures. Custom fields and non-standard models reduce AI accuracy or block activation entirely.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Future upgrade paths. Customizations break on upgrades. OOTB patterns survive upgrades automatically with no remediation cost.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Technical debt elimination. The Governance Triage Log captures every exception — it is managed and addressed iteratively. Nothing is lost; everything is governed.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424160" y="137160"/>
            <a:ext cx="1554480" cy="530352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57200" y="256032"/>
            <a:ext cx="7315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spc="300" kern="0" dirty="0">
                <a:solidFill>
                  <a:srgbClr val="14B8A6"/>
                </a:solidFill>
              </a:rPr>
              <a:t>THE LINE</a:t>
            </a:r>
            <a:endParaRPr lang="en-US" sz="800" dirty="0"/>
          </a:p>
        </p:txBody>
      </p:sp>
      <p:sp>
        <p:nvSpPr>
          <p:cNvPr id="4" name="Shape 1"/>
          <p:cNvSpPr/>
          <p:nvPr/>
        </p:nvSpPr>
        <p:spPr>
          <a:xfrm>
            <a:off x="365760" y="6556248"/>
            <a:ext cx="11430000" cy="0"/>
          </a:xfrm>
          <a:prstGeom prst="line">
            <a:avLst/>
          </a:prstGeom>
          <a:noFill/>
          <a:ln w="6350">
            <a:solidFill>
              <a:srgbClr val="CBD5E1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365760" y="6601968"/>
            <a:ext cx="3200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</a:rPr>
              <a:t>Everforth ECS Federal</a:t>
            </a:r>
            <a:endParaRPr lang="en-US" sz="800" dirty="0"/>
          </a:p>
        </p:txBody>
      </p:sp>
      <p:sp>
        <p:nvSpPr>
          <p:cNvPr id="6" name="Text 3"/>
          <p:cNvSpPr/>
          <p:nvPr/>
        </p:nvSpPr>
        <p:spPr>
          <a:xfrm>
            <a:off x="3566160" y="6601968"/>
            <a:ext cx="6400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94A3B8"/>
                </a:solidFill>
              </a:rPr>
              <a:t>SERVICENOW PRACTICE  ·  MODERNIZING THE CORE  ·  PERFORMANCE ANALYTICS</a:t>
            </a:r>
            <a:endParaRPr lang="en-US" sz="800" dirty="0"/>
          </a:p>
        </p:txBody>
      </p:sp>
      <p:sp>
        <p:nvSpPr>
          <p:cNvPr id="7" name="Text 4"/>
          <p:cNvSpPr/>
          <p:nvPr/>
        </p:nvSpPr>
        <p:spPr>
          <a:xfrm>
            <a:off x="11430000" y="6601968"/>
            <a:ext cx="457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4A3B8"/>
                </a:solidFill>
              </a:rPr>
              <a:t>4</a:t>
            </a:r>
            <a:endParaRPr lang="en-US" sz="800" dirty="0"/>
          </a:p>
        </p:txBody>
      </p:sp>
      <p:sp>
        <p:nvSpPr>
          <p:cNvPr id="8" name="Text 5"/>
          <p:cNvSpPr/>
          <p:nvPr/>
        </p:nvSpPr>
        <p:spPr>
          <a:xfrm>
            <a:off x="457200" y="502920"/>
            <a:ext cx="100584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3A5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What a customization is — and what it isn't</a:t>
            </a:r>
            <a:endParaRPr lang="en-US" sz="2600" dirty="0"/>
          </a:p>
        </p:txBody>
      </p:sp>
      <p:sp>
        <p:nvSpPr>
          <p:cNvPr id="9" name="Shape 6"/>
          <p:cNvSpPr/>
          <p:nvPr/>
        </p:nvSpPr>
        <p:spPr>
          <a:xfrm>
            <a:off x="457200" y="1234440"/>
            <a:ext cx="11247120" cy="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457200" y="1371600"/>
            <a:ext cx="5394960" cy="34747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457200" y="1371600"/>
            <a:ext cx="5394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CONFIGURATION  —  This is always available</a:t>
            </a:r>
            <a:endParaRPr lang="en-US" sz="1000" dirty="0"/>
          </a:p>
        </p:txBody>
      </p:sp>
      <p:sp>
        <p:nvSpPr>
          <p:cNvPr id="12" name="Shape 9"/>
          <p:cNvSpPr/>
          <p:nvPr/>
        </p:nvSpPr>
        <p:spPr>
          <a:xfrm>
            <a:off x="457200" y="1719072"/>
            <a:ext cx="5394960" cy="3931920"/>
          </a:xfrm>
          <a:prstGeom prst="rect">
            <a:avLst/>
          </a:prstGeom>
          <a:solidFill>
            <a:srgbClr val="F0FDFA"/>
          </a:solidFill>
          <a:ln w="12700">
            <a:solidFill>
              <a:srgbClr val="CCF0EA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594360" y="1828800"/>
            <a:ext cx="5120640" cy="3749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Activating and configuring OOTB features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Setting up categories and taxonomies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Building assignment rules and routing logic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Defining SLA targets and schedules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Configuring notifications and email templates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Enabling AI features (PI, Now Assist, Virtual Agent)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Building reports and PA indicators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Setting system properties and thresholds</a:t>
            </a:r>
            <a:endParaRPr lang="en-US" sz="1100" dirty="0"/>
          </a:p>
        </p:txBody>
      </p:sp>
      <p:sp>
        <p:nvSpPr>
          <p:cNvPr id="14" name="Shape 11"/>
          <p:cNvSpPr/>
          <p:nvPr/>
        </p:nvSpPr>
        <p:spPr>
          <a:xfrm>
            <a:off x="6236208" y="1371600"/>
            <a:ext cx="5486400" cy="347472"/>
          </a:xfrm>
          <a:prstGeom prst="rect">
            <a:avLst/>
          </a:prstGeom>
          <a:solidFill>
            <a:srgbClr val="B91C1C"/>
          </a:solidFill>
          <a:ln w="12700">
            <a:solidFill>
              <a:srgbClr val="B91C1C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6236208" y="1371600"/>
            <a:ext cx="5486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CUSTOMIZATION  —  Requires business case &amp; Council sign-off</a:t>
            </a:r>
            <a:endParaRPr lang="en-US" sz="1000" dirty="0"/>
          </a:p>
        </p:txBody>
      </p:sp>
      <p:sp>
        <p:nvSpPr>
          <p:cNvPr id="16" name="Shape 13"/>
          <p:cNvSpPr/>
          <p:nvPr/>
        </p:nvSpPr>
        <p:spPr>
          <a:xfrm>
            <a:off x="6236208" y="1719072"/>
            <a:ext cx="5486400" cy="3931920"/>
          </a:xfrm>
          <a:prstGeom prst="rect">
            <a:avLst/>
          </a:prstGeom>
          <a:solidFill>
            <a:srgbClr val="FFF1F2"/>
          </a:solidFill>
          <a:ln w="12700">
            <a:solidFill>
              <a:srgbClr val="FECDD3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6373368" y="1828800"/>
            <a:ext cx="5212080" cy="3749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 Adding new fields to OOTB tables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 Writing custom business rules or script actions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 Creating non-standard CI classes or table extensions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 Modifying OOTB workflow stages in code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 Building custom client scripts or UI policies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 Creating custom REST endpoints outside the catalog</a:t>
            </a:r>
            <a:endParaRPr lang="en-US" sz="1100" dirty="0"/>
          </a:p>
        </p:txBody>
      </p:sp>
      <p:sp>
        <p:nvSpPr>
          <p:cNvPr id="18" name="Shape 15"/>
          <p:cNvSpPr/>
          <p:nvPr/>
        </p:nvSpPr>
        <p:spPr>
          <a:xfrm>
            <a:off x="457200" y="5440680"/>
            <a:ext cx="11247120" cy="658368"/>
          </a:xfrm>
          <a:prstGeom prst="rect">
            <a:avLst/>
          </a:prstGeom>
          <a:solidFill>
            <a:srgbClr val="FEF3C7"/>
          </a:solidFill>
          <a:ln w="12700">
            <a:solidFill>
              <a:srgbClr val="FDE68A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594360" y="5486400"/>
            <a:ext cx="109728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obligation:  </a:t>
            </a:r>
            <a:pPr indent="0" marL="0">
              <a:buNone/>
            </a:pPr>
            <a:r>
              <a:rPr lang="en-US" sz="1100" dirty="0">
                <a:solidFill>
                  <a:srgbClr val="7835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Any pattern requiring customization is captured in the Governance Triage Log with a named owner and disposition date — addressed in the current sprint via the Customization Council or deferred to a governed follow-on engagement.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424160" y="137160"/>
            <a:ext cx="1554480" cy="530352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57200" y="256032"/>
            <a:ext cx="7315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spc="300" kern="0" dirty="0">
                <a:solidFill>
                  <a:srgbClr val="14B8A6"/>
                </a:solidFill>
              </a:rPr>
              <a:t>THE PROCESS</a:t>
            </a:r>
            <a:endParaRPr lang="en-US" sz="800" dirty="0"/>
          </a:p>
        </p:txBody>
      </p:sp>
      <p:sp>
        <p:nvSpPr>
          <p:cNvPr id="4" name="Shape 1"/>
          <p:cNvSpPr/>
          <p:nvPr/>
        </p:nvSpPr>
        <p:spPr>
          <a:xfrm>
            <a:off x="365760" y="6556248"/>
            <a:ext cx="11430000" cy="0"/>
          </a:xfrm>
          <a:prstGeom prst="line">
            <a:avLst/>
          </a:prstGeom>
          <a:noFill/>
          <a:ln w="6350">
            <a:solidFill>
              <a:srgbClr val="CBD5E1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365760" y="6601968"/>
            <a:ext cx="3200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</a:rPr>
              <a:t>Everforth ECS Federal</a:t>
            </a:r>
            <a:endParaRPr lang="en-US" sz="800" dirty="0"/>
          </a:p>
        </p:txBody>
      </p:sp>
      <p:sp>
        <p:nvSpPr>
          <p:cNvPr id="6" name="Text 3"/>
          <p:cNvSpPr/>
          <p:nvPr/>
        </p:nvSpPr>
        <p:spPr>
          <a:xfrm>
            <a:off x="3566160" y="6601968"/>
            <a:ext cx="6400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94A3B8"/>
                </a:solidFill>
              </a:rPr>
              <a:t>SERVICENOW PRACTICE  ·  MODERNIZING THE CORE  ·  PERFORMANCE ANALYTICS</a:t>
            </a:r>
            <a:endParaRPr lang="en-US" sz="800" dirty="0"/>
          </a:p>
        </p:txBody>
      </p:sp>
      <p:sp>
        <p:nvSpPr>
          <p:cNvPr id="7" name="Text 4"/>
          <p:cNvSpPr/>
          <p:nvPr/>
        </p:nvSpPr>
        <p:spPr>
          <a:xfrm>
            <a:off x="11430000" y="6601968"/>
            <a:ext cx="457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4A3B8"/>
                </a:solidFill>
              </a:rPr>
              <a:t>5</a:t>
            </a:r>
            <a:endParaRPr lang="en-US" sz="800" dirty="0"/>
          </a:p>
        </p:txBody>
      </p:sp>
      <p:sp>
        <p:nvSpPr>
          <p:cNvPr id="8" name="Text 5"/>
          <p:cNvSpPr/>
          <p:nvPr/>
        </p:nvSpPr>
        <p:spPr>
          <a:xfrm>
            <a:off x="457200" y="502920"/>
            <a:ext cx="10515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3A5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ServiceNow OOTB Performance Analytics — Data Flow</a:t>
            </a:r>
            <a:endParaRPr lang="en-US" sz="2600" dirty="0"/>
          </a:p>
        </p:txBody>
      </p:sp>
      <p:sp>
        <p:nvSpPr>
          <p:cNvPr id="9" name="Shape 6"/>
          <p:cNvSpPr/>
          <p:nvPr/>
        </p:nvSpPr>
        <p:spPr>
          <a:xfrm>
            <a:off x="457200" y="1234440"/>
            <a:ext cx="11247120" cy="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457200" y="1371600"/>
            <a:ext cx="1661160" cy="71323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457200" y="1371600"/>
            <a:ext cx="16611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Data Collection</a:t>
            </a:r>
            <a:endParaRPr lang="en-US" sz="1000" dirty="0"/>
          </a:p>
        </p:txBody>
      </p:sp>
      <p:sp>
        <p:nvSpPr>
          <p:cNvPr id="12" name="Shape 9"/>
          <p:cNvSpPr/>
          <p:nvPr/>
        </p:nvSpPr>
        <p:spPr>
          <a:xfrm>
            <a:off x="2118360" y="1691640"/>
            <a:ext cx="256032" cy="73152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2374392" y="1371600"/>
            <a:ext cx="1661160" cy="71323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2374392" y="1371600"/>
            <a:ext cx="16611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Aggregation Job</a:t>
            </a:r>
            <a:endParaRPr lang="en-US" sz="1000" dirty="0"/>
          </a:p>
        </p:txBody>
      </p:sp>
      <p:sp>
        <p:nvSpPr>
          <p:cNvPr id="15" name="Shape 12"/>
          <p:cNvSpPr/>
          <p:nvPr/>
        </p:nvSpPr>
        <p:spPr>
          <a:xfrm>
            <a:off x="4035552" y="1691640"/>
            <a:ext cx="256032" cy="73152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4291584" y="1371600"/>
            <a:ext cx="1661160" cy="71323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4291584" y="1371600"/>
            <a:ext cx="16611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Indicator Scores</a:t>
            </a:r>
            <a:endParaRPr lang="en-US" sz="1000" dirty="0"/>
          </a:p>
        </p:txBody>
      </p:sp>
      <p:sp>
        <p:nvSpPr>
          <p:cNvPr id="18" name="Shape 15"/>
          <p:cNvSpPr/>
          <p:nvPr/>
        </p:nvSpPr>
        <p:spPr>
          <a:xfrm>
            <a:off x="5952744" y="1691640"/>
            <a:ext cx="256032" cy="73152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19" name="Shape 16"/>
          <p:cNvSpPr/>
          <p:nvPr/>
        </p:nvSpPr>
        <p:spPr>
          <a:xfrm>
            <a:off x="6208776" y="1371600"/>
            <a:ext cx="1661160" cy="71323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6208776" y="1371600"/>
            <a:ext cx="16611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Scorecards</a:t>
            </a:r>
            <a:endParaRPr lang="en-US" sz="1000" dirty="0"/>
          </a:p>
        </p:txBody>
      </p:sp>
      <p:sp>
        <p:nvSpPr>
          <p:cNvPr id="21" name="Shape 18"/>
          <p:cNvSpPr/>
          <p:nvPr/>
        </p:nvSpPr>
        <p:spPr>
          <a:xfrm>
            <a:off x="7869936" y="1691640"/>
            <a:ext cx="256032" cy="73152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22" name="Shape 19"/>
          <p:cNvSpPr/>
          <p:nvPr/>
        </p:nvSpPr>
        <p:spPr>
          <a:xfrm>
            <a:off x="8125968" y="1371600"/>
            <a:ext cx="1661160" cy="71323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8125968" y="1371600"/>
            <a:ext cx="16611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Dashboards</a:t>
            </a:r>
            <a:endParaRPr lang="en-US" sz="1000" dirty="0"/>
          </a:p>
        </p:txBody>
      </p:sp>
      <p:sp>
        <p:nvSpPr>
          <p:cNvPr id="24" name="Shape 21"/>
          <p:cNvSpPr/>
          <p:nvPr/>
        </p:nvSpPr>
        <p:spPr>
          <a:xfrm>
            <a:off x="9787128" y="1691640"/>
            <a:ext cx="256032" cy="73152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25" name="Shape 22"/>
          <p:cNvSpPr/>
          <p:nvPr/>
        </p:nvSpPr>
        <p:spPr>
          <a:xfrm>
            <a:off x="10043160" y="1371600"/>
            <a:ext cx="1661160" cy="71323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10043160" y="1371600"/>
            <a:ext cx="16611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Insights &amp; Action</a:t>
            </a:r>
            <a:endParaRPr lang="en-US" sz="1000" dirty="0"/>
          </a:p>
        </p:txBody>
      </p:sp>
      <p:sp>
        <p:nvSpPr>
          <p:cNvPr id="27" name="Shape 24"/>
          <p:cNvSpPr/>
          <p:nvPr/>
        </p:nvSpPr>
        <p:spPr>
          <a:xfrm>
            <a:off x="457200" y="2267712"/>
            <a:ext cx="11247120" cy="329184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28" name="Text 25"/>
          <p:cNvSpPr/>
          <p:nvPr/>
        </p:nvSpPr>
        <p:spPr>
          <a:xfrm>
            <a:off x="457200" y="2267712"/>
            <a:ext cx="112471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Key Capabilities &amp; OOTB Features</a:t>
            </a:r>
            <a:endParaRPr lang="en-US" sz="1000" dirty="0"/>
          </a:p>
        </p:txBody>
      </p:sp>
      <p:sp>
        <p:nvSpPr>
          <p:cNvPr id="29" name="Shape 26"/>
          <p:cNvSpPr/>
          <p:nvPr/>
        </p:nvSpPr>
        <p:spPr>
          <a:xfrm>
            <a:off x="457200" y="2596896"/>
            <a:ext cx="3749040" cy="3675888"/>
          </a:xfrm>
          <a:prstGeom prst="rect">
            <a:avLst/>
          </a:prstGeom>
          <a:solidFill>
            <a:srgbClr val="F7F9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0" name="Text 27"/>
          <p:cNvSpPr/>
          <p:nvPr/>
        </p:nvSpPr>
        <p:spPr>
          <a:xfrm>
            <a:off x="548640" y="2670048"/>
            <a:ext cx="35661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3A5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OOTB Indicator Library</a:t>
            </a:r>
            <a:endParaRPr lang="en-US" sz="1100" dirty="0"/>
          </a:p>
        </p:txBody>
      </p:sp>
      <p:sp>
        <p:nvSpPr>
          <p:cNvPr id="31" name="Text 28"/>
          <p:cNvSpPr/>
          <p:nvPr/>
        </p:nvSpPr>
        <p:spPr>
          <a:xfrm>
            <a:off x="548640" y="3017520"/>
            <a:ext cx="3566160" cy="30906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ServiceNow ships 200+ OOTB PA indicators for ITSM, ITAM, CMDB, and Knowledge. No custom indicator build needed for Sprint 6 — activate from the OOTB indicator library.</a:t>
            </a:r>
            <a:endParaRPr lang="en-US" sz="1000" dirty="0"/>
          </a:p>
        </p:txBody>
      </p:sp>
      <p:sp>
        <p:nvSpPr>
          <p:cNvPr id="32" name="Shape 29"/>
          <p:cNvSpPr/>
          <p:nvPr/>
        </p:nvSpPr>
        <p:spPr>
          <a:xfrm>
            <a:off x="4206240" y="2596896"/>
            <a:ext cx="3749040" cy="3675888"/>
          </a:xfrm>
          <a:prstGeom prst="rect">
            <a:avLst/>
          </a:prstGeom>
          <a:solidFill>
            <a:srgbClr val="F7F9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3" name="Text 30"/>
          <p:cNvSpPr/>
          <p:nvPr/>
        </p:nvSpPr>
        <p:spPr>
          <a:xfrm>
            <a:off x="4297680" y="2670048"/>
            <a:ext cx="35661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3A5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PA Premium vs Standard</a:t>
            </a:r>
            <a:endParaRPr lang="en-US" sz="1100" dirty="0"/>
          </a:p>
        </p:txBody>
      </p:sp>
      <p:sp>
        <p:nvSpPr>
          <p:cNvPr id="34" name="Text 31"/>
          <p:cNvSpPr/>
          <p:nvPr/>
        </p:nvSpPr>
        <p:spPr>
          <a:xfrm>
            <a:off x="4297680" y="3017520"/>
            <a:ext cx="3566160" cy="30906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 Premium indicators (SLA attainment trending, PI accuracy, CMDB health trends) require PA Premium license. Standard indicators are included in base ITSM license.</a:t>
            </a:r>
            <a:endParaRPr lang="en-US" sz="1000" dirty="0"/>
          </a:p>
        </p:txBody>
      </p:sp>
      <p:sp>
        <p:nvSpPr>
          <p:cNvPr id="35" name="Shape 32"/>
          <p:cNvSpPr/>
          <p:nvPr/>
        </p:nvSpPr>
        <p:spPr>
          <a:xfrm>
            <a:off x="7955280" y="2596896"/>
            <a:ext cx="3749040" cy="3675888"/>
          </a:xfrm>
          <a:prstGeom prst="rect">
            <a:avLst/>
          </a:prstGeom>
          <a:solidFill>
            <a:srgbClr val="F7F9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6" name="Text 33"/>
          <p:cNvSpPr/>
          <p:nvPr/>
        </p:nvSpPr>
        <p:spPr>
          <a:xfrm>
            <a:off x="8046720" y="2670048"/>
            <a:ext cx="35661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3A5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AI Alignment</a:t>
            </a:r>
            <a:endParaRPr lang="en-US" sz="1100" dirty="0"/>
          </a:p>
        </p:txBody>
      </p:sp>
      <p:sp>
        <p:nvSpPr>
          <p:cNvPr id="37" name="Text 34"/>
          <p:cNvSpPr/>
          <p:nvPr/>
        </p:nvSpPr>
        <p:spPr>
          <a:xfrm>
            <a:off x="8046720" y="3017520"/>
            <a:ext cx="3566160" cy="30906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 metrics feed the Now Assist operational summary and executive briefing features. Clean, structured PA data is a prerequisite for AI-generated operational narratives.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424160" y="137160"/>
            <a:ext cx="1554480" cy="530352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57200" y="256032"/>
            <a:ext cx="7315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spc="300" kern="0" dirty="0">
                <a:solidFill>
                  <a:srgbClr val="14B8A6"/>
                </a:solidFill>
              </a:rPr>
              <a:t>KEY DECISION  #1</a:t>
            </a:r>
            <a:endParaRPr lang="en-US" sz="800" dirty="0"/>
          </a:p>
        </p:txBody>
      </p:sp>
      <p:sp>
        <p:nvSpPr>
          <p:cNvPr id="4" name="Shape 1"/>
          <p:cNvSpPr/>
          <p:nvPr/>
        </p:nvSpPr>
        <p:spPr>
          <a:xfrm>
            <a:off x="365760" y="6556248"/>
            <a:ext cx="11430000" cy="0"/>
          </a:xfrm>
          <a:prstGeom prst="line">
            <a:avLst/>
          </a:prstGeom>
          <a:noFill/>
          <a:ln w="6350">
            <a:solidFill>
              <a:srgbClr val="CBD5E1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365760" y="6601968"/>
            <a:ext cx="3200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</a:rPr>
              <a:t>Everforth ECS Federal</a:t>
            </a:r>
            <a:endParaRPr lang="en-US" sz="800" dirty="0"/>
          </a:p>
        </p:txBody>
      </p:sp>
      <p:sp>
        <p:nvSpPr>
          <p:cNvPr id="6" name="Text 3"/>
          <p:cNvSpPr/>
          <p:nvPr/>
        </p:nvSpPr>
        <p:spPr>
          <a:xfrm>
            <a:off x="3566160" y="6601968"/>
            <a:ext cx="6400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94A3B8"/>
                </a:solidFill>
              </a:rPr>
              <a:t>SERVICENOW PRACTICE  ·  MODERNIZING THE CORE  ·  PERFORMANCE ANALYTICS</a:t>
            </a:r>
            <a:endParaRPr lang="en-US" sz="800" dirty="0"/>
          </a:p>
        </p:txBody>
      </p:sp>
      <p:sp>
        <p:nvSpPr>
          <p:cNvPr id="7" name="Text 4"/>
          <p:cNvSpPr/>
          <p:nvPr/>
        </p:nvSpPr>
        <p:spPr>
          <a:xfrm>
            <a:off x="11430000" y="6601968"/>
            <a:ext cx="457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4A3B8"/>
                </a:solidFill>
              </a:rPr>
              <a:t>6</a:t>
            </a:r>
            <a:endParaRPr lang="en-US" sz="800" dirty="0"/>
          </a:p>
        </p:txBody>
      </p:sp>
      <p:sp>
        <p:nvSpPr>
          <p:cNvPr id="8" name="Text 5"/>
          <p:cNvSpPr/>
          <p:nvPr/>
        </p:nvSpPr>
        <p:spPr>
          <a:xfrm>
            <a:off x="457200" y="502920"/>
            <a:ext cx="969264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1E3A5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Which OOTB indicators will be activated at Sprint 6 go-live?</a:t>
            </a:r>
            <a:endParaRPr lang="en-US" sz="2100" dirty="0"/>
          </a:p>
        </p:txBody>
      </p:sp>
      <p:sp>
        <p:nvSpPr>
          <p:cNvPr id="9" name="Shape 6"/>
          <p:cNvSpPr/>
          <p:nvPr/>
        </p:nvSpPr>
        <p:spPr>
          <a:xfrm>
            <a:off x="457200" y="1298448"/>
            <a:ext cx="11247120" cy="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457200" y="1389888"/>
            <a:ext cx="5394960" cy="38404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457200" y="1389888"/>
            <a:ext cx="5394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OOTB RECOMMENDATION</a:t>
            </a:r>
            <a:endParaRPr lang="en-US" sz="1000" dirty="0"/>
          </a:p>
        </p:txBody>
      </p:sp>
      <p:sp>
        <p:nvSpPr>
          <p:cNvPr id="12" name="Shape 9"/>
          <p:cNvSpPr/>
          <p:nvPr/>
        </p:nvSpPr>
        <p:spPr>
          <a:xfrm>
            <a:off x="457200" y="1773936"/>
            <a:ext cx="5394960" cy="3657600"/>
          </a:xfrm>
          <a:prstGeom prst="rect">
            <a:avLst/>
          </a:prstGeom>
          <a:solidFill>
            <a:srgbClr val="F0FDFA"/>
          </a:solidFill>
          <a:ln w="12700">
            <a:solidFill>
              <a:srgbClr val="CCF0EA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594360" y="1865376"/>
            <a:ext cx="5120640" cy="3474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OOTB Indicator Priority Set: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Incident: MTTR by priority, SLA attainment %, incident volume by category, reopen rate. Change: change success rate, emergency change %. Knowledge: deflection rate, article feedback score. CMDB: completeness % by class.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200" dirty="0"/>
          </a:p>
          <a:p>
            <a:pPr indent="0" marL="0">
              <a:buNone/>
            </a:pPr>
            <a:r>
              <a:rPr lang="en-US" sz="120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Activation Model: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Indicators activated from the PA Indicator library — select and enable. Data begins collecting from activation date. Historical backfill: PA can collect historical data for indicators from existing records if enabled.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200" dirty="0"/>
          </a:p>
          <a:p>
            <a:pPr indent="0" marL="0">
              <a:buNone/>
            </a:pPr>
            <a:r>
              <a:rPr lang="en-US" sz="120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Licensing Note: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Confirm PA Premium license before activating premium indicators. Standard indicators are included in ITSM license.</a:t>
            </a:r>
            <a:endParaRPr lang="en-US" sz="1200" dirty="0"/>
          </a:p>
        </p:txBody>
      </p:sp>
      <p:sp>
        <p:nvSpPr>
          <p:cNvPr id="14" name="Shape 11"/>
          <p:cNvSpPr/>
          <p:nvPr/>
        </p:nvSpPr>
        <p:spPr>
          <a:xfrm>
            <a:off x="6217920" y="1389888"/>
            <a:ext cx="5532120" cy="384048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6217920" y="1389888"/>
            <a:ext cx="5532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DECIDE IN THE ROOM</a:t>
            </a:r>
            <a:endParaRPr lang="en-US" sz="1000" dirty="0"/>
          </a:p>
        </p:txBody>
      </p:sp>
      <p:sp>
        <p:nvSpPr>
          <p:cNvPr id="16" name="Shape 13"/>
          <p:cNvSpPr/>
          <p:nvPr/>
        </p:nvSpPr>
        <p:spPr>
          <a:xfrm>
            <a:off x="6217920" y="1773936"/>
            <a:ext cx="5532120" cy="3657600"/>
          </a:xfrm>
          <a:prstGeom prst="rect">
            <a:avLst/>
          </a:prstGeom>
          <a:solidFill>
            <a:srgbClr val="F7F9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6355080" y="1865376"/>
            <a:ext cx="5257800" cy="3474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 to answer:
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 Which process areas are in scope for Sprint 6 PA (Incident, Change, Knowledge, CMDB, HAM, all)?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 Will historical data collection be enabled to backfill indicators from Sprint 1 data?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 Are PA Premium indicators licensed — or only standard indicators?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 Who owns the indicator library post-go-live (adding and retiring indicators)?</a:t>
            </a:r>
            <a:endParaRPr lang="en-US" sz="1200" dirty="0"/>
          </a:p>
        </p:txBody>
      </p:sp>
      <p:sp>
        <p:nvSpPr>
          <p:cNvPr id="18" name="Shape 15"/>
          <p:cNvSpPr/>
          <p:nvPr/>
        </p:nvSpPr>
        <p:spPr>
          <a:xfrm>
            <a:off x="457200" y="5559552"/>
            <a:ext cx="11247120" cy="658368"/>
          </a:xfrm>
          <a:prstGeom prst="rect">
            <a:avLst/>
          </a:prstGeom>
          <a:solidFill>
            <a:srgbClr val="FEF3C7"/>
          </a:solidFill>
          <a:ln w="12700">
            <a:solidFill>
              <a:srgbClr val="FDE68A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594360" y="5605272"/>
            <a:ext cx="109728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 OOTB Defense:  </a:t>
            </a:r>
            <a:pPr indent="0" marL="0">
              <a:buNone/>
            </a:pPr>
            <a:r>
              <a:rPr lang="en-US" sz="1100" dirty="0">
                <a:solidFill>
                  <a:srgbClr val="7835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Activating all 200+ OOTB indicators without a review process creates scorecard noise. Start with 15–20 high-value indicators across the in-scope process areas. Expand after the first 30-day review.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424160" y="137160"/>
            <a:ext cx="1554480" cy="530352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57200" y="256032"/>
            <a:ext cx="7315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spc="300" kern="0" dirty="0">
                <a:solidFill>
                  <a:srgbClr val="14B8A6"/>
                </a:solidFill>
              </a:rPr>
              <a:t>KEY DECISION  #2</a:t>
            </a:r>
            <a:endParaRPr lang="en-US" sz="800" dirty="0"/>
          </a:p>
        </p:txBody>
      </p:sp>
      <p:sp>
        <p:nvSpPr>
          <p:cNvPr id="4" name="Shape 1"/>
          <p:cNvSpPr/>
          <p:nvPr/>
        </p:nvSpPr>
        <p:spPr>
          <a:xfrm>
            <a:off x="365760" y="6556248"/>
            <a:ext cx="11430000" cy="0"/>
          </a:xfrm>
          <a:prstGeom prst="line">
            <a:avLst/>
          </a:prstGeom>
          <a:noFill/>
          <a:ln w="6350">
            <a:solidFill>
              <a:srgbClr val="CBD5E1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365760" y="6601968"/>
            <a:ext cx="3200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</a:rPr>
              <a:t>Everforth ECS Federal</a:t>
            </a:r>
            <a:endParaRPr lang="en-US" sz="800" dirty="0"/>
          </a:p>
        </p:txBody>
      </p:sp>
      <p:sp>
        <p:nvSpPr>
          <p:cNvPr id="6" name="Text 3"/>
          <p:cNvSpPr/>
          <p:nvPr/>
        </p:nvSpPr>
        <p:spPr>
          <a:xfrm>
            <a:off x="3566160" y="6601968"/>
            <a:ext cx="6400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94A3B8"/>
                </a:solidFill>
              </a:rPr>
              <a:t>SERVICENOW PRACTICE  ·  MODERNIZING THE CORE  ·  PERFORMANCE ANALYTICS</a:t>
            </a:r>
            <a:endParaRPr lang="en-US" sz="800" dirty="0"/>
          </a:p>
        </p:txBody>
      </p:sp>
      <p:sp>
        <p:nvSpPr>
          <p:cNvPr id="7" name="Text 4"/>
          <p:cNvSpPr/>
          <p:nvPr/>
        </p:nvSpPr>
        <p:spPr>
          <a:xfrm>
            <a:off x="11430000" y="6601968"/>
            <a:ext cx="457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4A3B8"/>
                </a:solidFill>
              </a:rPr>
              <a:t>7</a:t>
            </a:r>
            <a:endParaRPr lang="en-US" sz="800" dirty="0"/>
          </a:p>
        </p:txBody>
      </p:sp>
      <p:sp>
        <p:nvSpPr>
          <p:cNvPr id="8" name="Text 5"/>
          <p:cNvSpPr/>
          <p:nvPr/>
        </p:nvSpPr>
        <p:spPr>
          <a:xfrm>
            <a:off x="457200" y="502920"/>
            <a:ext cx="969264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1E3A5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What breakdown dimensions will indicators be segmented by?</a:t>
            </a:r>
            <a:endParaRPr lang="en-US" sz="2100" dirty="0"/>
          </a:p>
        </p:txBody>
      </p:sp>
      <p:sp>
        <p:nvSpPr>
          <p:cNvPr id="9" name="Shape 6"/>
          <p:cNvSpPr/>
          <p:nvPr/>
        </p:nvSpPr>
        <p:spPr>
          <a:xfrm>
            <a:off x="457200" y="1298448"/>
            <a:ext cx="11247120" cy="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457200" y="1389888"/>
            <a:ext cx="5394960" cy="38404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457200" y="1389888"/>
            <a:ext cx="5394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OOTB RECOMMENDATION</a:t>
            </a:r>
            <a:endParaRPr lang="en-US" sz="1000" dirty="0"/>
          </a:p>
        </p:txBody>
      </p:sp>
      <p:sp>
        <p:nvSpPr>
          <p:cNvPr id="12" name="Shape 9"/>
          <p:cNvSpPr/>
          <p:nvPr/>
        </p:nvSpPr>
        <p:spPr>
          <a:xfrm>
            <a:off x="457200" y="1773936"/>
            <a:ext cx="5394960" cy="3657600"/>
          </a:xfrm>
          <a:prstGeom prst="rect">
            <a:avLst/>
          </a:prstGeom>
          <a:solidFill>
            <a:srgbClr val="F0FDFA"/>
          </a:solidFill>
          <a:ln w="12700">
            <a:solidFill>
              <a:srgbClr val="CCF0EA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594360" y="1865376"/>
            <a:ext cx="5120640" cy="3474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OOTB Breakdowns: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Incident indicators: by Assignment Group, by Category, by Priority, by Location. Change indicators: by Type, by Risk, by Application Service. All OOTB breakdowns — no custom dimensions needed.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200" dirty="0"/>
          </a:p>
          <a:p>
            <a:pPr indent="0" marL="0">
              <a:buNone/>
            </a:pPr>
            <a:r>
              <a:rPr lang="en-US" sz="120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Breakdown Purpose: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Breakdowns enable drill-down from aggregate score to root cause. 'SLA attainment is 72%' → broken down by group → 'Network team at 45%' → action item identified.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200" dirty="0"/>
          </a:p>
          <a:p>
            <a:pPr indent="0" marL="0">
              <a:buNone/>
            </a:pPr>
            <a:r>
              <a:rPr lang="en-US" sz="120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 Breakdowns: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 breakdown dimensions (e.g., 'by Customer Segment') require a custom breakdown definition — this is configuration in PA, not scripting.</a:t>
            </a:r>
            <a:endParaRPr lang="en-US" sz="1200" dirty="0"/>
          </a:p>
        </p:txBody>
      </p:sp>
      <p:sp>
        <p:nvSpPr>
          <p:cNvPr id="14" name="Shape 11"/>
          <p:cNvSpPr/>
          <p:nvPr/>
        </p:nvSpPr>
        <p:spPr>
          <a:xfrm>
            <a:off x="6217920" y="1389888"/>
            <a:ext cx="5532120" cy="384048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6217920" y="1389888"/>
            <a:ext cx="5532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DECIDE IN THE ROOM</a:t>
            </a:r>
            <a:endParaRPr lang="en-US" sz="1000" dirty="0"/>
          </a:p>
        </p:txBody>
      </p:sp>
      <p:sp>
        <p:nvSpPr>
          <p:cNvPr id="16" name="Shape 13"/>
          <p:cNvSpPr/>
          <p:nvPr/>
        </p:nvSpPr>
        <p:spPr>
          <a:xfrm>
            <a:off x="6217920" y="1773936"/>
            <a:ext cx="5532120" cy="3657600"/>
          </a:xfrm>
          <a:prstGeom prst="rect">
            <a:avLst/>
          </a:prstGeom>
          <a:solidFill>
            <a:srgbClr val="F7F9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6355080" y="1865376"/>
            <a:ext cx="5257800" cy="3474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 to answer:
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 Which breakdowns are required for each indicator group at go-live?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 Are any custom breakdown dimensions needed that are not covered by OOTB (e.g., by cost center)?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 Who decides which breakdowns are published to which audience (all breakdowns to all users creates information overload)?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 Will breakdown data be used for team-level performance reviews — and what is the governance model for that use?</a:t>
            </a:r>
            <a:endParaRPr lang="en-US" sz="1200" dirty="0"/>
          </a:p>
        </p:txBody>
      </p:sp>
      <p:sp>
        <p:nvSpPr>
          <p:cNvPr id="18" name="Shape 15"/>
          <p:cNvSpPr/>
          <p:nvPr/>
        </p:nvSpPr>
        <p:spPr>
          <a:xfrm>
            <a:off x="457200" y="5559552"/>
            <a:ext cx="11247120" cy="658368"/>
          </a:xfrm>
          <a:prstGeom prst="rect">
            <a:avLst/>
          </a:prstGeom>
          <a:solidFill>
            <a:srgbClr val="FEF3C7"/>
          </a:solidFill>
          <a:ln w="12700">
            <a:solidFill>
              <a:srgbClr val="FDE68A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594360" y="5605272"/>
            <a:ext cx="109728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 OOTB Defense:  </a:t>
            </a:r>
            <a:pPr indent="0" marL="0">
              <a:buNone/>
            </a:pPr>
            <a:r>
              <a:rPr lang="en-US" sz="1100" dirty="0">
                <a:solidFill>
                  <a:srgbClr val="7835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Exposing all available breakdowns to all users creates PA dashboard complexity that reduces adoption. Start with 2–3 breakdowns per indicator. Add dimensions based on actual user requests post-go-live.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424160" y="137160"/>
            <a:ext cx="1554480" cy="530352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57200" y="256032"/>
            <a:ext cx="7315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spc="300" kern="0" dirty="0">
                <a:solidFill>
                  <a:srgbClr val="14B8A6"/>
                </a:solidFill>
              </a:rPr>
              <a:t>KEY DECISION  #3</a:t>
            </a:r>
            <a:endParaRPr lang="en-US" sz="800" dirty="0"/>
          </a:p>
        </p:txBody>
      </p:sp>
      <p:sp>
        <p:nvSpPr>
          <p:cNvPr id="4" name="Shape 1"/>
          <p:cNvSpPr/>
          <p:nvPr/>
        </p:nvSpPr>
        <p:spPr>
          <a:xfrm>
            <a:off x="365760" y="6556248"/>
            <a:ext cx="11430000" cy="0"/>
          </a:xfrm>
          <a:prstGeom prst="line">
            <a:avLst/>
          </a:prstGeom>
          <a:noFill/>
          <a:ln w="6350">
            <a:solidFill>
              <a:srgbClr val="CBD5E1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365760" y="6601968"/>
            <a:ext cx="3200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</a:rPr>
              <a:t>Everforth ECS Federal</a:t>
            </a:r>
            <a:endParaRPr lang="en-US" sz="800" dirty="0"/>
          </a:p>
        </p:txBody>
      </p:sp>
      <p:sp>
        <p:nvSpPr>
          <p:cNvPr id="6" name="Text 3"/>
          <p:cNvSpPr/>
          <p:nvPr/>
        </p:nvSpPr>
        <p:spPr>
          <a:xfrm>
            <a:off x="3566160" y="6601968"/>
            <a:ext cx="6400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94A3B8"/>
                </a:solidFill>
              </a:rPr>
              <a:t>SERVICENOW PRACTICE  ·  MODERNIZING THE CORE  ·  PERFORMANCE ANALYTICS</a:t>
            </a:r>
            <a:endParaRPr lang="en-US" sz="800" dirty="0"/>
          </a:p>
        </p:txBody>
      </p:sp>
      <p:sp>
        <p:nvSpPr>
          <p:cNvPr id="7" name="Text 4"/>
          <p:cNvSpPr/>
          <p:nvPr/>
        </p:nvSpPr>
        <p:spPr>
          <a:xfrm>
            <a:off x="11430000" y="6601968"/>
            <a:ext cx="457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4A3B8"/>
                </a:solidFill>
              </a:rPr>
              <a:t>8</a:t>
            </a:r>
            <a:endParaRPr lang="en-US" sz="800" dirty="0"/>
          </a:p>
        </p:txBody>
      </p:sp>
      <p:sp>
        <p:nvSpPr>
          <p:cNvPr id="8" name="Text 5"/>
          <p:cNvSpPr/>
          <p:nvPr/>
        </p:nvSpPr>
        <p:spPr>
          <a:xfrm>
            <a:off x="457200" y="502920"/>
            <a:ext cx="969264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1E3A5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What scorecards will be built — and who is each scorecard for?</a:t>
            </a:r>
            <a:endParaRPr lang="en-US" sz="2100" dirty="0"/>
          </a:p>
        </p:txBody>
      </p:sp>
      <p:sp>
        <p:nvSpPr>
          <p:cNvPr id="9" name="Shape 6"/>
          <p:cNvSpPr/>
          <p:nvPr/>
        </p:nvSpPr>
        <p:spPr>
          <a:xfrm>
            <a:off x="457200" y="1298448"/>
            <a:ext cx="11247120" cy="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457200" y="1389888"/>
            <a:ext cx="5394960" cy="38404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457200" y="1389888"/>
            <a:ext cx="5394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OOTB RECOMMENDATION</a:t>
            </a:r>
            <a:endParaRPr lang="en-US" sz="1000" dirty="0"/>
          </a:p>
        </p:txBody>
      </p:sp>
      <p:sp>
        <p:nvSpPr>
          <p:cNvPr id="12" name="Shape 9"/>
          <p:cNvSpPr/>
          <p:nvPr/>
        </p:nvSpPr>
        <p:spPr>
          <a:xfrm>
            <a:off x="457200" y="1773936"/>
            <a:ext cx="5394960" cy="3657600"/>
          </a:xfrm>
          <a:prstGeom prst="rect">
            <a:avLst/>
          </a:prstGeom>
          <a:solidFill>
            <a:srgbClr val="F0FDFA"/>
          </a:solidFill>
          <a:ln w="12700">
            <a:solidFill>
              <a:srgbClr val="CCF0EA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594360" y="1865376"/>
            <a:ext cx="5120640" cy="3474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OOTB Scorecard Types: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Service Desk (for service desk managers), IT Operations (for IT ops leads), Executive Summary (for CIO/IT Director), Process Owner (one per process: Incident, Change, Problem, CMDB).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200" dirty="0"/>
          </a:p>
          <a:p>
            <a:pPr indent="0" marL="0">
              <a:buNone/>
            </a:pPr>
            <a:r>
              <a:rPr lang="en-US" sz="120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Scorecard Design: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scorecard groups 5–8 indicators with targets. Green/yellow/red threshold coloring is OOTB — no custom CSS.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200" dirty="0"/>
          </a:p>
          <a:p>
            <a:pPr indent="0" marL="0">
              <a:buNone/>
            </a:pPr>
            <a:r>
              <a:rPr lang="en-US" sz="120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Audience Targeting: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Scorecards are shared by role — service desk managers see their scorecard, executives see the summary. OOTB role-based visibility — no custom access control needed.</a:t>
            </a:r>
            <a:endParaRPr lang="en-US" sz="1200" dirty="0"/>
          </a:p>
        </p:txBody>
      </p:sp>
      <p:sp>
        <p:nvSpPr>
          <p:cNvPr id="14" name="Shape 11"/>
          <p:cNvSpPr/>
          <p:nvPr/>
        </p:nvSpPr>
        <p:spPr>
          <a:xfrm>
            <a:off x="6217920" y="1389888"/>
            <a:ext cx="5532120" cy="384048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6217920" y="1389888"/>
            <a:ext cx="5532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DECIDE IN THE ROOM</a:t>
            </a:r>
            <a:endParaRPr lang="en-US" sz="1000" dirty="0"/>
          </a:p>
        </p:txBody>
      </p:sp>
      <p:sp>
        <p:nvSpPr>
          <p:cNvPr id="16" name="Shape 13"/>
          <p:cNvSpPr/>
          <p:nvPr/>
        </p:nvSpPr>
        <p:spPr>
          <a:xfrm>
            <a:off x="6217920" y="1773936"/>
            <a:ext cx="5532120" cy="3657600"/>
          </a:xfrm>
          <a:prstGeom prst="rect">
            <a:avLst/>
          </a:prstGeom>
          <a:solidFill>
            <a:srgbClr val="F7F9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6355080" y="1865376"/>
            <a:ext cx="5257800" cy="3474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 to answer:
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 Which scorecards will be built at Sprint 6 go-live (service desk, IT ops, executive, process owner)?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 Who are the named scorecard recipients for each scorecard type?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 What is the review cadence for each scorecard (weekly, monthly)?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 Will scorecards be shared via email digest — or are users expected to navigate to ServiceNow?</a:t>
            </a:r>
            <a:endParaRPr lang="en-US" sz="1200" dirty="0"/>
          </a:p>
        </p:txBody>
      </p:sp>
      <p:sp>
        <p:nvSpPr>
          <p:cNvPr id="18" name="Shape 15"/>
          <p:cNvSpPr/>
          <p:nvPr/>
        </p:nvSpPr>
        <p:spPr>
          <a:xfrm>
            <a:off x="457200" y="5559552"/>
            <a:ext cx="11247120" cy="658368"/>
          </a:xfrm>
          <a:prstGeom prst="rect">
            <a:avLst/>
          </a:prstGeom>
          <a:solidFill>
            <a:srgbClr val="FEF3C7"/>
          </a:solidFill>
          <a:ln w="12700">
            <a:solidFill>
              <a:srgbClr val="FDE68A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594360" y="5605272"/>
            <a:ext cx="109728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 OOTB Defense:  </a:t>
            </a:r>
            <a:pPr indent="0" marL="0">
              <a:buNone/>
            </a:pPr>
            <a:r>
              <a:rPr lang="en-US" sz="1100" dirty="0">
                <a:solidFill>
                  <a:srgbClr val="7835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 scorecard visualizations built outside the OOTB PA scorecard framework require Customization Council review. OOTB scorecards support all standard executive and operational review patterns.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424160" y="137160"/>
            <a:ext cx="1554480" cy="530352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57200" y="256032"/>
            <a:ext cx="7315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spc="300" kern="0" dirty="0">
                <a:solidFill>
                  <a:srgbClr val="14B8A6"/>
                </a:solidFill>
              </a:rPr>
              <a:t>KEY DECISION  #4</a:t>
            </a:r>
            <a:endParaRPr lang="en-US" sz="800" dirty="0"/>
          </a:p>
        </p:txBody>
      </p:sp>
      <p:sp>
        <p:nvSpPr>
          <p:cNvPr id="4" name="Shape 1"/>
          <p:cNvSpPr/>
          <p:nvPr/>
        </p:nvSpPr>
        <p:spPr>
          <a:xfrm>
            <a:off x="365760" y="6556248"/>
            <a:ext cx="11430000" cy="0"/>
          </a:xfrm>
          <a:prstGeom prst="line">
            <a:avLst/>
          </a:prstGeom>
          <a:noFill/>
          <a:ln w="6350">
            <a:solidFill>
              <a:srgbClr val="CBD5E1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365760" y="6601968"/>
            <a:ext cx="3200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</a:rPr>
              <a:t>Everforth ECS Federal</a:t>
            </a:r>
            <a:endParaRPr lang="en-US" sz="800" dirty="0"/>
          </a:p>
        </p:txBody>
      </p:sp>
      <p:sp>
        <p:nvSpPr>
          <p:cNvPr id="6" name="Text 3"/>
          <p:cNvSpPr/>
          <p:nvPr/>
        </p:nvSpPr>
        <p:spPr>
          <a:xfrm>
            <a:off x="3566160" y="6601968"/>
            <a:ext cx="6400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94A3B8"/>
                </a:solidFill>
              </a:rPr>
              <a:t>SERVICENOW PRACTICE  ·  MODERNIZING THE CORE  ·  PERFORMANCE ANALYTICS</a:t>
            </a:r>
            <a:endParaRPr lang="en-US" sz="800" dirty="0"/>
          </a:p>
        </p:txBody>
      </p:sp>
      <p:sp>
        <p:nvSpPr>
          <p:cNvPr id="7" name="Text 4"/>
          <p:cNvSpPr/>
          <p:nvPr/>
        </p:nvSpPr>
        <p:spPr>
          <a:xfrm>
            <a:off x="11430000" y="6601968"/>
            <a:ext cx="457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4A3B8"/>
                </a:solidFill>
              </a:rPr>
              <a:t>9</a:t>
            </a:r>
            <a:endParaRPr lang="en-US" sz="800" dirty="0"/>
          </a:p>
        </p:txBody>
      </p:sp>
      <p:sp>
        <p:nvSpPr>
          <p:cNvPr id="8" name="Text 5"/>
          <p:cNvSpPr/>
          <p:nvPr/>
        </p:nvSpPr>
        <p:spPr>
          <a:xfrm>
            <a:off x="457200" y="502920"/>
            <a:ext cx="969264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1E3A5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What thresholds will be set for each indicator — green, yellow, red?</a:t>
            </a:r>
            <a:endParaRPr lang="en-US" sz="2100" dirty="0"/>
          </a:p>
        </p:txBody>
      </p:sp>
      <p:sp>
        <p:nvSpPr>
          <p:cNvPr id="9" name="Shape 6"/>
          <p:cNvSpPr/>
          <p:nvPr/>
        </p:nvSpPr>
        <p:spPr>
          <a:xfrm>
            <a:off x="457200" y="1298448"/>
            <a:ext cx="11247120" cy="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457200" y="1389888"/>
            <a:ext cx="5394960" cy="38404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457200" y="1389888"/>
            <a:ext cx="5394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OOTB RECOMMENDATION</a:t>
            </a:r>
            <a:endParaRPr lang="en-US" sz="1000" dirty="0"/>
          </a:p>
        </p:txBody>
      </p:sp>
      <p:sp>
        <p:nvSpPr>
          <p:cNvPr id="12" name="Shape 9"/>
          <p:cNvSpPr/>
          <p:nvPr/>
        </p:nvSpPr>
        <p:spPr>
          <a:xfrm>
            <a:off x="457200" y="1773936"/>
            <a:ext cx="5394960" cy="3657600"/>
          </a:xfrm>
          <a:prstGeom prst="rect">
            <a:avLst/>
          </a:prstGeom>
          <a:solidFill>
            <a:srgbClr val="F0FDFA"/>
          </a:solidFill>
          <a:ln w="12700">
            <a:solidFill>
              <a:srgbClr val="CCF0EA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594360" y="1865376"/>
            <a:ext cx="5120640" cy="3474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OOTB Threshold Configuration: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indicator has configurable thresholds: green (on target), yellow (at risk), red (breached). Thresholds set in the PA Indicator definition — no scripting.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200" dirty="0"/>
          </a:p>
          <a:p>
            <a:pPr indent="0" marL="0">
              <a:buNone/>
            </a:pPr>
            <a:r>
              <a:rPr lang="en-US" sz="120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Starting Point: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ServiceNow provides industry-benchmark default thresholds for ITSM indicators. ECS recommends starting with OOTB defaults and adjusting after the first 30 days of production data.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200" dirty="0"/>
          </a:p>
          <a:p>
            <a:pPr indent="0" marL="0">
              <a:buNone/>
            </a:pPr>
            <a:r>
              <a:rPr lang="en-US" sz="120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 vs Threshold: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 = desired performance level. Threshold = minimum acceptable. Both configurable independently per indicator and per breakdown segment.</a:t>
            </a:r>
            <a:endParaRPr lang="en-US" sz="1200" dirty="0"/>
          </a:p>
        </p:txBody>
      </p:sp>
      <p:sp>
        <p:nvSpPr>
          <p:cNvPr id="14" name="Shape 11"/>
          <p:cNvSpPr/>
          <p:nvPr/>
        </p:nvSpPr>
        <p:spPr>
          <a:xfrm>
            <a:off x="6217920" y="1389888"/>
            <a:ext cx="5532120" cy="384048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6217920" y="1389888"/>
            <a:ext cx="5532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DECIDE IN THE ROOM</a:t>
            </a:r>
            <a:endParaRPr lang="en-US" sz="1000" dirty="0"/>
          </a:p>
        </p:txBody>
      </p:sp>
      <p:sp>
        <p:nvSpPr>
          <p:cNvPr id="16" name="Shape 13"/>
          <p:cNvSpPr/>
          <p:nvPr/>
        </p:nvSpPr>
        <p:spPr>
          <a:xfrm>
            <a:off x="6217920" y="1773936"/>
            <a:ext cx="5532120" cy="3657600"/>
          </a:xfrm>
          <a:prstGeom prst="rect">
            <a:avLst/>
          </a:prstGeom>
          <a:solidFill>
            <a:srgbClr val="F7F9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6355080" y="1865376"/>
            <a:ext cx="5257800" cy="3474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 to answer:
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 Will OOTB benchmark thresholds be accepted as starting values — or are customer-specific targets already defined?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 Who has authority to change indicator thresholds post-go-live?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 Will thresholds be segmented by assignment group (e.g., different SLA targets for Tier 1 vs Tier 2)?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 How will threshold changes be communicated to scorecard recipients?</a:t>
            </a:r>
            <a:endParaRPr lang="en-US" sz="1200" dirty="0"/>
          </a:p>
        </p:txBody>
      </p:sp>
      <p:sp>
        <p:nvSpPr>
          <p:cNvPr id="18" name="Shape 15"/>
          <p:cNvSpPr/>
          <p:nvPr/>
        </p:nvSpPr>
        <p:spPr>
          <a:xfrm>
            <a:off x="457200" y="5559552"/>
            <a:ext cx="11247120" cy="658368"/>
          </a:xfrm>
          <a:prstGeom prst="rect">
            <a:avLst/>
          </a:prstGeom>
          <a:solidFill>
            <a:srgbClr val="FEF3C7"/>
          </a:solidFill>
          <a:ln w="12700">
            <a:solidFill>
              <a:srgbClr val="FDE68A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594360" y="5605272"/>
            <a:ext cx="109728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 OOTB Defense:  </a:t>
            </a:r>
            <a:pPr indent="0" marL="0">
              <a:buNone/>
            </a:pPr>
            <a:r>
              <a:rPr lang="en-US" sz="1100" dirty="0">
                <a:solidFill>
                  <a:srgbClr val="7835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 threshold logic that varies by time of day, user type, or other dynamic criteria requires scripting. OOTB threshold configuration supports static and segment-specific values — sufficient for Sprint 6 go-live.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424160" y="137160"/>
            <a:ext cx="1554480" cy="530352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57200" y="256032"/>
            <a:ext cx="7315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spc="300" kern="0" dirty="0">
                <a:solidFill>
                  <a:srgbClr val="14B8A6"/>
                </a:solidFill>
              </a:rPr>
              <a:t>KEY DECISION  #5</a:t>
            </a:r>
            <a:endParaRPr lang="en-US" sz="800" dirty="0"/>
          </a:p>
        </p:txBody>
      </p:sp>
      <p:sp>
        <p:nvSpPr>
          <p:cNvPr id="4" name="Shape 1"/>
          <p:cNvSpPr/>
          <p:nvPr/>
        </p:nvSpPr>
        <p:spPr>
          <a:xfrm>
            <a:off x="365760" y="6556248"/>
            <a:ext cx="11430000" cy="0"/>
          </a:xfrm>
          <a:prstGeom prst="line">
            <a:avLst/>
          </a:prstGeom>
          <a:noFill/>
          <a:ln w="6350">
            <a:solidFill>
              <a:srgbClr val="CBD5E1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365760" y="6601968"/>
            <a:ext cx="3200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</a:rPr>
              <a:t>Everforth ECS Federal</a:t>
            </a:r>
            <a:endParaRPr lang="en-US" sz="800" dirty="0"/>
          </a:p>
        </p:txBody>
      </p:sp>
      <p:sp>
        <p:nvSpPr>
          <p:cNvPr id="6" name="Text 3"/>
          <p:cNvSpPr/>
          <p:nvPr/>
        </p:nvSpPr>
        <p:spPr>
          <a:xfrm>
            <a:off x="3566160" y="6601968"/>
            <a:ext cx="6400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94A3B8"/>
                </a:solidFill>
              </a:rPr>
              <a:t>SERVICENOW PRACTICE  ·  MODERNIZING THE CORE  ·  PERFORMANCE ANALYTICS</a:t>
            </a:r>
            <a:endParaRPr lang="en-US" sz="800" dirty="0"/>
          </a:p>
        </p:txBody>
      </p:sp>
      <p:sp>
        <p:nvSpPr>
          <p:cNvPr id="7" name="Text 4"/>
          <p:cNvSpPr/>
          <p:nvPr/>
        </p:nvSpPr>
        <p:spPr>
          <a:xfrm>
            <a:off x="11430000" y="6601968"/>
            <a:ext cx="457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4A3B8"/>
                </a:solidFill>
              </a:rPr>
              <a:t>10</a:t>
            </a:r>
            <a:endParaRPr lang="en-US" sz="800" dirty="0"/>
          </a:p>
        </p:txBody>
      </p:sp>
      <p:sp>
        <p:nvSpPr>
          <p:cNvPr id="8" name="Text 5"/>
          <p:cNvSpPr/>
          <p:nvPr/>
        </p:nvSpPr>
        <p:spPr>
          <a:xfrm>
            <a:off x="457200" y="502920"/>
            <a:ext cx="969264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1E3A5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What is the data collection cadence — and when do jobs run?</a:t>
            </a:r>
            <a:endParaRPr lang="en-US" sz="2100" dirty="0"/>
          </a:p>
        </p:txBody>
      </p:sp>
      <p:sp>
        <p:nvSpPr>
          <p:cNvPr id="9" name="Shape 6"/>
          <p:cNvSpPr/>
          <p:nvPr/>
        </p:nvSpPr>
        <p:spPr>
          <a:xfrm>
            <a:off x="457200" y="1298448"/>
            <a:ext cx="11247120" cy="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457200" y="1389888"/>
            <a:ext cx="5394960" cy="38404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457200" y="1389888"/>
            <a:ext cx="5394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OOTB RECOMMENDATION</a:t>
            </a:r>
            <a:endParaRPr lang="en-US" sz="1000" dirty="0"/>
          </a:p>
        </p:txBody>
      </p:sp>
      <p:sp>
        <p:nvSpPr>
          <p:cNvPr id="12" name="Shape 9"/>
          <p:cNvSpPr/>
          <p:nvPr/>
        </p:nvSpPr>
        <p:spPr>
          <a:xfrm>
            <a:off x="457200" y="1773936"/>
            <a:ext cx="5394960" cy="3657600"/>
          </a:xfrm>
          <a:prstGeom prst="rect">
            <a:avLst/>
          </a:prstGeom>
          <a:solidFill>
            <a:srgbClr val="F0FDFA"/>
          </a:solidFill>
          <a:ln w="12700">
            <a:solidFill>
              <a:srgbClr val="CCF0EA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594360" y="1865376"/>
            <a:ext cx="5120640" cy="3474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OOTB PA Job Schedule: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Collection jobs run on configurable schedule: hourly (near-real-time), daily (recommended for most indicators), weekly (trends and forecasts). Jobs are managed in the PA Job Scheduler.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200" dirty="0"/>
          </a:p>
          <a:p>
            <a:pPr indent="0" marL="0">
              <a:buNone/>
            </a:pPr>
            <a:r>
              <a:rPr lang="en-US" sz="120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Job Performance: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 collection jobs run in the background — no user-visible performance impact. Large datasets (&gt;500K records) may require off-hours scheduling to avoid peak-time resource consumption.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200" dirty="0"/>
          </a:p>
          <a:p>
            <a:pPr indent="0" marL="0">
              <a:buNone/>
            </a:pPr>
            <a:r>
              <a:rPr lang="en-US" sz="120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Backfill Job: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One-time backfill job collects historical indicator data from existing records. Recommended: run once after go-live to populate 6 months of historical trend data.</a:t>
            </a:r>
            <a:endParaRPr lang="en-US" sz="1200" dirty="0"/>
          </a:p>
        </p:txBody>
      </p:sp>
      <p:sp>
        <p:nvSpPr>
          <p:cNvPr id="14" name="Shape 11"/>
          <p:cNvSpPr/>
          <p:nvPr/>
        </p:nvSpPr>
        <p:spPr>
          <a:xfrm>
            <a:off x="6217920" y="1389888"/>
            <a:ext cx="5532120" cy="384048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6217920" y="1389888"/>
            <a:ext cx="5532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DECIDE IN THE ROOM</a:t>
            </a:r>
            <a:endParaRPr lang="en-US" sz="1000" dirty="0"/>
          </a:p>
        </p:txBody>
      </p:sp>
      <p:sp>
        <p:nvSpPr>
          <p:cNvPr id="16" name="Shape 13"/>
          <p:cNvSpPr/>
          <p:nvPr/>
        </p:nvSpPr>
        <p:spPr>
          <a:xfrm>
            <a:off x="6217920" y="1773936"/>
            <a:ext cx="5532120" cy="3657600"/>
          </a:xfrm>
          <a:prstGeom prst="rect">
            <a:avLst/>
          </a:prstGeom>
          <a:solidFill>
            <a:srgbClr val="F7F9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6355080" y="1865376"/>
            <a:ext cx="5257800" cy="3474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 to answer:
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 What collection cadence is required for each indicator group (hourly, daily, weekly)?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 Will the historical backfill job be run — and how many months of history will be collected?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 Who monitors PA collection job health (failed jobs, late completions)?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 What is the escalation path if a PA collection job fails repeatedly?</a:t>
            </a:r>
            <a:endParaRPr lang="en-US" sz="1200" dirty="0"/>
          </a:p>
        </p:txBody>
      </p:sp>
      <p:sp>
        <p:nvSpPr>
          <p:cNvPr id="18" name="Shape 15"/>
          <p:cNvSpPr/>
          <p:nvPr/>
        </p:nvSpPr>
        <p:spPr>
          <a:xfrm>
            <a:off x="457200" y="5559552"/>
            <a:ext cx="11247120" cy="658368"/>
          </a:xfrm>
          <a:prstGeom prst="rect">
            <a:avLst/>
          </a:prstGeom>
          <a:solidFill>
            <a:srgbClr val="FEF3C7"/>
          </a:solidFill>
          <a:ln w="12700">
            <a:solidFill>
              <a:srgbClr val="FDE68A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594360" y="5605272"/>
            <a:ext cx="109728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 OOTB Defense:  </a:t>
            </a:r>
            <a:pPr indent="0" marL="0">
              <a:buNone/>
            </a:pPr>
            <a:r>
              <a:rPr lang="en-US" sz="1100" dirty="0">
                <a:solidFill>
                  <a:srgbClr val="7835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Hourly PA collection jobs for all indicators consume significant processing capacity on busy instances. Daily collection is the OOTB-recommended standard. Use hourly only for KPIs where near-real-time tracking is operationally required.</a:t>
            </a:r>
            <a:endParaRPr lang="en-US" sz="11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424160" y="137160"/>
            <a:ext cx="1554480" cy="530352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57200" y="256032"/>
            <a:ext cx="7315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spc="300" kern="0" dirty="0">
                <a:solidFill>
                  <a:srgbClr val="14B8A6"/>
                </a:solidFill>
              </a:rPr>
              <a:t>KEY DECISION  #6</a:t>
            </a:r>
            <a:endParaRPr lang="en-US" sz="800" dirty="0"/>
          </a:p>
        </p:txBody>
      </p:sp>
      <p:sp>
        <p:nvSpPr>
          <p:cNvPr id="4" name="Shape 1"/>
          <p:cNvSpPr/>
          <p:nvPr/>
        </p:nvSpPr>
        <p:spPr>
          <a:xfrm>
            <a:off x="365760" y="6556248"/>
            <a:ext cx="11430000" cy="0"/>
          </a:xfrm>
          <a:prstGeom prst="line">
            <a:avLst/>
          </a:prstGeom>
          <a:noFill/>
          <a:ln w="6350">
            <a:solidFill>
              <a:srgbClr val="CBD5E1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365760" y="6601968"/>
            <a:ext cx="3200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</a:rPr>
              <a:t>Everforth ECS Federal</a:t>
            </a:r>
            <a:endParaRPr lang="en-US" sz="800" dirty="0"/>
          </a:p>
        </p:txBody>
      </p:sp>
      <p:sp>
        <p:nvSpPr>
          <p:cNvPr id="6" name="Text 3"/>
          <p:cNvSpPr/>
          <p:nvPr/>
        </p:nvSpPr>
        <p:spPr>
          <a:xfrm>
            <a:off x="3566160" y="6601968"/>
            <a:ext cx="6400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94A3B8"/>
                </a:solidFill>
              </a:rPr>
              <a:t>SERVICENOW PRACTICE  ·  MODERNIZING THE CORE  ·  PERFORMANCE ANALYTICS</a:t>
            </a:r>
            <a:endParaRPr lang="en-US" sz="800" dirty="0"/>
          </a:p>
        </p:txBody>
      </p:sp>
      <p:sp>
        <p:nvSpPr>
          <p:cNvPr id="7" name="Text 4"/>
          <p:cNvSpPr/>
          <p:nvPr/>
        </p:nvSpPr>
        <p:spPr>
          <a:xfrm>
            <a:off x="11430000" y="6601968"/>
            <a:ext cx="457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4A3B8"/>
                </a:solidFill>
              </a:rPr>
              <a:t>11</a:t>
            </a:r>
            <a:endParaRPr lang="en-US" sz="800" dirty="0"/>
          </a:p>
        </p:txBody>
      </p:sp>
      <p:sp>
        <p:nvSpPr>
          <p:cNvPr id="8" name="Text 5"/>
          <p:cNvSpPr/>
          <p:nvPr/>
        </p:nvSpPr>
        <p:spPr>
          <a:xfrm>
            <a:off x="457200" y="502920"/>
            <a:ext cx="969264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1E3A5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How will PA dashboards be published — and who has access to what?</a:t>
            </a:r>
            <a:endParaRPr lang="en-US" sz="2100" dirty="0"/>
          </a:p>
        </p:txBody>
      </p:sp>
      <p:sp>
        <p:nvSpPr>
          <p:cNvPr id="9" name="Shape 6"/>
          <p:cNvSpPr/>
          <p:nvPr/>
        </p:nvSpPr>
        <p:spPr>
          <a:xfrm>
            <a:off x="457200" y="1298448"/>
            <a:ext cx="11247120" cy="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457200" y="1389888"/>
            <a:ext cx="5394960" cy="38404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457200" y="1389888"/>
            <a:ext cx="5394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OOTB RECOMMENDATION</a:t>
            </a:r>
            <a:endParaRPr lang="en-US" sz="1000" dirty="0"/>
          </a:p>
        </p:txBody>
      </p:sp>
      <p:sp>
        <p:nvSpPr>
          <p:cNvPr id="12" name="Shape 9"/>
          <p:cNvSpPr/>
          <p:nvPr/>
        </p:nvSpPr>
        <p:spPr>
          <a:xfrm>
            <a:off x="457200" y="1773936"/>
            <a:ext cx="5394960" cy="3657600"/>
          </a:xfrm>
          <a:prstGeom prst="rect">
            <a:avLst/>
          </a:prstGeom>
          <a:solidFill>
            <a:srgbClr val="F0FDFA"/>
          </a:solidFill>
          <a:ln w="12700">
            <a:solidFill>
              <a:srgbClr val="CCF0EA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594360" y="1865376"/>
            <a:ext cx="5120640" cy="3474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OOTB Dashboard Sharing: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 dashboards shared by: role (all users with a specific role see the dashboard), group (specific groups only), or public (all authenticated users). No custom access control needed.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200" dirty="0"/>
          </a:p>
          <a:p>
            <a:pPr indent="0" marL="0">
              <a:buNone/>
            </a:pPr>
            <a:r>
              <a:rPr lang="en-US" sz="120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Homepage vs Dashboard: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OOTB PA dashboards can be set as the default homepage for specific roles. Users see their dashboard on login — no navigation required.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200" dirty="0"/>
          </a:p>
          <a:p>
            <a:pPr indent="0" marL="0">
              <a:buNone/>
            </a:pPr>
            <a:r>
              <a:rPr lang="en-US" sz="120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Self-Service Analytics: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OOTB Analytics Hub allows users to create their own analytics views from published indicators — without impacting core dashboards. Available to users with 'pa_viewer' role.</a:t>
            </a:r>
            <a:endParaRPr lang="en-US" sz="1200" dirty="0"/>
          </a:p>
        </p:txBody>
      </p:sp>
      <p:sp>
        <p:nvSpPr>
          <p:cNvPr id="14" name="Shape 11"/>
          <p:cNvSpPr/>
          <p:nvPr/>
        </p:nvSpPr>
        <p:spPr>
          <a:xfrm>
            <a:off x="6217920" y="1389888"/>
            <a:ext cx="5532120" cy="384048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6217920" y="1389888"/>
            <a:ext cx="5532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DECIDE IN THE ROOM</a:t>
            </a:r>
            <a:endParaRPr lang="en-US" sz="1000" dirty="0"/>
          </a:p>
        </p:txBody>
      </p:sp>
      <p:sp>
        <p:nvSpPr>
          <p:cNvPr id="16" name="Shape 13"/>
          <p:cNvSpPr/>
          <p:nvPr/>
        </p:nvSpPr>
        <p:spPr>
          <a:xfrm>
            <a:off x="6217920" y="1773936"/>
            <a:ext cx="5532120" cy="3657600"/>
          </a:xfrm>
          <a:prstGeom prst="rect">
            <a:avLst/>
          </a:prstGeom>
          <a:solidFill>
            <a:srgbClr val="F7F9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6355080" y="1865376"/>
            <a:ext cx="5257800" cy="3474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 to answer:
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 Which roles will have access to which dashboards?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 Will PA dashboards replace Classic Reporting homepages for service desk agents?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 Will Analytics Hub self-service be enabled for all users — or restricted to managers and above?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 Who approves new dashboard additions post-go-live to prevent dashboard proliferation?</a:t>
            </a:r>
            <a:endParaRPr lang="en-US" sz="1200" dirty="0"/>
          </a:p>
        </p:txBody>
      </p:sp>
      <p:sp>
        <p:nvSpPr>
          <p:cNvPr id="18" name="Shape 15"/>
          <p:cNvSpPr/>
          <p:nvPr/>
        </p:nvSpPr>
        <p:spPr>
          <a:xfrm>
            <a:off x="457200" y="5559552"/>
            <a:ext cx="11247120" cy="658368"/>
          </a:xfrm>
          <a:prstGeom prst="rect">
            <a:avLst/>
          </a:prstGeom>
          <a:solidFill>
            <a:srgbClr val="FEF3C7"/>
          </a:solidFill>
          <a:ln w="12700">
            <a:solidFill>
              <a:srgbClr val="FDE68A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594360" y="5605272"/>
            <a:ext cx="109728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 OOTB Defense:  </a:t>
            </a:r>
            <a:pPr indent="0" marL="0">
              <a:buNone/>
            </a:pPr>
            <a:r>
              <a:rPr lang="en-US" sz="1100" dirty="0">
                <a:solidFill>
                  <a:srgbClr val="7835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 PA dashboard access control beyond OOTB role and group sharing requires scripting. OOTB sharing covers all standard audience segmentation requirements.</a:t>
            </a:r>
            <a:endParaRPr lang="en-US" sz="11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424160" y="137160"/>
            <a:ext cx="1554480" cy="530352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57200" y="256032"/>
            <a:ext cx="7315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spc="300" kern="0" dirty="0">
                <a:solidFill>
                  <a:srgbClr val="14B8A6"/>
                </a:solidFill>
              </a:rPr>
              <a:t>KEY DECISION  #7</a:t>
            </a:r>
            <a:endParaRPr lang="en-US" sz="800" dirty="0"/>
          </a:p>
        </p:txBody>
      </p:sp>
      <p:sp>
        <p:nvSpPr>
          <p:cNvPr id="4" name="Shape 1"/>
          <p:cNvSpPr/>
          <p:nvPr/>
        </p:nvSpPr>
        <p:spPr>
          <a:xfrm>
            <a:off x="365760" y="6556248"/>
            <a:ext cx="11430000" cy="0"/>
          </a:xfrm>
          <a:prstGeom prst="line">
            <a:avLst/>
          </a:prstGeom>
          <a:noFill/>
          <a:ln w="6350">
            <a:solidFill>
              <a:srgbClr val="CBD5E1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365760" y="6601968"/>
            <a:ext cx="3200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</a:rPr>
              <a:t>Everforth ECS Federal</a:t>
            </a:r>
            <a:endParaRPr lang="en-US" sz="800" dirty="0"/>
          </a:p>
        </p:txBody>
      </p:sp>
      <p:sp>
        <p:nvSpPr>
          <p:cNvPr id="6" name="Text 3"/>
          <p:cNvSpPr/>
          <p:nvPr/>
        </p:nvSpPr>
        <p:spPr>
          <a:xfrm>
            <a:off x="3566160" y="6601968"/>
            <a:ext cx="6400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94A3B8"/>
                </a:solidFill>
              </a:rPr>
              <a:t>SERVICENOW PRACTICE  ·  MODERNIZING THE CORE  ·  PERFORMANCE ANALYTICS</a:t>
            </a:r>
            <a:endParaRPr lang="en-US" sz="800" dirty="0"/>
          </a:p>
        </p:txBody>
      </p:sp>
      <p:sp>
        <p:nvSpPr>
          <p:cNvPr id="7" name="Text 4"/>
          <p:cNvSpPr/>
          <p:nvPr/>
        </p:nvSpPr>
        <p:spPr>
          <a:xfrm>
            <a:off x="11430000" y="6601968"/>
            <a:ext cx="457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4A3B8"/>
                </a:solidFill>
              </a:rPr>
              <a:t>12</a:t>
            </a:r>
            <a:endParaRPr lang="en-US" sz="800" dirty="0"/>
          </a:p>
        </p:txBody>
      </p:sp>
      <p:sp>
        <p:nvSpPr>
          <p:cNvPr id="8" name="Text 5"/>
          <p:cNvSpPr/>
          <p:nvPr/>
        </p:nvSpPr>
        <p:spPr>
          <a:xfrm>
            <a:off x="457200" y="502920"/>
            <a:ext cx="969264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1E3A5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Will trending and forecasting be activated — and at what horizon?</a:t>
            </a:r>
            <a:endParaRPr lang="en-US" sz="2100" dirty="0"/>
          </a:p>
        </p:txBody>
      </p:sp>
      <p:sp>
        <p:nvSpPr>
          <p:cNvPr id="9" name="Shape 6"/>
          <p:cNvSpPr/>
          <p:nvPr/>
        </p:nvSpPr>
        <p:spPr>
          <a:xfrm>
            <a:off x="457200" y="1298448"/>
            <a:ext cx="11247120" cy="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457200" y="1389888"/>
            <a:ext cx="5394960" cy="38404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457200" y="1389888"/>
            <a:ext cx="5394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OOTB RECOMMENDATION</a:t>
            </a:r>
            <a:endParaRPr lang="en-US" sz="1000" dirty="0"/>
          </a:p>
        </p:txBody>
      </p:sp>
      <p:sp>
        <p:nvSpPr>
          <p:cNvPr id="12" name="Shape 9"/>
          <p:cNvSpPr/>
          <p:nvPr/>
        </p:nvSpPr>
        <p:spPr>
          <a:xfrm>
            <a:off x="457200" y="1773936"/>
            <a:ext cx="5394960" cy="3657600"/>
          </a:xfrm>
          <a:prstGeom prst="rect">
            <a:avLst/>
          </a:prstGeom>
          <a:solidFill>
            <a:srgbClr val="F0FDFA"/>
          </a:solidFill>
          <a:ln w="12700">
            <a:solidFill>
              <a:srgbClr val="CCF0EA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594360" y="1865376"/>
            <a:ext cx="5120640" cy="3474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OOTB Trending: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 automatically calculates trend direction for all active indicators. Trend period configurable: 7-day, 30-day, 90-day. Trend arrows visible on scorecards — OOTB, no configuration.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200" dirty="0"/>
          </a:p>
          <a:p>
            <a:pPr indent="0" marL="0">
              <a:buNone/>
            </a:pPr>
            <a:r>
              <a:rPr lang="en-US" sz="120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Forecasting: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 Premium: forecast projects indicator trajectory based on historical trend. Forecast horizon: 30, 60, or 90 days. Requires PA Premium license and 90 days of historical data.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200" dirty="0"/>
          </a:p>
          <a:p>
            <a:pPr indent="0" marL="0">
              <a:buNone/>
            </a:pPr>
            <a:r>
              <a:rPr lang="en-US" sz="120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Anomaly Detection: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 Premium: AI-based anomaly detection flags unusual indicator movements. Requires Now Assist Analytics license.</a:t>
            </a:r>
            <a:endParaRPr lang="en-US" sz="1200" dirty="0"/>
          </a:p>
        </p:txBody>
      </p:sp>
      <p:sp>
        <p:nvSpPr>
          <p:cNvPr id="14" name="Shape 11"/>
          <p:cNvSpPr/>
          <p:nvPr/>
        </p:nvSpPr>
        <p:spPr>
          <a:xfrm>
            <a:off x="6217920" y="1389888"/>
            <a:ext cx="5532120" cy="384048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6217920" y="1389888"/>
            <a:ext cx="5532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DECIDE IN THE ROOM</a:t>
            </a:r>
            <a:endParaRPr lang="en-US" sz="1000" dirty="0"/>
          </a:p>
        </p:txBody>
      </p:sp>
      <p:sp>
        <p:nvSpPr>
          <p:cNvPr id="16" name="Shape 13"/>
          <p:cNvSpPr/>
          <p:nvPr/>
        </p:nvSpPr>
        <p:spPr>
          <a:xfrm>
            <a:off x="6217920" y="1773936"/>
            <a:ext cx="5532120" cy="3657600"/>
          </a:xfrm>
          <a:prstGeom prst="rect">
            <a:avLst/>
          </a:prstGeom>
          <a:solidFill>
            <a:srgbClr val="F7F9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6355080" y="1865376"/>
            <a:ext cx="5257800" cy="3474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 to answer:
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 Will trending (7/30/90-day) be activated at Sprint 6 go-live?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 Is PA Premium licensed — and will forecasting be activated?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 What forecasting horizon is operationally meaningful (30/60/90 days)?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 Will Now Assist Analytics anomaly detection be in scope for Sprint 6?</a:t>
            </a:r>
            <a:endParaRPr lang="en-US" sz="1200" dirty="0"/>
          </a:p>
        </p:txBody>
      </p:sp>
      <p:sp>
        <p:nvSpPr>
          <p:cNvPr id="18" name="Shape 15"/>
          <p:cNvSpPr/>
          <p:nvPr/>
        </p:nvSpPr>
        <p:spPr>
          <a:xfrm>
            <a:off x="457200" y="5559552"/>
            <a:ext cx="11247120" cy="658368"/>
          </a:xfrm>
          <a:prstGeom prst="rect">
            <a:avLst/>
          </a:prstGeom>
          <a:solidFill>
            <a:srgbClr val="FEF3C7"/>
          </a:solidFill>
          <a:ln w="12700">
            <a:solidFill>
              <a:srgbClr val="FDE68A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594360" y="5605272"/>
            <a:ext cx="109728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 OOTB Defense:  </a:t>
            </a:r>
            <a:pPr indent="0" marL="0">
              <a:buNone/>
            </a:pPr>
            <a:r>
              <a:rPr lang="en-US" sz="1100" dirty="0">
                <a:solidFill>
                  <a:srgbClr val="7835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Forecasting without 90 days of clean historical data produces unreliable projections. Activate trending at go-live; enable forecasting after 90 days of post-go-live production data has accumulated.</a:t>
            </a:r>
            <a:endParaRPr lang="en-US" sz="11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424160" y="137160"/>
            <a:ext cx="1554480" cy="530352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57200" y="256032"/>
            <a:ext cx="7315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spc="300" kern="0" dirty="0">
                <a:solidFill>
                  <a:srgbClr val="14B8A6"/>
                </a:solidFill>
              </a:rPr>
              <a:t>KEY DECISION  #8</a:t>
            </a:r>
            <a:endParaRPr lang="en-US" sz="800" dirty="0"/>
          </a:p>
        </p:txBody>
      </p:sp>
      <p:sp>
        <p:nvSpPr>
          <p:cNvPr id="4" name="Shape 1"/>
          <p:cNvSpPr/>
          <p:nvPr/>
        </p:nvSpPr>
        <p:spPr>
          <a:xfrm>
            <a:off x="365760" y="6556248"/>
            <a:ext cx="11430000" cy="0"/>
          </a:xfrm>
          <a:prstGeom prst="line">
            <a:avLst/>
          </a:prstGeom>
          <a:noFill/>
          <a:ln w="6350">
            <a:solidFill>
              <a:srgbClr val="CBD5E1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365760" y="6601968"/>
            <a:ext cx="3200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</a:rPr>
              <a:t>Everforth ECS Federal</a:t>
            </a:r>
            <a:endParaRPr lang="en-US" sz="800" dirty="0"/>
          </a:p>
        </p:txBody>
      </p:sp>
      <p:sp>
        <p:nvSpPr>
          <p:cNvPr id="6" name="Text 3"/>
          <p:cNvSpPr/>
          <p:nvPr/>
        </p:nvSpPr>
        <p:spPr>
          <a:xfrm>
            <a:off x="3566160" y="6601968"/>
            <a:ext cx="6400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94A3B8"/>
                </a:solidFill>
              </a:rPr>
              <a:t>SERVICENOW PRACTICE  ·  MODERNIZING THE CORE  ·  PERFORMANCE ANALYTICS</a:t>
            </a:r>
            <a:endParaRPr lang="en-US" sz="800" dirty="0"/>
          </a:p>
        </p:txBody>
      </p:sp>
      <p:sp>
        <p:nvSpPr>
          <p:cNvPr id="7" name="Text 4"/>
          <p:cNvSpPr/>
          <p:nvPr/>
        </p:nvSpPr>
        <p:spPr>
          <a:xfrm>
            <a:off x="11430000" y="6601968"/>
            <a:ext cx="457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4A3B8"/>
                </a:solidFill>
              </a:rPr>
              <a:t>13</a:t>
            </a:r>
            <a:endParaRPr lang="en-US" sz="800" dirty="0"/>
          </a:p>
        </p:txBody>
      </p:sp>
      <p:sp>
        <p:nvSpPr>
          <p:cNvPr id="8" name="Text 5"/>
          <p:cNvSpPr/>
          <p:nvPr/>
        </p:nvSpPr>
        <p:spPr>
          <a:xfrm>
            <a:off x="457200" y="502920"/>
            <a:ext cx="969264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1E3A5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Which existing Classic Reports will be migrated to PA — or retired?</a:t>
            </a:r>
            <a:endParaRPr lang="en-US" sz="2100" dirty="0"/>
          </a:p>
        </p:txBody>
      </p:sp>
      <p:sp>
        <p:nvSpPr>
          <p:cNvPr id="9" name="Shape 6"/>
          <p:cNvSpPr/>
          <p:nvPr/>
        </p:nvSpPr>
        <p:spPr>
          <a:xfrm>
            <a:off x="457200" y="1298448"/>
            <a:ext cx="11247120" cy="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457200" y="1389888"/>
            <a:ext cx="5394960" cy="38404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457200" y="1389888"/>
            <a:ext cx="5394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OOTB RECOMMENDATION</a:t>
            </a:r>
            <a:endParaRPr lang="en-US" sz="1000" dirty="0"/>
          </a:p>
        </p:txBody>
      </p:sp>
      <p:sp>
        <p:nvSpPr>
          <p:cNvPr id="12" name="Shape 9"/>
          <p:cNvSpPr/>
          <p:nvPr/>
        </p:nvSpPr>
        <p:spPr>
          <a:xfrm>
            <a:off x="457200" y="1773936"/>
            <a:ext cx="5394960" cy="3657600"/>
          </a:xfrm>
          <a:prstGeom prst="rect">
            <a:avLst/>
          </a:prstGeom>
          <a:solidFill>
            <a:srgbClr val="F0FDFA"/>
          </a:solidFill>
          <a:ln w="12700">
            <a:solidFill>
              <a:srgbClr val="CCF0EA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594360" y="1865376"/>
            <a:ext cx="5120640" cy="3474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Migration Approach: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Identify Classic Reports used for operational decision-making. For each: determine if equivalent PA indicator exists (likely yes). If yes: retire Classic Report, activate PA indicator. If no: evaluate whether the report represents a real gap or a legacy artifact.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200" dirty="0"/>
          </a:p>
          <a:p>
            <a:pPr indent="0" marL="0">
              <a:buNone/>
            </a:pPr>
            <a:r>
              <a:rPr lang="en-US" sz="120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OOTB PA Coverage: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 OOTB covers: volume, aging, SLA attainment, category breakdown, group performance, knowledge deflection. These replace the majority of Classic Report use cases.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200" dirty="0"/>
          </a:p>
          <a:p>
            <a:pPr indent="0" marL="0">
              <a:buNone/>
            </a:pPr>
            <a:r>
              <a:rPr lang="en-US" sz="120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to Retire: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Reports built for one-time analysis, reports with no named consumer, reports that duplicate PA data — all candidates for retirement.</a:t>
            </a:r>
            <a:endParaRPr lang="en-US" sz="1200" dirty="0"/>
          </a:p>
        </p:txBody>
      </p:sp>
      <p:sp>
        <p:nvSpPr>
          <p:cNvPr id="14" name="Shape 11"/>
          <p:cNvSpPr/>
          <p:nvPr/>
        </p:nvSpPr>
        <p:spPr>
          <a:xfrm>
            <a:off x="6217920" y="1389888"/>
            <a:ext cx="5532120" cy="384048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6217920" y="1389888"/>
            <a:ext cx="5532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DECIDE IN THE ROOM</a:t>
            </a:r>
            <a:endParaRPr lang="en-US" sz="1000" dirty="0"/>
          </a:p>
        </p:txBody>
      </p:sp>
      <p:sp>
        <p:nvSpPr>
          <p:cNvPr id="16" name="Shape 13"/>
          <p:cNvSpPr/>
          <p:nvPr/>
        </p:nvSpPr>
        <p:spPr>
          <a:xfrm>
            <a:off x="6217920" y="1773936"/>
            <a:ext cx="5532120" cy="3657600"/>
          </a:xfrm>
          <a:prstGeom prst="rect">
            <a:avLst/>
          </a:prstGeom>
          <a:solidFill>
            <a:srgbClr val="F7F9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6355080" y="1865376"/>
            <a:ext cx="5257800" cy="3474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 to answer:
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 Who owns the Classic Report audit (identifying reports in use vs orphaned)?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 What is the process for retiring a Classic Report — approval required, or owner-initiated?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 Are there reports in use by external stakeholders (e.g., emailed to non-ServiceNow users) that cannot be retired without a replacement?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 What is the timeline for completing the Classic Report migration?</a:t>
            </a:r>
            <a:endParaRPr lang="en-US" sz="1200" dirty="0"/>
          </a:p>
        </p:txBody>
      </p:sp>
      <p:sp>
        <p:nvSpPr>
          <p:cNvPr id="18" name="Shape 15"/>
          <p:cNvSpPr/>
          <p:nvPr/>
        </p:nvSpPr>
        <p:spPr>
          <a:xfrm>
            <a:off x="457200" y="5559552"/>
            <a:ext cx="11247120" cy="658368"/>
          </a:xfrm>
          <a:prstGeom prst="rect">
            <a:avLst/>
          </a:prstGeom>
          <a:solidFill>
            <a:srgbClr val="FEF3C7"/>
          </a:solidFill>
          <a:ln w="12700">
            <a:solidFill>
              <a:srgbClr val="FDE68A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594360" y="5605272"/>
            <a:ext cx="109728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 OOTB Defense:  </a:t>
            </a:r>
            <a:pPr indent="0" marL="0">
              <a:buNone/>
            </a:pPr>
            <a:r>
              <a:rPr lang="en-US" sz="1100" dirty="0">
                <a:solidFill>
                  <a:srgbClr val="7835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Maintaining both Classic Reports and PA indicators for the same data creates confusion and governance overhead. Commit to PA as the single source of operational metrics at Sprint 6 go-live. Retire Classic Reports on a defined timeline.</a:t>
            </a:r>
            <a:endParaRPr lang="en-US" sz="11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1E3A5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424160" y="137160"/>
            <a:ext cx="1554480" cy="530352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457200" y="2011680"/>
            <a:ext cx="64008" cy="1645920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4" name="Text 1"/>
          <p:cNvSpPr/>
          <p:nvPr/>
        </p:nvSpPr>
        <p:spPr>
          <a:xfrm>
            <a:off x="685800" y="1920240"/>
            <a:ext cx="10058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Decision Log</a:t>
            </a:r>
            <a:endParaRPr lang="en-US" sz="4600" dirty="0"/>
          </a:p>
        </p:txBody>
      </p:sp>
      <p:sp>
        <p:nvSpPr>
          <p:cNvPr id="5" name="Text 2"/>
          <p:cNvSpPr/>
          <p:nvPr/>
        </p:nvSpPr>
        <p:spPr>
          <a:xfrm>
            <a:off x="685800" y="2880360"/>
            <a:ext cx="10058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decision on the next page is an action.</a:t>
            </a:r>
            <a:endParaRPr lang="en-US" sz="2200" dirty="0"/>
          </a:p>
        </p:txBody>
      </p:sp>
      <p:sp>
        <p:nvSpPr>
          <p:cNvPr id="6" name="Text 3"/>
          <p:cNvSpPr/>
          <p:nvPr/>
        </p:nvSpPr>
        <p:spPr>
          <a:xfrm>
            <a:off x="685800" y="3611880"/>
            <a:ext cx="10058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9CB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Decisions left blank leave this room with a named owner and a date. Before we close: no decision is unresolved — it is either made, or owned.</a:t>
            </a:r>
            <a:endParaRPr lang="en-US" sz="1400" dirty="0"/>
          </a:p>
        </p:txBody>
      </p:sp>
      <p:sp>
        <p:nvSpPr>
          <p:cNvPr id="7" name="Shape 4"/>
          <p:cNvSpPr/>
          <p:nvPr/>
        </p:nvSpPr>
        <p:spPr>
          <a:xfrm>
            <a:off x="365760" y="6556248"/>
            <a:ext cx="11430000" cy="0"/>
          </a:xfrm>
          <a:prstGeom prst="line">
            <a:avLst/>
          </a:prstGeom>
          <a:noFill/>
          <a:ln w="6350">
            <a:solidFill>
              <a:srgbClr val="2A4A70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365760" y="6601968"/>
            <a:ext cx="3200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A7A9F"/>
                </a:solidFill>
              </a:rPr>
              <a:t>Everforth ECS Federal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3566160" y="6601968"/>
            <a:ext cx="6400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5A7A9F"/>
                </a:solidFill>
              </a:rPr>
              <a:t>SERVICENOW PRACTICE  ·  MODERNIZING THE CORE  ·  PERFORMANCE ANALYTICS</a:t>
            </a:r>
            <a:endParaRPr lang="en-US" sz="800" dirty="0"/>
          </a:p>
        </p:txBody>
      </p:sp>
      <p:sp>
        <p:nvSpPr>
          <p:cNvPr id="10" name="Text 7"/>
          <p:cNvSpPr/>
          <p:nvPr/>
        </p:nvSpPr>
        <p:spPr>
          <a:xfrm>
            <a:off x="11430000" y="6601968"/>
            <a:ext cx="457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5A7A9F"/>
                </a:solidFill>
              </a:rPr>
              <a:t>14</a:t>
            </a:r>
            <a:endParaRPr lang="en-US" sz="8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424160" y="137160"/>
            <a:ext cx="1554480" cy="530352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57200" y="256032"/>
            <a:ext cx="7315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spc="300" kern="0" dirty="0">
                <a:solidFill>
                  <a:srgbClr val="14B8A6"/>
                </a:solidFill>
              </a:rPr>
              <a:t>DECISION LOG</a:t>
            </a:r>
            <a:endParaRPr lang="en-US" sz="800" dirty="0"/>
          </a:p>
        </p:txBody>
      </p:sp>
      <p:sp>
        <p:nvSpPr>
          <p:cNvPr id="4" name="Shape 1"/>
          <p:cNvSpPr/>
          <p:nvPr/>
        </p:nvSpPr>
        <p:spPr>
          <a:xfrm>
            <a:off x="365760" y="6556248"/>
            <a:ext cx="11430000" cy="0"/>
          </a:xfrm>
          <a:prstGeom prst="line">
            <a:avLst/>
          </a:prstGeom>
          <a:noFill/>
          <a:ln w="6350">
            <a:solidFill>
              <a:srgbClr val="CBD5E1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365760" y="6601968"/>
            <a:ext cx="3200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</a:rPr>
              <a:t>Everforth ECS Federal</a:t>
            </a:r>
            <a:endParaRPr lang="en-US" sz="800" dirty="0"/>
          </a:p>
        </p:txBody>
      </p:sp>
      <p:sp>
        <p:nvSpPr>
          <p:cNvPr id="6" name="Text 3"/>
          <p:cNvSpPr/>
          <p:nvPr/>
        </p:nvSpPr>
        <p:spPr>
          <a:xfrm>
            <a:off x="3566160" y="6601968"/>
            <a:ext cx="6400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94A3B8"/>
                </a:solidFill>
              </a:rPr>
              <a:t>SERVICENOW PRACTICE  ·  MODERNIZING THE CORE  ·  PERFORMANCE ANALYTICS</a:t>
            </a:r>
            <a:endParaRPr lang="en-US" sz="800" dirty="0"/>
          </a:p>
        </p:txBody>
      </p:sp>
      <p:sp>
        <p:nvSpPr>
          <p:cNvPr id="7" name="Text 4"/>
          <p:cNvSpPr/>
          <p:nvPr/>
        </p:nvSpPr>
        <p:spPr>
          <a:xfrm>
            <a:off x="11430000" y="6601968"/>
            <a:ext cx="457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4A3B8"/>
                </a:solidFill>
              </a:rPr>
              <a:t>15</a:t>
            </a:r>
            <a:endParaRPr lang="en-US" sz="800" dirty="0"/>
          </a:p>
        </p:txBody>
      </p:sp>
      <p:sp>
        <p:nvSpPr>
          <p:cNvPr id="8" name="Text 5"/>
          <p:cNvSpPr/>
          <p:nvPr/>
        </p:nvSpPr>
        <p:spPr>
          <a:xfrm>
            <a:off x="457200" y="502920"/>
            <a:ext cx="10515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E3A5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Performance Analytics — Decisions Made in This Workshop</a:t>
            </a:r>
            <a:endParaRPr lang="en-US" sz="2400" dirty="0"/>
          </a:p>
        </p:txBody>
      </p:sp>
      <p:sp>
        <p:nvSpPr>
          <p:cNvPr id="9" name="Shape 6"/>
          <p:cNvSpPr/>
          <p:nvPr/>
        </p:nvSpPr>
        <p:spPr>
          <a:xfrm>
            <a:off x="457200" y="1234440"/>
            <a:ext cx="11247120" cy="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</p:sp>
      <p:graphicFrame>
        <p:nvGraphicFramePr>
          <p:cNvPr id="1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1325880"/>
          <a:ext cx="11430000" cy="914400"/>
        </p:xfrm>
        <a:graphic>
          <a:graphicData uri="http://schemas.openxmlformats.org/drawingml/2006/table">
            <a:tbl>
              <a:tblPr/>
              <a:tblGrid>
                <a:gridCol w="411480"/>
                <a:gridCol w="2103120"/>
                <a:gridCol w="3657600"/>
                <a:gridCol w="3017520"/>
                <a:gridCol w="1828800"/>
              </a:tblGrid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#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Decision Topic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Scope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Decision Made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Owner / Due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#1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Indicator Selection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Process areas, historical backfill, PA Premium licensing, indicator owner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#2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Breakdown Dimensions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Breakdown types, custom dimensions, audience scope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#3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Scorecard Design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Scorecard types, recipients, review cadence, distribution method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#4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Thresholds &amp; Targets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Starting values, authority to change, group-level segmentation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#5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Collection Cadence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Frequency per indicator, backfill plan, job health owner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#6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Dashboard Access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Role-based sharing, homepage assignment, Analytics Hub scope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#7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Trending &amp; Forecasting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Trending activation, forecast horizon, anomaly detection scope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#8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Classic Report Migration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Audit owner, retirement process, external report handling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424160" y="137160"/>
            <a:ext cx="1554480" cy="530352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57200" y="256032"/>
            <a:ext cx="7315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spc="300" kern="0" dirty="0">
                <a:solidFill>
                  <a:srgbClr val="14B8A6"/>
                </a:solidFill>
              </a:rPr>
              <a:t>NEXT STEPS</a:t>
            </a:r>
            <a:endParaRPr lang="en-US" sz="800" dirty="0"/>
          </a:p>
        </p:txBody>
      </p:sp>
      <p:sp>
        <p:nvSpPr>
          <p:cNvPr id="4" name="Shape 1"/>
          <p:cNvSpPr/>
          <p:nvPr/>
        </p:nvSpPr>
        <p:spPr>
          <a:xfrm>
            <a:off x="365760" y="6556248"/>
            <a:ext cx="11430000" cy="0"/>
          </a:xfrm>
          <a:prstGeom prst="line">
            <a:avLst/>
          </a:prstGeom>
          <a:noFill/>
          <a:ln w="6350">
            <a:solidFill>
              <a:srgbClr val="CBD5E1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365760" y="6601968"/>
            <a:ext cx="3200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</a:rPr>
              <a:t>Everforth ECS Federal</a:t>
            </a:r>
            <a:endParaRPr lang="en-US" sz="800" dirty="0"/>
          </a:p>
        </p:txBody>
      </p:sp>
      <p:sp>
        <p:nvSpPr>
          <p:cNvPr id="6" name="Text 3"/>
          <p:cNvSpPr/>
          <p:nvPr/>
        </p:nvSpPr>
        <p:spPr>
          <a:xfrm>
            <a:off x="3566160" y="6601968"/>
            <a:ext cx="6400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94A3B8"/>
                </a:solidFill>
              </a:rPr>
              <a:t>SERVICENOW PRACTICE  ·  MODERNIZING THE CORE  ·  PERFORMANCE ANALYTICS</a:t>
            </a:r>
            <a:endParaRPr lang="en-US" sz="800" dirty="0"/>
          </a:p>
        </p:txBody>
      </p:sp>
      <p:sp>
        <p:nvSpPr>
          <p:cNvPr id="7" name="Text 4"/>
          <p:cNvSpPr/>
          <p:nvPr/>
        </p:nvSpPr>
        <p:spPr>
          <a:xfrm>
            <a:off x="11430000" y="6601968"/>
            <a:ext cx="457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4A3B8"/>
                </a:solidFill>
              </a:rPr>
              <a:t>16</a:t>
            </a:r>
            <a:endParaRPr lang="en-US" sz="800" dirty="0"/>
          </a:p>
        </p:txBody>
      </p:sp>
      <p:sp>
        <p:nvSpPr>
          <p:cNvPr id="8" name="Text 5"/>
          <p:cNvSpPr/>
          <p:nvPr/>
        </p:nvSpPr>
        <p:spPr>
          <a:xfrm>
            <a:off x="457200" y="502920"/>
            <a:ext cx="100584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3A5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What happens after this workshop</a:t>
            </a:r>
            <a:endParaRPr lang="en-US" sz="2600" dirty="0"/>
          </a:p>
        </p:txBody>
      </p:sp>
      <p:sp>
        <p:nvSpPr>
          <p:cNvPr id="9" name="Shape 6"/>
          <p:cNvSpPr/>
          <p:nvPr/>
        </p:nvSpPr>
        <p:spPr>
          <a:xfrm>
            <a:off x="457200" y="1234440"/>
            <a:ext cx="11247120" cy="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411480" y="1417320"/>
            <a:ext cx="3611880" cy="4114800"/>
          </a:xfrm>
          <a:prstGeom prst="rect">
            <a:avLst/>
          </a:prstGeom>
          <a:solidFill>
            <a:srgbClr val="F7F9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411480" y="1417320"/>
            <a:ext cx="3611880" cy="47548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502920" y="1417320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01</a:t>
            </a:r>
            <a:endParaRPr lang="en-US" sz="1800" dirty="0"/>
          </a:p>
        </p:txBody>
      </p:sp>
      <p:sp>
        <p:nvSpPr>
          <p:cNvPr id="13" name="Text 10"/>
          <p:cNvSpPr/>
          <p:nvPr/>
        </p:nvSpPr>
        <p:spPr>
          <a:xfrm>
            <a:off x="1033272" y="1444752"/>
            <a:ext cx="288036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Accelerator Pack — Workbook</a:t>
            </a:r>
            <a:endParaRPr lang="en-US" sz="1200" dirty="0"/>
          </a:p>
        </p:txBody>
      </p:sp>
      <p:sp>
        <p:nvSpPr>
          <p:cNvPr id="14" name="Text 11"/>
          <p:cNvSpPr/>
          <p:nvPr/>
        </p:nvSpPr>
        <p:spPr>
          <a:xfrm>
            <a:off x="548640" y="1965960"/>
            <a:ext cx="33375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Immediately after this workshop</a:t>
            </a:r>
            <a:endParaRPr lang="en-US" sz="900" dirty="0"/>
          </a:p>
        </p:txBody>
      </p:sp>
      <p:sp>
        <p:nvSpPr>
          <p:cNvPr id="15" name="Text 12"/>
          <p:cNvSpPr/>
          <p:nvPr/>
        </p:nvSpPr>
        <p:spPr>
          <a:xfrm>
            <a:off x="548640" y="2240280"/>
            <a:ext cx="333756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Decisions captured today are entered into the Performance Analytics Accelerator Pack workbook. ECS pre-populates the ServiceNow Mapping tab with OOTB field-level configuration specs.</a:t>
            </a:r>
            <a:endParaRPr lang="en-US" sz="1100" dirty="0"/>
          </a:p>
        </p:txBody>
      </p:sp>
      <p:sp>
        <p:nvSpPr>
          <p:cNvPr id="16" name="Shape 13"/>
          <p:cNvSpPr/>
          <p:nvPr/>
        </p:nvSpPr>
        <p:spPr>
          <a:xfrm>
            <a:off x="4251960" y="1417320"/>
            <a:ext cx="3611880" cy="4114800"/>
          </a:xfrm>
          <a:prstGeom prst="rect">
            <a:avLst/>
          </a:prstGeom>
          <a:solidFill>
            <a:srgbClr val="F7F9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4251960" y="1417320"/>
            <a:ext cx="3611880" cy="47548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4343400" y="1417320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02</a:t>
            </a:r>
            <a:endParaRPr lang="en-US" sz="1800" dirty="0"/>
          </a:p>
        </p:txBody>
      </p:sp>
      <p:sp>
        <p:nvSpPr>
          <p:cNvPr id="19" name="Text 16"/>
          <p:cNvSpPr/>
          <p:nvPr/>
        </p:nvSpPr>
        <p:spPr>
          <a:xfrm>
            <a:off x="4873752" y="1444752"/>
            <a:ext cx="288036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Sprint Configuration</a:t>
            </a:r>
            <a:endParaRPr lang="en-US" sz="1200" dirty="0"/>
          </a:p>
        </p:txBody>
      </p:sp>
      <p:sp>
        <p:nvSpPr>
          <p:cNvPr id="20" name="Text 17"/>
          <p:cNvSpPr/>
          <p:nvPr/>
        </p:nvSpPr>
        <p:spPr>
          <a:xfrm>
            <a:off x="4389120" y="1965960"/>
            <a:ext cx="33375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Sprint 6 — Configuration</a:t>
            </a:r>
            <a:endParaRPr lang="en-US" sz="900" dirty="0"/>
          </a:p>
        </p:txBody>
      </p:sp>
      <p:sp>
        <p:nvSpPr>
          <p:cNvPr id="21" name="Text 18"/>
          <p:cNvSpPr/>
          <p:nvPr/>
        </p:nvSpPr>
        <p:spPr>
          <a:xfrm>
            <a:off x="4389120" y="2240280"/>
            <a:ext cx="333756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ECS configures the process in ServiceNow against the completed Accelerator Pack workbook. Customer SMEs validate configuration against agreed decisions.</a:t>
            </a:r>
            <a:endParaRPr lang="en-US" sz="1100" dirty="0"/>
          </a:p>
        </p:txBody>
      </p:sp>
      <p:sp>
        <p:nvSpPr>
          <p:cNvPr id="22" name="Shape 19"/>
          <p:cNvSpPr/>
          <p:nvPr/>
        </p:nvSpPr>
        <p:spPr>
          <a:xfrm>
            <a:off x="8092440" y="1417320"/>
            <a:ext cx="3611880" cy="4114800"/>
          </a:xfrm>
          <a:prstGeom prst="rect">
            <a:avLst/>
          </a:prstGeom>
          <a:solidFill>
            <a:srgbClr val="F7F9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Shape 20"/>
          <p:cNvSpPr/>
          <p:nvPr/>
        </p:nvSpPr>
        <p:spPr>
          <a:xfrm>
            <a:off x="8092440" y="1417320"/>
            <a:ext cx="3611880" cy="47548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8183880" y="1417320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03</a:t>
            </a:r>
            <a:endParaRPr lang="en-US" sz="1800" dirty="0"/>
          </a:p>
        </p:txBody>
      </p:sp>
      <p:sp>
        <p:nvSpPr>
          <p:cNvPr id="25" name="Text 22"/>
          <p:cNvSpPr/>
          <p:nvPr/>
        </p:nvSpPr>
        <p:spPr>
          <a:xfrm>
            <a:off x="8714232" y="1444752"/>
            <a:ext cx="288036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Live OOTB Walkthrough</a:t>
            </a:r>
            <a:endParaRPr lang="en-US" sz="1200" dirty="0"/>
          </a:p>
        </p:txBody>
      </p:sp>
      <p:sp>
        <p:nvSpPr>
          <p:cNvPr id="26" name="Text 23"/>
          <p:cNvSpPr/>
          <p:nvPr/>
        </p:nvSpPr>
        <p:spPr>
          <a:xfrm>
            <a:off x="8229600" y="1965960"/>
            <a:ext cx="33375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 of sprint demo</a:t>
            </a:r>
            <a:endParaRPr lang="en-US" sz="900" dirty="0"/>
          </a:p>
        </p:txBody>
      </p:sp>
      <p:sp>
        <p:nvSpPr>
          <p:cNvPr id="27" name="Text 24"/>
          <p:cNvSpPr/>
          <p:nvPr/>
        </p:nvSpPr>
        <p:spPr>
          <a:xfrm>
            <a:off x="8229600" y="2240280"/>
            <a:ext cx="333756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ECS walks the customer through the configured OOTB process in a live ServiceNow instance. Every decision from today is visible in the system.</a:t>
            </a:r>
            <a:endParaRPr lang="en-US" sz="1100" dirty="0"/>
          </a:p>
        </p:txBody>
      </p:sp>
      <p:sp>
        <p:nvSpPr>
          <p:cNvPr id="28" name="Shape 25"/>
          <p:cNvSpPr/>
          <p:nvPr/>
        </p:nvSpPr>
        <p:spPr>
          <a:xfrm>
            <a:off x="457200" y="5650992"/>
            <a:ext cx="11247120" cy="566928"/>
          </a:xfrm>
          <a:prstGeom prst="rect">
            <a:avLst/>
          </a:prstGeom>
          <a:solidFill>
            <a:srgbClr val="F0FDFA"/>
          </a:solidFill>
          <a:ln w="12700">
            <a:solidFill>
              <a:srgbClr val="CCF0EA"/>
            </a:solidFill>
            <a:prstDash val="solid"/>
          </a:ln>
        </p:spPr>
      </p:sp>
      <p:sp>
        <p:nvSpPr>
          <p:cNvPr id="29" name="Text 26"/>
          <p:cNvSpPr/>
          <p:nvPr/>
        </p:nvSpPr>
        <p:spPr>
          <a:xfrm>
            <a:off x="594360" y="5696712"/>
            <a:ext cx="109728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Note:  </a:t>
            </a:r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presentation does not replace the Accelerator Pack workbook. The workbook is the living record — decisions formally captured, configuration data collected, and customer sign-off obtained before sprint build begins.</a:t>
            </a:r>
            <a:endParaRPr lang="en-US" sz="10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1E3A5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424160" y="137160"/>
            <a:ext cx="1554480" cy="530352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365760" y="6556248"/>
            <a:ext cx="11430000" cy="0"/>
          </a:xfrm>
          <a:prstGeom prst="line">
            <a:avLst/>
          </a:prstGeom>
          <a:noFill/>
          <a:ln w="6350">
            <a:solidFill>
              <a:srgbClr val="2A4A70"/>
            </a:solidFill>
            <a:prstDash val="solid"/>
          </a:ln>
        </p:spPr>
      </p:sp>
      <p:sp>
        <p:nvSpPr>
          <p:cNvPr id="4" name="Text 1"/>
          <p:cNvSpPr/>
          <p:nvPr/>
        </p:nvSpPr>
        <p:spPr>
          <a:xfrm>
            <a:off x="365760" y="6601968"/>
            <a:ext cx="3200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A7A9F"/>
                </a:solidFill>
              </a:rPr>
              <a:t>Everforth ECS Federal</a:t>
            </a:r>
            <a:endParaRPr lang="en-US" sz="800" dirty="0"/>
          </a:p>
        </p:txBody>
      </p:sp>
      <p:sp>
        <p:nvSpPr>
          <p:cNvPr id="5" name="Text 2"/>
          <p:cNvSpPr/>
          <p:nvPr/>
        </p:nvSpPr>
        <p:spPr>
          <a:xfrm>
            <a:off x="3566160" y="6601968"/>
            <a:ext cx="6400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5A7A9F"/>
                </a:solidFill>
              </a:rPr>
              <a:t>SERVICENOW PRACTICE  ·  MODERNIZING THE CORE  ·  PERFORMANCE ANALYTICS</a:t>
            </a:r>
            <a:endParaRPr lang="en-US" sz="800" dirty="0"/>
          </a:p>
        </p:txBody>
      </p:sp>
      <p:sp>
        <p:nvSpPr>
          <p:cNvPr id="6" name="Text 3"/>
          <p:cNvSpPr/>
          <p:nvPr/>
        </p:nvSpPr>
        <p:spPr>
          <a:xfrm>
            <a:off x="11430000" y="6601968"/>
            <a:ext cx="457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5A7A9F"/>
                </a:solidFill>
              </a:rPr>
              <a:t>17</a:t>
            </a:r>
            <a:endParaRPr lang="en-US" sz="800" dirty="0"/>
          </a:p>
        </p:txBody>
      </p:sp>
      <p:sp>
        <p:nvSpPr>
          <p:cNvPr id="7" name="Shape 4"/>
          <p:cNvSpPr/>
          <p:nvPr/>
        </p:nvSpPr>
        <p:spPr>
          <a:xfrm>
            <a:off x="457200" y="1737360"/>
            <a:ext cx="64008" cy="1920240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685800" y="1645920"/>
            <a:ext cx="10058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Questions?</a:t>
            </a:r>
            <a:endParaRPr lang="en-US" sz="4600" dirty="0"/>
          </a:p>
        </p:txBody>
      </p:sp>
      <p:sp>
        <p:nvSpPr>
          <p:cNvPr id="9" name="Text 6"/>
          <p:cNvSpPr/>
          <p:nvPr/>
        </p:nvSpPr>
        <p:spPr>
          <a:xfrm>
            <a:off x="685800" y="2697480"/>
            <a:ext cx="10058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14B8A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Let's close the decision log.</a:t>
            </a:r>
            <a:endParaRPr lang="en-US" sz="2200" dirty="0"/>
          </a:p>
        </p:txBody>
      </p:sp>
      <p:sp>
        <p:nvSpPr>
          <p:cNvPr id="10" name="Text 7"/>
          <p:cNvSpPr/>
          <p:nvPr/>
        </p:nvSpPr>
        <p:spPr>
          <a:xfrm>
            <a:off x="685800" y="3337560"/>
            <a:ext cx="1005840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9CB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questions before we adjourn:
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C8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Are all 8 decisions made — or does each open item have a named owner and a date?
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C8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 there anything we captured incorrectly that needs to be corrected before the workbook is updated?
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C8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 there a decision that needs escalation or leadership approval before Sprint 6 configuration begins?</a:t>
            </a:r>
            <a:endParaRPr lang="en-US" sz="1400" dirty="0"/>
          </a:p>
        </p:txBody>
      </p:sp>
      <p:sp>
        <p:nvSpPr>
          <p:cNvPr id="11" name="Text 8"/>
          <p:cNvSpPr/>
          <p:nvPr/>
        </p:nvSpPr>
        <p:spPr>
          <a:xfrm>
            <a:off x="457200" y="6199632"/>
            <a:ext cx="9144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A5A7F"/>
                </a:solidFill>
              </a:rPr>
              <a:t>Contact your ECS Account Executive  ·  servicenow@ecstech.com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17</Slides>
  <Notes>17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2026-05-12T05:27:12Z</dcterms:created>
  <dcterms:modified xsi:type="dcterms:W3CDTF">2026-05-12T05:27:12Z</dcterms:modified>
</cp:coreProperties>
</file>