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554480"/>
            <a:ext cx="64008" cy="2194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4173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Modernizing the Core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Analytics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Activating Operational Intelligence for Continuous Improvement and AI-Ready Reporting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263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A7F"/>
                </a:solidFill>
              </a:rPr>
              <a:t>Prepared by Everforth ECS Federal  ·  ServiceNow Practice  ·  Confidential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AGENDA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We'll Cover Today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87552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OOTB-First Frame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87552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commits to OOTB — and what it means in the room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6208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766560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(and Isn't)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66560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vs. customization — with examples relevant to Performance Analytics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87552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PA Architecture Overview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87552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collection, indicator aggregation, scorecards, and the dashboard-to-decision feedback loop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36208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766560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Decisions #1–#8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766560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 #1–#8  ·  Indicator selection, breakdowns, scorecard design, thresholds, collection cadence, dashboard access, trending, report migration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87552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87552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recorded before we leave this room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36208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766560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Comes Next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766560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Pack workbook, configuration sprint, live ServiceNow demo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4663440"/>
            <a:ext cx="112471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709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rule: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get made in this room. The OOTB recommendation is pre-populated. Your team's job is to confirm, adjust, or document the exception.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APPROACH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OOTB-first is not a constraint — it is the AI strategy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OOTB-First Means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420624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starts with the OOTB Performance Analytics capability — not the legacy system pattern.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(activating features, setting values, building taxonomies, writing rules) is always available — it is how OOTB is tailored to your organization.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 (code changes, new database fields, custom scripts) requires a documented business case and Customization Council sign-off.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18-week engagement is scoped and priced for OOTB execution. Customization expands scope.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It Protects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4206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— Predictive Intelligence, Now Assist, Virtual Agent — require clean OOTB-aligned data and process structures. Custom fields and non-standard models reduce AI accuracy or block activation entirely.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upgrade paths. Customizations break on upgrades. OOTB patterns survive upgrades automatically with no remediation cost.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debt elimination. The Governance Triage Log captures every exception — it is managed and addressed iteratively. Nothing is lost; everything is governed.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LINE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— and what it isn't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CONFIGURATION  —  This is always available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3931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94360" y="182880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Content pack activation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Indicator enable/disable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Breakdown dimensions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Dashboard layout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Audience assignment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Threshold alert rules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Data collection frequency</a:t>
            </a:r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CUSTOMIZATION  —  Requires business case &amp; Council sign-off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3931920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373368" y="1828800"/>
            <a:ext cx="52120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Custom indicator scripts for metrics available in OOTB content packs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Custom tables for PA data already captured in OOTB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Dashboard designs that require scripted widgets</a:t>
            </a:r>
          </a:p>
        </p:txBody>
      </p:sp>
      <p:sp>
        <p:nvSpPr>
          <p:cNvPr id="18" name="Shape 15"/>
          <p:cNvSpPr/>
          <p:nvPr/>
        </p:nvSpPr>
        <p:spPr>
          <a:xfrm>
            <a:off x="457200" y="5440680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94360" y="54864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pattern requiring customization is captured in the Governance Triage Log with a named owner and disposition date — addressed in the current sprint via the Customization Council or deferred to a governed follow-on engagement.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PROCESS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ServiceNow OOTB Performance Analytics — Data Flow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8360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Aggregation Job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035552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Indicator Scores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52744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Scorecards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69936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787128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Insights &amp; Action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Capabilities &amp; OOTB Features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864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Indicator Library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ships 200+ OOTB PA indicators for ITSM, ITAM, CMDB, and Knowledge. No custom indicator build needed for Sprint 6 — activate from the OOTB indicator library.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20624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29768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 Premium vs Standard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29768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Premium indicators (SLA attainment trending, PI accuracy, CMDB health trends) require PA Premium license. Standard indicators are included in base ITSM license.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95528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04672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Alignment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804672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metrics feed the Now Assist operational summary and executive briefing features. Clean, structured PA data is a prerequisite for AI-generated operational narratives.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#1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OOTB indicators will be activated at Sprint 6 go-live?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Indicator Priority Set: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Incident: MTTR by priority, SLA attainment %, incident volume by category, reopen rate. Change: change success rate, emergency change %. Knowledge: deflection rate, article feedback score. CMDB: completeness % by class.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Model: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activated from the PA Indicator library — select and enable. Data begins collecting from activation date. Historical backfill: PA can collect historical data for indicators from existing records if enabled.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Note: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PA Premium license before activating premium indicators. Standard indicators are included in ITSM license.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process areas are in scope for Sprint 6 PA (Incident, Change, Knowledge, CMDB, HAM, all)?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historical data collection be enabled to backfill indicators from Sprint 1 data?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Are PA Premium indicators licensed — or only standard indicators?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owns the indicator library post-go-live (adding and retiring indicators)?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Activating all 200+ OOTB indicators without a review process creates scorecard noise. Start with 15–20 high-value indicators across the in-scope process areas. Expand after the first 30-day review.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#2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breakdown dimensions will indicators be segmented by?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Breakdowns: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indicators: by Assignment Group, by Category, by Priority, by Location. Change indicators: by Type, by Risk, by Application Service. All OOTB breakdowns — no custom dimensions needed.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Purpose: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Breakdowns enable drill-down from aggregate score to root cause. 'SLA attainment is 72%' → broken down by group → 'Network team at 45%' → action item identified.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Breakdowns: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breakdown dimensions (e.g., 'by Customer Segment') require a custom breakdown definition — this is configuration in PA, not scripting.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breakdowns are required for each indicator group at 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Are any custom breakdown dimensions needed that are not covered by OOTB (e.g., by cost center)?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decides which breakdowns are published to which audience (all breakdowns to all users creates information overload)?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Will breakdown data be used for team-level performance reviews — and what is the governance model for that use?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Exposing all available breakdowns to all users creates PA dashboard complexity that reduces adoption. Start with 2–3 breakdowns per indicator. Add dimensions based on actual user requests post-go-live.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#3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scorecards will be built — and who is each scorecard for?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Scorecard Types: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Desk (for service desk managers), IT Operations (for IT ops leads), Executive Summary (for CIO/IT Director), Process Owner (one per process: Incident, Change, Problem, CMDB).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Design: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scorecard groups 5–8 indicators with targets. Green/yellow/red threshold coloring is OOTB — no custom CSS.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Targeting: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Scorecards are shared by role — service desk managers see their scorecard, executives see the summary. OOTB role-based visibility — no custom access control needed.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scorecards will be built at Sprint 6 go-live (service desk, IT ops, executive, process owner)?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Who are the named scorecard recipients for each scorecard type?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is the review cadence for each scorecard (weekly, monthly)?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Will scorecards be shared via email digest — or are users expected to navigate to ServiceNow?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scorecard visualizations built outside the OOTB PA scorecard framework require Customization Council review. OOTB scorecards support all standard executive and operational review patterns.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thresholds will be set for each indicator — green, yellow, red?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Threshold Configuration: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indicator has configurable thresholds: green (on target), yellow (at risk), red (breached). Thresholds set in the PA Indicator definition — no scripting.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provides industry-benchmark default thresholds for ITSM indicators. ECS recommends starting with OOTB defaults and adjusting after the first 30 days of production data.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vs Threshold: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desired performance level. Threshold = minimum acceptable. Both configurable independently per indicator and per breakdown segment.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Will OOTB benchmark thresholds be accepted as starting values — or are customer-specific targets already defined?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Who has authority to change indicator thresholds post-go-live?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thresholds be segmented by assignment group (e.g., different SLA targets for Tier 1 vs Tier 2)?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How will threshold changes be communicated to scorecard recipients?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threshold logic that varies by time of day, user type, or other dynamic criteria requires scripting. OOTB threshold configuration supports static and segment-specific values — sufficient for Sprint 6 go-live.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#5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data collection cadence — and when do jobs run?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PA Job Schedule: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jobs run on configurable schedule: hourly (near-real-time), daily (recommended for most indicators), weekly (trends and forecasts). Jobs are managed in the PA Job Scheduler.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Performance: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collection jobs run in the background — no user-visible performance impact. Large datasets (&gt;500K records) may require off-hours scheduling to avoid peak-time resource consumption.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 Job: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backfill job collects historical indicator data from existing records. Recommended: run once after go-live to populate 6 months of historical trend data.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collection cadence is required for each indicator group (hourly, daily, weekly)?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the historical backfill job be run — and how many months of history will be collected?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monitors PA collection job health (failed jobs, late completions)?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escalation path if a PA collection job fails repeatedly?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PA collection jobs for all indicators consume significant processing capacity on busy instances. Daily collection is the OOTB-recommended standard. Use hourly only for KPIs where near-real-time tracking is operationally required.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#6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PA dashboards be published — and who has access to what?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Dashboard Sharing: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dashboards shared by: role (all users with a specific role see the dashboard), group (specific groups only), or public (all authenticated users). No custom access control needed.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 vs Dashboard: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PA dashboards can be set as the default homepage for specific roles. Users see their dashboard on login — no navigation required.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Analytics: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Analytics Hub allows users to create their own analytics views from published indicators — without impacting core dashboards. Available to users with 'pa_viewer' role.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roles will have access to which dashboards?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PA dashboards replace Classic Reporting homepages for service desk agents?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Analytics Hub self-service be enabled for all users — or restricted to managers and above?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approves new dashboard additions post-go-live to prevent dashboard proliferation?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PA dashboard access control beyond OOTB role and group sharing requires scripting. OOTB sharing covers all standard audience segmentation requirements.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#7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Will trending and forecasting be activated — and at what horizon?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Trending: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automatically calculates trend direction for all active indicators. Trend period configurable: 7-day, 30-day, 90-day. Trend arrows visible on scorecards — OOTB, no configuration.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Premium: forecast projects indicator trajectory based on historical trend. Forecast horizon: 30, 60, or 90 days. Requires PA Premium license and 90 days of historical data.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Premium: AI-based anomaly detection flags unusual indicator movements. Requires Now Assist Analytics license.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Will trending (7/30/90-day) be activated at Sprint 6 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Is PA Premium licensed — and will forecasting be activated?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forecasting horizon is operationally meaningful (30/60/90 days)?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Will Now Assist Analytics anomaly detection be in scope for Sprint 6?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without 90 days of clean historical data produces unreliable projections. Activate trending at go-live; enable forecasting after 90 days of post-go-live production data has accumulated.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#8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existing Classic Reports will be migrated to PA — or retired?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Approach: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Classic Reports used for operational decision-making. For each: determine if equivalent PA indicator exists (likely yes). If yes: retire Classic Report, activate PA indicator. If no: evaluate whether the report represents a real gap or a legacy artifact.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PA Coverage: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OOTB covers: volume, aging, SLA attainment, category breakdown, group performance, knowledge deflection. These replace the majority of Classic Report use cases.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Retire: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built for one-time analysis, reports with no named consumer, reports that duplicate PA data — all candidates for retirement.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Who owns the Classic Report audit (identifying reports in use vs orphaned)?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process for retiring a Classic Report — approval required, or owner-initiated?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Are there reports in use by external stakeholders (e.g., emailed to non-ServiceNow users) that cannot be retired without a replacement?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timeline for completing the Classic Report migration?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Maintaining both Classic Reports and PA indicators for the same data creates confusion and governance overhead. Commit to PA as the single source of operational metrics at Sprint 6 go-live. Retire Classic Reports on a defined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2011680"/>
            <a:ext cx="64008" cy="1645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920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on the next page is an action.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left blank leave this room with a named owner and a date. Before we close: no decision is unresolved — it is either made, or owned.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DECISION LOG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Analytics — Decisions Made in This Workshop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114300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03120"/>
                <a:gridCol w="3657600"/>
                <a:gridCol w="30175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/ Due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 Selection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areas, historical backfill, PA Premium licensing, indicator 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Breakdown Dimensions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Breakdown types, custom dimensions, audience 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Scorecard Design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Scorecard types, recipients, review cadence, distribution 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Thresholds &amp; Targets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Starting values, authority to change, group-level segmentation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 Cadence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 per indicator, backfill plan, job health 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sharing, homepage assignment, Analytics Hub 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Trending &amp; Forecasting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Trending activation, forecast horizon, anomaly detection 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Report Migration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owner, retirement process, external report handling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NEXT STEPS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 after this workshop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148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3327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 Pack — Workbook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after this workshop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captured today are entered into the Performance Analytics Accelerator Pack workbook. ECS pre-populates the ServiceNow Mapping tab with OOTB field-level configuration specs.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5196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4340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87375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Configuration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38912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 — Configuration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38912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configures the process in ServiceNow against the completed Accelerator Pack workbook. Customer SMEs validate configuration against agreed decisions.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9244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9244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8388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71423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OOTB Walkthrough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22960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sprint demo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2960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walks the customer through the configured OOTB process in a live ServiceNow instance. Every decision from today is visible in the system.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5650992"/>
            <a:ext cx="1124712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569671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does not replace the Accelerator Pack workbook. The workbook is the living record — decisions formally captured, configuration data collected, and customer sign-off obtained before sprint build begins.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PERFORMANCE ANALYTICS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64008" cy="1920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645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685800" y="2697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close the decision log.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33756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before we adjourn: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8 decisions made — or does each open item have a named owner and a date?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anything we captured incorrectly that needs to be corrected before the workbook is updated?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decision that needs escalation or leadership approval before Sprint 6 configuration begins?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19963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5A7F"/>
                </a:solidFill>
              </a:rPr>
              <a:t>Contact your ECS Account Executive  ·  servicenow@ecstech.com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2026-05-12T05:27:12Z</dcterms:created>
  <dcterms:modified xsi:type="dcterms:W3CDTF">2026-05-12T05:27:12Z</dcterms:modified>
</cp:coreProperties>
</file>