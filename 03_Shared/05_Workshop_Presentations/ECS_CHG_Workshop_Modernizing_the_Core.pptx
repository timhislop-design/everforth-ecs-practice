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Management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Risk, Enabling Speed, and Protecting the Platform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5669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78992" y="120700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78992" y="146304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1993392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78992" y="2011680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78992" y="226771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between configuration, extension, and customization — with examples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798064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78992" y="2816352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Change Process Walkthrough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78992" y="3072384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types, lifecycle, CAB, and risk — all in OOTB form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602736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78992" y="3621024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#1–#9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78992" y="3877056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types, lifecycle, risk, CAB, Standard Change Catalog, approvals, notifications, conflict detection, AI integration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4407408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407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78992" y="44256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78992" y="46817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5212080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06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78992" y="523036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78992" y="548640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" y="6236208"/>
            <a:ext cx="1124712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Decisions get made in this room. The OOTB recommendation is pre-populated. Your job is to confirm, adjust with rationale, or defer with a named owner and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25880"/>
            <a:ext cx="3611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25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673352"/>
            <a:ext cx="3611880" cy="459028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783080"/>
            <a:ext cx="3337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OOTB ServiceNow capability — not legacy CAB or ITSM tool patterns.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change types, setting risk thresholds, building approval policies, defining Standard Change templates) is always available.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06240" y="1325880"/>
            <a:ext cx="3611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06240" y="1325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06240" y="1673352"/>
            <a:ext cx="3611880" cy="459028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43400" y="1783080"/>
            <a:ext cx="3337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prediction — Predictive Intelligence and Now Assist require clean OOTB change data structures. Custom fields degrade risk prediction accuracy.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continuity — OOTB configurations survive platform upgrades automatically. Custom approval scripts do not.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 — the 18-week plan is built around OOTB configuration velocity. Custom CAB tools insert unknown lead time.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ROI — PI risk prediction, CAB Workbench, and Performance Analytics only realize full value on clean OOTB foundations.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55280" y="1325880"/>
            <a:ext cx="3611880" cy="347472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0" y="1325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Enables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955280" y="1673352"/>
            <a:ext cx="3611880" cy="459028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92440" y="1783080"/>
            <a:ext cx="3337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active from Sprint 5 — risk level and change type prediction from change text and history.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AI-generated change summaries and risk assessment notes from day one.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Workbench — digital, OOTB CAB management with structured agendas, voting, and approval tracking.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CMDB-driven conflict detection — changes against overlapping CIs flagged automatically, no custom scripting.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25880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25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09928"/>
            <a:ext cx="5394960" cy="452628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325880"/>
            <a:ext cx="553212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132588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Approval + Business Case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1709928"/>
            <a:ext cx="5532120" cy="452628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1709928"/>
            <a:ext cx="5532120" cy="452628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182880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change types: Normal, Standard, Emergency — and their applicable workflows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OOTB lifecycle states and configuring transition rules via change type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Building the Risk Assessment questionnaire using OOTB risk scoring fields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Creating Standard Change templates (pre-approved change patterns) in the Standard Change Catalog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CAB membership, meeting schedules, and agenda templates via CAB Workbench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approval policies per change type (who approves, sequence, conditions)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conflict detection rules based on CMDB CI relationships and maintenance windows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Enabling Predictive Intelligence for risk level and change type prediction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notification recipients for change lifecycle events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blackout windows and maintenance schedules using OOTB Change Calendar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55080" y="1828800"/>
            <a:ext cx="5257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Adding custom change types beyond Normal, Standard, and Emergency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state additions to the change lifecycle (e.g., 'Awaiting Vendor Signature')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Scripts that auto-approve changes based on submitter, CI, or time of day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CAB voting mechanisms outside the OOTB CAB Workbench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New notification triggers beyond the OOTB event-based set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risk calculation engines that override the OOTB risk questionnaire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Business rules that auto-assign change managers from CI ownership data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approval routing scripts for department-specific approval chains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Modifications to the OOTB change form beyond field visibility configuration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integration scripts for external change advisory tool hand-offs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6400800"/>
            <a:ext cx="1124712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644652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customization bar: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requires a code change, a new database field, or a script — it is a customization. If it can be set through the ServiceNow UI or System Properties — it is configuration.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Change Lifecycle — End to End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146304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NORMAL CHANGE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057400" y="1389888"/>
            <a:ext cx="1170432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57400" y="138988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NEW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227832" y="1655064"/>
            <a:ext cx="109728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7560" y="1389888"/>
            <a:ext cx="1170432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37560" y="138988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ASSESS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07992" y="1655064"/>
            <a:ext cx="109728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17720" y="1389888"/>
            <a:ext cx="1170432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7720" y="138988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AUTHORIZE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788152" y="1655064"/>
            <a:ext cx="109728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97880" y="1389888"/>
            <a:ext cx="1170432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138988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SCHEDULED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068312" y="1655064"/>
            <a:ext cx="109728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78040" y="1389888"/>
            <a:ext cx="1170432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78040" y="138988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IMPLEMENT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8348472" y="1655064"/>
            <a:ext cx="109728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58200" y="1389888"/>
            <a:ext cx="1170432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58200" y="138988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REVIEW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9628632" y="1655064"/>
            <a:ext cx="109728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738360" y="1389888"/>
            <a:ext cx="1170432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738360" y="1389888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CLOSED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57200" y="2487168"/>
            <a:ext cx="14630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248716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STANDARD CHANGE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057400" y="2487168"/>
            <a:ext cx="1682496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057400" y="248716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NEW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39896" y="2752344"/>
            <a:ext cx="109728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849624" y="2487168"/>
            <a:ext cx="1682496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9624" y="248716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SCHEDULED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532120" y="2752344"/>
            <a:ext cx="109728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641848" y="2487168"/>
            <a:ext cx="1682496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41848" y="248716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IMPLEMENT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324344" y="2752344"/>
            <a:ext cx="109728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434072" y="2487168"/>
            <a:ext cx="1682496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34072" y="248716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REVIEW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9116568" y="2752344"/>
            <a:ext cx="109728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226296" y="2487168"/>
            <a:ext cx="1682496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226296" y="248716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CLOSED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457200" y="3584448"/>
            <a:ext cx="1463040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57200" y="358444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EMERGENCY CHANGE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2057400" y="3584448"/>
            <a:ext cx="1682496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057400" y="358444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NEW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3739896" y="3849624"/>
            <a:ext cx="109728" cy="12801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849624" y="3584448"/>
            <a:ext cx="1682496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849624" y="358444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AUTHORIZE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5532120" y="3849624"/>
            <a:ext cx="109728" cy="12801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641848" y="3584448"/>
            <a:ext cx="1682496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641848" y="358444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IMPLEMENT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7324344" y="3849624"/>
            <a:ext cx="109728" cy="12801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434072" y="3584448"/>
            <a:ext cx="1682496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434072" y="358444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REVIEW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9116568" y="3849624"/>
            <a:ext cx="109728" cy="12801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226296" y="3584448"/>
            <a:ext cx="1682496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226296" y="358444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CLOSED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457200" y="4617720"/>
            <a:ext cx="539496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94360" y="463600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Workbench (OOTB):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CAB agenda, structured voting, and approval tracking. No email chains, no spreadsheets — all in ServiceNow.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6035040" y="4617720"/>
            <a:ext cx="57150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172200" y="4636008"/>
            <a:ext cx="5440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(OOTB):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against the same CI within overlapping windows are flagged automatically — powered by CMDB.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457200" y="5230368"/>
            <a:ext cx="36118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57200" y="52303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Standard Change Catalog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57200" y="5541264"/>
            <a:ext cx="3611880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94360" y="5632704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templates for routine changes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 approval required — risk pre-assessed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by any authorized submitter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password reset, patching, software install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4206240" y="5230368"/>
            <a:ext cx="3611880" cy="31089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206240" y="52303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Emergency Change Process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4206240" y="5541264"/>
            <a:ext cx="3611880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343400" y="5632704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Expedited OOTB workflow — ECAB approval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required at implementation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mandatory post-implementation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Auto-linked to associated incidents or problems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7955280" y="5230368"/>
            <a:ext cx="3977640" cy="310896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955280" y="52303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Features at Go-Live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7955280" y="5541264"/>
            <a:ext cx="3977640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8092440" y="5632704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predicts risk level and suggested approvers from change text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generates AI change summaries and risk notes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PA: change success rate, lead time, CAB throughput — OOTB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you use the 3 OOTB change types — Normal, Standard, and Emergency?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Change Types (3):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Change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Requires full risk assessment, CAB review, and structured approval workflow. The default change type.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Change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Pre-approved, low-risk, routine changes. Uses templates from the Standard Change Catalog. No CAB approval required.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Change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Expedited workflow for urgent unplanned changes. Requires ECAB approval and a mandatory Post-Implementation Review (PIR).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cover 99%+ of organizational change patterns. Each type has its own OOTB workflow, risk posture, and approval requirement — no scripting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Accept all 3 OOTB change types? (Strongly recommended — additional types require Customization Council approval)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Which change types will be active at go-live vs. phased in? (Standard Change Catalog often phases to Sprint 6)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definition of an Emergency Change in your organization — is it any unplanned urgent change, or does it require specific impact thresholds?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has authority to declare an Emergency Change — Change Manager only, or any authorized submitter?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change types (e.g., 'Minor Change', 'Major Change') replicate the Normal/Standard split with extra configuration overhead and fragment PA reporting. Map your existing types to the OOTB three before adding new ones.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you use the OOTB change lifecycle states — or require custom states?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Normal Change States (7):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→  Assess  →  Authorize  →  Scheduled  →  Implement  →  Review  →  Closed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Standard Change States (5):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→  Scheduled  →  Implement  →  Review  →  Closed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Emergency Change States (5):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→  Authorize  →  Implement  →  Review  →  Closed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states map directly to ITIL change management stages. PA reporting and PI training are built on these exact state transitions — custom states break both.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Accept all OOTB lifecycle states for each change type without modification?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changes be allowed to move backward in the lifecycle (e.g., from Scheduled back to Assess)?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triggers a change to move from Implement to Review — completion notification from implementer, or automatic timer?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auto-close threshold after Review state — how many days before a change closes automatically?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states (e.g., 'Awaiting Vendor', 'Pending Sign-off') fragment PA lifecycle reporting and require custom approval workflows. OOTB On Hold covers 95%+ of wait scenarios without a single line of code.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change risk be calculated — and what thresholds trigger CAB review?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Risk Assessment: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includes an OOTB risk questionnaire with configurable questions. Answers calculate a numeric risk score automatically.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Risk Levels: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Medium  ·  Low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Configuration (OOTB):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thresholds for each risk level are set via System Properties — no scripting. High-risk changes auto-route to CAB.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Risk Prediction: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Predictive Intelligence learns from completed change history to pre-fill risk scores — reducing manual questionnaire burden.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Accept the OOTB risk questionnaire questions — or define a custom question set? (Custom questions are configuration, not customization)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score thresholds define Low / Medium / High risk in your environment?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Does risk level alone determine CAB requirement — or do additional factors (affected user count, CI criticality) apply?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Standard Changes bypass the risk questionnaire entirely — or require a reduced-form assessment?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risk calculation engines and override scripts are the #1 source of change management technical debt. The OOTB questionnaire covers the full risk spectrum. Define thresholds — don't rebuild the engine.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Change Advisory Board be structured and managed?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CAB Workbench: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CAB management — structured agendas, change voting, approval decisions, and meeting minutes — all in ServiceNow. No external tools needed.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CAB Features: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meeting schedule and recurring calendar entries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agenda — changes added to the agenda with risk score and summary visible to reviewers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voting — approve, reject, or abstain per change, with comments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ECAB (Emergency CAB) — separate voting group for Emergency Changes, smaller membership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CAB decisions are recorded on the change record — auditable, no email chains.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are the standing CAB members — and do they vary by change category or affected service?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CAB meeting cadence — weekly, bi-weekly, or on-demand? Is a standing weekly CAB realistic?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is on the ECAB (Emergency CAB) — Change Manager + Service Owner only, or a broader group?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CAB approval required for all Normal Changes — or only High-risk? What is the quorum rule?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CAB members be able to vote asynchronously (OOTB) — or is a live meeting required for approval?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CABs that meet weekly with every Normal Change on the agenda become rubber-stamp sessions. Use risk thresholds to route only High-risk changes to CAB — Medium and Low can use delegated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changes qualify for the Standard Change Catalog — and who approves templates?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Standard Change Catalog: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change templates for routine, low-risk activities. Submitters activate a template — no risk questionnaire, no CAB review required.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Lifecycle (OOTB):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Under Review → Published → Retired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Standard Change examples: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security patching (scheduled maintenance window)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account provisioning and access grants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version upgrades (tested, low-risk packages)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device configuration backups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 additions within pre-approved parameters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Which changes in your current environment are routine enough to qualify as Standard Changes at go-live?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has authority to create and publish Standard Change templates — Change Manager only, or also CAB?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review cycle for published Standard Change templates — annual, semi-annual, or event-triggered?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Will the Standard Change Catalog launch at go-live (Sprint 5) or phase to Sprint 6? (ECS recommendation: phase — build Normal Change process first)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Change Catalogs that are built without governance become a bypass mechanism. Every template must have a documented risk rationale and a named template owner responsible for its review cycle.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approves changes — and in what sequence?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Approval Engine: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policies are configured per change type and risk level via OOTB Approval Rules — no scripting. Sequential or parallel approval chains are both supported.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Approval Stages: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Manager → Technical Lead → CAB (for High-risk Normal Changes)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Delegated Approval: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Approvers can delegate during absence. Approval deadline escalation is OOTB — overdue approvals notify the Change Manager automatically.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Suggestion: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Predictive Intelligence suggests the appropriate approval group based on change history — visible as a recommendation, not an auto-action.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approval chain for Normal Changes — Change Manager → Technical Lead → CAB, or a different sequence?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approval requirements vary by change category or affected service — or is one policy applied to all Normal Changes?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SLA for approvals — how long before an overdue approval escalates, and who receives the escalation?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rejected changes require the submitter to re-assess risk — or can they resubmit with comments only?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Department-specific approval chains that differ by service, location, or submitter are the most common source of change management customization requests. Standardize the approval model first — carve-outs require documented business cases.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change conflicts and blackout windows be managed?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Change Conflict Detection: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automatically detects conflicts when two or more changes target the same CI within overlapping scheduled windows. Powered by CMDB CI relationships — no custom scripting.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Conflict Types: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conflict — same CI targeted by multiple changes in the same window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Blackout conflict — change falls within a defined blackout period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window violation — change scheduled outside the CI's approved maintenance window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Calendar (OOTB):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Blackout windows, maintenance schedules, and CAB meeting dates — all visible on the OOTB Change Calendar.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Will conflict detection be active at go-live — or deferred until CMDB data quality is validated? (ECS recommendation: activate at go-live)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blackout windows apply — release freeze periods, fiscal close, holiday schedules?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a conflict block change scheduling (hard stop) — or flag and allow the submitter to acknowledge and proceed?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receives a conflict notification — the Change Manager, the submitter, or both?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Deferring conflict detection 'until CMDB is ready' is a self-defeating delay. Activate OOTB conflict detection at go-live against the CIs you have — accuracy improves as CMDB populates. Waiting means manual conflict management during the highest-risk period.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gets notified — and when — throughout the change lifecycle?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Notification Events: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Created  ·  Pending Approval  ·  Approved  ·  Rejected  ·  Scheduled  ·  Implementation Started  ·  Implemented  ·  Closed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Channels (OOTB):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(OOTB templates — text content configurable) and ServiceNow Workspace activity feed (real-time). No custom notification scripts needed.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Notifications: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service owners can be notified when a change against their CI is scheduled — OOTB, driven by CMDB ownership.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Event-based notifications reduce noise. Workspace provides real-time status for Change Managers.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the OOTB notification events sufficient — or is there a specific lifecycle event not covered?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affected service owners receive a scheduled notification when a change targets their CI?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IT leadership receive a weekly digest of scheduled changes — or is the PA Change Calendar sufficient?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there any end-user facing notifications required — e.g., planned maintenance announcements via Employee Center?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notification on every state transition creates notification fatigue and reduces approver responsiveness. Adopt the OOTB event-based pattern — Workspace and PA dashboards cover the visibility needs most Change Managers actually have.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#9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Predictive Intelligence and Now Assist connect to Change Management?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(OOTB):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risk level and change type from change text at submission. Suggests appropriate approval group based on change history. Confidence scores visible to Change Manager.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(OOTB with license):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change summaries, risk assessment drafts, and implementation plan outlines — active on the OOTB change form with zero configuration.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(OOTB):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success rate, lead time (submit to implement), CAB throughput, Emergency Change rate, and conflict frequency — active at go-live, no custom reporting build.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OOTB PA tracks changes that require rollback or result in incidents — a key DORA metric, no custom reporting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Enable Predictive Intelligence for change at Sprint 5 — or defer? (ECS recommendation: Sprint 5, alongside change process go-live)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Now Assist licensed for this engagement? If yes, confirm it is in scope for change summarization and risk drafting.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reviews AI-generated risk assessment drafts before submission — the submitter, or the Change Manager?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target Change Failure Rate KPI — and who owns reporting against it post 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for change risk prediction requires clean OOTB change data from Sprint 5 go-live. Deferring PI 'until we have more data' means the first 90 days of changes are unscored — and the highest-value training signal is lost.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Management — Decisions Made in This Workshop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5212080"/>
                <a:gridCol w="22860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Decision Topic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Decision Made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 / Due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Change Types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OOTB types accepted / go-live scope / Emergency Change definition and authority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Lifecycle States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OOTB states accepted / backward movement / implement-to-review trigger / auto-close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Risk Assessment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Risk questionnaire / threshold configuration / CAB trigger criteria / Standard Change bypass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CAB Configuration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CAB membership / meeting cadence / ECAB composition / quorum rule / async voting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Standard Change Catalog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Qualifying changes / template authority / review cycle / go-live sprint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Approval Policies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Approval chain / variation by category / SLA / rejected change resubmission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Conflict Detection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Activation at go-live / blackout windows / hard stop vs. flag / notification recipients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Notifications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OOTB events accepted / service owner alerts / leadership digest / end-user maintenance notices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AI &amp; Analytics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PI go-live sprint / Now Assist scope / risk draft reviewer / Change Failure Rate KPI 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34440" y="1435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34440" y="176479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34440" y="1984248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Change Management Accelerator Pack workbook (Process Decisions tab).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pre-populates the ServiceNow Mapping tab with OOTB field-level configuration specs.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SME completes any open items in the Configuration Data tab before Sprint 5 begins.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2953512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044952"/>
            <a:ext cx="6400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044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34440" y="3063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5 — Configuration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34440" y="3392424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3: ITSM Core Build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234440" y="3611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change process in ServiceNow against the completed Accelerator Pack workbook.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types, approval workflows, risk questionnaire, CAB setup, conflict detection, and PI activation are all executed in Sprint 5.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SMEs validate configuration against agreed decisions in UAT.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4581144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4672584"/>
            <a:ext cx="640080" cy="640080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6725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34440" y="46908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34440" y="5020056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Demo / UAT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234440" y="5239512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change lifecycle in a live ServiceNow instance.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from this workshop is visible in the system — no black box.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scenarios are drawn directly from the Accelerator Pack and this decision log.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6400800"/>
            <a:ext cx="1124712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4360" y="6446520"/>
            <a:ext cx="10972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 It sets the stage. The workbook is where decisions are formally captured, configuration data is collected, and UAT is tracked.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CHANGE MANAGEMENT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64008" cy="1828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280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286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3337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9 decisions made — or does each open item have a named owner and a date?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38130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428853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5 begins?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603504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2026-05-12T00:47:33Z</dcterms:created>
  <dcterms:modified xsi:type="dcterms:W3CDTF">2026-05-12T00:47:33Z</dcterms:modified>
</cp:coreProperties>
</file>