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554480"/>
            <a:ext cx="64008" cy="219456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41732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Modernizing the Core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 Graph Connectors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CMDB Coverage with Authoritative Data Sources for Complete Service Visibility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62636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5A7F"/>
                </a:solidFill>
              </a:rPr>
              <a:t>Prepared by Everforth ECS Federal  ·  ServiceNow Practice  ·  Confidential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AGENDA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We'll Cover Today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87552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OOTB-First Frame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87552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engagement commits to OOTB — and what it means in the room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236208" y="1371600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36208" y="1371600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766560" y="1426464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(and Isn't)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66560" y="1737360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vs. customization — with examples relevant to Service Graph Connectors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57200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03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87552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Service Graph Connector Architecture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87552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Connector-to-CMDB data flow, source-of-record model, IRE reconciliation, and CMDB coverage expansion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6236208" y="2487168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36208" y="2487168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04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766560" y="2542032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Decisions #1–#8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766560" y="2852928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 #1–#8  ·  Connector selection, source of record, sync frequency, attribute mapping, conflict resolution, normalization, dedup, health monitoring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7200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05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987552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87552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is recorded before we leave this room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236208" y="3602736"/>
            <a:ext cx="5394960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236208" y="3602736"/>
            <a:ext cx="4389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06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6766560" y="3657600"/>
            <a:ext cx="4773168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Comes Next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766560" y="3968496"/>
            <a:ext cx="4773168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Accelerator Pack workbook, configuration sprint, live ServiceNow demo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" y="4663440"/>
            <a:ext cx="11247120" cy="502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4360" y="47091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rule: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get made in this room. The OOTB recommendation is pre-populated. Your team's job is to confirm, adjust, or document the exception.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APPROACH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OOTB-first is not a constraint — it is the AI strategy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OOTB-First Means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420624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starts with the OOTB Service Graph Connectors capability — not the legacy system pattern.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(activating features, setting values, building taxonomies, writing rules) is always available — it is how OOTB is tailored to your organization.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Customization (code changes, new database fields, custom scripts) requires a documented business case and Customization Council sign-off.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18-week engagement is scoped and priced for OOTB execution. Customization expands scope.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What It Protects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420624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features — Predictive Intelligence, Now Assist, Virtual Agent — require clean OOTB-aligned data and process structures. Custom fields and non-standard models reduce AI accuracy or block activation entirely.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upgrade paths. Customizations break on upgrades. OOTB patterns survive upgrades automatically with no remediation cost.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debt elimination. The Governance Triage Log captures every exception — it is managed and addressed iteratively. Nothing is lost; everything is governed.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LINE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 customization is — and what it isn't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CONFIGURATION  —  This is always available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19072"/>
            <a:ext cx="5394960" cy="393192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28800"/>
            <a:ext cx="51206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Activating and configuring OOTB features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up categories and taxonomies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assignment rules and routing logic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Defining SLA targets and schedules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Configuring notifications and email templates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Enabling AI features (PI, Now Assist, Virtual Agent)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Building reports and PA indicators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Setting system properties and thresholds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36208" y="13716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CUSTOMIZATION  —  Requires business case &amp; Council sign-off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36208" y="1719072"/>
            <a:ext cx="5486400" cy="3931920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73368" y="1828800"/>
            <a:ext cx="521208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Adding new fields to OOTB tables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Writing custom business rules or script actions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non-standard CI classes or table extensions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Modifying OOTB workflow stages in 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Building custom client scripts or UI policies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Creating custom REST endpoints outside the catalog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5440680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4864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obligation: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pattern requiring customization is captured in the Governance Triage Log with a named owner and disposition date — addressed in the current sprint via the Customization Council or deferred to a governed follow-on engagement.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THE PROCESS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ServiceNow OOTB Service Graph Connectors — Data Flow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 System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118360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74392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Connector Config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035552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291584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Sync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52744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08776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IRE Reconciliation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869936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25968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CMDB Update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9787128" y="1691640"/>
            <a:ext cx="256032" cy="73152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043160" y="1371600"/>
            <a:ext cx="1661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Health Monitor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200" y="226771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Key Capabilities &amp; OOTB Features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720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864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OOTB Connector Library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864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 ships connectors for: Microsoft Intune, SCCM/MEM, AWS, Azure, GCP, Qualys, CrowdStrike, ServiceNow Discovery, and 30+ others. All available without custom development.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20624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29768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IRE Reconciliation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29768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Graph Connectors route data through the same IRE (Identification &amp; Reconciliation Engine) as Discovery. Dedup rules, source priority, and attribute-level conflict resolution apply automatically.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955280" y="2596896"/>
            <a:ext cx="3749040" cy="3675888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046720" y="2670048"/>
            <a:ext cx="3566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Content Library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8046720" y="3017520"/>
            <a:ext cx="356616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ServiceNow Content Library normalizes software and hardware model names from external sources to canonical forms — preventing model name sprawl in CMDB.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#1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Service Graph Connectors will be activated in Sprint 5?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Connectors for Sprint 5: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Intune (endpoint device management), SCCM/MEM (on-prem device management), AWS (cloud infrastructure), Azure (cloud infrastructure). All OOTB — no custom connector development.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Activation: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connector is activated via the ServiceNow Store app installation. Configuration through the OOTB Connector wizard — no scripting. Credentials stored in Credential Vault.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Phasing Logic: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connectors in priority order by CI coverage gap. Intune typically covers workstations and laptops that Discovery misses. AWS/Azure connectors fill cloud CI gaps.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Which connectors are in scope for Sprint 5 (Intune, SCCM, AWS, Azure, other)?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Are there additional connectors needed beyond the priority list (Qualys, CrowdStrike, VMware)?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is the named connector owner per connector (customer-side admin)?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process for adding new connectors post-engagement?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Activating all available connectors without a source-of-record strategy creates conflicting CI data and IRE overload. Activate only the connectors needed to fill identified CMDB coverage gaps from Sprint 4 Discovery.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#2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source of record per CI class when connectors and Discovery overlap?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Source Priority: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 allows attribute-level source priority: 'Discovery is authoritative for OS version; Intune is authoritative for device enrollment status.' No scripting — configured via IRE Reconciliation rules.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Patterns: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Servers: Discovery &gt; Intune. Workstations/laptops: Intune &gt; Discovery (Discovery may not reach remote endpoints). Cloud VMs: Azure/AWS connector &gt; Discovery (cloud APIs more reliable).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Logging: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 logs all source conflicts in the CMDB Conflict table — OOTB visibility without scripting. CMDB admin reviews and resolves exceptional conflicts.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For each CI class with multiple sources, which source is authoritative?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Will attribute-level priority rules be configured (e.g., Intune owns 'managed by MDM'; Discovery owns 'IP address')?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reviews the IRE conflict log — and how frequently?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escalation path for unresolved IRE conflicts?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defined source priority, the last-write-wins pattern creates inconsistent CI data that degrades CMDB health scores. Define source priority per CI class before activating multiple connectors.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#3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sync frequency will each connector run at?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Sync Schedule Options: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(webhook/event-driven — requires connector support), Scheduled (daily, every 4 hours, weekly), On-demand (manual trigger). Each connector has its own schedule.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Cadence: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Intune/SCCM: daily (device enrollment changes daily). AWS/Azure: every 4 hours (cloud infrastructure changes frequently). Qualys: daily (vulnerability scan results).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Consideration: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syncs on large datasets (100K+ CIs) consume IRE processing capacity. Monitor IRE queue depth after enabling connectors.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What sync frequency is acceptable per connector (daily, every 4 hours, real-time)?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Are there compliance or audit requirements that mandate near-real-time CI data freshness?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monitors connector sync health (job failures, sync latency)?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SLA for detecting and resolving a connector sync failure?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sync for all connectors is rarely needed and creates IRE processing load. Daily sync is sufficient for most CMDB use cases. Real-time is justified only for security-related connectors (vulnerability, endpoint detection).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#4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9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CI attributes be mapped from source system fields to ServiceNow CI fields?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Attribute Mapping: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OOTB connector ships with a pre-configured attribute map. Intune maps device name → hostname, serial number → serial_number, OS → os_version, etc. No scripting needed for standard attributes.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Attribute Mapping: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source attributes can be mapped to ServiceNow CI fields via the Connector Attribute Map form — configuration, not scripting.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OOTB-Only Rule: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CI fields (columns) required to hold connector data that has no OOTB equivalent require Customization Council review. Evaluate OOTB field fit before requesting new columns.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Are the OOTB attribute maps for each connector sufficient — or are additional attributes needed?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Are there source attributes that need to map to custom CI fields (not available in OOTB)?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reviews and approves changes to attribute maps post-go-live?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Will connector attribute data be visible in the CMDB 360 view at 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new database columns to accommodate connector attributes requires Customization Council sign-off. Review the OOTB CI class field list carefully — most connector data has a natural OOTB field destination.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#5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10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the Content Library normalize connector data to prevent CI sprawl?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Library Role: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Library normalizes software publisher names, product names, and hardware model names from external sources. Example: 'Microsoft Corp.', 'Microsoft Corporation', 'MSFT' → 'Microsoft'.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Normalization: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Library runs automatically when connectors submit new software or hardware records. No configuration needed — normalization is active on install.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Normalization Quality: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Library is maintained by ServiceNow and updated quarterly. Custom model names (in-house software, OEM hardware) require manual normalization entries — this is configuration.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Are there known custom software or hardware models that will not normalize automatically?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Who manages Content Library custom normalization entries post-go-live?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software normalization be used to detect unapproved software in CMDB (security use case)?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Is Software Asset Management (SAM) in scope — and does Content Library normalization need to feed SAM as well?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normalization scripts are not needed. Content Library handles standard software and hardware models. For truly custom in-house software, add normalization entries via the Content Library UI — no scripting.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#6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deduplication strategy will prevent CI proliferation across connectors?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IRE Dedup Logic: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 matches incoming CI data to existing records using identifier fields (serial number, MAC address, hostname + domain). If a match is found, IRE updates the existing CI — does not create a duplicate.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Cross-Connector Dedup: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IRE applies the same dedup logic regardless of source. A CI discovered by Discovery and also reported by Intune will be reconciled into a single CI record.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Rule Validation: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dedup rules cover 95%+ of standard hardware. Edge cases (CIs without serial numbers, VMs with duplicate hostnames) require custom identifier configuration.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Are the OOTB IRE identifier rules sufficient — or are custom identifiers needed for specific CI classes?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How will CI records from legacy imports be matched against connector-discovered CIs?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Who reviews the CMDB health 'Duplicate CI' report after each connector activation?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process for manually merging duplicate CI records identified post-go-live?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dedup scripts are not needed. IRE handles cross-source deduplication automatically using identifier priority. If duplicate CIs are found after activation, review the IRE identifier configuration before writing scripts.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#7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12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connector health be monitored — and what triggers escalation?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Connector Health Monitoring: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connector has an OOTB health status page: last sync time, records processed, errors. Connector health is visible in the Integration Hub Monitoring dashboard — no custom reporting.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Alerting: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OOTB workflow: if a connector sync fails 3 consecutive times, a ServiceNow event is triggered. OOTB event-to-alert rule creates an incident (or notification) assigned to the CMDB admin group.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 Detection: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 Correctness metric detects CIs that haven't been updated within the freshness threshold — surfacing connector outages that don't generate errors (silent failures).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receives connector sync failure alerts (CMDB admin, platform admin, both)?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maximum acceptable connector sync outage before escalation (4 hours, 24 hours)?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connector health be monitored via CMDB Health dashboard or a custom dashboard?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Is there a 24/7 on-call rotation responsible for connector health alerts?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connector health monitoring dashboards duplicate OOTB Integration Hub monitoring. Use OOTB dashboards for Sprint 5 go-live. Build custom views only if a specific health KPI is not covered after 30 days of production operation.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KEY DECISION  #8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13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9692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will the expanded CMDB (post-connectors) be validated before Sprint 5 close?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457200" y="1298448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1389888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OOTB RECOMMENDATION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94960" cy="3657600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1865376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Approach: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CMDB validation: compare CI count from each connector source against expected inventory from source system. Example: Intune-managed device count vs CMDB endpoint CI count — should match within 5%.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 Health Gate: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 Health targets for Sprint 5: 90%+ completeness on all in-scope CI classes, 0 open critical IRE conflicts, all connector sync jobs showing green.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Sign-Off: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 validation report (exported from CMDB Health dashboard) signed off by customer CMDB Owner and ECS before Sprint 6 begins.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1389888"/>
            <a:ext cx="5532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DECIDE IN THE ROOM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217920" y="1773936"/>
            <a:ext cx="5532120" cy="36576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1865376"/>
            <a:ext cx="52578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to answer:
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Who performs the Sprint 5 CMDB validation (ECS + customer CMDB owner joint review)?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What is the acceptable variance between connector-reported CI count and source system CI count?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Will a formal CMDB health report be produced and signed off before Sprint 6 begins?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What is the plan for CIs that appear in the source system but not in CMDB after connector activation?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57200" y="5559552"/>
            <a:ext cx="11247120" cy="6583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5605272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OOTB Defense: 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Proceeding to Sprint 6 Performance Analytics before CMDB is validated produces dashboards built on incomplete data. Sprint 5 CMDB validation is a mandatory gate, not a nice-to-have.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2011680"/>
            <a:ext cx="64008" cy="164592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85800" y="19202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Log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8803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on the next page is an action.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left blank leave this room with a named owner and a date. Before we close: no decision is unresolved — it is either made, or owned.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DECISION LOG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15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 Graph Connectors — Decisions Made in This Workshop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114300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03120"/>
                <a:gridCol w="3657600"/>
                <a:gridCol w="301752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Made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/ Due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Connector Selection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Connectors in scope, owner per connector, addition 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of Record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priority per CI class, attribute-level priority, conflict log 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 Frequency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per connector, real-time requirements, queue monitoring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 Mapping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OOTB maps sufficiency, custom attributes, approval 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Library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normalization entries, SAM alignment, maintenance 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 Strategy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 identifier rules, legacy import matching, duplicate review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Monitoring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recipients, outage SLA, staleness detection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5 Validation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 scope, CI count variance, formal sign-off process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6032"/>
            <a:ext cx="7315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4B8A6"/>
                </a:solidFill>
              </a:rPr>
              <a:t>NEXT STEPS</a:t>
            </a:r>
            <a:endParaRPr lang="en-US" sz="800" dirty="0"/>
          </a:p>
        </p:txBody>
      </p:sp>
      <p:sp>
        <p:nvSpPr>
          <p:cNvPr id="4" name="Shape 1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16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57200" y="50292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A5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after this workshop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57200" y="1234440"/>
            <a:ext cx="1124712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148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03327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Accelerator Pack — Workbook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 after this workshop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4864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captured today are entered into the Service Graph Connectors Accelerator Pack workbook. ECS pre-populates the ServiceNow Mapping tab with OOTB field-level configuration specs.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25196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25196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4340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87375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Sprint Configuration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8912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— Configuration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38912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configures the process in ServiceNow against the completed Accelerator Pack workbook. Customer SMEs validate configuration against agreed decisions.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092440" y="1417320"/>
            <a:ext cx="3611880" cy="4114800"/>
          </a:xfrm>
          <a:prstGeom prst="rect">
            <a:avLst/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092440" y="1417320"/>
            <a:ext cx="3611880" cy="47548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183880" y="14173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8714232" y="1444752"/>
            <a:ext cx="2880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OOTB Walkthrough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229600" y="1965960"/>
            <a:ext cx="3337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sprint demo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8229600" y="2240280"/>
            <a:ext cx="33375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walks the customer through the configured OOTB process in a live ServiceNow instance. Every decision from today is visible in the system.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5650992"/>
            <a:ext cx="11247120" cy="566928"/>
          </a:xfrm>
          <a:prstGeom prst="rect">
            <a:avLst/>
          </a:prstGeom>
          <a:solidFill>
            <a:srgbClr val="F0FDFA"/>
          </a:solidFill>
          <a:ln w="12700">
            <a:solidFill>
              <a:srgbClr val="CCF0E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4360" y="5696712"/>
            <a:ext cx="109728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presentation does not replace the Accelerator Pack workbook. The workbook is the living record — decisions formally captured, configuration data collected, and customer sign-off obtained before sprint build begins.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0" y="137160"/>
            <a:ext cx="1554480" cy="53035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" y="6556248"/>
            <a:ext cx="11430000" cy="0"/>
          </a:xfrm>
          <a:prstGeom prst="line">
            <a:avLst/>
          </a:prstGeom>
          <a:noFill/>
          <a:ln w="6350">
            <a:solidFill>
              <a:srgbClr val="2A4A7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65760" y="660196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Everforth ECS Federal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3566160" y="6601968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SERVICENOW PRACTICE  ·  MODERNIZING THE CORE  ·  SERVICE GRAPH CONNECTORS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1430000" y="6601968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A9F"/>
                </a:solidFill>
              </a:rPr>
              <a:t>17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64008" cy="19202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16459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685800" y="26974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close the decision log.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33756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CB8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questions before we adjourn: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all 8 decisions made — or does each open item have a named owner and a date?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anything we captured incorrectly that needs to be corrected before the workbook is updated?
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decision that needs escalation or leadership approval before Sprint 5 configuration begins?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199632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A5A7F"/>
                </a:solidFill>
              </a:rPr>
              <a:t>Contact your ECS Account Executive  ·  servicenow@ecstech.com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2026-05-12T05:27:11Z</dcterms:created>
  <dcterms:modified xsi:type="dcterms:W3CDTF">2026-05-12T05:27:11Z</dcterms:modified>
</cp:coreProperties>
</file>