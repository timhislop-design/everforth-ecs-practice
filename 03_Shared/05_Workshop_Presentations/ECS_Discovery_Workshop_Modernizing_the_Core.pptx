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554480"/>
            <a:ext cx="64008" cy="2194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4173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Modernizing the Core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Configuration Data Collection for CMDB Accuracy and AI Enablement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263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A7F"/>
                </a:solidFill>
              </a:rPr>
              <a:t>Prepared by Everforth ECS Federal  ·  ServiceNow Practice  ·  Confidential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AGENDA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We'll Cover Today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87552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OOTB-First Frame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87552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commits to OOTB — and what it means in the room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6208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766560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(and Isn't)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66560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vs. customization — with examples relevant to Discovery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87552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Discovery Architecture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87552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Server, IP scanning, OS probes, CI extraction, and CMDB population flow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36208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766560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Decisions #1–#8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766560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 #1–#8  ·  MID Server deployment, Discovery scope, CI classes, credentials, schedule, dedup, cloud Discovery, CMDB verification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87552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87552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recorded before we leave this room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36208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766560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Comes Next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766560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Pack workbook, configuration sprint, live ServiceNow demo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4663440"/>
            <a:ext cx="112471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709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rule: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get made in this room. The OOTB recommendation is pre-populated. Your team's job is to confirm, adjust, or document the exception.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APPROACH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OOTB-first is not a constraint — it is the AI strategy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OOTB-First Means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420624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starts with the OOTB Discovery capability — not the legacy system pattern.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(activating features, setting values, building taxonomies, writing rules) is always available — it is how OOTB is tailored to your organization.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 (code changes, new database fields, custom scripts) requires a documented business case and Customization Council sign-off.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18-week engagement is scoped and priced for OOTB execution. Customization expands scope.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It Protects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4206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— Predictive Intelligence, Now Assist, Virtual Agent — require clean OOTB-aligned data and process structures. Custom fields and non-standard models reduce AI accuracy or block activation entirely.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upgrade paths. Customizations break on upgrades. OOTB patterns survive upgrades automatically with no remediation cost.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debt elimination. The Governance Triage Log captures every exception — it is managed and addressed iteratively. Nothing is lost; everything is governed.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LINE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— and what it isn't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CONFIGURATION  —  This is always available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3931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Activating and configuring OOTB features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Setting up categories and taxonomies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Building assignment rules and routing logic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Defining SLA targets and schedules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Configuring notifications and email templates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Enabling AI features (PI, Now Assist, Virtual Agent)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Building reports and PA indicators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Setting system properties and thresholds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CUSTOMIZATION  —  Requires business case &amp; Council sign-off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3931920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Adding new fields to OOTB tables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Writing custom business rules or script actions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Creating non-standard CI classes or table extensions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Modifying OOTB workflow stages in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Building custom client scripts or UI policies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Creating custom REST endpoints outside the catalog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5440680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4864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pattern requiring customization is captured in the Governance Triage Log with a named owner and disposition date — addressed in the current sprint via the Customization Council or deferred to a governed follow-on engagement.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PROCESS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ServiceNow OOTB Discovery — Architecture and Data Flow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 Server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8360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Credential Scan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035552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 Range Scan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52744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 / App Probe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69936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 Extraction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787128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CMDB Population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Capabilities &amp; OOTB Features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864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 Server Role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 Server bridges the ServiceNow cloud to on-premise networks. It executes scan commands and returns CI data. A single MID Server handles thousands of CIs per discovery schedule.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20624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29768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 Patterns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29768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Discovery Patterns (probes + sensors) cover: Windows, Linux, VMware, Cisco/Juniper networking, Oracle/MSSQL databases, and cloud resources. No scripting needed for standard infrastructure.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95528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04672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CMDB Integration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804672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writes directly to CMDB via the IRE (Identification &amp; Reconciliation Engine). Duplicate detection and source-of-record rules prevent CI sprawl automatically.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#1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many MID Servers are needed — where will they be deployed?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Server Sizing: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MID Server per network segment that cannot be reached from a single network path. A single MID Server can handle: 10,000+ CIs per scheduled discovery run.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MID Servers in the same cluster provide automatic failover — OOTB. No load balancer or scripting needed. Recommended for production environments.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Requirements: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Server 2016+ or Linux (RHEL/CentOS 7+). 4 vCPUs, 8 GB RAM minimum. Outbound HTTPS to ServiceNow instance. Inbound access from managed IP ranges.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How many distinct network segments require a MID Server?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high-availability (2 MID Servers per cluster) be deployed at 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OS will MID Servers run on (Windows or Linux)?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manages MID Server maintenance (patching, restarts, health alerts)?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MID Server is sufficient for most Sprint 4 deployments. HA MID Server is recommended but not required at go-live. Add the second MID Server after the first is proven stable.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#2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IP ranges and subnets are in scope for Discovery?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Scope Definition: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schedules define IP ranges and subnets to scan. OOTB: IP Network ranges (CIDR notation), specific IP lists, or DNS hostname lists. Multiple schedules can run in parallel.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Lists: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exclusion list prevents Discovery from scanning network printers, security systems, and other non-managed devices that could generate alerts.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Scanning: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schedules can run at different frequencies: servers daily, network devices weekly, workstations on-demand. Priority scan queues prevent resource saturation.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are the primary IP ranges in scope for Sprint 4 Discovery?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Are there subnets or IP ranges explicitly excluded (security systems, OT networks, printers)?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Discovery run on data center networks only — or also branch offices and remote sites?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provides the IP range list and exclusion rules (network team, security team)?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that scans too broadly generates false positive CIs and triggers security team alerts. Define scope tightly before the first discovery run. Expand scope after the initial run is validated.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#3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CI classes will Discovery populate — and are the OOTB patterns sufficient?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Discovery Patterns Cover: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Server (all versions), Linux (RHEL, Ubuntu, CentOS), VMware vSphere/ESX, Cisco IOS/NX-OS/ASA, Juniper Junos, Oracle DB, MSSQL, IBM AIX, HP-UX. No additional patterns needed for standard infrastructure.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Activation: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only the patterns for CI classes in scope. Unused patterns waste MID Server resources and populate empty CI classes.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Patterns: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Non-standard infrastructure (OT systems, legacy platforms, custom appliances) may require custom Discovery patterns. These are built in the OOTB Pattern Designer — this is configuration, not scripting.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CI classes will Discovery populate in Sprint 4 (servers, VMs, network, databases)?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Are all target platforms covered by OOTB patterns — or are custom patterns needed?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application-layer discovery (running processes, installed software) be activated — or OS-layer only?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validates that Discovery is populating the correct CI classes and attributes after the first run?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Activating all Discovery patterns for all CI classes in Sprint 4 without scoping creates noise, degrades MID Server performance, and populates unwanted CI classes. Activate only what is in scope.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credentials will Discovery use — and how will they be managed?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Credential Types: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(domain service account, local admin), Linux (SSH key or username/password), VMware (vCenter API credentials), SNMP (community strings for network devices), Database (read-only service account).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Store: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credentials stored in ServiceNow Credential Vault — encrypted at rest, access-controlled by role. MID Server accesses credentials via encrypted API call — never stored on the MID Server itself.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Model: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recommendation: read-only service account with local admin on servers (WMI access for Windows), SSH sudoers access for Linux. No need for domain admin.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service accounts will be created for Discovery (Windows domain, Linux SSH, VMware, SNMP)?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Who provisions and maintains the service accounts (AD team, security team)?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firewall rules are needed for the MID Server to reach managed systems?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How will credentials be rotated — and how will ServiceNow Credential Store be updated?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domain admin credentials for Discovery is a security anti-pattern. OOTB recommendation: dedicated service accounts with least-privilege access. If security team requires Privileged Access Management (PAM) integration, this is a Sprint 5 integration — not a Sprint 4 blocker.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#5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Discovery schedule — frequency, timing, and maintenance windows?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Schedule Options: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(recommended for servers), Weekly (network devices, storage), On-demand (triggered manually or via Change), Continuous (near-real-time for critical infrastructure — additional licensing).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Window Awareness: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schedules can be paused during change windows. OOTB: schedule exclusion windows prevent scanning during planned maintenance.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Discovery Run: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run: all CI classes, full IP range. Takes 4–8 hours for 1,000 CIs typically. Subsequent runs: incremental — only changed attributes are written to CMDB.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is the target Discovery frequency per CI class (daily for servers, weekly for network)?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maintenance windows must Discovery avoid (planned change windows, backup windows)?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When will the first discovery run execute — and who monitors it?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escalation path if the first Discovery run produces unexpected results?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Near-real-time (continuous) Discovery requires additional licensing. Daily scheduled Discovery is the OOTB pattern and is sufficient for Sprint 4 CMDB population. Continuous Discovery can be evaluated in a follow-on.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#6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duplicate CIs be handled — and what are the IRE reconciliation rules?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IRE (Identification &amp; Reconciliation Engine):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 automatically prevents duplicate CIs by matching incoming Discovery data against existing CMDB records using configurable identifiers (hostname, serial number, IP, MAC address).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De-dup Identifiers: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hostname + domain. Linux: hostname + IP. VMware: VM UUID. Network: IP + SNMP SysObjectID. OOTB identifier rules cover standard infrastructure.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Resolution: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Discovery data conflicts with existing CI data (e.g., IP changed), IRE applies source-priority rules — Discovery wins over manual entry. Configurable per attribute.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Accept the OOTB IRE identifier rules — or are there additional de-dup identifiers needed?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happens when a CI is discovered that already exists (from manual import) — Discovery overrides or manual wins?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reviews and approves IRE reconciliation rule changes?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How will de-dup conflicts be surfaced and resolved (IRE event log, CMDB health dashboard)?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IRE rules without a clear de-dup strategy cause CI proliferation and broken service maps. Accept OOTB identifier rules first; customize only when a specific duplicate pattern is observed in production data.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#7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Will cloud Discovery be activated in Sprint 4 — and for which cloud providers?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Cloud Discovery: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Cloud Discovery supports AWS, Azure, and GCP OOTB. Activated via Cloud Management plugin + cloud credentials. Discovers: VMs, containers, storage, load balancers, databases.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MID Server for Cloud: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Discovery uses direct API calls from ServiceNow to cloud provider APIs — no MID Server required for cloud resources.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vs Sprint 5: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Discovery can be activated in Sprint 4 alongside on-prem Discovery, or deferred to Sprint 5 alongside Service Graph Connectors. Depends on cloud infrastructure scope.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cloud providers are in scope (AWS, Azure, GCP, other)?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cloud Discovery be activated in Sprint 4 — or deferred to Sprint 5?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cloud credentials will be used (read-only IAM role for AWS, Service Principal for Azure)?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manages cloud Discovery credentials rotation?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Discovery and Service Graph Connectors both populate cloud CIs — they overlap in scope. Decide which is primary source of record for cloud CIs before activating both. Avoid running both without IRE priority rules.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#8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CMDB verification process after the first Discovery run?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Post-Discovery Verification: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CMDB Health dashboard shows completeness and compliance immediately after the first run. Spot-check: compare top 10 known servers against their Discovery-populated CI records.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Steps: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CI count matches expected inventory. 2. Required fields populated (hostname, OS, IP, support group). 3. No unexpected CI class proliferation. 4. IRE de-dup log shows no unresolved conflicts.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Gate: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go-live requires: 80%+ CMDB completeness on in-scope CI classes, no open IRE conflicts on critical CIs, and MID Server showing green health status.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Who performs the CMDB verification after the first Discovery run (ECS + customer joint review)?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go/no-go completeness threshold for Sprint 4?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How will known CIs that are not discovered (e.g., segmented networks) be handled?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escalation path if CMDB completeness is below target at Sprint 4 close?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CMDB health gate at Sprint 4 close prevents downstream process failures in Sprint 5 (Service Graph Connectors) and Sprint 6 (PA reporting). Do not defer CMDB validation to post-go-live.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2011680"/>
            <a:ext cx="64008" cy="1645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920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on the next page is an action.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left blank leave this room with a named owner and a date. Before we close: no decision is unresolved — it is either made, or owned.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DECISION LOG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 — Decisions Made in This Workshop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114300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03120"/>
                <a:gridCol w="3657600"/>
                <a:gridCol w="30175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/ Due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Server Deployment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Count, OS, HA requirement, maintenance 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 ranges, exclusion lists, data centers, branch offices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Classes &amp; Patterns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in scope, pattern activation, application layer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accounts, firewall rules, credential rotation, PAM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Schedule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 per class, maintenance windows, first run 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 De-dup Rules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Identifier rules, source priority, conflict escalation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Discovery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providers, Sprint 4 vs 5 activation, credentials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CMDB Verification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Post-run validation, go/no-go threshold, escalation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NEXT STEPS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 after this workshop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148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3327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 Pack — Workbook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after this workshop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captured today are entered into the Discovery Accelerator Pack workbook. ECS pre-populates the ServiceNow Mapping tab with OOTB field-level configuration specs.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5196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4340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87375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Configuration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38912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— Configuration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38912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configures the process in ServiceNow against the completed Accelerator Pack workbook. Customer SMEs validate configuration against agreed decisions.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9244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9244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8388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71423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OOTB Walkthrough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22960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sprint demo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2960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walks the customer through the configured OOTB process in a live ServiceNow instance. Every decision from today is visible in the system.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5650992"/>
            <a:ext cx="1124712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569671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does not replace the Accelerator Pack workbook. The workbook is the living record — decisions formally captured, configuration data collected, and customer sign-off obtained before sprint build begins.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DISCOVERY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64008" cy="1920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645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685800" y="2697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close the decision log.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33756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before we adjourn: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8 decisions made — or does each open item have a named owner and a date?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anything we captured incorrectly that needs to be corrected before the workbook is updated?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decision that needs escalation or leadership approval before Sprint 4 configuration begins?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19963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5A7F"/>
                </a:solidFill>
              </a:rPr>
              <a:t>Contact your ECS Account Executive  ·  servicenow@ecstech.com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2026-05-12T05:27:11Z</dcterms:created>
  <dcterms:modified xsi:type="dcterms:W3CDTF">2026-05-12T05:27:11Z</dcterms:modified>
</cp:coreProperties>
</file>