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858000" cy="749808"/>
          </a:xfrm>
          <a:prstGeom prst="rect">
            <a:avLst/>
          </a:prstGeom>
          <a:noFill/>
        </p:spPr>
        <p:txBody>
          <a:bodyPr wrap="square" lIns="36576" rIns="36576" tIns="18288" bIns="18288">
            <a:spAutoFit/>
          </a:bodyPr>
          <a:lstStyle/>
          <a:p>
            <a:pPr algn="l"/>
            <a:r>
              <a:rPr sz="4000" b="1" i="0">
                <a:solidFill>
                  <a:srgbClr val="FFFFFF"/>
                </a:solidFill>
                <a:latin typeface="Calibri"/>
              </a:rPr>
              <a:t>Modernizing the Core</a:t>
            </a:r>
          </a:p>
        </p:txBody>
      </p:sp>
      <p:sp>
        <p:nvSpPr>
          <p:cNvPr id="4" name="TextBox 3"/>
          <p:cNvSpPr txBox="1"/>
          <p:nvPr/>
        </p:nvSpPr>
        <p:spPr>
          <a:xfrm>
            <a:off x="475488" y="2304288"/>
            <a:ext cx="7772400" cy="621792"/>
          </a:xfrm>
          <a:prstGeom prst="rect">
            <a:avLst/>
          </a:prstGeom>
          <a:noFill/>
        </p:spPr>
        <p:txBody>
          <a:bodyPr wrap="square" lIns="36576" rIns="36576" tIns="18288" bIns="18288">
            <a:spAutoFit/>
          </a:bodyPr>
          <a:lstStyle/>
          <a:p>
            <a:pPr algn="l"/>
            <a:r>
              <a:rPr sz="3000" b="1" i="0">
                <a:solidFill>
                  <a:srgbClr val="14B8A6"/>
                </a:solidFill>
                <a:latin typeface="Calibri"/>
              </a:rPr>
              <a:t>Performance Analytics</a:t>
            </a:r>
          </a:p>
        </p:txBody>
      </p:sp>
      <p:sp>
        <p:nvSpPr>
          <p:cNvPr id="5" name="TextBox 4"/>
          <p:cNvSpPr txBox="1"/>
          <p:nvPr/>
        </p:nvSpPr>
        <p:spPr>
          <a:xfrm>
            <a:off x="475488" y="2907792"/>
            <a:ext cx="6858000" cy="384048"/>
          </a:xfrm>
          <a:prstGeom prst="rect">
            <a:avLst/>
          </a:prstGeom>
          <a:noFill/>
        </p:spPr>
        <p:txBody>
          <a:bodyPr wrap="square" lIns="36576" rIns="36576" tIns="18288" bIns="18288">
            <a:spAutoFit/>
          </a:bodyPr>
          <a:lstStyle/>
          <a:p>
            <a:pPr algn="l"/>
            <a:r>
              <a:rPr sz="1300" b="0" i="1">
                <a:solidFill>
                  <a:srgbClr val="FFFFFF"/>
                </a:solidFill>
                <a:latin typeface="Calibri"/>
              </a:rPr>
              <a:t>Ensuring AI Realization and Optimizing Long-Term Value</a:t>
            </a:r>
          </a:p>
        </p:txBody>
      </p:sp>
      <p:sp>
        <p:nvSpPr>
          <p:cNvPr id="6" name="TextBox 5"/>
          <p:cNvSpPr txBox="1"/>
          <p:nvPr/>
        </p:nvSpPr>
        <p:spPr>
          <a:xfrm>
            <a:off x="274320" y="4407408"/>
            <a:ext cx="5486400" cy="228600"/>
          </a:xfrm>
          <a:prstGeom prst="rect">
            <a:avLst/>
          </a:prstGeom>
          <a:noFill/>
        </p:spPr>
        <p:txBody>
          <a:bodyPr wrap="square" lIns="36576" rIns="36576" tIns="18288" bIns="18288">
            <a:spAutoFit/>
          </a:bodyPr>
          <a:lstStyle/>
          <a:p>
            <a:pPr algn="l"/>
            <a:r>
              <a:rPr sz="750" b="0" i="0">
                <a:solidFill>
                  <a:srgbClr val="94A3B8"/>
                </a:solidFill>
                <a:latin typeface="Calibri"/>
              </a:rPr>
              <a:t>Prepared by Everforth ECS Federal  ·  ServiceNow Practice  ·  Confidential</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A G E N D A</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We'll Cover Today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01</a:t>
            </a:r>
          </a:p>
        </p:txBody>
      </p:sp>
      <p:sp>
        <p:nvSpPr>
          <p:cNvPr id="8" name="TextBox 7"/>
          <p:cNvSpPr txBox="1"/>
          <p:nvPr/>
        </p:nvSpPr>
        <p:spPr>
          <a:xfrm>
            <a:off x="8321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The OOTB-First Frame</a:t>
            </a:r>
          </a:p>
        </p:txBody>
      </p:sp>
      <p:sp>
        <p:nvSpPr>
          <p:cNvPr id="9" name="TextBox 8"/>
          <p:cNvSpPr txBox="1"/>
          <p:nvPr/>
        </p:nvSpPr>
        <p:spPr>
          <a:xfrm>
            <a:off x="8321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Why this engagement commits to OOTB -- and what it means in the room</a:t>
            </a:r>
          </a:p>
        </p:txBody>
      </p:sp>
      <p:sp>
        <p:nvSpPr>
          <p:cNvPr id="10" name="Rectangle 9"/>
          <p:cNvSpPr/>
          <p:nvPr/>
        </p:nvSpPr>
        <p:spPr>
          <a:xfrm>
            <a:off x="3200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02</a:t>
            </a:r>
          </a:p>
        </p:txBody>
      </p:sp>
      <p:sp>
        <p:nvSpPr>
          <p:cNvPr id="12" name="TextBox 11"/>
          <p:cNvSpPr txBox="1"/>
          <p:nvPr/>
        </p:nvSpPr>
        <p:spPr>
          <a:xfrm>
            <a:off x="8321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PA Overview</a:t>
            </a:r>
          </a:p>
        </p:txBody>
      </p:sp>
      <p:sp>
        <p:nvSpPr>
          <p:cNvPr id="13" name="TextBox 12"/>
          <p:cNvSpPr txBox="1"/>
          <p:nvPr/>
        </p:nvSpPr>
        <p:spPr>
          <a:xfrm>
            <a:off x="8321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Indicators, breakdowns, time series, and dashboards -- what PA does natively</a:t>
            </a:r>
          </a:p>
        </p:txBody>
      </p:sp>
      <p:sp>
        <p:nvSpPr>
          <p:cNvPr id="14" name="Rectangle 13"/>
          <p:cNvSpPr/>
          <p:nvPr/>
        </p:nvSpPr>
        <p:spPr>
          <a:xfrm>
            <a:off x="3200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03</a:t>
            </a:r>
          </a:p>
        </p:txBody>
      </p:sp>
      <p:sp>
        <p:nvSpPr>
          <p:cNvPr id="16" name="TextBox 15"/>
          <p:cNvSpPr txBox="1"/>
          <p:nvPr/>
        </p:nvSpPr>
        <p:spPr>
          <a:xfrm>
            <a:off x="8321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PA Process Walkthrough</a:t>
            </a:r>
          </a:p>
        </p:txBody>
      </p:sp>
      <p:sp>
        <p:nvSpPr>
          <p:cNvPr id="17" name="TextBox 16"/>
          <p:cNvSpPr txBox="1"/>
          <p:nvPr/>
        </p:nvSpPr>
        <p:spPr>
          <a:xfrm>
            <a:off x="8321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Indicator scoring, data collection, dashboard building, and threshold alerting</a:t>
            </a:r>
          </a:p>
        </p:txBody>
      </p:sp>
      <p:sp>
        <p:nvSpPr>
          <p:cNvPr id="18" name="Rectangle 17"/>
          <p:cNvSpPr/>
          <p:nvPr/>
        </p:nvSpPr>
        <p:spPr>
          <a:xfrm>
            <a:off x="46634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04</a:t>
            </a:r>
          </a:p>
        </p:txBody>
      </p:sp>
      <p:sp>
        <p:nvSpPr>
          <p:cNvPr id="20" name="TextBox 19"/>
          <p:cNvSpPr txBox="1"/>
          <p:nvPr/>
        </p:nvSpPr>
        <p:spPr>
          <a:xfrm>
            <a:off x="51755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Key Decisions #1-#7</a:t>
            </a:r>
          </a:p>
        </p:txBody>
      </p:sp>
      <p:sp>
        <p:nvSpPr>
          <p:cNvPr id="21" name="TextBox 20"/>
          <p:cNvSpPr txBox="1"/>
          <p:nvPr/>
        </p:nvSpPr>
        <p:spPr>
          <a:xfrm>
            <a:off x="51755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OOTB content packs, indicator scope, KPI ownership, dashboard audience, threshold alerts, drill-down requirements, data retention</a:t>
            </a:r>
          </a:p>
        </p:txBody>
      </p:sp>
      <p:sp>
        <p:nvSpPr>
          <p:cNvPr id="22" name="Rectangle 21"/>
          <p:cNvSpPr/>
          <p:nvPr/>
        </p:nvSpPr>
        <p:spPr>
          <a:xfrm>
            <a:off x="46634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05</a:t>
            </a:r>
          </a:p>
        </p:txBody>
      </p:sp>
      <p:sp>
        <p:nvSpPr>
          <p:cNvPr id="24" name="TextBox 23"/>
          <p:cNvSpPr txBox="1"/>
          <p:nvPr/>
        </p:nvSpPr>
        <p:spPr>
          <a:xfrm>
            <a:off x="51755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Decision Log</a:t>
            </a:r>
          </a:p>
        </p:txBody>
      </p:sp>
      <p:sp>
        <p:nvSpPr>
          <p:cNvPr id="25" name="TextBox 24"/>
          <p:cNvSpPr txBox="1"/>
          <p:nvPr/>
        </p:nvSpPr>
        <p:spPr>
          <a:xfrm>
            <a:off x="51755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Every decision is recorded before we leave this room</a:t>
            </a:r>
          </a:p>
        </p:txBody>
      </p:sp>
      <p:sp>
        <p:nvSpPr>
          <p:cNvPr id="26" name="Rectangle 25"/>
          <p:cNvSpPr/>
          <p:nvPr/>
        </p:nvSpPr>
        <p:spPr>
          <a:xfrm>
            <a:off x="46634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06</a:t>
            </a:r>
          </a:p>
        </p:txBody>
      </p:sp>
      <p:sp>
        <p:nvSpPr>
          <p:cNvPr id="28" name="TextBox 27"/>
          <p:cNvSpPr txBox="1"/>
          <p:nvPr/>
        </p:nvSpPr>
        <p:spPr>
          <a:xfrm>
            <a:off x="51755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What Comes Next</a:t>
            </a:r>
          </a:p>
        </p:txBody>
      </p:sp>
      <p:sp>
        <p:nvSpPr>
          <p:cNvPr id="29" name="TextBox 28"/>
          <p:cNvSpPr txBox="1"/>
          <p:nvPr/>
        </p:nvSpPr>
        <p:spPr>
          <a:xfrm>
            <a:off x="51755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Content pack activation, indicator review, dashboard publishing, threshold alert config</a:t>
            </a:r>
          </a:p>
        </p:txBody>
      </p:sp>
      <p:sp>
        <p:nvSpPr>
          <p:cNvPr id="30" name="Rectangle 29"/>
          <p:cNvSpPr/>
          <p:nvPr/>
        </p:nvSpPr>
        <p:spPr>
          <a:xfrm>
            <a:off x="320040" y="3529583"/>
            <a:ext cx="850392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11879"/>
            <a:ext cx="8229600" cy="347472"/>
          </a:xfrm>
          <a:prstGeom prst="rect">
            <a:avLst/>
          </a:prstGeom>
          <a:noFill/>
        </p:spPr>
        <p:txBody>
          <a:bodyPr wrap="square" lIns="36576" rIns="36576" tIns="18288" bIns="18288">
            <a:spAutoFit/>
          </a:bodyPr>
          <a:lstStyle/>
          <a:p>
            <a:pPr algn="l"/>
            <a:r>
              <a:rPr sz="950" b="1" i="0">
                <a:solidFill>
                  <a:srgbClr val="0B1F3A"/>
                </a:solidFill>
                <a:latin typeface="Calibri"/>
              </a:rPr>
              <a:t>Ground rule: </a:t>
            </a:r>
            <a:r>
              <a:rPr sz="950" b="0" i="0">
                <a:solidFill>
                  <a:srgbClr val="1E293B"/>
                </a:solidFill>
                <a:latin typeface="Calibri"/>
              </a:rPr>
              <a:t>Decisions get made in this room. The OOTB recommendation is pre-populated. Your job is to confirm, adjust with rationale, or defer with a named owner and date.</a:t>
            </a:r>
          </a:p>
        </p:txBody>
      </p:sp>
      <p:sp>
        <p:nvSpPr>
          <p:cNvPr id="32" name="Rectangle 3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4" name="TextBox 3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35" name="TextBox 3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A P P R O A C H</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OOTB-first is not a constraint — it is the AI strategy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OOTB-First Means</a:t>
            </a:r>
          </a:p>
        </p:txBody>
      </p:sp>
      <p:sp>
        <p:nvSpPr>
          <p:cNvPr id="8" name="Rectangle 7"/>
          <p:cNvSpPr/>
          <p:nvPr/>
        </p:nvSpPr>
        <p:spPr>
          <a:xfrm>
            <a:off x="32004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Performance Analytics ships with OOTB content packs for every ServiceNow application: ITSM, HRSD, CSM, HAM, SAM, EM, VA, and more.</a:t>
            </a:r>
          </a:p>
          <a:p>
            <a:pPr algn="l">
              <a:spcAft>
                <a:spcPts val="400"/>
              </a:spcAft>
            </a:pPr>
            <a:r>
              <a:rPr sz="850" b="0" i="0">
                <a:solidFill>
                  <a:srgbClr val="1E293B"/>
                </a:solidFill>
                <a:latin typeface="Calibri"/>
              </a:rPr>
              <a:t>•  Each content pack includes pre-built indicators, breakdowns, time series, and dashboards aligned to ITIL and ServiceNow best practices.</a:t>
            </a:r>
          </a:p>
          <a:p>
            <a:pPr algn="l">
              <a:spcAft>
                <a:spcPts val="400"/>
              </a:spcAft>
            </a:pPr>
            <a:r>
              <a:rPr sz="850" b="0" i="0">
                <a:solidFill>
                  <a:srgbClr val="1E293B"/>
                </a:solidFill>
                <a:latin typeface="Calibri"/>
              </a:rPr>
              <a:t>•  Activating OOTB content packs requires zero scripting -- indicators start scoring as soon as the content pack is activated and data accumulates.</a:t>
            </a:r>
          </a:p>
        </p:txBody>
      </p:sp>
      <p:sp>
        <p:nvSpPr>
          <p:cNvPr id="10" name="Rectangle 9"/>
          <p:cNvSpPr/>
          <p:nvPr/>
        </p:nvSpPr>
        <p:spPr>
          <a:xfrm>
            <a:off x="313182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754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We Configure (Not Code)</a:t>
            </a:r>
          </a:p>
        </p:txBody>
      </p:sp>
      <p:sp>
        <p:nvSpPr>
          <p:cNvPr id="12" name="Rectangle 11"/>
          <p:cNvSpPr/>
          <p:nvPr/>
        </p:nvSpPr>
        <p:spPr>
          <a:xfrm>
            <a:off x="313182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326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Content pack activation and indicator selection (enable/disable per indicator).</a:t>
            </a:r>
          </a:p>
          <a:p>
            <a:pPr algn="l">
              <a:spcAft>
                <a:spcPts val="400"/>
              </a:spcAft>
            </a:pPr>
            <a:r>
              <a:rPr sz="850" b="0" i="0">
                <a:solidFill>
                  <a:srgbClr val="1E293B"/>
                </a:solidFill>
                <a:latin typeface="Calibri"/>
              </a:rPr>
              <a:t>•  Breakdown configuration: by assignment group, department, location, service.</a:t>
            </a:r>
          </a:p>
          <a:p>
            <a:pPr algn="l">
              <a:spcAft>
                <a:spcPts val="400"/>
              </a:spcAft>
            </a:pPr>
            <a:r>
              <a:rPr sz="850" b="0" i="0">
                <a:solidFill>
                  <a:srgbClr val="1E293B"/>
                </a:solidFill>
                <a:latin typeface="Calibri"/>
              </a:rPr>
              <a:t>•  Dashboard layout and audience (who sees which dashboard).</a:t>
            </a:r>
          </a:p>
          <a:p>
            <a:pPr algn="l">
              <a:spcAft>
                <a:spcPts val="400"/>
              </a:spcAft>
            </a:pPr>
            <a:r>
              <a:rPr sz="850" b="0" i="0">
                <a:solidFill>
                  <a:srgbClr val="1E293B"/>
                </a:solidFill>
                <a:latin typeface="Calibri"/>
              </a:rPr>
              <a:t>•  Threshold alerts: score thresholds that trigger notifications.</a:t>
            </a:r>
          </a:p>
        </p:txBody>
      </p:sp>
      <p:sp>
        <p:nvSpPr>
          <p:cNvPr id="14" name="Rectangle 13"/>
          <p:cNvSpPr/>
          <p:nvPr/>
        </p:nvSpPr>
        <p:spPr>
          <a:xfrm>
            <a:off x="594360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The Delivery Approach</a:t>
            </a:r>
          </a:p>
        </p:txBody>
      </p:sp>
      <p:sp>
        <p:nvSpPr>
          <p:cNvPr id="16" name="Rectangle 15"/>
          <p:cNvSpPr/>
          <p:nvPr/>
        </p:nvSpPr>
        <p:spPr>
          <a:xfrm>
            <a:off x="594360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Sprint 5 activates content packs and validates that indicators are scoring correctly.</a:t>
            </a:r>
          </a:p>
          <a:p>
            <a:pPr algn="l">
              <a:spcAft>
                <a:spcPts val="400"/>
              </a:spcAft>
            </a:pPr>
            <a:r>
              <a:rPr sz="850" b="0" i="0">
                <a:solidFill>
                  <a:srgbClr val="1E293B"/>
                </a:solidFill>
                <a:latin typeface="Calibri"/>
              </a:rPr>
              <a:t>•  Sprint 6 configures breakdowns, publishes dashboards, and sets threshold alerts.</a:t>
            </a:r>
          </a:p>
          <a:p>
            <a:pPr algn="l">
              <a:spcAft>
                <a:spcPts val="400"/>
              </a:spcAft>
            </a:pPr>
            <a:r>
              <a:rPr sz="850" b="0" i="0">
                <a:solidFill>
                  <a:srgbClr val="1E293B"/>
                </a:solidFill>
                <a:latin typeface="Calibri"/>
              </a:rPr>
              <a:t>•  All configuration through the PA workspace -- zero scripting.</a:t>
            </a:r>
          </a:p>
        </p:txBody>
      </p:sp>
      <p:sp>
        <p:nvSpPr>
          <p:cNvPr id="18" name="Rectangle 1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20" name="TextBox 1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21" name="TextBox 2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L I N E</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a customization is — and what it isn’t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160520" cy="2926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CONFIGURATION  —  This is always available</a:t>
            </a:r>
          </a:p>
        </p:txBody>
      </p:sp>
      <p:sp>
        <p:nvSpPr>
          <p:cNvPr id="8" name="Rectangle 7"/>
          <p:cNvSpPr/>
          <p:nvPr/>
        </p:nvSpPr>
        <p:spPr>
          <a:xfrm>
            <a:off x="32004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71600"/>
            <a:ext cx="3977639" cy="3200400"/>
          </a:xfrm>
          <a:prstGeom prst="rect">
            <a:avLst/>
          </a:prstGeom>
          <a:noFill/>
        </p:spPr>
        <p:txBody>
          <a:bodyPr wrap="square" lIns="36576" rIns="36576" tIns="18288" bIns="18288">
            <a:spAutoFit/>
          </a:bodyPr>
          <a:lstStyle/>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w</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h</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y</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h</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h</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f</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q</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y</a:t>
            </a:r>
          </a:p>
        </p:txBody>
      </p:sp>
      <p:sp>
        <p:nvSpPr>
          <p:cNvPr id="10" name="Rectangle 9"/>
          <p:cNvSpPr/>
          <p:nvPr/>
        </p:nvSpPr>
        <p:spPr>
          <a:xfrm>
            <a:off x="4617720" y="1024128"/>
            <a:ext cx="4160520" cy="29260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3"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CUSTOMIZATION  —  Requires Approval + Business Case</a:t>
            </a:r>
          </a:p>
        </p:txBody>
      </p:sp>
      <p:sp>
        <p:nvSpPr>
          <p:cNvPr id="12" name="Rectangle 11"/>
          <p:cNvSpPr/>
          <p:nvPr/>
        </p:nvSpPr>
        <p:spPr>
          <a:xfrm>
            <a:off x="461772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1371600"/>
            <a:ext cx="3977639" cy="3200400"/>
          </a:xfrm>
          <a:prstGeom prst="rect">
            <a:avLst/>
          </a:prstGeom>
          <a:noFill/>
        </p:spPr>
        <p:txBody>
          <a:bodyPr wrap="square" lIns="36576" rIns="36576" tIns="18288" bIns="18288">
            <a:spAutoFit/>
          </a:bodyPr>
          <a:lstStyle/>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f</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f</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y</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h</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h</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q</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w</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s</a:t>
            </a:r>
          </a:p>
        </p:txBody>
      </p:sp>
      <p:sp>
        <p:nvSpPr>
          <p:cNvPr id="14" name="Rectangle 13"/>
          <p:cNvSpPr/>
          <p:nvPr/>
        </p:nvSpPr>
        <p:spPr>
          <a:xfrm>
            <a:off x="320040" y="4645152"/>
            <a:ext cx="8503920" cy="16459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8229600" cy="146304"/>
          </a:xfrm>
          <a:prstGeom prst="rect">
            <a:avLst/>
          </a:prstGeom>
          <a:noFill/>
        </p:spPr>
        <p:txBody>
          <a:bodyPr wrap="square" lIns="36576" rIns="36576" tIns="18288" bIns="18288">
            <a:spAutoFit/>
          </a:bodyPr>
          <a:lstStyle/>
          <a:p>
            <a:pPr algn="l"/>
            <a:r>
              <a:rPr sz="800" b="1" i="0">
                <a:solidFill>
                  <a:srgbClr val="0B1F3A"/>
                </a:solidFill>
                <a:latin typeface="Calibri"/>
              </a:rPr>
              <a:t>The customization bar:  </a:t>
            </a:r>
            <a:r>
              <a:rPr sz="800" b="0" i="0">
                <a:solidFill>
                  <a:srgbClr val="1E293B"/>
                </a:solidFill>
                <a:latin typeface="Calibri"/>
              </a:rPr>
              <a:t>OOTB PA content packs have been validated against ITIL best practices by ServiceNow. Custom indicators for metrics already covered by OOTB packs add maintenance burden with no additional insight.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P R O C E S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PA Data Flow: Event to Insight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INDICATOR DEFINED</a:t>
            </a:r>
          </a:p>
        </p:txBody>
      </p:sp>
      <p:sp>
        <p:nvSpPr>
          <p:cNvPr id="8" name="Rectangle 7"/>
          <p:cNvSpPr/>
          <p:nvPr/>
        </p:nvSpPr>
        <p:spPr>
          <a:xfrm>
            <a:off x="2020824"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3"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DATA COLLECTED</a:t>
            </a:r>
          </a:p>
        </p:txBody>
      </p:sp>
      <p:sp>
        <p:nvSpPr>
          <p:cNvPr id="10" name="Rectangle 9"/>
          <p:cNvSpPr/>
          <p:nvPr/>
        </p:nvSpPr>
        <p:spPr>
          <a:xfrm>
            <a:off x="3721608"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BREAKDOWN APPLIED</a:t>
            </a:r>
          </a:p>
        </p:txBody>
      </p:sp>
      <p:sp>
        <p:nvSpPr>
          <p:cNvPr id="12" name="Rectangle 11"/>
          <p:cNvSpPr/>
          <p:nvPr/>
        </p:nvSpPr>
        <p:spPr>
          <a:xfrm>
            <a:off x="5422392"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DASHBOARD PUBLISHED</a:t>
            </a:r>
          </a:p>
        </p:txBody>
      </p:sp>
      <p:sp>
        <p:nvSpPr>
          <p:cNvPr id="14" name="Rectangle 13"/>
          <p:cNvSpPr/>
          <p:nvPr/>
        </p:nvSpPr>
        <p:spPr>
          <a:xfrm>
            <a:off x="7123176"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THRESHOLD ALERT</a:t>
            </a:r>
          </a:p>
        </p:txBody>
      </p:sp>
      <p:sp>
        <p:nvSpPr>
          <p:cNvPr id="16" name="TextBox 15"/>
          <p:cNvSpPr txBox="1"/>
          <p:nvPr/>
        </p:nvSpPr>
        <p:spPr>
          <a:xfrm>
            <a:off x="4297680" y="1444752"/>
            <a:ext cx="457200" cy="201168"/>
          </a:xfrm>
          <a:prstGeom prst="rect">
            <a:avLst/>
          </a:prstGeom>
          <a:noFill/>
        </p:spPr>
        <p:txBody>
          <a:bodyPr wrap="square" lIns="36576" rIns="36576" tIns="18288" bIns="18288">
            <a:spAutoFit/>
          </a:bodyPr>
          <a:lstStyle/>
          <a:p>
            <a:pPr algn="ctr"/>
            <a:r>
              <a:rPr sz="1400" b="1" i="0">
                <a:solidFill>
                  <a:srgbClr val="14B8A6"/>
                </a:solidFill>
                <a:latin typeface="Calibri"/>
              </a:rPr>
              <a:t>↓</a:t>
            </a:r>
          </a:p>
        </p:txBody>
      </p:sp>
      <p:sp>
        <p:nvSpPr>
          <p:cNvPr id="17" name="Rectangle 16"/>
          <p:cNvSpPr/>
          <p:nvPr/>
        </p:nvSpPr>
        <p:spPr>
          <a:xfrm>
            <a:off x="320040" y="1664208"/>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719072"/>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Indicator Defined: PA indicator configured: target table, aggregate function (count, avg, max), filter condition, and collection frequency. OOTB content packs pre-define all indicators -- activation, not creation.</a:t>
            </a:r>
          </a:p>
        </p:txBody>
      </p:sp>
      <p:sp>
        <p:nvSpPr>
          <p:cNvPr id="19" name="TextBox 18"/>
          <p:cNvSpPr txBox="1"/>
          <p:nvPr/>
        </p:nvSpPr>
        <p:spPr>
          <a:xfrm>
            <a:off x="4297680" y="2002536"/>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0" name="Rectangle 19"/>
          <p:cNvSpPr/>
          <p:nvPr/>
        </p:nvSpPr>
        <p:spPr>
          <a:xfrm>
            <a:off x="320040" y="2185416"/>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240280"/>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Data Collected: PA scheduled job runs at the configured frequency (daily, weekly). Indicator score calculated and stored as a time-series data point. Historical scores accumulate over time.</a:t>
            </a:r>
          </a:p>
        </p:txBody>
      </p:sp>
      <p:sp>
        <p:nvSpPr>
          <p:cNvPr id="22" name="TextBox 21"/>
          <p:cNvSpPr txBox="1"/>
          <p:nvPr/>
        </p:nvSpPr>
        <p:spPr>
          <a:xfrm>
            <a:off x="4297680" y="2523744"/>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3" name="Rectangle 22"/>
          <p:cNvSpPr/>
          <p:nvPr/>
        </p:nvSpPr>
        <p:spPr>
          <a:xfrm>
            <a:off x="320040" y="2706624"/>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761488"/>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Breakdown Applied: Score broken down by configured dimensions (assignment group, category, location, etc.). Breakdown data stored alongside aggregate score. Enables drill-down in dashboards.</a:t>
            </a:r>
          </a:p>
        </p:txBody>
      </p:sp>
      <p:sp>
        <p:nvSpPr>
          <p:cNvPr id="25" name="TextBox 24"/>
          <p:cNvSpPr txBox="1"/>
          <p:nvPr/>
        </p:nvSpPr>
        <p:spPr>
          <a:xfrm>
            <a:off x="4297680" y="3044952"/>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6" name="Rectangle 25"/>
          <p:cNvSpPr/>
          <p:nvPr/>
        </p:nvSpPr>
        <p:spPr>
          <a:xfrm>
            <a:off x="320040" y="3227832"/>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82696"/>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Dashboard Published: Indicator scores and breakdowns visualized in PA dashboard widgets. Dashboards published to target audiences (service desk, managers, executives). No scripting -- widget library is OOTB.</a:t>
            </a:r>
          </a:p>
        </p:txBody>
      </p:sp>
      <p:sp>
        <p:nvSpPr>
          <p:cNvPr id="28" name="TextBox 27"/>
          <p:cNvSpPr txBox="1"/>
          <p:nvPr/>
        </p:nvSpPr>
        <p:spPr>
          <a:xfrm>
            <a:off x="4297680" y="3566160"/>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9" name="Rectangle 28"/>
          <p:cNvSpPr/>
          <p:nvPr/>
        </p:nvSpPr>
        <p:spPr>
          <a:xfrm>
            <a:off x="320040" y="3749039"/>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03903"/>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Threshold Alert: PA threshold rule: if indicator score crosses threshold (e.g., P1 incident backlog &gt; 10), trigger alert. Alert can email, create task, or post to notification channel. OOTB -- no scripting.</a:t>
            </a:r>
          </a:p>
        </p:txBody>
      </p:sp>
      <p:sp>
        <p:nvSpPr>
          <p:cNvPr id="31" name="TextBox 30"/>
          <p:cNvSpPr txBox="1"/>
          <p:nvPr/>
        </p:nvSpPr>
        <p:spPr>
          <a:xfrm>
            <a:off x="4297680" y="4087368"/>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32" name="TextBox 31"/>
          <p:cNvSpPr txBox="1"/>
          <p:nvPr/>
        </p:nvSpPr>
        <p:spPr>
          <a:xfrm>
            <a:off x="320040" y="4315968"/>
            <a:ext cx="8503920" cy="457200"/>
          </a:xfrm>
          <a:prstGeom prst="rect">
            <a:avLst/>
          </a:prstGeom>
          <a:noFill/>
        </p:spPr>
        <p:txBody>
          <a:bodyPr wrap="square" lIns="36576" rIns="36576" tIns="18288" bIns="18288">
            <a:spAutoFit/>
          </a:bodyPr>
          <a:lstStyle/>
          <a:p>
            <a:pPr algn="l"/>
            <a:r>
              <a:rPr sz="850" b="1" i="0">
                <a:solidFill>
                  <a:srgbClr val="0D9488"/>
                </a:solidFill>
                <a:latin typeface="Calibri"/>
              </a:rPr>
              <a:t>AI Features Active at Go-Live:  </a:t>
            </a:r>
            <a:r>
              <a:rPr sz="850" b="0" i="0">
                <a:solidFill>
                  <a:srgbClr val="1E293B"/>
                </a:solidFill>
                <a:latin typeface="Calibri"/>
              </a:rPr>
              <a:t>Now Assist can generate natural-language summaries of PA dashboard trends for executive briefings. Predictive Intelligence can use PA indicator history to predict future score values and flag leading indicators of service degradation.</a:t>
            </a:r>
          </a:p>
        </p:txBody>
      </p:sp>
      <p:sp>
        <p:nvSpPr>
          <p:cNvPr id="33" name="Rectangle 32"/>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5" name="TextBox 34"/>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36" name="TextBox 35"/>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1</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Which PA content packs will be activated?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Content Packs:</a:t>
            </a:r>
          </a:p>
          <a:p>
            <a:pPr algn="l">
              <a:spcAft>
                <a:spcPts val="200"/>
              </a:spcAft>
            </a:pPr>
            <a:r>
              <a:rPr sz="850" b="0" i="0">
                <a:solidFill>
                  <a:srgbClr val="1E293B"/>
                </a:solidFill>
                <a:latin typeface="Calibri"/>
              </a:rPr>
              <a:t>ITSM: Incident, Problem, Change, Request. HRSD: Case, Knowledge, Lifecycle Events. CSM: Case, SLA. HAM: Asset lifecycle, compliance. SAM: License compliance, reclamation. EM: Alert volume, incident promotion rate. VA: Deflection rate, topic performance. Each is a separate activation.</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Which ServiceNow applications are in scope for PA in this engagement?</a:t>
            </a:r>
          </a:p>
          <a:p>
            <a:pPr algn="l">
              <a:spcAft>
                <a:spcPts val="300"/>
              </a:spcAft>
            </a:pPr>
            <a:r>
              <a:rPr sz="850" b="0" i="0">
                <a:solidFill>
                  <a:srgbClr val="1E293B"/>
                </a:solidFill>
                <a:latin typeface="Calibri"/>
              </a:rPr>
              <a:t>2.  Are any OOTB content packs redundant with existing reporting tools you plan to retire?</a:t>
            </a:r>
          </a:p>
          <a:p>
            <a:pPr algn="l">
              <a:spcAft>
                <a:spcPts val="300"/>
              </a:spcAft>
            </a:pPr>
            <a:r>
              <a:rPr sz="850" b="0" i="0">
                <a:solidFill>
                  <a:srgbClr val="1E293B"/>
                </a:solidFill>
                <a:latin typeface="Calibri"/>
              </a:rPr>
              <a:t>3.  Should PA be activated for all in-scope apps now, or phased by app go-live?</a:t>
            </a:r>
          </a:p>
          <a:p>
            <a:pPr algn="l">
              <a:spcAft>
                <a:spcPts val="300"/>
              </a:spcAft>
            </a:pPr>
            <a:r>
              <a:rPr sz="850" b="0" i="0">
                <a:solidFill>
                  <a:srgbClr val="1E293B"/>
                </a:solidFill>
                <a:latin typeface="Calibri"/>
              </a:rPr>
              <a:t>4.  Is there an executive KPI dashboard requirement that spans multiple content packs?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Activate content packs as each application goes live. Activating a content pack before the application is live produces empty dashboards and erodes stakeholder confidence in PA.</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2</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Which OOTB indicators will be enabled vs. disabled?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Indicator Library:</a:t>
            </a:r>
          </a:p>
          <a:p>
            <a:pPr algn="l">
              <a:spcAft>
                <a:spcPts val="200"/>
              </a:spcAft>
            </a:pPr>
            <a:r>
              <a:rPr sz="850" b="0" i="0">
                <a:solidFill>
                  <a:srgbClr val="1E293B"/>
                </a:solidFill>
                <a:latin typeface="Calibri"/>
              </a:rPr>
              <a:t>Each content pack includes 20-50 indicators. Common ITSM indicators: incident backlog, MTTR, SLA breach rate, first call resolution %, reopen rate, change success rate. Not all indicators are relevant to every agency. PA workspace allows per-indicator enable/disable without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Which KPIs does the CIO or service owner care about most?</a:t>
            </a:r>
          </a:p>
          <a:p>
            <a:pPr algn="l">
              <a:spcAft>
                <a:spcPts val="300"/>
              </a:spcAft>
            </a:pPr>
            <a:r>
              <a:rPr sz="850" b="0" i="0">
                <a:solidFill>
                  <a:srgbClr val="1E293B"/>
                </a:solidFill>
                <a:latin typeface="Calibri"/>
              </a:rPr>
              <a:t>2.  Are there indicators in the OOTB pack that measure things you do not track (e.g., problem management if PM is not in scope)?</a:t>
            </a:r>
          </a:p>
          <a:p>
            <a:pPr algn="l">
              <a:spcAft>
                <a:spcPts val="300"/>
              </a:spcAft>
            </a:pPr>
            <a:r>
              <a:rPr sz="850" b="0" i="0">
                <a:solidFill>
                  <a:srgbClr val="1E293B"/>
                </a:solidFill>
                <a:latin typeface="Calibri"/>
              </a:rPr>
              <a:t>3.  Is there a ServiceNow baseline report or existing KPI framework to align indicators to?</a:t>
            </a:r>
          </a:p>
          <a:p>
            <a:pPr algn="l">
              <a:spcAft>
                <a:spcPts val="300"/>
              </a:spcAft>
            </a:pPr>
            <a:r>
              <a:rPr sz="850" b="0" i="0">
                <a:solidFill>
                  <a:srgbClr val="1E293B"/>
                </a:solidFill>
                <a:latin typeface="Calibri"/>
              </a:rPr>
              <a:t>4.  Who will review and approve the indicator list before go-live?</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More indicators is not better. 10 indicators that people check daily beat 50 indicators that no one understands. Curate the list with the service owner before Sprint 6 dashboard publishing.</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3</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breakdown dimensions are needed?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Breakdown Dimensions:</a:t>
            </a:r>
          </a:p>
          <a:p>
            <a:pPr algn="l">
              <a:spcAft>
                <a:spcPts val="200"/>
              </a:spcAft>
            </a:pPr>
            <a:r>
              <a:rPr sz="850" b="0" i="0">
                <a:solidFill>
                  <a:srgbClr val="1E293B"/>
                </a:solidFill>
                <a:latin typeface="Calibri"/>
              </a:rPr>
              <a:t>PA supports breakdowns by: assignment group, category, subcategory, location, CI service, department, priority, contact type, and more. Breakdowns must be configured per indicator. OOTB breakdowns use existing CMDB and ITSM data -- no new fields needed.</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Do managers need to see incident performance by their assignment group?</a:t>
            </a:r>
          </a:p>
          <a:p>
            <a:pPr algn="l">
              <a:spcAft>
                <a:spcPts val="300"/>
              </a:spcAft>
            </a:pPr>
            <a:r>
              <a:rPr sz="850" b="0" i="0">
                <a:solidFill>
                  <a:srgbClr val="1E293B"/>
                </a:solidFill>
                <a:latin typeface="Calibri"/>
              </a:rPr>
              <a:t>2.  Does the CIO need to see metrics broken down by department or business unit?</a:t>
            </a:r>
          </a:p>
          <a:p>
            <a:pPr algn="l">
              <a:spcAft>
                <a:spcPts val="300"/>
              </a:spcAft>
            </a:pPr>
            <a:r>
              <a:rPr sz="850" b="0" i="0">
                <a:solidFill>
                  <a:srgbClr val="1E293B"/>
                </a:solidFill>
                <a:latin typeface="Calibri"/>
              </a:rPr>
              <a:t>3.  Is there a location-based breakdown requirement (regional performance)?</a:t>
            </a:r>
          </a:p>
          <a:p>
            <a:pPr algn="l">
              <a:spcAft>
                <a:spcPts val="300"/>
              </a:spcAft>
            </a:pPr>
            <a:r>
              <a:rPr sz="850" b="0" i="0">
                <a:solidFill>
                  <a:srgbClr val="1E293B"/>
                </a:solidFill>
                <a:latin typeface="Calibri"/>
              </a:rPr>
              <a:t>4.  Are breakdowns needed at go-live or can they be added in sprint N+1?</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Breakdowns require clean data in the breakdown field. If assignment groups are inconsistent or location data is missing from incident records, breakdown charts will be misleading. Validate data quality before configuring breakdowns.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4</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Who owns each KPI -- and who reviews it?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KPI Ownership Model:</a:t>
            </a:r>
          </a:p>
          <a:p>
            <a:pPr algn="l">
              <a:spcAft>
                <a:spcPts val="200"/>
              </a:spcAft>
            </a:pPr>
            <a:r>
              <a:rPr sz="850" b="0" i="0">
                <a:solidFill>
                  <a:srgbClr val="1E293B"/>
                </a:solidFill>
                <a:latin typeface="Calibri"/>
              </a:rPr>
              <a:t>PA does not enforce KPI ownership -- it is a governance decision. Best practice: each PA dashboard has a named owner responsible for reviewing trends and acting on threshold alerts. Owner is typically the service owner or team lead for that application.</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Who is the service desk manager who owns incident and request KPIs?</a:t>
            </a:r>
          </a:p>
          <a:p>
            <a:pPr algn="l">
              <a:spcAft>
                <a:spcPts val="300"/>
              </a:spcAft>
            </a:pPr>
            <a:r>
              <a:rPr sz="850" b="0" i="0">
                <a:solidFill>
                  <a:srgbClr val="1E293B"/>
                </a:solidFill>
                <a:latin typeface="Calibri"/>
              </a:rPr>
              <a:t>2.  Who is the change manager who owns change management KPIs?</a:t>
            </a:r>
          </a:p>
          <a:p>
            <a:pPr algn="l">
              <a:spcAft>
                <a:spcPts val="300"/>
              </a:spcAft>
            </a:pPr>
            <a:r>
              <a:rPr sz="850" b="0" i="0">
                <a:solidFill>
                  <a:srgbClr val="1E293B"/>
                </a:solidFill>
                <a:latin typeface="Calibri"/>
              </a:rPr>
              <a:t>3.  Who is the asset/SAM program manager who owns HAM/SAM KPIs?</a:t>
            </a:r>
          </a:p>
          <a:p>
            <a:pPr algn="l">
              <a:spcAft>
                <a:spcPts val="300"/>
              </a:spcAft>
            </a:pPr>
            <a:r>
              <a:rPr sz="850" b="0" i="0">
                <a:solidFill>
                  <a:srgbClr val="1E293B"/>
                </a:solidFill>
                <a:latin typeface="Calibri"/>
              </a:rPr>
              <a:t>4.  Should KPI ownership be documented in a governance document or tracked in ServiceNow?</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PA without named KPI owners becomes a dashboard that no one checks. Assign a name to every dashboard in this room. It is a governance decision, not a technical one.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5</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threshold alerts are needed?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Threshold Alerting:</a:t>
            </a:r>
          </a:p>
          <a:p>
            <a:pPr algn="l">
              <a:spcAft>
                <a:spcPts val="200"/>
              </a:spcAft>
            </a:pPr>
            <a:r>
              <a:rPr sz="850" b="0" i="0">
                <a:solidFill>
                  <a:srgbClr val="1E293B"/>
                </a:solidFill>
                <a:latin typeface="Calibri"/>
              </a:rPr>
              <a:t>PA threshold rules: if indicator score crosses a defined threshold, trigger an action (email, task creation, Slack/Teams notification via Flow Designer). Thresholds are configurable per indicator. Green/yellow/red band visualization in PA dashboards reflects threshold settings.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What is the acceptable P1 incident backlog before an alert fires?</a:t>
            </a:r>
          </a:p>
          <a:p>
            <a:pPr algn="l">
              <a:spcAft>
                <a:spcPts val="300"/>
              </a:spcAft>
            </a:pPr>
            <a:r>
              <a:rPr sz="850" b="0" i="0">
                <a:solidFill>
                  <a:srgbClr val="1E293B"/>
                </a:solidFill>
                <a:latin typeface="Calibri"/>
              </a:rPr>
              <a:t>2.  Should SLA breach rate trigger a notification to the service desk manager?</a:t>
            </a:r>
          </a:p>
          <a:p>
            <a:pPr algn="l">
              <a:spcAft>
                <a:spcPts val="300"/>
              </a:spcAft>
            </a:pPr>
            <a:r>
              <a:rPr sz="850" b="0" i="0">
                <a:solidFill>
                  <a:srgbClr val="1E293B"/>
                </a:solidFill>
                <a:latin typeface="Calibri"/>
              </a:rPr>
              <a:t>3.  Who receives threshold alerts for each KPI category?</a:t>
            </a:r>
          </a:p>
          <a:p>
            <a:pPr algn="l">
              <a:spcAft>
                <a:spcPts val="300"/>
              </a:spcAft>
            </a:pPr>
            <a:r>
              <a:rPr sz="850" b="0" i="0">
                <a:solidFill>
                  <a:srgbClr val="1E293B"/>
                </a:solidFill>
                <a:latin typeface="Calibri"/>
              </a:rPr>
              <a:t>4.  Are threshold alerts needed at go-live or after a baseline period (30-60 days)?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Set thresholds after 30 days of data -- not before. Early threshold settings without a baseline produce constant noise or miss real issues. Plan for threshold tuning in sprint N+1 after go-live.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6</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drill-down and export requirements exist?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Drill-Down:</a:t>
            </a:r>
          </a:p>
          <a:p>
            <a:pPr algn="l">
              <a:spcAft>
                <a:spcPts val="200"/>
              </a:spcAft>
            </a:pPr>
            <a:r>
              <a:rPr sz="850" b="0" i="0">
                <a:solidFill>
                  <a:srgbClr val="1E293B"/>
                </a:solidFill>
                <a:latin typeface="Calibri"/>
              </a:rPr>
              <a:t>PA widgets support drill-down to underlying records (click chart bar to see the filtered incident list). Export: PA dashboards export to PDF or CSV from the dashboard toolbar. No scripting. For scheduled report distribution, PA can email dashboards on a schedule.</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Do executives need a scheduled email of the dashboard PDF (weekly, monthly)?</a:t>
            </a:r>
          </a:p>
          <a:p>
            <a:pPr algn="l">
              <a:spcAft>
                <a:spcPts val="300"/>
              </a:spcAft>
            </a:pPr>
            <a:r>
              <a:rPr sz="850" b="0" i="0">
                <a:solidFill>
                  <a:srgbClr val="1E293B"/>
                </a:solidFill>
                <a:latin typeface="Calibri"/>
              </a:rPr>
              <a:t>2.  Do managers need to drill from a KPI to the underlying incidents/requests?</a:t>
            </a:r>
          </a:p>
          <a:p>
            <a:pPr algn="l">
              <a:spcAft>
                <a:spcPts val="300"/>
              </a:spcAft>
            </a:pPr>
            <a:r>
              <a:rPr sz="850" b="0" i="0">
                <a:solidFill>
                  <a:srgbClr val="1E293B"/>
                </a:solidFill>
                <a:latin typeface="Calibri"/>
              </a:rPr>
              <a:t>3.  Is there a compliance reporting requirement that PA export must satisfy?</a:t>
            </a:r>
          </a:p>
          <a:p>
            <a:pPr algn="l">
              <a:spcAft>
                <a:spcPts val="300"/>
              </a:spcAft>
            </a:pPr>
            <a:r>
              <a:rPr sz="850" b="0" i="0">
                <a:solidFill>
                  <a:srgbClr val="1E293B"/>
                </a:solidFill>
                <a:latin typeface="Calibri"/>
              </a:rPr>
              <a:t>4.  Does the PA data need to feed a downstream BI tool (Power BI, Tableau)?</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PA drill-down to records requires the user to have read access to the underlying table. Validate that dashboard audience roles include read access to incident, change, and request tables before publishing.</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7</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is the data retention requirement for PA indicator history?</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Data Retention:</a:t>
            </a:r>
          </a:p>
          <a:p>
            <a:pPr algn="l">
              <a:spcAft>
                <a:spcPts val="200"/>
              </a:spcAft>
            </a:pPr>
            <a:r>
              <a:rPr sz="850" b="0" i="0">
                <a:solidFill>
                  <a:srgbClr val="1E293B"/>
                </a:solidFill>
                <a:latin typeface="Calibri"/>
              </a:rPr>
              <a:t>PA stores indicator scores as time-series data points. Default retention: 2 years. Retention is configurable per indicator. Longer retention enables multi-year trend analysis. Storage impact is minimal for standard ITSM indicator volumes.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there a federal data retention requirement that applies to performance data?</a:t>
            </a:r>
          </a:p>
          <a:p>
            <a:pPr algn="l">
              <a:spcAft>
                <a:spcPts val="300"/>
              </a:spcAft>
            </a:pPr>
            <a:r>
              <a:rPr sz="850" b="0" i="0">
                <a:solidFill>
                  <a:srgbClr val="1E293B"/>
                </a:solidFill>
                <a:latin typeface="Calibri"/>
              </a:rPr>
              <a:t>2.  Is 2-year OOTB retention sufficient for trend analysis and audit purposes?</a:t>
            </a:r>
          </a:p>
          <a:p>
            <a:pPr algn="l">
              <a:spcAft>
                <a:spcPts val="300"/>
              </a:spcAft>
            </a:pPr>
            <a:r>
              <a:rPr sz="850" b="0" i="0">
                <a:solidFill>
                  <a:srgbClr val="1E293B"/>
                </a:solidFill>
                <a:latin typeface="Calibri"/>
              </a:rPr>
              <a:t>3.  Are there any indicators that should have shorter retention (high-frequency, high-volume)?</a:t>
            </a:r>
          </a:p>
          <a:p>
            <a:pPr algn="l">
              <a:spcAft>
                <a:spcPts val="300"/>
              </a:spcAft>
            </a:pPr>
            <a:r>
              <a:rPr sz="850" b="0" i="0">
                <a:solidFill>
                  <a:srgbClr val="1E293B"/>
                </a:solidFill>
                <a:latin typeface="Calibri"/>
              </a:rPr>
              <a:t>4.  Will PA data be archived to an external system for long-term retention?</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Federal records retention policies may require longer than OOTB 2-year retention for performance data. Confirm with your agency records officer before setting retention policies in Sprint 5.</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572768"/>
            <a:ext cx="64008" cy="1645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572768"/>
            <a:ext cx="6858000" cy="804672"/>
          </a:xfrm>
          <a:prstGeom prst="rect">
            <a:avLst/>
          </a:prstGeom>
          <a:noFill/>
        </p:spPr>
        <p:txBody>
          <a:bodyPr wrap="square" lIns="36576" rIns="36576" tIns="18288" bIns="18288">
            <a:spAutoFit/>
          </a:bodyPr>
          <a:lstStyle/>
          <a:p>
            <a:pPr algn="l"/>
            <a:r>
              <a:rPr sz="4400" b="1" i="0">
                <a:solidFill>
                  <a:srgbClr val="FFFFFF"/>
                </a:solidFill>
                <a:latin typeface="Calibri"/>
              </a:rPr>
              <a:t>Decision Log</a:t>
            </a:r>
          </a:p>
        </p:txBody>
      </p:sp>
      <p:sp>
        <p:nvSpPr>
          <p:cNvPr id="4" name="TextBox 3"/>
          <p:cNvSpPr txBox="1"/>
          <p:nvPr/>
        </p:nvSpPr>
        <p:spPr>
          <a:xfrm>
            <a:off x="475488" y="2377440"/>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Every decision on the next page is an action.</a:t>
            </a:r>
          </a:p>
        </p:txBody>
      </p:sp>
      <p:sp>
        <p:nvSpPr>
          <p:cNvPr id="5" name="TextBox 4"/>
          <p:cNvSpPr txBox="1"/>
          <p:nvPr/>
        </p:nvSpPr>
        <p:spPr>
          <a:xfrm>
            <a:off x="475488" y="2706624"/>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Decisions left blank leave this room with a named owner and a date.</a:t>
            </a:r>
          </a:p>
        </p:txBody>
      </p:sp>
      <p:sp>
        <p:nvSpPr>
          <p:cNvPr id="6" name="TextBox 5"/>
          <p:cNvSpPr txBox="1"/>
          <p:nvPr/>
        </p:nvSpPr>
        <p:spPr>
          <a:xfrm>
            <a:off x="475488" y="3200400"/>
            <a:ext cx="7315200" cy="347472"/>
          </a:xfrm>
          <a:prstGeom prst="rect">
            <a:avLst/>
          </a:prstGeom>
          <a:noFill/>
        </p:spPr>
        <p:txBody>
          <a:bodyPr wrap="square" lIns="36576" rIns="36576" tIns="18288" bIns="18288">
            <a:spAutoFit/>
          </a:bodyPr>
          <a:lstStyle/>
          <a:p>
            <a:pPr algn="l"/>
            <a:r>
              <a:rPr sz="1200" b="0" i="1">
                <a:solidFill>
                  <a:srgbClr val="FFFFFF"/>
                </a:solidFill>
                <a:latin typeface="Calibri"/>
              </a:rPr>
              <a:t>Before we close: no decision is unresolved — it is either made, or owned.</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D E C I S I O N  L O G</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000" b="1" i="0">
                <a:solidFill>
                  <a:srgbClr val="0B1F3A"/>
                </a:solidFill>
                <a:latin typeface="Calibri"/>
              </a:rPr>
              <a:t>Performance Analytics — Decisions Made in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42415"/>
            <a:ext cx="292608"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78992"/>
            <a:ext cx="201168" cy="201168"/>
          </a:xfrm>
          <a:prstGeom prst="rect">
            <a:avLst/>
          </a:prstGeom>
          <a:noFill/>
        </p:spPr>
        <p:txBody>
          <a:bodyPr wrap="square" lIns="36576" rIns="36576" tIns="18288" bIns="18288">
            <a:spAutoFit/>
          </a:bodyPr>
          <a:lstStyle/>
          <a:p>
            <a:pPr algn="l"/>
            <a:r>
              <a:rPr sz="850" b="1" i="0">
                <a:solidFill>
                  <a:srgbClr val="FFFFFF"/>
                </a:solidFill>
                <a:latin typeface="Calibri"/>
              </a:rPr>
              <a:t>#</a:t>
            </a:r>
          </a:p>
        </p:txBody>
      </p:sp>
      <p:sp>
        <p:nvSpPr>
          <p:cNvPr id="8" name="Rectangle 7"/>
          <p:cNvSpPr/>
          <p:nvPr/>
        </p:nvSpPr>
        <p:spPr>
          <a:xfrm>
            <a:off x="612647" y="1042415"/>
            <a:ext cx="17373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645919" cy="201168"/>
          </a:xfrm>
          <a:prstGeom prst="rect">
            <a:avLst/>
          </a:prstGeom>
          <a:noFill/>
        </p:spPr>
        <p:txBody>
          <a:bodyPr wrap="square" lIns="36576" rIns="36576" tIns="18288" bIns="18288">
            <a:spAutoFit/>
          </a:bodyPr>
          <a:lstStyle/>
          <a:p>
            <a:pPr algn="l"/>
            <a:r>
              <a:rPr sz="850" b="1" i="0">
                <a:solidFill>
                  <a:srgbClr val="FFFFFF"/>
                </a:solidFill>
                <a:latin typeface="Calibri"/>
              </a:rPr>
              <a:t>Decision Topic</a:t>
            </a:r>
          </a:p>
        </p:txBody>
      </p:sp>
      <p:sp>
        <p:nvSpPr>
          <p:cNvPr id="10" name="Rectangle 9"/>
          <p:cNvSpPr/>
          <p:nvPr/>
        </p:nvSpPr>
        <p:spPr>
          <a:xfrm>
            <a:off x="2350008" y="1042415"/>
            <a:ext cx="393192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078992"/>
            <a:ext cx="3840480" cy="201168"/>
          </a:xfrm>
          <a:prstGeom prst="rect">
            <a:avLst/>
          </a:prstGeom>
          <a:noFill/>
        </p:spPr>
        <p:txBody>
          <a:bodyPr wrap="square" lIns="36576" rIns="36576" tIns="18288" bIns="18288">
            <a:spAutoFit/>
          </a:bodyPr>
          <a:lstStyle/>
          <a:p>
            <a:pPr algn="l"/>
            <a:r>
              <a:rPr sz="850" b="1" i="0">
                <a:solidFill>
                  <a:srgbClr val="FFFFFF"/>
                </a:solidFill>
                <a:latin typeface="Calibri"/>
              </a:rPr>
              <a:t>Scope</a:t>
            </a:r>
          </a:p>
        </p:txBody>
      </p:sp>
      <p:sp>
        <p:nvSpPr>
          <p:cNvPr id="12" name="Rectangle 11"/>
          <p:cNvSpPr/>
          <p:nvPr/>
        </p:nvSpPr>
        <p:spPr>
          <a:xfrm>
            <a:off x="6281927" y="1042415"/>
            <a:ext cx="15087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7" y="1078992"/>
            <a:ext cx="1417319" cy="201168"/>
          </a:xfrm>
          <a:prstGeom prst="rect">
            <a:avLst/>
          </a:prstGeom>
          <a:noFill/>
        </p:spPr>
        <p:txBody>
          <a:bodyPr wrap="square" lIns="36576" rIns="36576" tIns="18288" bIns="18288">
            <a:spAutoFit/>
          </a:bodyPr>
          <a:lstStyle/>
          <a:p>
            <a:pPr algn="l"/>
            <a:r>
              <a:rPr sz="850" b="1" i="0">
                <a:solidFill>
                  <a:srgbClr val="FFFFFF"/>
                </a:solidFill>
                <a:latin typeface="Calibri"/>
              </a:rPr>
              <a:t>Decision Made</a:t>
            </a:r>
          </a:p>
        </p:txBody>
      </p:sp>
      <p:sp>
        <p:nvSpPr>
          <p:cNvPr id="14" name="Rectangle 13"/>
          <p:cNvSpPr/>
          <p:nvPr/>
        </p:nvSpPr>
        <p:spPr>
          <a:xfrm>
            <a:off x="7790688" y="1042415"/>
            <a:ext cx="100584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078992"/>
            <a:ext cx="914400" cy="201168"/>
          </a:xfrm>
          <a:prstGeom prst="rect">
            <a:avLst/>
          </a:prstGeom>
          <a:noFill/>
        </p:spPr>
        <p:txBody>
          <a:bodyPr wrap="square" lIns="36576" rIns="36576" tIns="18288" bIns="18288">
            <a:spAutoFit/>
          </a:bodyPr>
          <a:lstStyle/>
          <a:p>
            <a:pPr algn="l"/>
            <a:r>
              <a:rPr sz="850" b="1" i="0">
                <a:solidFill>
                  <a:srgbClr val="FFFFFF"/>
                </a:solidFill>
                <a:latin typeface="Calibri"/>
              </a:rPr>
              <a:t>Owner / Due</a:t>
            </a:r>
          </a:p>
        </p:txBody>
      </p:sp>
      <p:sp>
        <p:nvSpPr>
          <p:cNvPr id="16" name="Rectangle 15"/>
          <p:cNvSpPr/>
          <p:nvPr/>
        </p:nvSpPr>
        <p:spPr>
          <a:xfrm>
            <a:off x="320040" y="131673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 y="131673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50008" y="131673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81927" y="131673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131673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5" y="14081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#1</a:t>
            </a:r>
          </a:p>
        </p:txBody>
      </p:sp>
      <p:sp>
        <p:nvSpPr>
          <p:cNvPr id="22" name="TextBox 21"/>
          <p:cNvSpPr txBox="1"/>
          <p:nvPr/>
        </p:nvSpPr>
        <p:spPr>
          <a:xfrm>
            <a:off x="658368" y="13898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Content packs in scope</a:t>
            </a:r>
          </a:p>
        </p:txBody>
      </p:sp>
      <p:sp>
        <p:nvSpPr>
          <p:cNvPr id="23" name="TextBox 22"/>
          <p:cNvSpPr txBox="1"/>
          <p:nvPr/>
        </p:nvSpPr>
        <p:spPr>
          <a:xfrm>
            <a:off x="2395727" y="13898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24" name="Rectangle 23"/>
          <p:cNvSpPr/>
          <p:nvPr/>
        </p:nvSpPr>
        <p:spPr>
          <a:xfrm>
            <a:off x="320040" y="1682495"/>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 y="1682495"/>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50008" y="1682495"/>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81927" y="1682495"/>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1682495"/>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5" y="17739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#2</a:t>
            </a:r>
          </a:p>
        </p:txBody>
      </p:sp>
      <p:sp>
        <p:nvSpPr>
          <p:cNvPr id="30" name="TextBox 29"/>
          <p:cNvSpPr txBox="1"/>
          <p:nvPr/>
        </p:nvSpPr>
        <p:spPr>
          <a:xfrm>
            <a:off x="658368" y="17556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Indicator list approved</a:t>
            </a:r>
          </a:p>
        </p:txBody>
      </p:sp>
      <p:sp>
        <p:nvSpPr>
          <p:cNvPr id="31" name="TextBox 30"/>
          <p:cNvSpPr txBox="1"/>
          <p:nvPr/>
        </p:nvSpPr>
        <p:spPr>
          <a:xfrm>
            <a:off x="2395727" y="17556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32" name="Rectangle 31"/>
          <p:cNvSpPr/>
          <p:nvPr/>
        </p:nvSpPr>
        <p:spPr>
          <a:xfrm>
            <a:off x="320040" y="204825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 y="204825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50008" y="204825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7" y="204825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204825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5" y="21396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#3</a:t>
            </a:r>
          </a:p>
        </p:txBody>
      </p:sp>
      <p:sp>
        <p:nvSpPr>
          <p:cNvPr id="38" name="TextBox 37"/>
          <p:cNvSpPr txBox="1"/>
          <p:nvPr/>
        </p:nvSpPr>
        <p:spPr>
          <a:xfrm>
            <a:off x="658368" y="21214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Breakdown dimensions required</a:t>
            </a:r>
          </a:p>
        </p:txBody>
      </p:sp>
      <p:sp>
        <p:nvSpPr>
          <p:cNvPr id="39" name="TextBox 38"/>
          <p:cNvSpPr txBox="1"/>
          <p:nvPr/>
        </p:nvSpPr>
        <p:spPr>
          <a:xfrm>
            <a:off x="2395727" y="21214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0" name="Rectangle 39"/>
          <p:cNvSpPr/>
          <p:nvPr/>
        </p:nvSpPr>
        <p:spPr>
          <a:xfrm>
            <a:off x="320040" y="241401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 y="241401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50008" y="241401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81927" y="241401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90688" y="241401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5" y="250545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#4</a:t>
            </a:r>
          </a:p>
        </p:txBody>
      </p:sp>
      <p:sp>
        <p:nvSpPr>
          <p:cNvPr id="46" name="TextBox 45"/>
          <p:cNvSpPr txBox="1"/>
          <p:nvPr/>
        </p:nvSpPr>
        <p:spPr>
          <a:xfrm>
            <a:off x="658368" y="248716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KPI owners per dashboard</a:t>
            </a:r>
          </a:p>
        </p:txBody>
      </p:sp>
      <p:sp>
        <p:nvSpPr>
          <p:cNvPr id="47" name="TextBox 46"/>
          <p:cNvSpPr txBox="1"/>
          <p:nvPr/>
        </p:nvSpPr>
        <p:spPr>
          <a:xfrm>
            <a:off x="2395727" y="248716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8" name="Rectangle 47"/>
          <p:cNvSpPr/>
          <p:nvPr/>
        </p:nvSpPr>
        <p:spPr>
          <a:xfrm>
            <a:off x="320040" y="277977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7" y="277977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50008" y="277977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1927" y="277977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90688" y="277977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5" y="287121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#5</a:t>
            </a:r>
          </a:p>
        </p:txBody>
      </p:sp>
      <p:sp>
        <p:nvSpPr>
          <p:cNvPr id="54" name="TextBox 53"/>
          <p:cNvSpPr txBox="1"/>
          <p:nvPr/>
        </p:nvSpPr>
        <p:spPr>
          <a:xfrm>
            <a:off x="658368" y="285292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Threshold alert plan</a:t>
            </a:r>
          </a:p>
        </p:txBody>
      </p:sp>
      <p:sp>
        <p:nvSpPr>
          <p:cNvPr id="55" name="TextBox 54"/>
          <p:cNvSpPr txBox="1"/>
          <p:nvPr/>
        </p:nvSpPr>
        <p:spPr>
          <a:xfrm>
            <a:off x="2395727" y="285292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56" name="Rectangle 55"/>
          <p:cNvSpPr/>
          <p:nvPr/>
        </p:nvSpPr>
        <p:spPr>
          <a:xfrm>
            <a:off x="320040" y="314553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7" y="314553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50008" y="314553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1927" y="314553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90688" y="314553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5" y="32369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#6</a:t>
            </a:r>
          </a:p>
        </p:txBody>
      </p:sp>
      <p:sp>
        <p:nvSpPr>
          <p:cNvPr id="62" name="TextBox 61"/>
          <p:cNvSpPr txBox="1"/>
          <p:nvPr/>
        </p:nvSpPr>
        <p:spPr>
          <a:xfrm>
            <a:off x="658368" y="32186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Drill-down and export requirements</a:t>
            </a:r>
          </a:p>
        </p:txBody>
      </p:sp>
      <p:sp>
        <p:nvSpPr>
          <p:cNvPr id="63" name="TextBox 62"/>
          <p:cNvSpPr txBox="1"/>
          <p:nvPr/>
        </p:nvSpPr>
        <p:spPr>
          <a:xfrm>
            <a:off x="2395727" y="32186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64" name="Rectangle 63"/>
          <p:cNvSpPr/>
          <p:nvPr/>
        </p:nvSpPr>
        <p:spPr>
          <a:xfrm>
            <a:off x="320040" y="351129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7" y="351129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50008" y="351129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281927" y="351129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90688" y="351129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6615" y="36027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#7</a:t>
            </a:r>
          </a:p>
        </p:txBody>
      </p:sp>
      <p:sp>
        <p:nvSpPr>
          <p:cNvPr id="70" name="TextBox 69"/>
          <p:cNvSpPr txBox="1"/>
          <p:nvPr/>
        </p:nvSpPr>
        <p:spPr>
          <a:xfrm>
            <a:off x="658368" y="35844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Data retention policy</a:t>
            </a:r>
          </a:p>
        </p:txBody>
      </p:sp>
      <p:sp>
        <p:nvSpPr>
          <p:cNvPr id="71" name="TextBox 70"/>
          <p:cNvSpPr txBox="1"/>
          <p:nvPr/>
        </p:nvSpPr>
        <p:spPr>
          <a:xfrm>
            <a:off x="2395727" y="35844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72" name="Rectangle 7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74" name="TextBox 7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75" name="TextBox 7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N E X T  S T E P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Happens After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1</a:t>
            </a:r>
          </a:p>
        </p:txBody>
      </p:sp>
      <p:sp>
        <p:nvSpPr>
          <p:cNvPr id="9" name="TextBox 8"/>
          <p:cNvSpPr txBox="1"/>
          <p:nvPr/>
        </p:nvSpPr>
        <p:spPr>
          <a:xfrm>
            <a:off x="704088"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Content Pack Activation</a:t>
            </a:r>
          </a:p>
        </p:txBody>
      </p:sp>
      <p:sp>
        <p:nvSpPr>
          <p:cNvPr id="10" name="TextBox 9"/>
          <p:cNvSpPr txBox="1"/>
          <p:nvPr/>
        </p:nvSpPr>
        <p:spPr>
          <a:xfrm>
            <a:off x="411479"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content packs to activate in Sprint 5. Activation is one-click -- no config needed. Indicators begin scoring immediately.</a:t>
            </a:r>
          </a:p>
        </p:txBody>
      </p:sp>
      <p:sp>
        <p:nvSpPr>
          <p:cNvPr id="11" name="Rectangle 10"/>
          <p:cNvSpPr/>
          <p:nvPr/>
        </p:nvSpPr>
        <p:spPr>
          <a:xfrm>
            <a:off x="4636007"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36007"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2</a:t>
            </a:r>
          </a:p>
        </p:txBody>
      </p:sp>
      <p:sp>
        <p:nvSpPr>
          <p:cNvPr id="14" name="TextBox 13"/>
          <p:cNvSpPr txBox="1"/>
          <p:nvPr/>
        </p:nvSpPr>
        <p:spPr>
          <a:xfrm>
            <a:off x="5020055"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Indicator Review Session</a:t>
            </a:r>
          </a:p>
        </p:txBody>
      </p:sp>
      <p:sp>
        <p:nvSpPr>
          <p:cNvPr id="15" name="TextBox 14"/>
          <p:cNvSpPr txBox="1"/>
          <p:nvPr/>
        </p:nvSpPr>
        <p:spPr>
          <a:xfrm>
            <a:off x="4727447"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Schedule 1-hour indicator review with service owners before Sprint 6. Goal: curate to 10-15 indicators per application.</a:t>
            </a:r>
          </a:p>
        </p:txBody>
      </p:sp>
      <p:sp>
        <p:nvSpPr>
          <p:cNvPr id="16" name="Rectangle 15"/>
          <p:cNvSpPr/>
          <p:nvPr/>
        </p:nvSpPr>
        <p:spPr>
          <a:xfrm>
            <a:off x="320040"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3</a:t>
            </a:r>
          </a:p>
        </p:txBody>
      </p:sp>
      <p:sp>
        <p:nvSpPr>
          <p:cNvPr id="19" name="TextBox 18"/>
          <p:cNvSpPr txBox="1"/>
          <p:nvPr/>
        </p:nvSpPr>
        <p:spPr>
          <a:xfrm>
            <a:off x="704088"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KPI Ownership Matrix</a:t>
            </a:r>
          </a:p>
        </p:txBody>
      </p:sp>
      <p:sp>
        <p:nvSpPr>
          <p:cNvPr id="20" name="TextBox 19"/>
          <p:cNvSpPr txBox="1"/>
          <p:nvPr/>
        </p:nvSpPr>
        <p:spPr>
          <a:xfrm>
            <a:off x="411479"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Document KPI owner per application/dashboard. Input to governance doc and Sprint 6 dashboard publishing.</a:t>
            </a:r>
          </a:p>
        </p:txBody>
      </p:sp>
      <p:sp>
        <p:nvSpPr>
          <p:cNvPr id="21" name="Rectangle 20"/>
          <p:cNvSpPr/>
          <p:nvPr/>
        </p:nvSpPr>
        <p:spPr>
          <a:xfrm>
            <a:off x="4636007"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36007"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4</a:t>
            </a:r>
          </a:p>
        </p:txBody>
      </p:sp>
      <p:sp>
        <p:nvSpPr>
          <p:cNvPr id="24" name="TextBox 23"/>
          <p:cNvSpPr txBox="1"/>
          <p:nvPr/>
        </p:nvSpPr>
        <p:spPr>
          <a:xfrm>
            <a:off x="5020055"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Threshold Baseline Plan</a:t>
            </a:r>
          </a:p>
        </p:txBody>
      </p:sp>
      <p:sp>
        <p:nvSpPr>
          <p:cNvPr id="25" name="TextBox 24"/>
          <p:cNvSpPr txBox="1"/>
          <p:nvPr/>
        </p:nvSpPr>
        <p:spPr>
          <a:xfrm>
            <a:off x="4727447"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Plan for 30-day post-go-live threshold tuning session. Do not set thresholds before baseline data is available.</a:t>
            </a:r>
          </a:p>
        </p:txBody>
      </p:sp>
      <p:sp>
        <p:nvSpPr>
          <p:cNvPr id="26" name="Rectangle 25"/>
          <p:cNvSpPr/>
          <p:nvPr/>
        </p:nvSpPr>
        <p:spPr>
          <a:xfrm>
            <a:off x="320040" y="388620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88620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8620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5</a:t>
            </a:r>
          </a:p>
        </p:txBody>
      </p:sp>
      <p:sp>
        <p:nvSpPr>
          <p:cNvPr id="29" name="TextBox 28"/>
          <p:cNvSpPr txBox="1"/>
          <p:nvPr/>
        </p:nvSpPr>
        <p:spPr>
          <a:xfrm>
            <a:off x="704088" y="392277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Records Retention Check</a:t>
            </a:r>
          </a:p>
        </p:txBody>
      </p:sp>
      <p:sp>
        <p:nvSpPr>
          <p:cNvPr id="30" name="TextBox 29"/>
          <p:cNvSpPr txBox="1"/>
          <p:nvPr/>
        </p:nvSpPr>
        <p:spPr>
          <a:xfrm>
            <a:off x="411479" y="421538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federal records retention policy applies to PA performance data. Adjust retention settings before Sprint 5 activation.</a:t>
            </a:r>
          </a:p>
        </p:txBody>
      </p:sp>
      <p:sp>
        <p:nvSpPr>
          <p:cNvPr id="31" name="Rectangle 30"/>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3" name="TextBox 32"/>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34" name="TextBox 33"/>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400800" cy="548640"/>
          </a:xfrm>
          <a:prstGeom prst="rect">
            <a:avLst/>
          </a:prstGeom>
          <a:noFill/>
        </p:spPr>
        <p:txBody>
          <a:bodyPr wrap="square" lIns="36576" rIns="36576" tIns="18288" bIns="18288">
            <a:spAutoFit/>
          </a:bodyPr>
          <a:lstStyle/>
          <a:p>
            <a:pPr algn="l"/>
            <a:r>
              <a:rPr sz="3200" b="1" i="0">
                <a:solidFill>
                  <a:srgbClr val="FFFFFF"/>
                </a:solidFill>
                <a:latin typeface="Calibri"/>
              </a:rPr>
              <a:t>Everforth ECS Federal</a:t>
            </a:r>
          </a:p>
        </p:txBody>
      </p:sp>
      <p:sp>
        <p:nvSpPr>
          <p:cNvPr id="4" name="TextBox 3"/>
          <p:cNvSpPr txBox="1"/>
          <p:nvPr/>
        </p:nvSpPr>
        <p:spPr>
          <a:xfrm>
            <a:off x="475488" y="2176272"/>
            <a:ext cx="6400800" cy="402336"/>
          </a:xfrm>
          <a:prstGeom prst="rect">
            <a:avLst/>
          </a:prstGeom>
          <a:noFill/>
        </p:spPr>
        <p:txBody>
          <a:bodyPr wrap="square" lIns="36576" rIns="36576" tIns="18288" bIns="18288">
            <a:spAutoFit/>
          </a:bodyPr>
          <a:lstStyle/>
          <a:p>
            <a:pPr algn="l"/>
            <a:r>
              <a:rPr sz="2000" b="0" i="0">
                <a:solidFill>
                  <a:srgbClr val="14B8A6"/>
                </a:solidFill>
                <a:latin typeface="Calibri"/>
              </a:rPr>
              <a:t>ServiceNow Practice</a:t>
            </a:r>
          </a:p>
        </p:txBody>
      </p:sp>
      <p:sp>
        <p:nvSpPr>
          <p:cNvPr id="5" name="TextBox 4"/>
          <p:cNvSpPr txBox="1"/>
          <p:nvPr/>
        </p:nvSpPr>
        <p:spPr>
          <a:xfrm>
            <a:off x="475488" y="2743200"/>
            <a:ext cx="7772400" cy="274320"/>
          </a:xfrm>
          <a:prstGeom prst="rect">
            <a:avLst/>
          </a:prstGeom>
          <a:noFill/>
        </p:spPr>
        <p:txBody>
          <a:bodyPr wrap="square" lIns="36576" rIns="36576" tIns="18288" bIns="18288">
            <a:spAutoFit/>
          </a:bodyPr>
          <a:lstStyle/>
          <a:p>
            <a:pPr algn="l"/>
            <a:r>
              <a:rPr sz="900" b="0" i="0">
                <a:solidFill>
                  <a:srgbClr val="94A3B8"/>
                </a:solidFill>
                <a:latin typeface="Calibri"/>
              </a:rPr>
              <a:t>SERVICENOW PRACTICE  ·  MODERNIZING THE CORE  ·  PERFORMANCE ANALYTICS</a:t>
            </a:r>
          </a:p>
        </p:txBody>
      </p:sp>
      <p:pic>
        <p:nvPicPr>
          <p:cNvPr id="6" name="Picture 5"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7" name="Rectangle 6"/>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9" name="TextBox 8"/>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PERFORMANCE ANALYTICS</a:t>
            </a:r>
          </a:p>
        </p:txBody>
      </p:sp>
      <p:sp>
        <p:nvSpPr>
          <p:cNvPr id="10" name="TextBox 9"/>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