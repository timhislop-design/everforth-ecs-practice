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858000" cy="7498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Modernizing 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04288"/>
            <a:ext cx="7772400" cy="6217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000" b="1" i="0">
                <a:solidFill>
                  <a:srgbClr val="14B8A6"/>
                </a:solidFill>
                <a:latin typeface="Calibri"/>
              </a:rPr>
              <a:t>Event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907792"/>
            <a:ext cx="6858000" cy="38404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Ensuring AI Realization and Optimizing Long-Term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4407408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50" b="0" i="0">
                <a:solidFill>
                  <a:srgbClr val="94A3B8"/>
                </a:solidFill>
                <a:latin typeface="Calibri"/>
              </a:rPr>
              <a:t>Prepared by Everforth ECS Federal  ·  ServiceNow Practice  ·  Confidential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A G E N D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The OOTB-First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Why this engagement commits to OOTB -- and what it means in the room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Event Management Overview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How EM consolidates alerts, maps to CMDB, and drives incident creation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EM Process Walkthrough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Alert ingestion, deduplication, CI binding, alert grouping, incident promotion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097280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1143000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5504" y="1097280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Key Decisions #1-#7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1344168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Alert sources, CI binding, deduplication rules, grouping, incident thresholds, operator workspace, AIOps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1892807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1938527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5504" y="1892807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Decision Log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75504" y="2139696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Every decision is recorded before we leave this room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688336"/>
            <a:ext cx="438912" cy="43891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734056"/>
            <a:ext cx="438912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75504" y="2688336"/>
            <a:ext cx="3749039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What Comes Next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75504" y="2935224"/>
            <a:ext cx="3749039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0" i="0">
                <a:solidFill>
                  <a:srgbClr val="1E293B"/>
                </a:solidFill>
                <a:latin typeface="Calibri"/>
              </a:rPr>
              <a:t>Connector activation, alert source onboarding, CI binding rules, operator workspace config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529583"/>
            <a:ext cx="8503920" cy="45720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611879"/>
            <a:ext cx="82296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50" b="1" i="0">
                <a:solidFill>
                  <a:srgbClr val="0B1F3A"/>
                </a:solidFill>
                <a:latin typeface="Calibri"/>
              </a:rPr>
              <a:t>Ground rule: </a:t>
            </a:r>
            <a:r>
              <a:rPr sz="950" b="0" i="0">
                <a:solidFill>
                  <a:srgbClr val="1E293B"/>
                </a:solidFill>
                <a:latin typeface="Calibri"/>
              </a:rPr>
              <a:t>Decisions get made in this room. The OOTB recommendation is pre-populated. Your job is to confirm, adjust with rationale, or defer with a named owner and date.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A P P R O A C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OOTB-first is not a constraint — it is the AI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OOTB-First 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Event Management OOTB covers: multi-source alert ingestion, alert deduplication, CI binding, alert grouping, automated incident creation, and the operator workspace (command center).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AIOps (licensed add-on) extends with ML-based alert noise reduction, root cause analysis, and seasonal alert baselines.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Zero scripting required for alert source onboarding -- OOTB connectors or REST/SOAP ingest via the event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182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7754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What We Configure (Not Code)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182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2326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Alert source connectors: SNMP, email, REST ingest, or dedicated EM connectors (SolarWinds, Nagios, Splunk, etc.).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CI binding rules: how raw alert data maps to CMDB CI records.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Deduplication and grouping rules: which alerts collapse into a single event group.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Alert rules: thresholds that trigger automated incident creation.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024128"/>
            <a:ext cx="27432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033271"/>
            <a:ext cx="2651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The Delivery Approach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335024"/>
            <a:ext cx="2743200" cy="333756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389888"/>
            <a:ext cx="2560320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5 onboards primary alert sources and configures CI binding.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Sprint 6 tunes deduplication, grouping, incident promotion thresholds, and operator workspace.</a:t>
            </a:r>
          </a:p>
          <a:p>
            <a:pPr algn="l">
              <a:spcAft>
                <a:spcPts val="4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•  All configuration through the EM workspace -- zero scripting.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L I N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a customization is — and what it isn’t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160520" cy="29260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4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CONFIGURATION  —  This is always available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(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h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)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w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k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v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✓  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17720" y="1024128"/>
            <a:ext cx="4160520" cy="292608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2583" y="1033271"/>
            <a:ext cx="4050791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CUSTOMIZATION  —  Requires Approval + Business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316736"/>
            <a:ext cx="4160520" cy="331012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59" y="1371600"/>
            <a:ext cx="3977639" cy="32004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v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b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g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f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w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r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k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,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s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m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u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p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l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a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t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i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n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 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c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o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d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✗  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645152"/>
            <a:ext cx="8503920" cy="164592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654296"/>
            <a:ext cx="822960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0B1F3A"/>
                </a:solidFill>
                <a:latin typeface="Calibri"/>
              </a:rPr>
              <a:t>The customization bar:  </a:t>
            </a:r>
            <a:r>
              <a:rPr sz="800" b="0" i="0">
                <a:solidFill>
                  <a:srgbClr val="1E293B"/>
                </a:solidFill>
                <a:latin typeface="Calibri"/>
              </a:rPr>
              <a:t>The OOTB event API accepts any alert payload. Custom ingest scripts create fragile point-to-point integrations that break when source systems update. OOTB binding rules handle the majority of CI resolution use cases without scripting.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T H E  P R O C E S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Event Lifecycle: Alert to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ALERT INGESTED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CI BINDING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DEDUPLICATION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ALERT GROUPING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932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0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INCIDENT PROMOTION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1078992"/>
            <a:ext cx="1344168" cy="347472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52360" y="1097280"/>
            <a:ext cx="1252728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RESOLUTION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1444752"/>
            <a:ext cx="4572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4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1664208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1719072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Alert Ingested: Alert received from monitoring source via OOTB connector or REST event API. Raw event stored in em_event table. Source, node, resource, and severity captured.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0" y="2002536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2185416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2240280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CI Binding: EM binding rules attempt to resolve the alert to a CMDB CI. Binding uses node (hostname/IP), resource, and source to match CI class. Bound CI enables impact analysis.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523744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2706624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4048" y="2761488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Deduplication: Duplicate alerts from the same source for the same CI collapsed into a single alert group. Deduplication reduces noise and prevents redundant incidents.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3044952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227832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4048" y="3282696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Alert Grouping: Related alerts across CIs grouped into an event group (e.g., multiple network alerts pointing to a single upstream failure). Group represents a probable root cause.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3566160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3749039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048" y="3803903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Incident Promotion: Alert rule threshold met (severity, count, duration). Incident automatically created and linked to CI and event group. Assignment based on CI service owner or alert rule config.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4087368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270248"/>
            <a:ext cx="8503920" cy="32004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4325112"/>
            <a:ext cx="832104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1" i="0">
                <a:solidFill>
                  <a:srgbClr val="0B1F3A"/>
                </a:solidFill>
                <a:latin typeface="Calibri"/>
              </a:rPr>
              <a:t>Resolution: Incident resolved. Event group closed. Alert cleared when monitoring source sends clear signal.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608576"/>
            <a:ext cx="457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14B8A6"/>
                </a:solidFill>
                <a:latin typeface="Calibri"/>
              </a:rPr>
              <a:t>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" y="4837176"/>
            <a:ext cx="850392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0D9488"/>
                </a:solidFill>
                <a:latin typeface="Calibri"/>
              </a:rPr>
              <a:t>AI Features Active at Go-Live: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AIOps uses ML to baseline alert patterns and suppress known-good noise. Now Assist can summarize active event groups for the operator during a major incident. Predictive Intelligence can flag CIs with anomalous alert frequency.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Which alert sources will be onboarded in this engagement?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Alert Ingestion Options: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Dedicated EM connectors (ServiceNow Store): SolarWinds, Nagios, Zabbix, PRTG, Splunk, Dynatrace, AppDynamics, Datadog, AWS CloudWatch, Azure Monitor. Generic: REST event API (any source that can POST JSON), SNMP trap receiver, email ingest.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What monitoring tools are active in your environment (SolarWinds, Nagios, Splunk, other)?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Is there a primary monitoring tool that covers 80%+ of your alert volume?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Are cloud-native monitoring alerts (CloudWatch, Azure Monitor) in scope?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Who owns each monitoring tool and can make configuration changes?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Onboard the highest-volume alert source first. Trying to onboard all sources simultaneously in Sprint 5 is the most common EM failure mode. One source, validate CI binding, then add more.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will alerts bind to CMDB CI records?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CI Binding Rules: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Binding uses node field (hostname or IP) to match cmdb_ci_computer or cmdb_ci_network_device. Resource field for disk/interface/process-level alerts. Binding rule priority: exact match &gt; regex &gt; IP range. Unbound alerts visible in operator workspace for manual binding.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Are hostnames in the monitoring tool consistent with hostnames in CMDB?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Are IP addresses stable (static) or dynamic (DHCP) for monitored endpoints?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Are there alert sources that use non-standard node identifiers (custom tags, cloud instance IDs)?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What percentage of current alerts have a corresponding CMDB CI?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CI binding is the make-or-break step for EM value. Alerts that do not bind to CIs cannot drive impact analysis or intelligent assignment. CMDB completeness directly determines EM effectiveness.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What are the deduplication and grouping rules?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Deduplication: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Deduplication key: source + node + resource + metric_name. Duplicate alerts from the same source for the same CI within the dedup window are collapsed. Window is configurable (default 30 minutes). Grouping rules: topology-based (upstream/downstream CI relationship) or rule-based (alerts sharing a tag or resource type).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What is the expected alert volume per hour from primary sources?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Are there known noisy alerts that should be suppressed or have a higher dedup window?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Is topology-based grouping feasible given current CMDB relationship data?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Who defines and owns alert grouping rules?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Starting with OOTB dedup and grouping rules is the right call. Tuning comes after go-live when real alert patterns are visible. Over-configuring grouping before go-live produces rules no one understands.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Which alerts should auto-create incidents -- and at what threshold?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Alert Rules: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Alert rules define: condition (severity &gt;= Critical, count &gt;= N in window T), action (create incident, assign to group, set priority). OOTB alert rules map severity to incident priority (1:1 or weighted). Rules are configured in the EM workspace -- no scripting.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Should all Critical alerts auto-create incidents, or only specific CI classes?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What is the alert count threshold before an incident is created (1 alert, N alerts in 10 minutes)?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Should incident assignment follow the CI service owner (OOTB) or a fixed assignment group?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Are there alert categories that should never auto-create incidents (informational, known maintenance)?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Auto-incident creation without tuned thresholds floods the incident queue with noise on day one. Start conservative: only Critical severity, only for in-scope CI classes. Tune thresholds in Sprint 6 after observing real patterns.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What will the operator workspace (command center) look like?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Operator Workspace: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Operator Workspace is the EM command center: active event groups, alert count by severity, CI impact map, bound incident list. Configurable dashboards per operator role. No scripting -- workspace is configured via drag-and-drop layout editor. Topology map requires CMDB relationship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Who are the operators (NOC team, service desk, on-call engineers)?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Should there be separate workspace views per team (network, server, cloud)?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Is the topology map useful given current CMDB relationship completeness?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Does the operator workspace need to surface SLA data from Incident Management?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The operator workspace is the daily face of EM. Spend one hour with the NOC/on-call team to agree on layout before Sprint 6 configuration. It takes 30 minutes to configure and is 100% configurable without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Will AIOps be activated -- and what does it require?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AIOps Capabilities: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AIOps (licensed) adds: ML-based alert noise reduction (suppresses alerts that match historical non-incident patterns), anomaly detection, probable root cause analysis, and seasonal baselining. Requires 30-60 days of alert data to train models. Not useful on day one.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AIOps included in your current ServiceNow contract?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Is alert noise reduction a stated requirement for this engagement?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Is there sufficient alert history (30+ days) to begin ML model training at go-live?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If not in scope now, is AIOps on the roadmap for Year 2?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AIOps requires alert history to generate value. Activating it on day one of EM go-live produces no benefit. Plan for AIOps activation 60 days post-go-live once alert patterns are established.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K E Y  D E C I S I O N   #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900" b="1" i="0">
                <a:solidFill>
                  <a:srgbClr val="0B1F3A"/>
                </a:solidFill>
                <a:latin typeface="Calibri"/>
              </a:rPr>
              <a:t>How does EM integrate with Major Incident Management?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24128"/>
            <a:ext cx="406908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033271"/>
            <a:ext cx="3977639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OOTB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98448"/>
            <a:ext cx="406908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53312"/>
            <a:ext cx="388620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D9488"/>
                </a:solidFill>
                <a:latin typeface="Calibri"/>
              </a:rPr>
              <a:t>OOTB EM-MIM Integration:</a:t>
            </a:r>
          </a:p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EM can auto-promote high-impact event groups to Major Incidents. Major Incident trigger: event group bound to a Priority 1 CI with N+ bound incidents. MIM workspace pulls event group data directly. No scripting -- EM-MIM linkage is OOTB.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60" y="1024128"/>
            <a:ext cx="434340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033271"/>
            <a:ext cx="4251960" cy="23774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DECIDE IN THE ROOM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1298448"/>
            <a:ext cx="4343400" cy="27432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353312"/>
            <a:ext cx="4160520" cy="26517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</a:pPr>
            <a:r>
              <a:rPr sz="900" b="1" i="0">
                <a:solidFill>
                  <a:srgbClr val="0B1F3A"/>
                </a:solidFill>
                <a:latin typeface="Calibri"/>
              </a:rPr>
              <a:t>Questions to answer: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1.  Is Major Incident Management in scope for this engagement?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2.  Should EM auto-promote to MIM or require manual promotion by the operator?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3.  What is the definition of a major incident in terms of EM event criteria (CI priority, incident count, service impact)?</a:t>
            </a:r>
          </a:p>
          <a:p>
            <a:pPr algn="l">
              <a:spcAft>
                <a:spcPts val="300"/>
              </a:spcAft>
            </a:pPr>
            <a:r>
              <a:rPr sz="850" b="0" i="0">
                <a:solidFill>
                  <a:srgbClr val="1E293B"/>
                </a:solidFill>
                <a:latin typeface="Calibri"/>
              </a:rPr>
              <a:t>4.  Who is the MIM coordinator that the EM operator workspace should notify?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096512"/>
            <a:ext cx="8503920" cy="493776"/>
          </a:xfrm>
          <a:prstGeom prst="rect">
            <a:avLst/>
          </a:prstGeom>
          <a:solidFill>
            <a:srgbClr val="FEF3C7"/>
          </a:solidFill>
          <a:ln w="6350">
            <a:solidFill>
              <a:srgbClr val="FDD8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4133087"/>
            <a:ext cx="8321040" cy="42062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D97706"/>
                </a:solidFill>
                <a:latin typeface="Calibri"/>
              </a:rPr>
              <a:t>⚠  OOTB Defense:  </a:t>
            </a:r>
            <a:r>
              <a:rPr sz="850" b="0" i="0">
                <a:solidFill>
                  <a:srgbClr val="1E293B"/>
                </a:solidFill>
                <a:latin typeface="Calibri"/>
              </a:rPr>
              <a:t>EM-MIM integration is one of the highest-value OOTB integrations in ServiceNow. Define the promotion criteria in this room so MIM and EM configuration can be aligned in Sprint 6.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572768"/>
            <a:ext cx="64008" cy="16459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572768"/>
            <a:ext cx="6858000" cy="8046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Decision 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37744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Every decision on the next page is an action.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06624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600" b="1" i="0">
                <a:solidFill>
                  <a:srgbClr val="14B8A6"/>
                </a:solidFill>
                <a:latin typeface="Calibri"/>
              </a:rPr>
              <a:t>Decisions left blank leave this room with a named owner and a date.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3200400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Calibri"/>
              </a:rPr>
              <a:t>Before we close: no decision is unresolved — it is either made, or owned.</a:t>
            </a:r>
          </a:p>
        </p:txBody>
      </p:sp>
      <p:pic>
        <p:nvPicPr>
          <p:cNvPr id="7" name="Picture 6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D E C I S I O N  L O 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1" i="0">
                <a:solidFill>
                  <a:srgbClr val="0B1F3A"/>
                </a:solidFill>
                <a:latin typeface="Calibri"/>
              </a:rPr>
              <a:t>Event Management — Decisions Made in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42415"/>
            <a:ext cx="292608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59" y="1078992"/>
            <a:ext cx="201168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7" y="1042415"/>
            <a:ext cx="17373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078992"/>
            <a:ext cx="16459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Topic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0008" y="1042415"/>
            <a:ext cx="393192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95727" y="1078992"/>
            <a:ext cx="38404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81927" y="1042415"/>
            <a:ext cx="150876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7" y="1078992"/>
            <a:ext cx="1417319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Decision Made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90688" y="1042415"/>
            <a:ext cx="1005840" cy="27432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8" y="1078992"/>
            <a:ext cx="9144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Owner / Due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131673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7" y="131673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50008" y="131673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81927" y="131673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90688" y="131673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5" y="14081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13898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Alert sources in scope and owners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5727" y="13898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1682495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7" y="1682495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50008" y="1682495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81927" y="1682495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90688" y="1682495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5" y="177393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175564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CI binding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95727" y="175564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04825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2647" y="204825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50008" y="204825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81927" y="204825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90688" y="204825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6615" y="213969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212140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Deduplication and grouping approach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95727" y="212140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241401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2647" y="241401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50008" y="241401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81927" y="241401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790688" y="241401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6615" y="250545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248716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Auto-incident thresholds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95727" y="248716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277977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2647" y="277977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50008" y="277977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81927" y="277977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90688" y="277977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6615" y="287121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285292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Operator workspace requirements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95727" y="285292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3145536"/>
            <a:ext cx="292608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2647" y="3145536"/>
            <a:ext cx="17373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350008" y="3145536"/>
            <a:ext cx="393192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81927" y="3145536"/>
            <a:ext cx="150876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790688" y="3145536"/>
            <a:ext cx="1005840" cy="3657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56615" y="323697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21868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AIOps activation decision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95727" y="321868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3511296"/>
            <a:ext cx="292608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2647" y="3511296"/>
            <a:ext cx="17373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350008" y="3511296"/>
            <a:ext cx="393192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81927" y="3511296"/>
            <a:ext cx="150876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0688" y="3511296"/>
            <a:ext cx="100584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6615" y="3602736"/>
            <a:ext cx="219456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1" i="0">
                <a:solidFill>
                  <a:srgbClr val="14B8A6"/>
                </a:solidFill>
                <a:latin typeface="Calibri"/>
              </a:rPr>
              <a:t>#7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8368" y="3584448"/>
            <a:ext cx="1645919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1" i="0">
                <a:solidFill>
                  <a:srgbClr val="1E293B"/>
                </a:solidFill>
                <a:latin typeface="Calibri"/>
              </a:rPr>
              <a:t>EM-MIM promotion criteria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95727" y="3584448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50" b="0" i="0">
                <a:solidFill>
                  <a:srgbClr val="1E293B"/>
                </a:solidFill>
                <a:latin typeface="Calibri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47472" y="164592"/>
            <a:ext cx="457200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800" b="1" i="0">
                <a:solidFill>
                  <a:srgbClr val="14B8A6"/>
                </a:solidFill>
                <a:latin typeface="Calibri"/>
              </a:rPr>
              <a:t>N E X T  S T E P 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777240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400" b="1" i="0">
                <a:solidFill>
                  <a:srgbClr val="0B1F3A"/>
                </a:solidFill>
                <a:latin typeface="Calibri"/>
              </a:rPr>
              <a:t>What Happens After This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87552"/>
            <a:ext cx="8503920" cy="16459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Alert Source Contacts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79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Identify the admin for each in-scope monitoring tool. They will need to configure outbound alert delivery to ServiceNow. Target: contacts confirmed before Sprint 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36007" y="105156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105156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0055" y="108813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CMDB Readiness 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7" y="1380743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Run a spot check: what % of monitored CIs have a matching CMDB record by hostname/IP? If below 70%, CMDB population must precede EM onboarding.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Alert Volume 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79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Pull 7-day alert volume from primary monitoring tool. Used to size dedup windows and set incident thresholds. Share with EM configuration 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7" y="246888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246888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0055" y="250545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Operator Workshop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27447" y="279806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Schedule 1-hour session with NOC/on-call team before Sprint 6 to design operator workspace layout.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86200"/>
            <a:ext cx="4114800" cy="1280160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886200"/>
            <a:ext cx="310896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3922776"/>
            <a:ext cx="36576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00" b="1" i="0">
                <a:solidFill>
                  <a:srgbClr val="0B1F3A"/>
                </a:solidFill>
                <a:latin typeface="Calibri"/>
              </a:rPr>
              <a:t>AIOps Licensing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79" y="4215384"/>
            <a:ext cx="3931920" cy="89611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1E293B"/>
                </a:solidFill>
                <a:latin typeface="Calibri"/>
              </a:rPr>
              <a:t>Confirm AIOps license entitlement. Note: plan for 60-day post-go-live activation, not Sprint 5/6.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2608" y="1645920"/>
            <a:ext cx="64008" cy="155448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627632"/>
            <a:ext cx="6400800" cy="5486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Everforth ECS Federal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" y="2176272"/>
            <a:ext cx="6400800" cy="40233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000" b="0" i="0">
                <a:solidFill>
                  <a:srgbClr val="14B8A6"/>
                </a:solidFill>
                <a:latin typeface="Calibri"/>
              </a:rPr>
              <a:t>ServiceNow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2743200"/>
            <a:ext cx="7772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pic>
        <p:nvPicPr>
          <p:cNvPr id="6" name="Picture 5" descr="everfort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64008"/>
            <a:ext cx="1115568" cy="42062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4818888"/>
            <a:ext cx="914400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846320"/>
            <a:ext cx="201168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700" b="0" i="0">
                <a:solidFill>
                  <a:srgbClr val="94A3B8"/>
                </a:solidFill>
                <a:latin typeface="Calibri"/>
              </a:rPr>
              <a:t>Everforth ECS Federal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846320"/>
            <a:ext cx="502920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700" b="0" i="0">
                <a:solidFill>
                  <a:srgbClr val="94A3B8"/>
                </a:solidFill>
                <a:latin typeface="Calibri"/>
              </a:rPr>
              <a:t>SERVICENOW PRACTICE  ·  MODERNIZING THE CORE  ·  EVENT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846320"/>
            <a:ext cx="365760" cy="1828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700" b="0" i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