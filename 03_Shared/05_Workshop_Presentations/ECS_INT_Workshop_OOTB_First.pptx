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292608" y="1645920"/>
            <a:ext cx="64008" cy="15544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1627632"/>
            <a:ext cx="6858000" cy="749808"/>
          </a:xfrm>
          <a:prstGeom prst="rect">
            <a:avLst/>
          </a:prstGeom>
          <a:noFill/>
        </p:spPr>
        <p:txBody>
          <a:bodyPr wrap="square" lIns="36576" rIns="36576" tIns="18288" bIns="18288">
            <a:spAutoFit/>
          </a:bodyPr>
          <a:lstStyle/>
          <a:p>
            <a:pPr algn="l"/>
            <a:r>
              <a:rPr sz="4000" b="1" i="0">
                <a:solidFill>
                  <a:srgbClr val="FFFFFF"/>
                </a:solidFill>
                <a:latin typeface="Calibri"/>
              </a:rPr>
              <a:t>Modernizing the Core</a:t>
            </a:r>
          </a:p>
        </p:txBody>
      </p:sp>
      <p:sp>
        <p:nvSpPr>
          <p:cNvPr id="4" name="TextBox 3"/>
          <p:cNvSpPr txBox="1"/>
          <p:nvPr/>
        </p:nvSpPr>
        <p:spPr>
          <a:xfrm>
            <a:off x="475488" y="2304288"/>
            <a:ext cx="7772400" cy="621792"/>
          </a:xfrm>
          <a:prstGeom prst="rect">
            <a:avLst/>
          </a:prstGeom>
          <a:noFill/>
        </p:spPr>
        <p:txBody>
          <a:bodyPr wrap="square" lIns="36576" rIns="36576" tIns="18288" bIns="18288">
            <a:spAutoFit/>
          </a:bodyPr>
          <a:lstStyle/>
          <a:p>
            <a:pPr algn="l"/>
            <a:r>
              <a:rPr sz="3000" b="1" i="0">
                <a:solidFill>
                  <a:srgbClr val="14B8A6"/>
                </a:solidFill>
                <a:latin typeface="Calibri"/>
              </a:rPr>
              <a:t>Integrations: AD, SSO, SCCM &amp; Intune</a:t>
            </a:r>
          </a:p>
        </p:txBody>
      </p:sp>
      <p:sp>
        <p:nvSpPr>
          <p:cNvPr id="5" name="TextBox 4"/>
          <p:cNvSpPr txBox="1"/>
          <p:nvPr/>
        </p:nvSpPr>
        <p:spPr>
          <a:xfrm>
            <a:off x="475488" y="2907792"/>
            <a:ext cx="6858000" cy="384048"/>
          </a:xfrm>
          <a:prstGeom prst="rect">
            <a:avLst/>
          </a:prstGeom>
          <a:noFill/>
        </p:spPr>
        <p:txBody>
          <a:bodyPr wrap="square" lIns="36576" rIns="36576" tIns="18288" bIns="18288">
            <a:spAutoFit/>
          </a:bodyPr>
          <a:lstStyle/>
          <a:p>
            <a:pPr algn="l"/>
            <a:r>
              <a:rPr sz="1300" b="0" i="1">
                <a:solidFill>
                  <a:srgbClr val="FFFFFF"/>
                </a:solidFill>
                <a:latin typeface="Calibri"/>
              </a:rPr>
              <a:t>Ensuring AI Realization and Optimizing Long-Term Value</a:t>
            </a:r>
          </a:p>
        </p:txBody>
      </p:sp>
      <p:sp>
        <p:nvSpPr>
          <p:cNvPr id="6" name="TextBox 5"/>
          <p:cNvSpPr txBox="1"/>
          <p:nvPr/>
        </p:nvSpPr>
        <p:spPr>
          <a:xfrm>
            <a:off x="274320" y="4407408"/>
            <a:ext cx="5486400" cy="228600"/>
          </a:xfrm>
          <a:prstGeom prst="rect">
            <a:avLst/>
          </a:prstGeom>
          <a:noFill/>
        </p:spPr>
        <p:txBody>
          <a:bodyPr wrap="square" lIns="36576" rIns="36576" tIns="18288" bIns="18288">
            <a:spAutoFit/>
          </a:bodyPr>
          <a:lstStyle/>
          <a:p>
            <a:pPr algn="l"/>
            <a:r>
              <a:rPr sz="750" b="0" i="0">
                <a:solidFill>
                  <a:srgbClr val="94A3B8"/>
                </a:solidFill>
                <a:latin typeface="Calibri"/>
              </a:rPr>
              <a:t>Prepared by Everforth ECS Federal  ·  ServiceNow Practice  ·  Confidential</a:t>
            </a:r>
          </a:p>
        </p:txBody>
      </p:sp>
      <p:pic>
        <p:nvPicPr>
          <p:cNvPr id="7" name="Picture 6"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8" name="Rectangle 7"/>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0" name="TextBox 9"/>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INTEGRATIONS</a:t>
            </a:r>
          </a:p>
        </p:txBody>
      </p:sp>
      <p:sp>
        <p:nvSpPr>
          <p:cNvPr id="11" name="TextBox 10"/>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A G E N D A</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What We'll Cover Today</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97280"/>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143000"/>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01</a:t>
            </a:r>
          </a:p>
        </p:txBody>
      </p:sp>
      <p:sp>
        <p:nvSpPr>
          <p:cNvPr id="8" name="TextBox 7"/>
          <p:cNvSpPr txBox="1"/>
          <p:nvPr/>
        </p:nvSpPr>
        <p:spPr>
          <a:xfrm>
            <a:off x="832104" y="1097280"/>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The OOTB-First Frame</a:t>
            </a:r>
          </a:p>
        </p:txBody>
      </p:sp>
      <p:sp>
        <p:nvSpPr>
          <p:cNvPr id="9" name="TextBox 8"/>
          <p:cNvSpPr txBox="1"/>
          <p:nvPr/>
        </p:nvSpPr>
        <p:spPr>
          <a:xfrm>
            <a:off x="832104" y="1344168"/>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Why this engagement commits to OOTB -- and what it means in the room</a:t>
            </a:r>
          </a:p>
        </p:txBody>
      </p:sp>
      <p:sp>
        <p:nvSpPr>
          <p:cNvPr id="10" name="Rectangle 9"/>
          <p:cNvSpPr/>
          <p:nvPr/>
        </p:nvSpPr>
        <p:spPr>
          <a:xfrm>
            <a:off x="320040" y="1892807"/>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1938527"/>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02</a:t>
            </a:r>
          </a:p>
        </p:txBody>
      </p:sp>
      <p:sp>
        <p:nvSpPr>
          <p:cNvPr id="12" name="TextBox 11"/>
          <p:cNvSpPr txBox="1"/>
          <p:nvPr/>
        </p:nvSpPr>
        <p:spPr>
          <a:xfrm>
            <a:off x="832104" y="1892807"/>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Integration Overview</a:t>
            </a:r>
          </a:p>
        </p:txBody>
      </p:sp>
      <p:sp>
        <p:nvSpPr>
          <p:cNvPr id="13" name="TextBox 12"/>
          <p:cNvSpPr txBox="1"/>
          <p:nvPr/>
        </p:nvSpPr>
        <p:spPr>
          <a:xfrm>
            <a:off x="832104" y="2139696"/>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AD, SSO, SCCM, and Intune -- what each does in the platform context</a:t>
            </a:r>
          </a:p>
        </p:txBody>
      </p:sp>
      <p:sp>
        <p:nvSpPr>
          <p:cNvPr id="14" name="Rectangle 13"/>
          <p:cNvSpPr/>
          <p:nvPr/>
        </p:nvSpPr>
        <p:spPr>
          <a:xfrm>
            <a:off x="320040" y="2688336"/>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2734056"/>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03</a:t>
            </a:r>
          </a:p>
        </p:txBody>
      </p:sp>
      <p:sp>
        <p:nvSpPr>
          <p:cNvPr id="16" name="TextBox 15"/>
          <p:cNvSpPr txBox="1"/>
          <p:nvPr/>
        </p:nvSpPr>
        <p:spPr>
          <a:xfrm>
            <a:off x="832104" y="2688336"/>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Integration Process Walkthrough</a:t>
            </a:r>
          </a:p>
        </p:txBody>
      </p:sp>
      <p:sp>
        <p:nvSpPr>
          <p:cNvPr id="17" name="TextBox 16"/>
          <p:cNvSpPr txBox="1"/>
          <p:nvPr/>
        </p:nvSpPr>
        <p:spPr>
          <a:xfrm>
            <a:off x="832104" y="2935224"/>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Import sources, LDAP, SAML, MID Server, and SGC data flows</a:t>
            </a:r>
          </a:p>
        </p:txBody>
      </p:sp>
      <p:sp>
        <p:nvSpPr>
          <p:cNvPr id="18" name="Rectangle 17"/>
          <p:cNvSpPr/>
          <p:nvPr/>
        </p:nvSpPr>
        <p:spPr>
          <a:xfrm>
            <a:off x="4663440" y="1097280"/>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1143000"/>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04</a:t>
            </a:r>
          </a:p>
        </p:txBody>
      </p:sp>
      <p:sp>
        <p:nvSpPr>
          <p:cNvPr id="20" name="TextBox 19"/>
          <p:cNvSpPr txBox="1"/>
          <p:nvPr/>
        </p:nvSpPr>
        <p:spPr>
          <a:xfrm>
            <a:off x="5175504" y="1097280"/>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Key Decisions #1-#7</a:t>
            </a:r>
          </a:p>
        </p:txBody>
      </p:sp>
      <p:sp>
        <p:nvSpPr>
          <p:cNvPr id="21" name="TextBox 20"/>
          <p:cNvSpPr txBox="1"/>
          <p:nvPr/>
        </p:nvSpPr>
        <p:spPr>
          <a:xfrm>
            <a:off x="5175504" y="1344168"/>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AD import scope, SSO provider, SAML config, MID Server sizing, SCCM SGC, Intune SGC, integration governance</a:t>
            </a:r>
          </a:p>
        </p:txBody>
      </p:sp>
      <p:sp>
        <p:nvSpPr>
          <p:cNvPr id="22" name="Rectangle 21"/>
          <p:cNvSpPr/>
          <p:nvPr/>
        </p:nvSpPr>
        <p:spPr>
          <a:xfrm>
            <a:off x="4663440" y="1892807"/>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1938527"/>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05</a:t>
            </a:r>
          </a:p>
        </p:txBody>
      </p:sp>
      <p:sp>
        <p:nvSpPr>
          <p:cNvPr id="24" name="TextBox 23"/>
          <p:cNvSpPr txBox="1"/>
          <p:nvPr/>
        </p:nvSpPr>
        <p:spPr>
          <a:xfrm>
            <a:off x="5175504" y="1892807"/>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Decision Log</a:t>
            </a:r>
          </a:p>
        </p:txBody>
      </p:sp>
      <p:sp>
        <p:nvSpPr>
          <p:cNvPr id="25" name="TextBox 24"/>
          <p:cNvSpPr txBox="1"/>
          <p:nvPr/>
        </p:nvSpPr>
        <p:spPr>
          <a:xfrm>
            <a:off x="5175504" y="2139696"/>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Every decision is recorded before we leave this room</a:t>
            </a:r>
          </a:p>
        </p:txBody>
      </p:sp>
      <p:sp>
        <p:nvSpPr>
          <p:cNvPr id="26" name="Rectangle 25"/>
          <p:cNvSpPr/>
          <p:nvPr/>
        </p:nvSpPr>
        <p:spPr>
          <a:xfrm>
            <a:off x="4663440" y="2688336"/>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2734056"/>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06</a:t>
            </a:r>
          </a:p>
        </p:txBody>
      </p:sp>
      <p:sp>
        <p:nvSpPr>
          <p:cNvPr id="28" name="TextBox 27"/>
          <p:cNvSpPr txBox="1"/>
          <p:nvPr/>
        </p:nvSpPr>
        <p:spPr>
          <a:xfrm>
            <a:off x="5175504" y="2688336"/>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What Comes Next</a:t>
            </a:r>
          </a:p>
        </p:txBody>
      </p:sp>
      <p:sp>
        <p:nvSpPr>
          <p:cNvPr id="29" name="TextBox 28"/>
          <p:cNvSpPr txBox="1"/>
          <p:nvPr/>
        </p:nvSpPr>
        <p:spPr>
          <a:xfrm>
            <a:off x="5175504" y="2935224"/>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MID Server install, AD import config, SSO cert exchange, SCCM/Intune connector activation</a:t>
            </a:r>
          </a:p>
        </p:txBody>
      </p:sp>
      <p:sp>
        <p:nvSpPr>
          <p:cNvPr id="30" name="Rectangle 29"/>
          <p:cNvSpPr/>
          <p:nvPr/>
        </p:nvSpPr>
        <p:spPr>
          <a:xfrm>
            <a:off x="320040" y="3529583"/>
            <a:ext cx="850392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3611879"/>
            <a:ext cx="8229600" cy="347472"/>
          </a:xfrm>
          <a:prstGeom prst="rect">
            <a:avLst/>
          </a:prstGeom>
          <a:noFill/>
        </p:spPr>
        <p:txBody>
          <a:bodyPr wrap="square" lIns="36576" rIns="36576" tIns="18288" bIns="18288">
            <a:spAutoFit/>
          </a:bodyPr>
          <a:lstStyle/>
          <a:p>
            <a:pPr algn="l"/>
            <a:r>
              <a:rPr sz="950" b="1" i="0">
                <a:solidFill>
                  <a:srgbClr val="0B1F3A"/>
                </a:solidFill>
                <a:latin typeface="Calibri"/>
              </a:rPr>
              <a:t>Ground rule: </a:t>
            </a:r>
            <a:r>
              <a:rPr sz="950" b="0" i="0">
                <a:solidFill>
                  <a:srgbClr val="1E293B"/>
                </a:solidFill>
                <a:latin typeface="Calibri"/>
              </a:rPr>
              <a:t>Decisions get made in this room. The OOTB recommendation is pre-populated. Your job is to confirm, adjust with rationale, or defer with a named owner and date.</a:t>
            </a:r>
          </a:p>
        </p:txBody>
      </p:sp>
      <p:sp>
        <p:nvSpPr>
          <p:cNvPr id="32" name="Rectangle 31"/>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34" name="TextBox 33"/>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INTEGRATIONS</a:t>
            </a:r>
          </a:p>
        </p:txBody>
      </p:sp>
      <p:sp>
        <p:nvSpPr>
          <p:cNvPr id="35" name="TextBox 34"/>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T H E  A P P R O A C H</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OOTB-first is not a constraint — it is the AI strategy</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2743200"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033271"/>
            <a:ext cx="2651760" cy="274320"/>
          </a:xfrm>
          <a:prstGeom prst="rect">
            <a:avLst/>
          </a:prstGeom>
          <a:noFill/>
        </p:spPr>
        <p:txBody>
          <a:bodyPr wrap="square" lIns="36576" rIns="36576" tIns="18288" bIns="18288">
            <a:spAutoFit/>
          </a:bodyPr>
          <a:lstStyle/>
          <a:p>
            <a:pPr algn="ctr"/>
            <a:r>
              <a:rPr sz="950" b="1" i="0">
                <a:solidFill>
                  <a:srgbClr val="FFFFFF"/>
                </a:solidFill>
                <a:latin typeface="Calibri"/>
              </a:rPr>
              <a:t>What OOTB-First Means</a:t>
            </a:r>
          </a:p>
        </p:txBody>
      </p:sp>
      <p:sp>
        <p:nvSpPr>
          <p:cNvPr id="8" name="Rectangle 7"/>
          <p:cNvSpPr/>
          <p:nvPr/>
        </p:nvSpPr>
        <p:spPr>
          <a:xfrm>
            <a:off x="320040" y="1335024"/>
            <a:ext cx="2743200" cy="3337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389888"/>
            <a:ext cx="2560320" cy="3200400"/>
          </a:xfrm>
          <a:prstGeom prst="rect">
            <a:avLst/>
          </a:prstGeom>
          <a:noFill/>
        </p:spPr>
        <p:txBody>
          <a:bodyPr wrap="square" lIns="36576" rIns="36576" tIns="18288" bIns="18288">
            <a:spAutoFit/>
          </a:bodyPr>
          <a:lstStyle/>
          <a:p>
            <a:pPr algn="l">
              <a:spcAft>
                <a:spcPts val="400"/>
              </a:spcAft>
            </a:pPr>
            <a:r>
              <a:rPr sz="850" b="0" i="0">
                <a:solidFill>
                  <a:srgbClr val="1E293B"/>
                </a:solidFill>
                <a:latin typeface="Calibri"/>
              </a:rPr>
              <a:t>•  ServiceNow ships with OOTB connectors for Active Directory (LDAP import), SAML-based SSO (any SAML 2.0 IdP), SCCM (Service Graph Connector), and Intune (Service Graph Connector).</a:t>
            </a:r>
          </a:p>
          <a:p>
            <a:pPr algn="l">
              <a:spcAft>
                <a:spcPts val="400"/>
              </a:spcAft>
            </a:pPr>
            <a:r>
              <a:rPr sz="850" b="0" i="0">
                <a:solidFill>
                  <a:srgbClr val="1E293B"/>
                </a:solidFill>
                <a:latin typeface="Calibri"/>
              </a:rPr>
              <a:t>•  No custom code is required for any of these integrations. AD import uses the OOTB LDAP Data Source. SSO uses the OOTB SAML 2.0 Multi-Provider SSO plugin.</a:t>
            </a:r>
          </a:p>
          <a:p>
            <a:pPr algn="l">
              <a:spcAft>
                <a:spcPts val="400"/>
              </a:spcAft>
            </a:pPr>
            <a:r>
              <a:rPr sz="850" b="0" i="0">
                <a:solidFill>
                  <a:srgbClr val="1E293B"/>
                </a:solidFill>
                <a:latin typeface="Calibri"/>
              </a:rPr>
              <a:t>•  The MID Server is an OOTB bridge for on-premise integrations (AD LDAP, SCCM) -- a lightweight Java agent installed on-premise. Configuration is UI-based, not scripted.</a:t>
            </a:r>
          </a:p>
        </p:txBody>
      </p:sp>
      <p:sp>
        <p:nvSpPr>
          <p:cNvPr id="10" name="Rectangle 9"/>
          <p:cNvSpPr/>
          <p:nvPr/>
        </p:nvSpPr>
        <p:spPr>
          <a:xfrm>
            <a:off x="3131820" y="1024128"/>
            <a:ext cx="2743200"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77540" y="1033271"/>
            <a:ext cx="2651760" cy="274320"/>
          </a:xfrm>
          <a:prstGeom prst="rect">
            <a:avLst/>
          </a:prstGeom>
          <a:noFill/>
        </p:spPr>
        <p:txBody>
          <a:bodyPr wrap="square" lIns="36576" rIns="36576" tIns="18288" bIns="18288">
            <a:spAutoFit/>
          </a:bodyPr>
          <a:lstStyle/>
          <a:p>
            <a:pPr algn="ctr"/>
            <a:r>
              <a:rPr sz="950" b="1" i="0">
                <a:solidFill>
                  <a:srgbClr val="FFFFFF"/>
                </a:solidFill>
                <a:latin typeface="Calibri"/>
              </a:rPr>
              <a:t>What We Configure (Not Code)</a:t>
            </a:r>
          </a:p>
        </p:txBody>
      </p:sp>
      <p:sp>
        <p:nvSpPr>
          <p:cNvPr id="12" name="Rectangle 11"/>
          <p:cNvSpPr/>
          <p:nvPr/>
        </p:nvSpPr>
        <p:spPr>
          <a:xfrm>
            <a:off x="3131820" y="1335024"/>
            <a:ext cx="2743200" cy="3337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23260" y="1389888"/>
            <a:ext cx="2560320" cy="3200400"/>
          </a:xfrm>
          <a:prstGeom prst="rect">
            <a:avLst/>
          </a:prstGeom>
          <a:noFill/>
        </p:spPr>
        <p:txBody>
          <a:bodyPr wrap="square" lIns="36576" rIns="36576" tIns="18288" bIns="18288">
            <a:spAutoFit/>
          </a:bodyPr>
          <a:lstStyle/>
          <a:p>
            <a:pPr algn="l">
              <a:spcAft>
                <a:spcPts val="400"/>
              </a:spcAft>
            </a:pPr>
            <a:r>
              <a:rPr sz="850" b="0" i="0">
                <a:solidFill>
                  <a:srgbClr val="1E293B"/>
                </a:solidFill>
                <a:latin typeface="Calibri"/>
              </a:rPr>
              <a:t>•  LDAP Data Source: AD connection, user and group import filters, attribute mapping.</a:t>
            </a:r>
          </a:p>
          <a:p>
            <a:pPr algn="l">
              <a:spcAft>
                <a:spcPts val="400"/>
              </a:spcAft>
            </a:pPr>
            <a:r>
              <a:rPr sz="850" b="0" i="0">
                <a:solidFill>
                  <a:srgbClr val="1E293B"/>
                </a:solidFill>
                <a:latin typeface="Calibri"/>
              </a:rPr>
              <a:t>•  SSO: SAML 2.0 metadata exchange with IdP (Okta, ADFS, Azure AD, Ping).</a:t>
            </a:r>
          </a:p>
          <a:p>
            <a:pPr algn="l">
              <a:spcAft>
                <a:spcPts val="400"/>
              </a:spcAft>
            </a:pPr>
            <a:r>
              <a:rPr sz="850" b="0" i="0">
                <a:solidFill>
                  <a:srgbClr val="1E293B"/>
                </a:solidFill>
                <a:latin typeface="Calibri"/>
              </a:rPr>
              <a:t>•  MID Server: install, validate, assign to integration data sources.</a:t>
            </a:r>
          </a:p>
          <a:p>
            <a:pPr algn="l">
              <a:spcAft>
                <a:spcPts val="400"/>
              </a:spcAft>
            </a:pPr>
            <a:r>
              <a:rPr sz="850" b="0" i="0">
                <a:solidFill>
                  <a:srgbClr val="1E293B"/>
                </a:solidFill>
                <a:latin typeface="Calibri"/>
              </a:rPr>
              <a:t>•  Service Graph Connectors: SCCM and Intune credential config and import schedule.</a:t>
            </a:r>
          </a:p>
        </p:txBody>
      </p:sp>
      <p:sp>
        <p:nvSpPr>
          <p:cNvPr id="14" name="Rectangle 13"/>
          <p:cNvSpPr/>
          <p:nvPr/>
        </p:nvSpPr>
        <p:spPr>
          <a:xfrm>
            <a:off x="5943600" y="1024128"/>
            <a:ext cx="2743200"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89320" y="1033271"/>
            <a:ext cx="2651760" cy="274320"/>
          </a:xfrm>
          <a:prstGeom prst="rect">
            <a:avLst/>
          </a:prstGeom>
          <a:noFill/>
        </p:spPr>
        <p:txBody>
          <a:bodyPr wrap="square" lIns="36576" rIns="36576" tIns="18288" bIns="18288">
            <a:spAutoFit/>
          </a:bodyPr>
          <a:lstStyle/>
          <a:p>
            <a:pPr algn="ctr"/>
            <a:r>
              <a:rPr sz="950" b="1" i="0">
                <a:solidFill>
                  <a:srgbClr val="FFFFFF"/>
                </a:solidFill>
                <a:latin typeface="Calibri"/>
              </a:rPr>
              <a:t>The Delivery Approach</a:t>
            </a:r>
          </a:p>
        </p:txBody>
      </p:sp>
      <p:sp>
        <p:nvSpPr>
          <p:cNvPr id="16" name="Rectangle 15"/>
          <p:cNvSpPr/>
          <p:nvPr/>
        </p:nvSpPr>
        <p:spPr>
          <a:xfrm>
            <a:off x="5943600" y="1335024"/>
            <a:ext cx="2743200" cy="3337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0" y="1389888"/>
            <a:ext cx="2560320" cy="3200400"/>
          </a:xfrm>
          <a:prstGeom prst="rect">
            <a:avLst/>
          </a:prstGeom>
          <a:noFill/>
        </p:spPr>
        <p:txBody>
          <a:bodyPr wrap="square" lIns="36576" rIns="36576" tIns="18288" bIns="18288">
            <a:spAutoFit/>
          </a:bodyPr>
          <a:lstStyle/>
          <a:p>
            <a:pPr algn="l">
              <a:spcAft>
                <a:spcPts val="400"/>
              </a:spcAft>
            </a:pPr>
            <a:r>
              <a:rPr sz="850" b="0" i="0">
                <a:solidFill>
                  <a:srgbClr val="1E293B"/>
                </a:solidFill>
                <a:latin typeface="Calibri"/>
              </a:rPr>
              <a:t>•  Sprint 1 (Platform Foundation): MID Server install, AD import config, SSO activation -- these are dependencies for all other sprints.</a:t>
            </a:r>
          </a:p>
          <a:p>
            <a:pPr algn="l">
              <a:spcAft>
                <a:spcPts val="400"/>
              </a:spcAft>
            </a:pPr>
            <a:r>
              <a:rPr sz="850" b="0" i="0">
                <a:solidFill>
                  <a:srgbClr val="1E293B"/>
                </a:solidFill>
                <a:latin typeface="Calibri"/>
              </a:rPr>
              <a:t>•  Sprint 5 (SGC): SCCM and Intune connectors activated and validated.</a:t>
            </a:r>
          </a:p>
          <a:p>
            <a:pPr algn="l">
              <a:spcAft>
                <a:spcPts val="400"/>
              </a:spcAft>
            </a:pPr>
            <a:r>
              <a:rPr sz="850" b="0" i="0">
                <a:solidFill>
                  <a:srgbClr val="1E293B"/>
                </a:solidFill>
                <a:latin typeface="Calibri"/>
              </a:rPr>
              <a:t>•  All integration configuration is UI-based -- zero scripting.</a:t>
            </a:r>
          </a:p>
        </p:txBody>
      </p:sp>
      <p:sp>
        <p:nvSpPr>
          <p:cNvPr id="18" name="Rectangle 17"/>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20" name="TextBox 19"/>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INTEGRATIONS</a:t>
            </a:r>
          </a:p>
        </p:txBody>
      </p:sp>
      <p:sp>
        <p:nvSpPr>
          <p:cNvPr id="21" name="TextBox 20"/>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T H E  L I N E</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What a customization is — and what it isn’t</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160520" cy="2926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4904" y="1033271"/>
            <a:ext cx="4050791" cy="256032"/>
          </a:xfrm>
          <a:prstGeom prst="rect">
            <a:avLst/>
          </a:prstGeom>
          <a:noFill/>
        </p:spPr>
        <p:txBody>
          <a:bodyPr wrap="square" lIns="36576" rIns="36576" tIns="18288" bIns="18288">
            <a:spAutoFit/>
          </a:bodyPr>
          <a:lstStyle/>
          <a:p>
            <a:pPr algn="ctr"/>
            <a:r>
              <a:rPr sz="850" b="1" i="0">
                <a:solidFill>
                  <a:srgbClr val="FFFFFF"/>
                </a:solidFill>
                <a:latin typeface="Calibri"/>
              </a:rPr>
              <a:t>CONFIGURATION  —  This is always available</a:t>
            </a:r>
          </a:p>
        </p:txBody>
      </p:sp>
      <p:sp>
        <p:nvSpPr>
          <p:cNvPr id="8" name="Rectangle 7"/>
          <p:cNvSpPr/>
          <p:nvPr/>
        </p:nvSpPr>
        <p:spPr>
          <a:xfrm>
            <a:off x="320040" y="1316736"/>
            <a:ext cx="4160520" cy="331012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371600"/>
            <a:ext cx="3977639" cy="3200400"/>
          </a:xfrm>
          <a:prstGeom prst="rect">
            <a:avLst/>
          </a:prstGeom>
          <a:noFill/>
        </p:spPr>
        <p:txBody>
          <a:bodyPr wrap="square" lIns="36576" rIns="36576" tIns="18288" bIns="18288">
            <a:spAutoFit/>
          </a:bodyPr>
          <a:lstStyle/>
          <a:p>
            <a:r>
              <a:rPr lang="en-US" dirty="0" sz="850">
                <a:solidFill>
                  <a:srgbClr val="16A34A"/>
                </a:solidFill>
                <a:latin typeface="Calibri"/>
              </a:rPr>
              <a:t>✓  </a:t>
            </a:r>
            <a:r>
              <a:rPr lang="en-US" dirty="0" sz="850">
                <a:solidFill>
                  <a:srgbClr val="1A1A1A"/>
                </a:solidFill>
                <a:latin typeface="Calibri"/>
              </a:rPr>
              <a:t>LDAP Data Source (AD import)</a:t>
            </a:r>
          </a:p>
          <a:p>
            <a:r>
              <a:rPr lang="en-US" dirty="0" sz="850">
                <a:solidFill>
                  <a:srgbClr val="16A34A"/>
                </a:solidFill>
                <a:latin typeface="Calibri"/>
              </a:rPr>
              <a:t>✓  </a:t>
            </a:r>
            <a:r>
              <a:rPr lang="en-US" dirty="0" sz="850">
                <a:solidFill>
                  <a:srgbClr val="1A1A1A"/>
                </a:solidFill>
                <a:latin typeface="Calibri"/>
              </a:rPr>
              <a:t>user and group attribute mapping</a:t>
            </a:r>
          </a:p>
          <a:p>
            <a:r>
              <a:rPr lang="en-US" dirty="0" sz="850">
                <a:solidFill>
                  <a:srgbClr val="16A34A"/>
                </a:solidFill>
                <a:latin typeface="Calibri"/>
              </a:rPr>
              <a:t>✓  </a:t>
            </a:r>
            <a:r>
              <a:rPr lang="en-US" dirty="0" sz="850">
                <a:solidFill>
                  <a:srgbClr val="1A1A1A"/>
                </a:solidFill>
                <a:latin typeface="Calibri"/>
              </a:rPr>
              <a:t>SAML 2.0 IdP metadata</a:t>
            </a:r>
          </a:p>
          <a:p>
            <a:r>
              <a:rPr lang="en-US" dirty="0" sz="850">
                <a:solidFill>
                  <a:srgbClr val="16A34A"/>
                </a:solidFill>
                <a:latin typeface="Calibri"/>
              </a:rPr>
              <a:t>✓  </a:t>
            </a:r>
            <a:r>
              <a:rPr lang="en-US" dirty="0" sz="850">
                <a:solidFill>
                  <a:srgbClr val="1A1A1A"/>
                </a:solidFill>
                <a:latin typeface="Calibri"/>
              </a:rPr>
              <a:t>MID Server install and validation</a:t>
            </a:r>
          </a:p>
          <a:p>
            <a:r>
              <a:rPr lang="en-US" dirty="0" sz="850">
                <a:solidFill>
                  <a:srgbClr val="16A34A"/>
                </a:solidFill>
                <a:latin typeface="Calibri"/>
              </a:rPr>
              <a:t>✓  </a:t>
            </a:r>
            <a:r>
              <a:rPr lang="en-US" dirty="0" sz="850">
                <a:solidFill>
                  <a:srgbClr val="1A1A1A"/>
                </a:solidFill>
                <a:latin typeface="Calibri"/>
              </a:rPr>
              <a:t>SCCM SGC</a:t>
            </a:r>
          </a:p>
          <a:p>
            <a:r>
              <a:rPr lang="en-US" dirty="0" sz="850">
                <a:solidFill>
                  <a:srgbClr val="16A34A"/>
                </a:solidFill>
                <a:latin typeface="Calibri"/>
              </a:rPr>
              <a:t>✓  </a:t>
            </a:r>
            <a:r>
              <a:rPr lang="en-US" dirty="0" sz="850">
                <a:solidFill>
                  <a:srgbClr val="1A1A1A"/>
                </a:solidFill>
                <a:latin typeface="Calibri"/>
              </a:rPr>
              <a:t>Intune SGC</a:t>
            </a:r>
          </a:p>
          <a:p>
            <a:r>
              <a:rPr lang="en-US" dirty="0" sz="850">
                <a:solidFill>
                  <a:srgbClr val="16A34A"/>
                </a:solidFill>
                <a:latin typeface="Calibri"/>
              </a:rPr>
              <a:t>✓  </a:t>
            </a:r>
            <a:r>
              <a:rPr lang="en-US" dirty="0" sz="850">
                <a:solidFill>
                  <a:srgbClr val="1A1A1A"/>
                </a:solidFill>
                <a:latin typeface="Calibri"/>
              </a:rPr>
              <a:t>import schedule</a:t>
            </a:r>
          </a:p>
        </p:txBody>
      </p:sp>
      <p:sp>
        <p:nvSpPr>
          <p:cNvPr id="10" name="Rectangle 9"/>
          <p:cNvSpPr/>
          <p:nvPr/>
        </p:nvSpPr>
        <p:spPr>
          <a:xfrm>
            <a:off x="4617720" y="1024128"/>
            <a:ext cx="4160520" cy="292608"/>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72583" y="1033271"/>
            <a:ext cx="4050791" cy="256032"/>
          </a:xfrm>
          <a:prstGeom prst="rect">
            <a:avLst/>
          </a:prstGeom>
          <a:noFill/>
        </p:spPr>
        <p:txBody>
          <a:bodyPr wrap="square" lIns="36576" rIns="36576" tIns="18288" bIns="18288">
            <a:spAutoFit/>
          </a:bodyPr>
          <a:lstStyle/>
          <a:p>
            <a:pPr algn="ctr"/>
            <a:r>
              <a:rPr sz="850" b="1" i="0">
                <a:solidFill>
                  <a:srgbClr val="FFFFFF"/>
                </a:solidFill>
                <a:latin typeface="Calibri"/>
              </a:rPr>
              <a:t>CUSTOMIZATION  —  Requires Approval + Business Case</a:t>
            </a:r>
          </a:p>
        </p:txBody>
      </p:sp>
      <p:sp>
        <p:nvSpPr>
          <p:cNvPr id="12" name="Rectangle 11"/>
          <p:cNvSpPr/>
          <p:nvPr/>
        </p:nvSpPr>
        <p:spPr>
          <a:xfrm>
            <a:off x="4617720" y="1316736"/>
            <a:ext cx="4160520" cy="331012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59" y="1371600"/>
            <a:ext cx="3977639" cy="3200400"/>
          </a:xfrm>
          <a:prstGeom prst="rect">
            <a:avLst/>
          </a:prstGeom>
          <a:noFill/>
        </p:spPr>
        <p:txBody>
          <a:bodyPr wrap="square" lIns="36576" rIns="36576" tIns="18288" bIns="18288">
            <a:spAutoFit/>
          </a:bodyPr>
          <a:lstStyle/>
          <a:p>
            <a:r>
              <a:rPr lang="en-US" dirty="0" sz="850">
                <a:solidFill>
                  <a:srgbClr val="B91C1C"/>
                </a:solidFill>
                <a:latin typeface="Calibri"/>
              </a:rPr>
              <a:t>✗  </a:t>
            </a:r>
            <a:r>
              <a:rPr lang="en-US" dirty="0" sz="850">
                <a:solidFill>
                  <a:srgbClr val="1A1A1A"/>
                </a:solidFill>
                <a:latin typeface="Calibri"/>
              </a:rPr>
              <a:t>Custom LDAP scripts replacing OOTB LDAP import</a:t>
            </a:r>
          </a:p>
          <a:p>
            <a:r>
              <a:rPr lang="en-US" dirty="0" sz="850">
                <a:solidFill>
                  <a:srgbClr val="B91C1C"/>
                </a:solidFill>
                <a:latin typeface="Calibri"/>
              </a:rPr>
              <a:t>✗  </a:t>
            </a:r>
            <a:r>
              <a:rPr lang="en-US" dirty="0" sz="850">
                <a:solidFill>
                  <a:srgbClr val="1A1A1A"/>
                </a:solidFill>
                <a:latin typeface="Calibri"/>
              </a:rPr>
              <a:t>custom SSO code outside SAML 2.0 OOTB plugin</a:t>
            </a:r>
          </a:p>
          <a:p>
            <a:r>
              <a:rPr lang="en-US" dirty="0" sz="850">
                <a:solidFill>
                  <a:srgbClr val="B91C1C"/>
                </a:solidFill>
                <a:latin typeface="Calibri"/>
              </a:rPr>
              <a:t>✗  </a:t>
            </a:r>
            <a:r>
              <a:rPr lang="en-US" dirty="0" sz="850">
                <a:solidFill>
                  <a:srgbClr val="1A1A1A"/>
                </a:solidFill>
                <a:latin typeface="Calibri"/>
              </a:rPr>
              <a:t>custom MID Server scripts for data already available via SGC</a:t>
            </a:r>
          </a:p>
        </p:txBody>
      </p:sp>
      <p:sp>
        <p:nvSpPr>
          <p:cNvPr id="14" name="Rectangle 13"/>
          <p:cNvSpPr/>
          <p:nvPr/>
        </p:nvSpPr>
        <p:spPr>
          <a:xfrm>
            <a:off x="320040" y="4645152"/>
            <a:ext cx="8503920" cy="164592"/>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654296"/>
            <a:ext cx="8229600" cy="146304"/>
          </a:xfrm>
          <a:prstGeom prst="rect">
            <a:avLst/>
          </a:prstGeom>
          <a:noFill/>
        </p:spPr>
        <p:txBody>
          <a:bodyPr wrap="square" lIns="36576" rIns="36576" tIns="18288" bIns="18288">
            <a:spAutoFit/>
          </a:bodyPr>
          <a:lstStyle/>
          <a:p>
            <a:pPr algn="l"/>
            <a:r>
              <a:rPr sz="800" b="1" i="0">
                <a:solidFill>
                  <a:srgbClr val="0B1F3A"/>
                </a:solidFill>
                <a:latin typeface="Calibri"/>
              </a:rPr>
              <a:t>The customization bar:  </a:t>
            </a:r>
            <a:r>
              <a:rPr sz="800" b="0" i="0">
                <a:solidFill>
                  <a:srgbClr val="1E293B"/>
                </a:solidFill>
                <a:latin typeface="Calibri"/>
              </a:rPr>
              <a:t>OOTB LDAP import handles 99% of AD sync use cases. Custom LDAP scripts are fragile, break on AD schema changes, and are the most common cause of user sync issues in ServiceNow. OOTB is far more reliable.</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INTEGRATIONS</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T H E  P R O C E S S</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Integration Data Flows: Source to ServiceNow</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MID SERVER INSTALLED</a:t>
            </a:r>
          </a:p>
        </p:txBody>
      </p:sp>
      <p:sp>
        <p:nvSpPr>
          <p:cNvPr id="8" name="Rectangle 7"/>
          <p:cNvSpPr/>
          <p:nvPr/>
        </p:nvSpPr>
        <p:spPr>
          <a:xfrm>
            <a:off x="2020824"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66543"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AD IMPORT CONFIGURED</a:t>
            </a:r>
          </a:p>
        </p:txBody>
      </p:sp>
      <p:sp>
        <p:nvSpPr>
          <p:cNvPr id="10" name="Rectangle 9"/>
          <p:cNvSpPr/>
          <p:nvPr/>
        </p:nvSpPr>
        <p:spPr>
          <a:xfrm>
            <a:off x="3721608"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67328"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SSO CONFIGURED</a:t>
            </a:r>
          </a:p>
        </p:txBody>
      </p:sp>
      <p:sp>
        <p:nvSpPr>
          <p:cNvPr id="12" name="Rectangle 11"/>
          <p:cNvSpPr/>
          <p:nvPr/>
        </p:nvSpPr>
        <p:spPr>
          <a:xfrm>
            <a:off x="5422392"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68112"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SCCM SGC ACTIVATED</a:t>
            </a:r>
          </a:p>
        </p:txBody>
      </p:sp>
      <p:sp>
        <p:nvSpPr>
          <p:cNvPr id="14" name="Rectangle 13"/>
          <p:cNvSpPr/>
          <p:nvPr/>
        </p:nvSpPr>
        <p:spPr>
          <a:xfrm>
            <a:off x="7123176"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68896"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INTUNE SGC ACTIVATED</a:t>
            </a:r>
          </a:p>
        </p:txBody>
      </p:sp>
      <p:sp>
        <p:nvSpPr>
          <p:cNvPr id="16" name="TextBox 15"/>
          <p:cNvSpPr txBox="1"/>
          <p:nvPr/>
        </p:nvSpPr>
        <p:spPr>
          <a:xfrm>
            <a:off x="4297680" y="1444752"/>
            <a:ext cx="457200" cy="201168"/>
          </a:xfrm>
          <a:prstGeom prst="rect">
            <a:avLst/>
          </a:prstGeom>
          <a:noFill/>
        </p:spPr>
        <p:txBody>
          <a:bodyPr wrap="square" lIns="36576" rIns="36576" tIns="18288" bIns="18288">
            <a:spAutoFit/>
          </a:bodyPr>
          <a:lstStyle/>
          <a:p>
            <a:pPr algn="ctr"/>
            <a:r>
              <a:rPr sz="1400" b="1" i="0">
                <a:solidFill>
                  <a:srgbClr val="14B8A6"/>
                </a:solidFill>
                <a:latin typeface="Calibri"/>
              </a:rPr>
              <a:t>↓</a:t>
            </a:r>
          </a:p>
        </p:txBody>
      </p:sp>
      <p:sp>
        <p:nvSpPr>
          <p:cNvPr id="17" name="Rectangle 16"/>
          <p:cNvSpPr/>
          <p:nvPr/>
        </p:nvSpPr>
        <p:spPr>
          <a:xfrm>
            <a:off x="320040" y="1664208"/>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1719072"/>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MID Server Installed: MID Server installed on on-premise Windows server. Validated in ServiceNow: status shows "Up". Assigned to data sources (AD LDAP, SCCM). Firewall rules: port 443 outbound to ServiceNow, port 389/636 inbound from AD.</a:t>
            </a:r>
          </a:p>
        </p:txBody>
      </p:sp>
      <p:sp>
        <p:nvSpPr>
          <p:cNvPr id="19" name="TextBox 18"/>
          <p:cNvSpPr txBox="1"/>
          <p:nvPr/>
        </p:nvSpPr>
        <p:spPr>
          <a:xfrm>
            <a:off x="4297680" y="2002536"/>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0" name="Rectangle 19"/>
          <p:cNvSpPr/>
          <p:nvPr/>
        </p:nvSpPr>
        <p:spPr>
          <a:xfrm>
            <a:off x="320040" y="2185416"/>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 y="2240280"/>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AD Import Configured: LDAP Data Source configured: AD connection string, service account, import filter (OU scope, enabled users only). Scheduled import: every 4 hours (OOTB default). User record fields mapped to sys_user attributes.</a:t>
            </a:r>
          </a:p>
        </p:txBody>
      </p:sp>
      <p:sp>
        <p:nvSpPr>
          <p:cNvPr id="22" name="TextBox 21"/>
          <p:cNvSpPr txBox="1"/>
          <p:nvPr/>
        </p:nvSpPr>
        <p:spPr>
          <a:xfrm>
            <a:off x="4297680" y="2523744"/>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3" name="Rectangle 22"/>
          <p:cNvSpPr/>
          <p:nvPr/>
        </p:nvSpPr>
        <p:spPr>
          <a:xfrm>
            <a:off x="320040" y="2706624"/>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4048" y="2761488"/>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SSO Configured: SAML 2.0 plugin activated. IdP metadata XML uploaded. ServiceNow SP metadata provided to IdP team. Certificate exchange completed. Test login validated before go-live.</a:t>
            </a:r>
          </a:p>
        </p:txBody>
      </p:sp>
      <p:sp>
        <p:nvSpPr>
          <p:cNvPr id="25" name="TextBox 24"/>
          <p:cNvSpPr txBox="1"/>
          <p:nvPr/>
        </p:nvSpPr>
        <p:spPr>
          <a:xfrm>
            <a:off x="4297680" y="3044952"/>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6" name="Rectangle 25"/>
          <p:cNvSpPr/>
          <p:nvPr/>
        </p:nvSpPr>
        <p:spPr>
          <a:xfrm>
            <a:off x="320040" y="3227832"/>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 y="3282696"/>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SCCM SGC Activated: SCCM Service Graph Connector installed. MID Server assigned. SCCM service account credentials configured. Import scope (device collection) selected. First import run and CI records validated.</a:t>
            </a:r>
          </a:p>
        </p:txBody>
      </p:sp>
      <p:sp>
        <p:nvSpPr>
          <p:cNvPr id="28" name="TextBox 27"/>
          <p:cNvSpPr txBox="1"/>
          <p:nvPr/>
        </p:nvSpPr>
        <p:spPr>
          <a:xfrm>
            <a:off x="4297680" y="3566160"/>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9" name="Rectangle 28"/>
          <p:cNvSpPr/>
          <p:nvPr/>
        </p:nvSpPr>
        <p:spPr>
          <a:xfrm>
            <a:off x="320040" y="3749039"/>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3803903"/>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Intune SGC Activated: Intune SGC installed. Azure AD app registration created (by cloud team). Client ID and secret configured in ServiceNow. First import run. CI records validated against SCCM overlap.</a:t>
            </a:r>
          </a:p>
        </p:txBody>
      </p:sp>
      <p:sp>
        <p:nvSpPr>
          <p:cNvPr id="31" name="TextBox 30"/>
          <p:cNvSpPr txBox="1"/>
          <p:nvPr/>
        </p:nvSpPr>
        <p:spPr>
          <a:xfrm>
            <a:off x="4297680" y="4087368"/>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32" name="TextBox 31"/>
          <p:cNvSpPr txBox="1"/>
          <p:nvPr/>
        </p:nvSpPr>
        <p:spPr>
          <a:xfrm>
            <a:off x="320040" y="4315968"/>
            <a:ext cx="8503920" cy="457200"/>
          </a:xfrm>
          <a:prstGeom prst="rect">
            <a:avLst/>
          </a:prstGeom>
          <a:noFill/>
        </p:spPr>
        <p:txBody>
          <a:bodyPr wrap="square" lIns="36576" rIns="36576" tIns="18288" bIns="18288">
            <a:spAutoFit/>
          </a:bodyPr>
          <a:lstStyle/>
          <a:p>
            <a:pPr algn="l"/>
            <a:r>
              <a:rPr sz="850" b="1" i="0">
                <a:solidFill>
                  <a:srgbClr val="0D9488"/>
                </a:solidFill>
                <a:latin typeface="Calibri"/>
              </a:rPr>
              <a:t>AI Features Active at Go-Live:  </a:t>
            </a:r>
            <a:r>
              <a:rPr sz="850" b="0" i="0">
                <a:solidFill>
                  <a:srgbClr val="1E293B"/>
                </a:solidFill>
                <a:latin typeface="Calibri"/>
              </a:rPr>
              <a:t>Predictive Intelligence and Now Assist both rely on clean user data from AD import. Stale or partial AD sync is the most common root cause of AI feature failures (wrong assignees, missing user context).</a:t>
            </a:r>
          </a:p>
        </p:txBody>
      </p:sp>
      <p:sp>
        <p:nvSpPr>
          <p:cNvPr id="33" name="Rectangle 32"/>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35" name="TextBox 34"/>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INTEGRATIONS</a:t>
            </a:r>
          </a:p>
        </p:txBody>
      </p:sp>
      <p:sp>
        <p:nvSpPr>
          <p:cNvPr id="36" name="TextBox 35"/>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1</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is the scope of the Active Directory import?</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AD Import Scope Options:</a:t>
            </a:r>
          </a:p>
          <a:p>
            <a:pPr algn="l">
              <a:spcAft>
                <a:spcPts val="200"/>
              </a:spcAft>
            </a:pPr>
            <a:r>
              <a:rPr sz="850" b="0" i="0">
                <a:solidFill>
                  <a:srgbClr val="1E293B"/>
                </a:solidFill>
                <a:latin typeface="Calibri"/>
              </a:rPr>
              <a:t>Full directory import: all enabled users. OU-scoped import: specific organizational units only. Group-based import: members of specific AD groups. Service accounts excluded by filter. OOTB import handles all scope options via LDAP filter -- no scripting.</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Should the import include all agency staff or only IT staff initially?</a:t>
            </a:r>
          </a:p>
          <a:p>
            <a:pPr algn="l">
              <a:spcAft>
                <a:spcPts val="300"/>
              </a:spcAft>
            </a:pPr>
            <a:r>
              <a:rPr sz="850" b="0" i="0">
                <a:solidFill>
                  <a:srgbClr val="1E293B"/>
                </a:solidFill>
                <a:latin typeface="Calibri"/>
              </a:rPr>
              <a:t>2.  Are there OUs that should be excluded (contractors, shared accounts, service accounts)?</a:t>
            </a:r>
          </a:p>
          <a:p>
            <a:pPr algn="l">
              <a:spcAft>
                <a:spcPts val="300"/>
              </a:spcAft>
            </a:pPr>
            <a:r>
              <a:rPr sz="850" b="0" i="0">
                <a:solidFill>
                  <a:srgbClr val="1E293B"/>
                </a:solidFill>
                <a:latin typeface="Calibri"/>
              </a:rPr>
              <a:t>3.  Should AD groups import as ServiceNow groups (assignment groups)?</a:t>
            </a:r>
          </a:p>
          <a:p>
            <a:pPr algn="l">
              <a:spcAft>
                <a:spcPts val="300"/>
              </a:spcAft>
            </a:pPr>
            <a:r>
              <a:rPr sz="850" b="0" i="0">
                <a:solidFill>
                  <a:srgbClr val="1E293B"/>
                </a:solidFill>
                <a:latin typeface="Calibri"/>
              </a:rPr>
              <a:t>4.  What is the expected user count in scope?</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Over-importing AD creates noise in the user table and in assignment group lists. Import only the OUs and users that will be ServiceNow users (agents + end users) in scope for this engagement.</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INTEGRATIONS</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2</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attributes will map from AD to ServiceNow user fields?</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Attribute Mapping:</a:t>
            </a:r>
          </a:p>
          <a:p>
            <a:pPr algn="l">
              <a:spcAft>
                <a:spcPts val="200"/>
              </a:spcAft>
            </a:pPr>
            <a:r>
              <a:rPr sz="850" b="0" i="0">
                <a:solidFill>
                  <a:srgbClr val="1E293B"/>
                </a:solidFill>
                <a:latin typeface="Calibri"/>
              </a:rPr>
              <a:t>Standard AD-to-ServiceNow mapping: sAMAccountName &gt; user_name, mail &gt; email, displayName &gt; name, department &gt; department, telephoneNumber &gt; phone, manager &gt; manager (reference). OOTB mapping handles all standard AD schema attributes. Custom attribute mapping is configuration -- no scripting.</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Are department and manager fields populated in AD (required for approval workflows)?</a:t>
            </a:r>
          </a:p>
          <a:p>
            <a:pPr algn="l">
              <a:spcAft>
                <a:spcPts val="300"/>
              </a:spcAft>
            </a:pPr>
            <a:r>
              <a:rPr sz="850" b="0" i="0">
                <a:solidFill>
                  <a:srgbClr val="1E293B"/>
                </a:solidFill>
                <a:latin typeface="Calibri"/>
              </a:rPr>
              <a:t>2.  Is the phone number field used for notification routing?</a:t>
            </a:r>
          </a:p>
          <a:p>
            <a:pPr algn="l">
              <a:spcAft>
                <a:spcPts val="300"/>
              </a:spcAft>
            </a:pPr>
            <a:r>
              <a:rPr sz="850" b="0" i="0">
                <a:solidFill>
                  <a:srgbClr val="1E293B"/>
                </a:solidFill>
                <a:latin typeface="Calibri"/>
              </a:rPr>
              <a:t>3.  Are there custom AD attributes that should map to ServiceNow fields?</a:t>
            </a:r>
          </a:p>
          <a:p>
            <a:pPr algn="l">
              <a:spcAft>
                <a:spcPts val="300"/>
              </a:spcAft>
            </a:pPr>
            <a:r>
              <a:rPr sz="850" b="0" i="0">
                <a:solidFill>
                  <a:srgbClr val="1E293B"/>
                </a:solidFill>
                <a:latin typeface="Calibri"/>
              </a:rPr>
              <a:t>4.  Should the cost center field be populated from AD or from HR data?</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Manager mapping is required for approval workflows (change, request). If manager is not populated in AD, approval workflows will fail silently on day one. Validate manager field completeness in AD before Sprint 1.</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INTEGRATIONS</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3</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is the SSO provider -- and who manages IdP configuration?</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SSO Support:</a:t>
            </a:r>
          </a:p>
          <a:p>
            <a:pPr algn="l">
              <a:spcAft>
                <a:spcPts val="200"/>
              </a:spcAft>
            </a:pPr>
            <a:r>
              <a:rPr sz="850" b="0" i="0">
                <a:solidFill>
                  <a:srgbClr val="1E293B"/>
                </a:solidFill>
                <a:latin typeface="Calibri"/>
              </a:rPr>
              <a:t>ServiceNow SAML 2.0 plugin supports any SAML 2.0 compliant IdP: Azure AD (Entra), ADFS, Okta, Ping Identity, CyberArk, and others. Configuration: upload IdP metadata XML, configure attribute mapping (NameID to user_name), download ServiceNow SP metadata for IdP team.</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What is the agency IdP (Azure AD, ADFS, Okta, Ping, other)?</a:t>
            </a:r>
          </a:p>
          <a:p>
            <a:pPr algn="l">
              <a:spcAft>
                <a:spcPts val="300"/>
              </a:spcAft>
            </a:pPr>
            <a:r>
              <a:rPr sz="850" b="0" i="0">
                <a:solidFill>
                  <a:srgbClr val="1E293B"/>
                </a:solidFill>
                <a:latin typeface="Calibri"/>
              </a:rPr>
              <a:t>2.  Who is the IdP admin contact -- they will need to create a ServiceNow application in the IdP?</a:t>
            </a:r>
          </a:p>
          <a:p>
            <a:pPr algn="l">
              <a:spcAft>
                <a:spcPts val="300"/>
              </a:spcAft>
            </a:pPr>
            <a:r>
              <a:rPr sz="850" b="0" i="0">
                <a:solidFill>
                  <a:srgbClr val="1E293B"/>
                </a:solidFill>
                <a:latin typeface="Calibri"/>
              </a:rPr>
              <a:t>3.  Is MFA required for ServiceNow access (enforced at IdP)?</a:t>
            </a:r>
          </a:p>
          <a:p>
            <a:pPr algn="l">
              <a:spcAft>
                <a:spcPts val="300"/>
              </a:spcAft>
            </a:pPr>
            <a:r>
              <a:rPr sz="850" b="0" i="0">
                <a:solidFill>
                  <a:srgbClr val="1E293B"/>
                </a:solidFill>
                <a:latin typeface="Calibri"/>
              </a:rPr>
              <a:t>4.  Should SSO be the only login method, or should local accounts be allowed for break-glass scenarios?</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SSO configuration requires the IdP admin and the ServiceNow admin to coordinate -- it is a two-team operation. Confirm the IdP admin contact before Sprint 1. SSO delay is the most common reason Platform Foundation sprints slip.</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INTEGRATIONS</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4</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are the MID Server sizing and placement requirements?</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MID Server Requirements:</a:t>
            </a:r>
          </a:p>
          <a:p>
            <a:pPr algn="l">
              <a:spcAft>
                <a:spcPts val="200"/>
              </a:spcAft>
            </a:pPr>
            <a:r>
              <a:rPr sz="850" b="0" i="0">
                <a:solidFill>
                  <a:srgbClr val="1E293B"/>
                </a:solidFill>
                <a:latin typeface="Calibri"/>
              </a:rPr>
              <a:t>MID Server: Windows Server 2016+ or RHEL 7+ (Java 11 included). Minimum: 2 vCPU, 8 GB RAM for standard integrations. High-volume (SCCM large environment): 4 vCPU, 16 GB RAM. Placement: on-premise network with access to AD (port 389/636), SCCM (WMI, port 1433), and outbound 443 to ServiceNow.</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Has a MID Server host been provisioned (or is there a VM ready to be provisioned)?</a:t>
            </a:r>
          </a:p>
          <a:p>
            <a:pPr algn="l">
              <a:spcAft>
                <a:spcPts val="300"/>
              </a:spcAft>
            </a:pPr>
            <a:r>
              <a:rPr sz="850" b="0" i="0">
                <a:solidFill>
                  <a:srgbClr val="1E293B"/>
                </a:solidFill>
                <a:latin typeface="Calibri"/>
              </a:rPr>
              <a:t>2.  Is the proposed host on a network segment with access to AD and SCCM?</a:t>
            </a:r>
          </a:p>
          <a:p>
            <a:pPr algn="l">
              <a:spcAft>
                <a:spcPts val="300"/>
              </a:spcAft>
            </a:pPr>
            <a:r>
              <a:rPr sz="850" b="0" i="0">
                <a:solidFill>
                  <a:srgbClr val="1E293B"/>
                </a:solidFill>
                <a:latin typeface="Calibri"/>
              </a:rPr>
              <a:t>3.  Are the required firewall rules (443 outbound to ServiceNow, 389/636 to AD) approved?</a:t>
            </a:r>
          </a:p>
          <a:p>
            <a:pPr algn="l">
              <a:spcAft>
                <a:spcPts val="300"/>
              </a:spcAft>
            </a:pPr>
            <a:r>
              <a:rPr sz="850" b="0" i="0">
                <a:solidFill>
                  <a:srgbClr val="1E293B"/>
                </a:solidFill>
                <a:latin typeface="Calibri"/>
              </a:rPr>
              <a:t>4.  Is there more than one MID Server needed (e.g., DMZ vs. internal network)?</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MID Server provisioning is a dependency for AD import and SCCM SGC. If the VM is not ready by Sprint 1 kick-off, the entire Platform Foundation sprint is at risk. Confirm VM readiness before Sprint 1 starts.</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INTEGRATIONS</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5</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How will the SCCM SGC be configured -- and what is the service account requirement?</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SCCM SGC Config:</a:t>
            </a:r>
          </a:p>
          <a:p>
            <a:pPr algn="l">
              <a:spcAft>
                <a:spcPts val="200"/>
              </a:spcAft>
            </a:pPr>
            <a:r>
              <a:rPr sz="850" b="0" i="0">
                <a:solidFill>
                  <a:srgbClr val="1E293B"/>
                </a:solidFill>
                <a:latin typeface="Calibri"/>
              </a:rPr>
              <a:t>SCCM SGC requires: a MID Server on the same network as SCCM, a service account with SCCM read-only access (SMS_SITE_READ_ONLY role), and the SCCM server hostname/IP. Import scope: device collection (All Workstations + Servers recommended). Scheduled import: every 4 hours.</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Is SCCM still the primary endpoint management tool (or is it being replaced by Intune)?</a:t>
            </a:r>
          </a:p>
          <a:p>
            <a:pPr algn="l">
              <a:spcAft>
                <a:spcPts val="300"/>
              </a:spcAft>
            </a:pPr>
            <a:r>
              <a:rPr sz="850" b="0" i="0">
                <a:solidFill>
                  <a:srgbClr val="1E293B"/>
                </a:solidFill>
                <a:latin typeface="Calibri"/>
              </a:rPr>
              <a:t>2.  Has an SCCM service account been provisioned (or approved for provisioning)?</a:t>
            </a:r>
          </a:p>
          <a:p>
            <a:pPr algn="l">
              <a:spcAft>
                <a:spcPts val="300"/>
              </a:spcAft>
            </a:pPr>
            <a:r>
              <a:rPr sz="850" b="0" i="0">
                <a:solidFill>
                  <a:srgbClr val="1E293B"/>
                </a:solidFill>
                <a:latin typeface="Calibri"/>
              </a:rPr>
              <a:t>3.  What device collections should be in scope for the SCCM import?</a:t>
            </a:r>
          </a:p>
          <a:p>
            <a:pPr algn="l">
              <a:spcAft>
                <a:spcPts val="300"/>
              </a:spcAft>
            </a:pPr>
            <a:r>
              <a:rPr sz="850" b="0" i="0">
                <a:solidFill>
                  <a:srgbClr val="1E293B"/>
                </a:solidFill>
                <a:latin typeface="Calibri"/>
              </a:rPr>
              <a:t>4.  Is SCCM software inventory in scope for SAM (required for software reconciliation)?</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SCCM service account provisioning requires Active Directory team involvement. Start the provisioning request in the sprint before SCCM SGC activation -- service account requests can take 1-2 weeks in federal environments.</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INTEGRATIONS</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6</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How will the Intune SGC be configured -- and who provisions the Azure AD app?</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Intune SGC Config:</a:t>
            </a:r>
          </a:p>
          <a:p>
            <a:pPr algn="l">
              <a:spcAft>
                <a:spcPts val="200"/>
              </a:spcAft>
            </a:pPr>
            <a:r>
              <a:rPr sz="850" b="0" i="0">
                <a:solidFill>
                  <a:srgbClr val="1E293B"/>
                </a:solidFill>
                <a:latin typeface="Calibri"/>
              </a:rPr>
              <a:t>Intune SGC requires: Azure AD app registration with Microsoft Graph API permissions (DeviceManagementManagedDevices.Read.All, DeviceManagementApps.Read.All). Client ID and secret (or certificate) configured in ServiceNow. No MID Server required -- cloud connector.</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Is Intune MDM active for Windows, iOS, Android, or all platforms?</a:t>
            </a:r>
          </a:p>
          <a:p>
            <a:pPr algn="l">
              <a:spcAft>
                <a:spcPts val="300"/>
              </a:spcAft>
            </a:pPr>
            <a:r>
              <a:rPr sz="850" b="0" i="0">
                <a:solidFill>
                  <a:srgbClr val="1E293B"/>
                </a:solidFill>
                <a:latin typeface="Calibri"/>
              </a:rPr>
              <a:t>2.  Who is the Azure AD admin who can create an app registration?</a:t>
            </a:r>
          </a:p>
          <a:p>
            <a:pPr algn="l">
              <a:spcAft>
                <a:spcPts val="300"/>
              </a:spcAft>
            </a:pPr>
            <a:r>
              <a:rPr sz="850" b="0" i="0">
                <a:solidFill>
                  <a:srgbClr val="1E293B"/>
                </a:solidFill>
                <a:latin typeface="Calibri"/>
              </a:rPr>
              <a:t>3.  Is there a cloud security review required before granting Graph API permissions to ServiceNow?</a:t>
            </a:r>
          </a:p>
          <a:p>
            <a:pPr algn="l">
              <a:spcAft>
                <a:spcPts val="300"/>
              </a:spcAft>
            </a:pPr>
            <a:r>
              <a:rPr sz="850" b="0" i="0">
                <a:solidFill>
                  <a:srgbClr val="1E293B"/>
                </a:solidFill>
                <a:latin typeface="Calibri"/>
              </a:rPr>
              <a:t>4.  Should Intune SGC import run for all enrolled devices or a scoped device group?</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Azure AD app registration requires the cloud team, not IT. Start the access request process as soon as Intune SGC is confirmed in scope. Cloud team lead time in federal environments is typically 2-4 weeks.</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INTEGRATIONS</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7</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How will integration health be monitored post-go-live?</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Integration Health:</a:t>
            </a:r>
          </a:p>
          <a:p>
            <a:pPr algn="l">
              <a:spcAft>
                <a:spcPts val="200"/>
              </a:spcAft>
            </a:pPr>
            <a:r>
              <a:rPr sz="850" b="0" i="0">
                <a:solidFill>
                  <a:srgbClr val="1E293B"/>
                </a:solidFill>
                <a:latin typeface="Calibri"/>
              </a:rPr>
              <a:t>MID Server status dashboard in ServiceNow: up/down, last heartbeat, active jobs. LDAP import logs: success/failure count per import run. SGC import logs: records processed, errors, CI records created/updated. PA can track import volume trends over time.</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Who is the integration owner responsible for monitoring import health?</a:t>
            </a:r>
          </a:p>
          <a:p>
            <a:pPr algn="l">
              <a:spcAft>
                <a:spcPts val="300"/>
              </a:spcAft>
            </a:pPr>
            <a:r>
              <a:rPr sz="850" b="0" i="0">
                <a:solidFill>
                  <a:srgbClr val="1E293B"/>
                </a:solidFill>
                <a:latin typeface="Calibri"/>
              </a:rPr>
              <a:t>2.  What is the SLA for resolving a failed AD import (users not synced within X hours)?</a:t>
            </a:r>
          </a:p>
          <a:p>
            <a:pPr algn="l">
              <a:spcAft>
                <a:spcPts val="300"/>
              </a:spcAft>
            </a:pPr>
            <a:r>
              <a:rPr sz="850" b="0" i="0">
                <a:solidFill>
                  <a:srgbClr val="1E293B"/>
                </a:solidFill>
                <a:latin typeface="Calibri"/>
              </a:rPr>
              <a:t>3.  Should integration failures trigger an incident in ServiceNow automatically?</a:t>
            </a:r>
          </a:p>
          <a:p>
            <a:pPr algn="l">
              <a:spcAft>
                <a:spcPts val="300"/>
              </a:spcAft>
            </a:pPr>
            <a:r>
              <a:rPr sz="850" b="0" i="0">
                <a:solidFill>
                  <a:srgbClr val="1E293B"/>
                </a:solidFill>
                <a:latin typeface="Calibri"/>
              </a:rPr>
              <a:t>4.  Is there a monitoring dashboard requirement for all integrations on a single view?</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Integration failures that go unnoticed for days create cascading issues: stale user data, broken approval workflows, and CI drift. Assign an integration health owner and set up a simple daily import status check from day one.</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INTEGRATIONS</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292608" y="1572768"/>
            <a:ext cx="64008" cy="16459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1572768"/>
            <a:ext cx="6858000" cy="804672"/>
          </a:xfrm>
          <a:prstGeom prst="rect">
            <a:avLst/>
          </a:prstGeom>
          <a:noFill/>
        </p:spPr>
        <p:txBody>
          <a:bodyPr wrap="square" lIns="36576" rIns="36576" tIns="18288" bIns="18288">
            <a:spAutoFit/>
          </a:bodyPr>
          <a:lstStyle/>
          <a:p>
            <a:pPr algn="l"/>
            <a:r>
              <a:rPr sz="4400" b="1" i="0">
                <a:solidFill>
                  <a:srgbClr val="FFFFFF"/>
                </a:solidFill>
                <a:latin typeface="Calibri"/>
              </a:rPr>
              <a:t>Decision Log</a:t>
            </a:r>
          </a:p>
        </p:txBody>
      </p:sp>
      <p:sp>
        <p:nvSpPr>
          <p:cNvPr id="4" name="TextBox 3"/>
          <p:cNvSpPr txBox="1"/>
          <p:nvPr/>
        </p:nvSpPr>
        <p:spPr>
          <a:xfrm>
            <a:off x="475488" y="2377440"/>
            <a:ext cx="7315200" cy="347472"/>
          </a:xfrm>
          <a:prstGeom prst="rect">
            <a:avLst/>
          </a:prstGeom>
          <a:noFill/>
        </p:spPr>
        <p:txBody>
          <a:bodyPr wrap="square" lIns="36576" rIns="36576" tIns="18288" bIns="18288">
            <a:spAutoFit/>
          </a:bodyPr>
          <a:lstStyle/>
          <a:p>
            <a:pPr algn="l"/>
            <a:r>
              <a:rPr sz="1600" b="1" i="0">
                <a:solidFill>
                  <a:srgbClr val="14B8A6"/>
                </a:solidFill>
                <a:latin typeface="Calibri"/>
              </a:rPr>
              <a:t>Every decision on the next page is an action.</a:t>
            </a:r>
          </a:p>
        </p:txBody>
      </p:sp>
      <p:sp>
        <p:nvSpPr>
          <p:cNvPr id="5" name="TextBox 4"/>
          <p:cNvSpPr txBox="1"/>
          <p:nvPr/>
        </p:nvSpPr>
        <p:spPr>
          <a:xfrm>
            <a:off x="475488" y="2706624"/>
            <a:ext cx="7315200" cy="347472"/>
          </a:xfrm>
          <a:prstGeom prst="rect">
            <a:avLst/>
          </a:prstGeom>
          <a:noFill/>
        </p:spPr>
        <p:txBody>
          <a:bodyPr wrap="square" lIns="36576" rIns="36576" tIns="18288" bIns="18288">
            <a:spAutoFit/>
          </a:bodyPr>
          <a:lstStyle/>
          <a:p>
            <a:pPr algn="l"/>
            <a:r>
              <a:rPr sz="1600" b="1" i="0">
                <a:solidFill>
                  <a:srgbClr val="14B8A6"/>
                </a:solidFill>
                <a:latin typeface="Calibri"/>
              </a:rPr>
              <a:t>Decisions left blank leave this room with a named owner and a date.</a:t>
            </a:r>
          </a:p>
        </p:txBody>
      </p:sp>
      <p:sp>
        <p:nvSpPr>
          <p:cNvPr id="6" name="TextBox 5"/>
          <p:cNvSpPr txBox="1"/>
          <p:nvPr/>
        </p:nvSpPr>
        <p:spPr>
          <a:xfrm>
            <a:off x="475488" y="3200400"/>
            <a:ext cx="7315200" cy="347472"/>
          </a:xfrm>
          <a:prstGeom prst="rect">
            <a:avLst/>
          </a:prstGeom>
          <a:noFill/>
        </p:spPr>
        <p:txBody>
          <a:bodyPr wrap="square" lIns="36576" rIns="36576" tIns="18288" bIns="18288">
            <a:spAutoFit/>
          </a:bodyPr>
          <a:lstStyle/>
          <a:p>
            <a:pPr algn="l"/>
            <a:r>
              <a:rPr sz="1200" b="0" i="1">
                <a:solidFill>
                  <a:srgbClr val="FFFFFF"/>
                </a:solidFill>
                <a:latin typeface="Calibri"/>
              </a:rPr>
              <a:t>Before we close: no decision is unresolved — it is either made, or owned.</a:t>
            </a:r>
          </a:p>
        </p:txBody>
      </p:sp>
      <p:pic>
        <p:nvPicPr>
          <p:cNvPr id="7" name="Picture 6"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8" name="Rectangle 7"/>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0" name="TextBox 9"/>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INTEGRATIONS</a:t>
            </a:r>
          </a:p>
        </p:txBody>
      </p:sp>
      <p:sp>
        <p:nvSpPr>
          <p:cNvPr id="11" name="TextBox 10"/>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D E C I S I O N  L O G</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000" b="1" i="0">
                <a:solidFill>
                  <a:srgbClr val="0B1F3A"/>
                </a:solidFill>
                <a:latin typeface="Calibri"/>
              </a:rPr>
              <a:t>Integrations: AD, SSO, SCCM &amp; Intune — Decisions Made in This Workshop</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42415"/>
            <a:ext cx="292608"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078992"/>
            <a:ext cx="201168" cy="201168"/>
          </a:xfrm>
          <a:prstGeom prst="rect">
            <a:avLst/>
          </a:prstGeom>
          <a:noFill/>
        </p:spPr>
        <p:txBody>
          <a:bodyPr wrap="square" lIns="36576" rIns="36576" tIns="18288" bIns="18288">
            <a:spAutoFit/>
          </a:bodyPr>
          <a:lstStyle/>
          <a:p>
            <a:pPr algn="l"/>
            <a:r>
              <a:rPr sz="850" b="1" i="0">
                <a:solidFill>
                  <a:srgbClr val="FFFFFF"/>
                </a:solidFill>
                <a:latin typeface="Calibri"/>
              </a:rPr>
              <a:t>#</a:t>
            </a:r>
          </a:p>
        </p:txBody>
      </p:sp>
      <p:sp>
        <p:nvSpPr>
          <p:cNvPr id="8" name="Rectangle 7"/>
          <p:cNvSpPr/>
          <p:nvPr/>
        </p:nvSpPr>
        <p:spPr>
          <a:xfrm>
            <a:off x="612647" y="1042415"/>
            <a:ext cx="173736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078992"/>
            <a:ext cx="1645919" cy="201168"/>
          </a:xfrm>
          <a:prstGeom prst="rect">
            <a:avLst/>
          </a:prstGeom>
          <a:noFill/>
        </p:spPr>
        <p:txBody>
          <a:bodyPr wrap="square" lIns="36576" rIns="36576" tIns="18288" bIns="18288">
            <a:spAutoFit/>
          </a:bodyPr>
          <a:lstStyle/>
          <a:p>
            <a:pPr algn="l"/>
            <a:r>
              <a:rPr sz="850" b="1" i="0">
                <a:solidFill>
                  <a:srgbClr val="FFFFFF"/>
                </a:solidFill>
                <a:latin typeface="Calibri"/>
              </a:rPr>
              <a:t>Decision Topic</a:t>
            </a:r>
          </a:p>
        </p:txBody>
      </p:sp>
      <p:sp>
        <p:nvSpPr>
          <p:cNvPr id="10" name="Rectangle 9"/>
          <p:cNvSpPr/>
          <p:nvPr/>
        </p:nvSpPr>
        <p:spPr>
          <a:xfrm>
            <a:off x="2350008" y="1042415"/>
            <a:ext cx="393192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95727" y="1078992"/>
            <a:ext cx="3840480" cy="201168"/>
          </a:xfrm>
          <a:prstGeom prst="rect">
            <a:avLst/>
          </a:prstGeom>
          <a:noFill/>
        </p:spPr>
        <p:txBody>
          <a:bodyPr wrap="square" lIns="36576" rIns="36576" tIns="18288" bIns="18288">
            <a:spAutoFit/>
          </a:bodyPr>
          <a:lstStyle/>
          <a:p>
            <a:pPr algn="l"/>
            <a:r>
              <a:rPr sz="850" b="1" i="0">
                <a:solidFill>
                  <a:srgbClr val="FFFFFF"/>
                </a:solidFill>
                <a:latin typeface="Calibri"/>
              </a:rPr>
              <a:t>Scope</a:t>
            </a:r>
          </a:p>
        </p:txBody>
      </p:sp>
      <p:sp>
        <p:nvSpPr>
          <p:cNvPr id="12" name="Rectangle 11"/>
          <p:cNvSpPr/>
          <p:nvPr/>
        </p:nvSpPr>
        <p:spPr>
          <a:xfrm>
            <a:off x="6281927" y="1042415"/>
            <a:ext cx="150876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7647" y="1078992"/>
            <a:ext cx="1417319" cy="201168"/>
          </a:xfrm>
          <a:prstGeom prst="rect">
            <a:avLst/>
          </a:prstGeom>
          <a:noFill/>
        </p:spPr>
        <p:txBody>
          <a:bodyPr wrap="square" lIns="36576" rIns="36576" tIns="18288" bIns="18288">
            <a:spAutoFit/>
          </a:bodyPr>
          <a:lstStyle/>
          <a:p>
            <a:pPr algn="l"/>
            <a:r>
              <a:rPr sz="850" b="1" i="0">
                <a:solidFill>
                  <a:srgbClr val="FFFFFF"/>
                </a:solidFill>
                <a:latin typeface="Calibri"/>
              </a:rPr>
              <a:t>Decision Made</a:t>
            </a:r>
          </a:p>
        </p:txBody>
      </p:sp>
      <p:sp>
        <p:nvSpPr>
          <p:cNvPr id="14" name="Rectangle 13"/>
          <p:cNvSpPr/>
          <p:nvPr/>
        </p:nvSpPr>
        <p:spPr>
          <a:xfrm>
            <a:off x="7790688" y="1042415"/>
            <a:ext cx="100584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36408" y="1078992"/>
            <a:ext cx="914400" cy="201168"/>
          </a:xfrm>
          <a:prstGeom prst="rect">
            <a:avLst/>
          </a:prstGeom>
          <a:noFill/>
        </p:spPr>
        <p:txBody>
          <a:bodyPr wrap="square" lIns="36576" rIns="36576" tIns="18288" bIns="18288">
            <a:spAutoFit/>
          </a:bodyPr>
          <a:lstStyle/>
          <a:p>
            <a:pPr algn="l"/>
            <a:r>
              <a:rPr sz="850" b="1" i="0">
                <a:solidFill>
                  <a:srgbClr val="FFFFFF"/>
                </a:solidFill>
                <a:latin typeface="Calibri"/>
              </a:rPr>
              <a:t>Owner / Due</a:t>
            </a:r>
          </a:p>
        </p:txBody>
      </p:sp>
      <p:sp>
        <p:nvSpPr>
          <p:cNvPr id="16" name="Rectangle 15"/>
          <p:cNvSpPr/>
          <p:nvPr/>
        </p:nvSpPr>
        <p:spPr>
          <a:xfrm>
            <a:off x="320040" y="131673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7" y="131673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50008" y="131673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81927" y="131673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90688" y="131673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6615" y="140817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#1</a:t>
            </a:r>
          </a:p>
        </p:txBody>
      </p:sp>
      <p:sp>
        <p:nvSpPr>
          <p:cNvPr id="22" name="TextBox 21"/>
          <p:cNvSpPr txBox="1"/>
          <p:nvPr/>
        </p:nvSpPr>
        <p:spPr>
          <a:xfrm>
            <a:off x="658368" y="138988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AD import scope and OU filter</a:t>
            </a:r>
          </a:p>
        </p:txBody>
      </p:sp>
      <p:sp>
        <p:nvSpPr>
          <p:cNvPr id="23" name="TextBox 22"/>
          <p:cNvSpPr txBox="1"/>
          <p:nvPr/>
        </p:nvSpPr>
        <p:spPr>
          <a:xfrm>
            <a:off x="2395727" y="138988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24" name="Rectangle 23"/>
          <p:cNvSpPr/>
          <p:nvPr/>
        </p:nvSpPr>
        <p:spPr>
          <a:xfrm>
            <a:off x="320040" y="1682495"/>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 y="1682495"/>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350008" y="1682495"/>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81927" y="1682495"/>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90688" y="1682495"/>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6615" y="177393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#2</a:t>
            </a:r>
          </a:p>
        </p:txBody>
      </p:sp>
      <p:sp>
        <p:nvSpPr>
          <p:cNvPr id="30" name="TextBox 29"/>
          <p:cNvSpPr txBox="1"/>
          <p:nvPr/>
        </p:nvSpPr>
        <p:spPr>
          <a:xfrm>
            <a:off x="658368" y="175564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AD attribute mapping (incl. manager)</a:t>
            </a:r>
          </a:p>
        </p:txBody>
      </p:sp>
      <p:sp>
        <p:nvSpPr>
          <p:cNvPr id="31" name="TextBox 30"/>
          <p:cNvSpPr txBox="1"/>
          <p:nvPr/>
        </p:nvSpPr>
        <p:spPr>
          <a:xfrm>
            <a:off x="2395727" y="175564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32" name="Rectangle 31"/>
          <p:cNvSpPr/>
          <p:nvPr/>
        </p:nvSpPr>
        <p:spPr>
          <a:xfrm>
            <a:off x="320040" y="204825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2647" y="204825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350008" y="204825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81927" y="204825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90688" y="204825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6615" y="213969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#3</a:t>
            </a:r>
          </a:p>
        </p:txBody>
      </p:sp>
      <p:sp>
        <p:nvSpPr>
          <p:cNvPr id="38" name="TextBox 37"/>
          <p:cNvSpPr txBox="1"/>
          <p:nvPr/>
        </p:nvSpPr>
        <p:spPr>
          <a:xfrm>
            <a:off x="658368" y="212140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SSO provider and IdP admin contact</a:t>
            </a:r>
          </a:p>
        </p:txBody>
      </p:sp>
      <p:sp>
        <p:nvSpPr>
          <p:cNvPr id="39" name="TextBox 38"/>
          <p:cNvSpPr txBox="1"/>
          <p:nvPr/>
        </p:nvSpPr>
        <p:spPr>
          <a:xfrm>
            <a:off x="2395727" y="212140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40" name="Rectangle 39"/>
          <p:cNvSpPr/>
          <p:nvPr/>
        </p:nvSpPr>
        <p:spPr>
          <a:xfrm>
            <a:off x="320040" y="2414016"/>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2647" y="2414016"/>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350008" y="2414016"/>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81927" y="2414016"/>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90688" y="2414016"/>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56615" y="250545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#4</a:t>
            </a:r>
          </a:p>
        </p:txBody>
      </p:sp>
      <p:sp>
        <p:nvSpPr>
          <p:cNvPr id="46" name="TextBox 45"/>
          <p:cNvSpPr txBox="1"/>
          <p:nvPr/>
        </p:nvSpPr>
        <p:spPr>
          <a:xfrm>
            <a:off x="658368" y="248716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MID Server host and network placement</a:t>
            </a:r>
          </a:p>
        </p:txBody>
      </p:sp>
      <p:sp>
        <p:nvSpPr>
          <p:cNvPr id="47" name="TextBox 46"/>
          <p:cNvSpPr txBox="1"/>
          <p:nvPr/>
        </p:nvSpPr>
        <p:spPr>
          <a:xfrm>
            <a:off x="2395727" y="248716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48" name="Rectangle 47"/>
          <p:cNvSpPr/>
          <p:nvPr/>
        </p:nvSpPr>
        <p:spPr>
          <a:xfrm>
            <a:off x="320040" y="277977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2647" y="277977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350008" y="277977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281927" y="277977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90688" y="277977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56615" y="287121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#5</a:t>
            </a:r>
          </a:p>
        </p:txBody>
      </p:sp>
      <p:sp>
        <p:nvSpPr>
          <p:cNvPr id="54" name="TextBox 53"/>
          <p:cNvSpPr txBox="1"/>
          <p:nvPr/>
        </p:nvSpPr>
        <p:spPr>
          <a:xfrm>
            <a:off x="658368" y="285292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SCCM service account and device scope</a:t>
            </a:r>
          </a:p>
        </p:txBody>
      </p:sp>
      <p:sp>
        <p:nvSpPr>
          <p:cNvPr id="55" name="TextBox 54"/>
          <p:cNvSpPr txBox="1"/>
          <p:nvPr/>
        </p:nvSpPr>
        <p:spPr>
          <a:xfrm>
            <a:off x="2395727" y="285292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56" name="Rectangle 55"/>
          <p:cNvSpPr/>
          <p:nvPr/>
        </p:nvSpPr>
        <p:spPr>
          <a:xfrm>
            <a:off x="320040" y="3145536"/>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12647" y="3145536"/>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350008" y="3145536"/>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281927" y="3145536"/>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790688" y="3145536"/>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56615" y="323697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#6</a:t>
            </a:r>
          </a:p>
        </p:txBody>
      </p:sp>
      <p:sp>
        <p:nvSpPr>
          <p:cNvPr id="62" name="TextBox 61"/>
          <p:cNvSpPr txBox="1"/>
          <p:nvPr/>
        </p:nvSpPr>
        <p:spPr>
          <a:xfrm>
            <a:off x="658368" y="321868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Intune Azure AD app registration owner</a:t>
            </a:r>
          </a:p>
        </p:txBody>
      </p:sp>
      <p:sp>
        <p:nvSpPr>
          <p:cNvPr id="63" name="TextBox 62"/>
          <p:cNvSpPr txBox="1"/>
          <p:nvPr/>
        </p:nvSpPr>
        <p:spPr>
          <a:xfrm>
            <a:off x="2395727" y="321868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64" name="Rectangle 63"/>
          <p:cNvSpPr/>
          <p:nvPr/>
        </p:nvSpPr>
        <p:spPr>
          <a:xfrm>
            <a:off x="320040" y="351129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12647" y="351129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350008" y="351129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281927" y="351129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790688" y="351129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56615" y="360273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#7</a:t>
            </a:r>
          </a:p>
        </p:txBody>
      </p:sp>
      <p:sp>
        <p:nvSpPr>
          <p:cNvPr id="70" name="TextBox 69"/>
          <p:cNvSpPr txBox="1"/>
          <p:nvPr/>
        </p:nvSpPr>
        <p:spPr>
          <a:xfrm>
            <a:off x="658368" y="358444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Integration health owner and monitoring plan</a:t>
            </a:r>
          </a:p>
        </p:txBody>
      </p:sp>
      <p:sp>
        <p:nvSpPr>
          <p:cNvPr id="71" name="TextBox 70"/>
          <p:cNvSpPr txBox="1"/>
          <p:nvPr/>
        </p:nvSpPr>
        <p:spPr>
          <a:xfrm>
            <a:off x="2395727" y="358444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72" name="Rectangle 71"/>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74" name="TextBox 73"/>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INTEGRATIONS</a:t>
            </a:r>
          </a:p>
        </p:txBody>
      </p:sp>
      <p:sp>
        <p:nvSpPr>
          <p:cNvPr id="75" name="TextBox 74"/>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N E X T  S T E P S</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What Happens After This Workshop</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5156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05156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5156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1</a:t>
            </a:r>
          </a:p>
        </p:txBody>
      </p:sp>
      <p:sp>
        <p:nvSpPr>
          <p:cNvPr id="9" name="TextBox 8"/>
          <p:cNvSpPr txBox="1"/>
          <p:nvPr/>
        </p:nvSpPr>
        <p:spPr>
          <a:xfrm>
            <a:off x="704088" y="108813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MID Server VM</a:t>
            </a:r>
          </a:p>
        </p:txBody>
      </p:sp>
      <p:sp>
        <p:nvSpPr>
          <p:cNvPr id="10" name="TextBox 9"/>
          <p:cNvSpPr txBox="1"/>
          <p:nvPr/>
        </p:nvSpPr>
        <p:spPr>
          <a:xfrm>
            <a:off x="411479" y="1380743"/>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Confirm VM provisioned and OS ready. Target: available before Sprint 1 kick-off. Assign infra owner.</a:t>
            </a:r>
          </a:p>
        </p:txBody>
      </p:sp>
      <p:sp>
        <p:nvSpPr>
          <p:cNvPr id="11" name="Rectangle 10"/>
          <p:cNvSpPr/>
          <p:nvPr/>
        </p:nvSpPr>
        <p:spPr>
          <a:xfrm>
            <a:off x="4636007" y="105156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36007" y="105156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7" y="105156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2</a:t>
            </a:r>
          </a:p>
        </p:txBody>
      </p:sp>
      <p:sp>
        <p:nvSpPr>
          <p:cNvPr id="14" name="TextBox 13"/>
          <p:cNvSpPr txBox="1"/>
          <p:nvPr/>
        </p:nvSpPr>
        <p:spPr>
          <a:xfrm>
            <a:off x="5020055" y="108813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IdP Admin Contact</a:t>
            </a:r>
          </a:p>
        </p:txBody>
      </p:sp>
      <p:sp>
        <p:nvSpPr>
          <p:cNvPr id="15" name="TextBox 14"/>
          <p:cNvSpPr txBox="1"/>
          <p:nvPr/>
        </p:nvSpPr>
        <p:spPr>
          <a:xfrm>
            <a:off x="4727447" y="1380743"/>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Identify and brief the IdP admin. Share ServiceNow SAML 2.0 config requirements. Target: contact confirmed before Sprint 1.</a:t>
            </a:r>
          </a:p>
        </p:txBody>
      </p:sp>
      <p:sp>
        <p:nvSpPr>
          <p:cNvPr id="16" name="Rectangle 15"/>
          <p:cNvSpPr/>
          <p:nvPr/>
        </p:nvSpPr>
        <p:spPr>
          <a:xfrm>
            <a:off x="320040" y="246888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 y="246888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246888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3</a:t>
            </a:r>
          </a:p>
        </p:txBody>
      </p:sp>
      <p:sp>
        <p:nvSpPr>
          <p:cNvPr id="19" name="TextBox 18"/>
          <p:cNvSpPr txBox="1"/>
          <p:nvPr/>
        </p:nvSpPr>
        <p:spPr>
          <a:xfrm>
            <a:off x="704088" y="250545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AD Manager Field Check</a:t>
            </a:r>
          </a:p>
        </p:txBody>
      </p:sp>
      <p:sp>
        <p:nvSpPr>
          <p:cNvPr id="20" name="TextBox 19"/>
          <p:cNvSpPr txBox="1"/>
          <p:nvPr/>
        </p:nvSpPr>
        <p:spPr>
          <a:xfrm>
            <a:off x="411479" y="2798064"/>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Run AD report: % of in-scope users with manager field populated. If below 90%, flag for AD admin remediation before Sprint 1.</a:t>
            </a:r>
          </a:p>
        </p:txBody>
      </p:sp>
      <p:sp>
        <p:nvSpPr>
          <p:cNvPr id="21" name="Rectangle 20"/>
          <p:cNvSpPr/>
          <p:nvPr/>
        </p:nvSpPr>
        <p:spPr>
          <a:xfrm>
            <a:off x="4636007" y="246888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36007" y="246888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6007" y="246888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4</a:t>
            </a:r>
          </a:p>
        </p:txBody>
      </p:sp>
      <p:sp>
        <p:nvSpPr>
          <p:cNvPr id="24" name="TextBox 23"/>
          <p:cNvSpPr txBox="1"/>
          <p:nvPr/>
        </p:nvSpPr>
        <p:spPr>
          <a:xfrm>
            <a:off x="5020055" y="250545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SCCM Service Account Request</a:t>
            </a:r>
          </a:p>
        </p:txBody>
      </p:sp>
      <p:sp>
        <p:nvSpPr>
          <p:cNvPr id="25" name="TextBox 24"/>
          <p:cNvSpPr txBox="1"/>
          <p:nvPr/>
        </p:nvSpPr>
        <p:spPr>
          <a:xfrm>
            <a:off x="4727447" y="2798064"/>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Submit SCCM service account provisioning request. Target: ready before Sprint 5 SGC activation. Lead time: 2 weeks.</a:t>
            </a:r>
          </a:p>
        </p:txBody>
      </p:sp>
      <p:sp>
        <p:nvSpPr>
          <p:cNvPr id="26" name="Rectangle 25"/>
          <p:cNvSpPr/>
          <p:nvPr/>
        </p:nvSpPr>
        <p:spPr>
          <a:xfrm>
            <a:off x="320040" y="388620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0040" y="388620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388620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5</a:t>
            </a:r>
          </a:p>
        </p:txBody>
      </p:sp>
      <p:sp>
        <p:nvSpPr>
          <p:cNvPr id="29" name="TextBox 28"/>
          <p:cNvSpPr txBox="1"/>
          <p:nvPr/>
        </p:nvSpPr>
        <p:spPr>
          <a:xfrm>
            <a:off x="704088" y="392277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Intune Azure AD App Request</a:t>
            </a:r>
          </a:p>
        </p:txBody>
      </p:sp>
      <p:sp>
        <p:nvSpPr>
          <p:cNvPr id="30" name="TextBox 29"/>
          <p:cNvSpPr txBox="1"/>
          <p:nvPr/>
        </p:nvSpPr>
        <p:spPr>
          <a:xfrm>
            <a:off x="411479" y="4215384"/>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Engage cloud team for Azure AD app registration. Target: credentials ready before Sprint 5. Lead time: 2-4 weeks.</a:t>
            </a:r>
          </a:p>
        </p:txBody>
      </p:sp>
      <p:sp>
        <p:nvSpPr>
          <p:cNvPr id="31" name="Rectangle 30"/>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33" name="TextBox 32"/>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INTEGRATIONS</a:t>
            </a:r>
          </a:p>
        </p:txBody>
      </p:sp>
      <p:sp>
        <p:nvSpPr>
          <p:cNvPr id="34" name="TextBox 33"/>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292608" y="1645920"/>
            <a:ext cx="64008" cy="15544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1627632"/>
            <a:ext cx="6400800" cy="548640"/>
          </a:xfrm>
          <a:prstGeom prst="rect">
            <a:avLst/>
          </a:prstGeom>
          <a:noFill/>
        </p:spPr>
        <p:txBody>
          <a:bodyPr wrap="square" lIns="36576" rIns="36576" tIns="18288" bIns="18288">
            <a:spAutoFit/>
          </a:bodyPr>
          <a:lstStyle/>
          <a:p>
            <a:pPr algn="l"/>
            <a:r>
              <a:rPr sz="3200" b="1" i="0">
                <a:solidFill>
                  <a:srgbClr val="FFFFFF"/>
                </a:solidFill>
                <a:latin typeface="Calibri"/>
              </a:rPr>
              <a:t>Everforth ECS Federal</a:t>
            </a:r>
          </a:p>
        </p:txBody>
      </p:sp>
      <p:sp>
        <p:nvSpPr>
          <p:cNvPr id="4" name="TextBox 3"/>
          <p:cNvSpPr txBox="1"/>
          <p:nvPr/>
        </p:nvSpPr>
        <p:spPr>
          <a:xfrm>
            <a:off x="475488" y="2176272"/>
            <a:ext cx="6400800" cy="402336"/>
          </a:xfrm>
          <a:prstGeom prst="rect">
            <a:avLst/>
          </a:prstGeom>
          <a:noFill/>
        </p:spPr>
        <p:txBody>
          <a:bodyPr wrap="square" lIns="36576" rIns="36576" tIns="18288" bIns="18288">
            <a:spAutoFit/>
          </a:bodyPr>
          <a:lstStyle/>
          <a:p>
            <a:pPr algn="l"/>
            <a:r>
              <a:rPr sz="2000" b="0" i="0">
                <a:solidFill>
                  <a:srgbClr val="14B8A6"/>
                </a:solidFill>
                <a:latin typeface="Calibri"/>
              </a:rPr>
              <a:t>ServiceNow Practice</a:t>
            </a:r>
          </a:p>
        </p:txBody>
      </p:sp>
      <p:sp>
        <p:nvSpPr>
          <p:cNvPr id="5" name="TextBox 4"/>
          <p:cNvSpPr txBox="1"/>
          <p:nvPr/>
        </p:nvSpPr>
        <p:spPr>
          <a:xfrm>
            <a:off x="475488" y="2743200"/>
            <a:ext cx="7772400" cy="274320"/>
          </a:xfrm>
          <a:prstGeom prst="rect">
            <a:avLst/>
          </a:prstGeom>
          <a:noFill/>
        </p:spPr>
        <p:txBody>
          <a:bodyPr wrap="square" lIns="36576" rIns="36576" tIns="18288" bIns="18288">
            <a:spAutoFit/>
          </a:bodyPr>
          <a:lstStyle/>
          <a:p>
            <a:pPr algn="l"/>
            <a:r>
              <a:rPr sz="900" b="0" i="0">
                <a:solidFill>
                  <a:srgbClr val="94A3B8"/>
                </a:solidFill>
                <a:latin typeface="Calibri"/>
              </a:rPr>
              <a:t>SERVICENOW PRACTICE  ·  MODERNIZING THE CORE  ·  INTEGRATIONS</a:t>
            </a:r>
          </a:p>
        </p:txBody>
      </p:sp>
      <p:pic>
        <p:nvPicPr>
          <p:cNvPr id="6" name="Picture 5"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7" name="Rectangle 6"/>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9" name="TextBox 8"/>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INTEGRATIONS</a:t>
            </a:r>
          </a:p>
        </p:txBody>
      </p:sp>
      <p:sp>
        <p:nvSpPr>
          <p:cNvPr id="10" name="TextBox 9"/>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