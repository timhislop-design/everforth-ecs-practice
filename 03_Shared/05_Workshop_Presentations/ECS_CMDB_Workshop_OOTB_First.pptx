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858000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Modernizing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04288"/>
            <a:ext cx="77724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B8A6"/>
                </a:solidFill>
                <a:latin typeface="Calibri"/>
              </a:rPr>
              <a:t>CMDB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907792"/>
            <a:ext cx="6858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Ensuring AI Realization and Optimizing Long-Term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Prepared by Everforth ECS Federal  ·  ServiceNow Practice  ·  Confidential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A G E N 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The OOTB-First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Why this engagement commits to OOTB -- and what it means in the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a Customization Is (and Isnt)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Configuration vs. scripting -- with 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OOTB CMDB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CI classes, relationships, health scoring, and governance in OOTB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Key Decisions #1-#8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CI class scope, population method, governance, relationships, health targets, lifecycle, normalization, integration with ITSM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decision is recorded before we leave this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CMDB Accelerator Pack, Discovery configuration, CMDB Health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9583"/>
            <a:ext cx="8503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79"/>
            <a:ext cx="8229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Ground rule: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Decisions get made in this room. The OOTB recommendation is pre-populated. Your job is to confirm, adjust with rationale, or defer with a named owner and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A P P R O A C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OOTB-first is not a constraint — it is the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OOTB-First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Every CMDB decision starts with the OOTB ServiceNow Configuration Management Database -- not a custom asset schema or legacy CMDB export.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Configuration (CI classes, relationships, discovery schedules, normalization rules) is always available in CMDB Studio and Discovery -- no scripting.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Customization (non-OOTB CI classes, scripted relationship population, external CMDB sync overrides) requires a Customization Council case.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The 18-week engagement scopes CMDB to the CI classes that directly support ITSM and CSDM -- full infrastructure discovery is a phased effort.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82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Protects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182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Change impact analysis -- OOTB change management uses CI relationships for impact scoping. Custom CI schemas break OOTB change impact display.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Event Management and Service Graph -- both require OOTB CI class structures for alert binding and connector mapping. Custom schemas require remapping.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Upgrade continuity -- OOTB CI class extensions are upgrade-safe when created in CMDB Studio. Custom tables outside the CI hierarchy are not.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PI and Now Assist -- accurate CI data drives better AI incident categorization and assignment predictions. Stale or incomplete CIs degrade model accuracy.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Enables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OOTB change impact analysis -- CIs related to a change are surfaced automatically on the change record, with no custom scripting.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Discovery-driven CI population -- automated CI inventory from Sprint 4, keeping CMDB current without manual data entry.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CMDB Health Dashboard -- OOTB completeness, staleness, and compliance scores visible from first CI population.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Event Management CI binding -- alerts from monitoring tools bind to OOTB CIs, enabling service-health correlation without custom mapping.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L I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a customization is — and what it isn’t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160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CONFIGURATION  —  This is always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Defining in-scope CI classes in CMDB Studio (Server, Database, Network Device, Application, Virtual Machine)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OOTB CI relationship types (Runs on, Depends on, Virtualized by, Hosted on)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CMDB Health thresholds (completeness %, staleness days, compliance rules)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Discovery patterns for Windows, Linux, VMware, network devices (OOTB patterns)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normalization rules for hardware and software product names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CI lifecycle states (Installed, In Maintenance, Retired)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Defining CI ownership and stewardship roles via OOTB CI record fields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up CMDB reconciliation rules for Discovery vs. SGC data sources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CI class-specific mandatory attributes via CMDB Studio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Enabling OOTB CMDB Health dashboard and compliance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24128"/>
            <a:ext cx="41605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CUSTOMIZATION  —  Requires Approval + Business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CI class tables outside the OOTB cmdb_ci hierarchy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CI relationship population from external data sources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CMDB sync logic overriding OOTB Discovery reconciliation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Non-OOTB identification and reconciliation rules (IRE)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CI health calculations beyond OOTB CMDB Health scoring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CI decommission workflows beyond OOTB lifecycle management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External CMDB data sync overriding OOTB Discovery-sourced CIs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asset-to-CI linking beyond OOTB HAM/CMDB integration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CMDB dashboard widgets beyond OOTB Health Dashboard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Non-standard CI attribute sets outside OOTB class definitions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82296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0B1F3A"/>
                </a:solidFill>
                <a:latin typeface="Calibri"/>
              </a:rPr>
              <a:t>The customization bar:  </a:t>
            </a:r>
            <a:r>
              <a:rPr sz="800" b="0" i="0">
                <a:solidFill>
                  <a:srgbClr val="1E293B"/>
                </a:solidFill>
                <a:latin typeface="Calibri"/>
              </a:rPr>
              <a:t>If it requires a custom CI class table, script include, or external sync override -- it is a customization. If it can be configured in CMDB Studio, Discovery pattern editor, or the reconciliation rule UI -- it is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P R O C E S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ServiceNow OOTB CMDB Population --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Discovery (auto)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602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174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Service Graph Connectors (pull)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Manual Entry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798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370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Import Set (bulk)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447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71907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CI IDENTIFIED → IRE (Identification &amp; Reconciliation Engine) applies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00253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85416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NEW CI created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3448" y="2185416"/>
            <a:ext cx="2810256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8312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EXISTING CI updated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6856" y="2185416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1720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DUPLICATE flagged for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249424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06624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761488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CMDB HEALTH SCORED → ITSM impact analysis · CSDM binding · Event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044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273551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AI Features Active at Go-Live: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CMDB Health Dashboard scores completeness and staleness from first CI population. Change impact analysis uses CI relationships OOTB. PI incident categorization improves with complete, accurate CI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CI classes are in scope at go-live?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Recommendation: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Start with the CI classes that directly support ITSM operations: Server (Windows, Linux), Virtual Machine, Database, Network Device (router, switch, firewall), Application. Cloud: AWS EC2, Azure VM, GCP Compute -- if cloud Discovery is in scope. Avoid overscoping -- model CI classes you have Discovery coverage for.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Why it works: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Scoping CI classes to Discovery coverage ensures the CMDB stays accurate. Unpopulated CI classes degrade CMDB Health scores and erode trust.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are the top CI classes by incident volume and change frequency?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cloud infrastructure (AWS, Azure, GCP) in scope for Discovery?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network devices (routers, switches, firewalls) in scope -- and is SNMP access available?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Which CI classes have existing data from a legacy CMDB that can be migrated?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Over-scoping CI classes beyond Discovery coverage creates a stale, inaccurate CMDB from day one. Match CI class scope to what Discovery or Service Graph Connectors can populate and maintain.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CIs be populated -- Discovery, SGC, manual, or import?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Population Methods: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Discovery (Sprint 4): automated scan of network ranges -- populates servers, VMs, network devices, applications. Service Graph Connectors (Sprint 5): Intune, SCCM, Jamf, cloud connectors -- pull from authoritative sources. Manual entry: for CIs not discoverable (appliances, telecom, specialized hardware). Import set: for bulk migration from legacy CMDB.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CI classes will be populated by Discovery vs. SGC vs. manual entry?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a legacy CMDB bulk import required -- and what is the data quality?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Who is responsible for manual CI entry for non-discoverable classes?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CMDB population target before go-live?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Manual CMDB population without a Discovery or SGC refresh plan creates a stale CMDB within 60 days. Automate CI population for every class where Discovery or SGC has coverage.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CMDB governance model?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Governance: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CI Owners: assigned per CI class -- accountable for accuracy. CMDB Stewards: team responsible for CMDB Health scores. CMDB Health thresholds: completeness (&gt;90%), staleness (&lt;30 days), compliance (&gt;85%). Audit trail: OOTB change history on every CI record. No scripting required.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Who is the CMDB Steward (team or individual responsible for CMDB Health)?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are the CI Owner assignments per class?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CMDB Health score target at 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CMDB audit and review cadence (weekly, monthly)?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 CMDB without a named steward degrades predictably. Assign a CMDB Steward with a defined review cadence before go-live -- health scoring is only useful if someone acts on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CI relationship types are in scope?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Relationship Types: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Runs on (Application → Server). Depends on (Service → Application). Virtualized by (VM → Hypervisor). Hosted on (Application → Compute). Connected to (Network Device → Network Device). All populated by Discovery automatically for discovered CIs. Manual relationship editor for non-discoverable.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relationship types are required to support Change impact analysis?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Should Discovery auto-populate CI relationships -- or are manual relationships required?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Is application-to-server relationship mapping in scope for Sprint 4?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relationship validation process (who confirms auto-discovered relationships are accurate)?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Over-engineering CI relationships beyond what Discovery can auto-populate creates manual maintenance burden. Configure the relationship types Discovery supports -- manual relationship entry for the rest.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are the CMDB Health score targets and thresholds?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CMDB Health: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Completeness: % of mandatory attributes populated per CI class. Staleness: days since last verified by Discovery or SGC. Compliance: % of CIs meeting all defined health rules. OOTB dashboard displays per-class health scores. Alerting: PA indicator triggers when class health drops below threshold.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is the target completeness % per CI class at 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staleness threshold triggers a review (30, 60, 90 days)?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Which mandatory attributes define completeness for each CI class?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receives PA health alerts when CMDB Health drops below threshold?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CMDB Health scoring without defined thresholds provides no governance signal. Set targets per class before go-live -- even imperfect targets create the feedback loop needed to improve.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CI lifecycle be managed -- especially decommission?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CI Lifecycle: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States: Installed, In Maintenance, Absent, Retired. Discovery sets CI to Absent when not found in scan -- OOTB. Manual decommission workflow: agent sets state to Retired + adds decommission date. Auto-retire: OOTB rule retires CIs absent for N days (configurable).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is the decommission workflow -- who authorizes, who executes, who validates in CMDB?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triggers auto-retire (absent for 30, 60, 90 days)?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Should decommissioned CIs be deleted -- or retained as Retired for audit purposes?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there a hardware disposal process that should link to CI retirement?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CIs that remain in "Installed" state after decommission create ghost assets in change impact analysis. Define the decommission workflow before go-live -- it is a 30-minute configuration task.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normalization approach for hardware and software?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Normalization: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Hardware normalization: OOTB Hardware Model Normalization maps Discovery-discovered hardware to normalized product names. Software normalization: OOTB Software Model Normalization (required for SAM). Both run as scheduled jobs -- no scripting. Normalized models enable accurate HAM and SAM reporting.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hardware normalization in scope at go-live -- or post-go-live?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software normalization required for Sprint 5 SAM configuration?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normalization schedule (nightly, weekly)?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reviews normalization exceptions (hardware not matched to a known model)?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Running Discovery without normalization produces raw device names (e.g., "VMware ESXi 7.0.3") that dont roll up to meaningful HAM/SAM reports. Enable normalization from day one -- it runs automatically.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the CMDB integrate with ITSM (incidents, changes, problems)?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ITSM-CMDB Integration: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Incident: Affected CI field on incident form -- agent selects CI, triggers impact analysis. Change: Configuration Items tab -- CIs impacted by the change are listed and relationships displayed. Problem: Related CIs field -- links problem records to affected infrastructure. All OOTB fields, no scripting.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the Affected CI field mandatory on the incident form at 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Should CI auto-suggestion be active (type-ahead based on incident category)?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Is change CI binding mandatory for all change types -- or only for infrastructure changes?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How will agents who dont know the CI select a value (type-ahead, lookup, unknown option)?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Incident-to-CI binding is the primary mechanism for CMDB-driven impact analysis. Make the Affected CI field available from day one -- even if not mandatory, trained agents will use it, and the data quality will compound over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572768"/>
            <a:ext cx="64008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572768"/>
            <a:ext cx="685800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7744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Every decision on the next page is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06624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Decisions left blank leave this room with a named owner and a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20040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Before we close: no decision is unresolved — it is either made, or owned.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D E C I S I O N  L O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CMDB — Decisions Made in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29260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042415"/>
            <a:ext cx="17373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6459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42415"/>
            <a:ext cx="393192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7" y="1078992"/>
            <a:ext cx="3840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7" y="1042415"/>
            <a:ext cx="15087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1078992"/>
            <a:ext cx="14173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042415"/>
            <a:ext cx="10058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078992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Owner /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1673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" y="131673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0008" y="131673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7" y="13167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31673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" y="14081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3898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CI Class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7" y="13898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In-scope classes; cloud scope; legacy migration classes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5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" y="1682495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50008" y="1682495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7" y="1682495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1682495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5" y="17739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7556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Population 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7" y="17556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Discovery vs. SGC vs. manual per class; legacy import approach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" y="204825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204825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204825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0688" y="204825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21396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1214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CMDB 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7" y="21214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Steward assignment; CI owner assignments; review cadence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1401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" y="241401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241401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1927" y="241401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241401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" y="250545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248716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Relationship Types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7" y="248716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Auto-populated vs. manual relationships; change impact scope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77977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7" y="277977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77977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7" y="277977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0688" y="27797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5" y="287121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85292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CMDB Health Targets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7" y="28529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Completeness %; staleness threshold; compliance targets; alert recipients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14553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7" y="314553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4553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1927" y="314553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0688" y="314553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5" y="3236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2186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CI Lifecycle &amp; Decommission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5727" y="32186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Workflow; auto-retire threshold; deletion vs. retain policy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51129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7" y="351129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350008" y="351129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81927" y="351129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0688" y="351129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6615" y="36027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35844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Normalization Approach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95727" y="35844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Hardware and software normalization; schedule; exception review owner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387705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647" y="387705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50008" y="387705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1927" y="387705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90688" y="387705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6615" y="39684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39502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ITSM Integration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95727" y="39502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Affected CI mandatory; CI auto-suggest; change binding requirements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N E X T  S T E P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Happens After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Complete the CMDB Accelerator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Fill the CMDB Accelerator Pack: CI class scope, governance model, health targets, relationship types, decommission workflow, and normalization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CMDB Health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ECS runs CMDB Health Dashboard after first Discovery scan to establish the baseline score. First health review with customer CMDB Steward within 1 week of Discovery go-live.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Discovery 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Discovery workshop (scheduled next) confirms network ranges, MID Server placement, credentials, and Discovery schedule before Sprint 4 configuration begins.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ITSM-CMDB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Affected CI field activated on incident and change forms in dev instance. Agent training on CI selection completed before UAT.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400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Everforth ECS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176272"/>
            <a:ext cx="64008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ServiceNow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pic>
        <p:nvPicPr>
          <p:cNvPr id="6" name="Picture 5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CMDB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