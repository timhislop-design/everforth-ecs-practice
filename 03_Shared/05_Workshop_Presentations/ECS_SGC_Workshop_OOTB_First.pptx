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645920"/>
            <a:ext cx="64008" cy="1554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27632"/>
            <a:ext cx="6858000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Modernizing 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304288"/>
            <a:ext cx="7772400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4B8A6"/>
                </a:solidFill>
                <a:latin typeface="Calibri"/>
              </a:rPr>
              <a:t>Service Graph Connectors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907792"/>
            <a:ext cx="68580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Ensuring AI Realization and Optimizing Long-Term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407408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 i="0">
                <a:solidFill>
                  <a:srgbClr val="94A3B8"/>
                </a:solidFill>
                <a:latin typeface="Calibri"/>
              </a:rPr>
              <a:t>Prepared by Everforth ECS Federal  ·  ServiceNow Practice  ·  Confidential</a:t>
            </a:r>
          </a:p>
        </p:txBody>
      </p:sp>
      <p:pic>
        <p:nvPicPr>
          <p:cNvPr id="7" name="Picture 6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A G E N D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We'll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43000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097280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The OOTB-First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344168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Why this engagement commits to OOTB -- and what it means in the room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92807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938527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1892807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Service Graph Connectors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2139696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What SGCs are, how they populate CMDB, and what OOTB means here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688336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734056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688336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CMDB Population Walkthrough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2935224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Reconciliation, IRE, CI class hierarchy, and data sources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097280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143000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1097280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Key Decisions #1-#7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1344168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Connectors in scope, reconciliation rules, authoritative sources, Intune, SCCM, cloud connectors, health dashboard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1892807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938527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5504" y="1892807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Decision 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5504" y="2139696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Every decision is recorded before we leave this room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688336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734056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2688336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What Comes 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2935224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Connector activation, IRE rule configuration, CMDB health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529583"/>
            <a:ext cx="85039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611879"/>
            <a:ext cx="82296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 i="0">
                <a:solidFill>
                  <a:srgbClr val="0B1F3A"/>
                </a:solidFill>
                <a:latin typeface="Calibri"/>
              </a:rPr>
              <a:t>Ground rule: </a:t>
            </a:r>
            <a:r>
              <a:rPr sz="950" b="0" i="0">
                <a:solidFill>
                  <a:srgbClr val="1E293B"/>
                </a:solidFill>
                <a:latin typeface="Calibri"/>
              </a:rPr>
              <a:t>Decisions get made in this room. The OOTB recommendation is pre-populated. Your job is to confirm, adjust with rationale, or defer with a named owner and date.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A P P R O A C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OOTB-first is not a constraint — it is the AI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What OOTB-First Means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Service Graph Connectors are Scoped Apps published by ServiceNow on the Store. They are OOTB connectors -- not custom integrations.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SGCs ingest data from third-party sources (SCCM, Intune, AWS, Azure, Qualys, etc.) and populate CMDB CI records using the Identification and Reconciliation Engine (IRE).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IRE is the OOTB mechanism that deduplicates and merges CI data from multiple sources without scripting.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182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7540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What We Configure (Not Code)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182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3260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Connector credentials and scheduled import frequency.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IRE reconciliation rules: which source wins for which CI attribute.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CI class scope: which CI types each connector populates.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CMDB health dashboard thresholds.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The Delivery Approach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Sprint 5 activates connectors, configures IRE rules, and runs first imports.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Sprint 6 validates CMDB health, tunes reconciliation, and wires CMDB data to HAM/SAM.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All configuration through the Integration Hub and CMDB workspace -- zero scripting.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L I N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a customization is — and what it isn’t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160520" cy="2926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" y="1033271"/>
            <a:ext cx="4050791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CONFIGURATION  —  This is always available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16736"/>
            <a:ext cx="4160520" cy="33101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371600"/>
            <a:ext cx="3977639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v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f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h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h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h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h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f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q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024128"/>
            <a:ext cx="4160520" cy="29260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3" y="1033271"/>
            <a:ext cx="4050791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CUSTOMIZATION  —  Requires Approval + Business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1316736"/>
            <a:ext cx="4160520" cy="33101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371600"/>
            <a:ext cx="3977639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y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f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v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y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h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h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645152"/>
            <a:ext cx="8503920" cy="16459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654296"/>
            <a:ext cx="822960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0B1F3A"/>
                </a:solidFill>
                <a:latin typeface="Calibri"/>
              </a:rPr>
              <a:t>The customization bar:  </a:t>
            </a:r>
            <a:r>
              <a:rPr sz="800" b="0" i="0">
                <a:solidFill>
                  <a:srgbClr val="1E293B"/>
                </a:solidFill>
                <a:latin typeface="Calibri"/>
              </a:rPr>
              <a:t>SGCs are ServiceNow-maintained OOTB connectors. Custom connector scripts require maintenance with every third-party API change. IRE handles deduplication and source authority -- custom logic breaks on platform upgrades.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P R O C E S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CMDB Population: Source to CI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CONNECTOR ACTIVATED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20824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66543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DATA INGESTED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21608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7328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IRE IDENTIFICATION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22392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8112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IRE RECONCILIATION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3176" y="1078992"/>
            <a:ext cx="1627632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1097280"/>
            <a:ext cx="1536192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CMDB HEALTH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1444752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664208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1719072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Connector Activated: SGC installed from ServiceNow Store. Credentials configured (API key, service account, or OAuth). Connection tested. Scheduled import configured.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002536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185416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2240280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Data Ingested: Connector pulls raw data from source system on schedule. Raw data staged in Import Set tables. No CMDB records created yet.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523744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06624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761488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IRE Identification: IRE identifies whether incoming CI matches an existing CMDB record (by serial number, hostname, MAC address, or custom identifier). Matches routed to reconciliation. New records created.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044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227832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282696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IRE Reconciliation: For matched CIs, IRE applies reconciliation rules: which source is authoritative for each attribute. Conflicting data resolved without scripting. CMDB CI record updated.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56616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49039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3803903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CMDB Health Validation: CMDB Health Dashboard reports: CI completeness (required fields populated), CI compliance (data within expected values), and staleness (last discovered date).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4087368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4315968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0D9488"/>
                </a:solidFill>
                <a:latin typeface="Calibri"/>
              </a:rPr>
              <a:t>AI Features Active at Go-Live: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Now Assist can summarize CMDB health trends for operational review. Predictive Intelligence can flag CIs with anomalous change patterns that may indicate data quality issues.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Which Service Graph Connectors are in scope for this engagement?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Available SGCs (ServiceNow Store):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Microsoft Intune (endpoint), Microsoft SCCM (endpoint), AWS (EC2, S3, RDS), Azure (VM, storage), Google Cloud, Qualys (vulnerability), CrowdStrike (endpoint), Tenable, VMware vSphere, Kubernetes, ServiceNow Discovery (native). Each is a separate Scoped App -- activate only what is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Which endpoint management tools are in use (Intune, SCCM, JAMF, other)?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Are cloud environments (AWS, Azure, GCP) in scope for CMDB?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Are vulnerability scanners (Qualys, Tenable, Rapid7) a data source for CMDB?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What is the current system of record for endpoint inventory?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Every connector activated adds import volume and IRE processing load. Activate connectors that cover the CI classes in scope for HAM/SAM/ITSM. Do not activate connectors for CI types not in your CMDB scope.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Which source is authoritative for each CI attribute?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IRE Source Authority Model: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IRE assigns a "data source precedence" to each CI attribute. Example: serial number from Intune wins over Discovery; hostname from SCCM wins over manual entry. Precedence is set per-attribute in IRE rules -- no scripting. OOTB precedence rules exist for all major connectors.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For laptop/desktop CIs: is Intune or SCCM the authoritative source?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For server CIs: is Discovery, vSphere, or AWS/Azure the authoritative source?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Who resolves conflicts when two sources disagree on a CI attribute?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Are there any attributes where manual entry should always win (assigned-to, cost center)?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IRE source authority is the most impactful CMDB decision in this room. Unresolved source conflicts produce a CMDB that no one trusts. Agree on the authority matrix today -- one row per CI class, one column per attribute.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What is the CI class hierarchy in scope -- and what maps to which connector?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CI Class Hierarchy: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ServiceNow CMDB ships with a full CI class hierarchy (cmdb_ci base class with sub-classes: cmdb_ci_computer, cmdb_ci_server, cmdb_ci_network_device, cmdb_ci_cloud_service_account, etc.). Each SGC populates specific CI classes. HAM links to hardware CI classes. SAM links to software CI classes.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Which CI classes are in scope: endpoints, servers, network, cloud, or all?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Do any CI classes require custom attributes beyond the OOTB schema?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Are virtual machines tracked as a CI class distinct from physical servers?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Are containers and Kubernetes workloads in scope for CMDB?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CI class scope drives connector selection, IRE rule count, and CMDB health reporting scope. Narrowing CI class scope to what ITSM and HAM/SAM actually use is the right OOTB-first call.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How will the Microsoft Intune connector be configured?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Intune SGC Capabilities: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Intune SGC pulls: device inventory (hardware model, serial, OS version), user assignment, compliance status, app inventory. Populates cmdb_ci_computer class. Scheduled import (every 4 hours OOTB). Requires Azure AD app registration with Intune read permissions.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Is Intune the MDM/EMM for Windows and/or mobile devices?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Who will create the Azure AD app registration for the Intune SGC? (IT security or cloud team)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Should the Intune SGC run for all devices or a specific device group?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How often should the Intune import run (4-hour OOTB default vs. more frequent)?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Intune SGC is typically the fastest connector to activate and the highest-value for endpoint CMDB population. Azure AD app registration is the one dependency that requires cloud team involvement -- confirm the contact before Sprint 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How will the SCCM connector be configured -- and does it overlap with Intune?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SCCM SGC Capabilities: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SCCM SGC pulls: hardware inventory, software inventory, patch compliance status. Populates cmdb_ci_computer and cmdb_sam_sw_install. Requires a MID Server with network access to SCCM. If Intune and SCCM both cover the same endpoints, IRE source authority rules determine which wins.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Is SCCM still active or is Intune replacing it?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If both are active, which is authoritative for hardware attributes vs. software installs?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Does the MID Server have network access to the SCCM server?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Is SCCM software inventory data the primary input for SAM reconciliation?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Running both Intune and SCCM connectors without IRE source authority rules creates duplicate CI records and conflicting attribute values. Resolve the overlap question before activating both connectors.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Are cloud connectors (AWS, Azure) in scope -- and what CI classes do they populate?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Cloud SGC Capabilities: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AWS SGC: EC2 (cmdb_ci_vm_instance), S3, RDS, Lambda. Azure SGC: VM, storage accounts, App Services. Both require cloud service account credentials with read-only access. IRE deduplicates cloud VMs against Discovery-discovered servers.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Are AWS and/or Azure workloads in scope for CMDB in this engagement?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Who manages cloud credentials and can provision a read-only service account for the connector?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Should cloud VMs be linked to HAM asset records or tracked separately?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Is there a cloud cost integration requirement alongside the CMDB population?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Cloud connectors require cloud team involvement for credential provisioning. If cloud is in scope, confirm the cloud team contact and credential provisioning timeline before Sprint 5 -- this is the connector with the longest lead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How will CMDB health be measured and who owns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CMDB Health Dashboard: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CMDB Health Dashboard reports: completeness score (required fields populated %), compliance score (field values within expected ranges %), staleness score (last discovered within threshold %). Thresholds are configurable. OOTB PA dashboards track health trends over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What is the target CMDB health score at go-live (completeness, compliance, staleness)?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Who is the CMDB owner responsible for health score maintenance?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How often will CMDB health be reviewed (weekly, monthly, at each sprint close)?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Which CI classes are included in the health score calculation?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CMDB health is only meaningful if someone owns it. Assign a named CMDB owner in this room. A CMDB without an owner has a 6-month half-life regardless of how well it was configured.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572768"/>
            <a:ext cx="64008" cy="16459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572768"/>
            <a:ext cx="6858000" cy="8046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Decision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377440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4B8A6"/>
                </a:solidFill>
                <a:latin typeface="Calibri"/>
              </a:rPr>
              <a:t>Every decision on the next page is an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706624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4B8A6"/>
                </a:solidFill>
                <a:latin typeface="Calibri"/>
              </a:rPr>
              <a:t>Decisions left blank leave this room with a named owner and a 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3200400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Before we close: no decision is unresolved — it is either made, or owned.</a:t>
            </a:r>
          </a:p>
        </p:txBody>
      </p:sp>
      <p:pic>
        <p:nvPicPr>
          <p:cNvPr id="7" name="Picture 6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D E C I S I O N  L O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Service Graph Connectors — Decisions Made in This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42415"/>
            <a:ext cx="29260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78992"/>
            <a:ext cx="20116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" y="1042415"/>
            <a:ext cx="173736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078992"/>
            <a:ext cx="164591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Decision Topic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0008" y="1042415"/>
            <a:ext cx="393192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7" y="1078992"/>
            <a:ext cx="38404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7" y="1042415"/>
            <a:ext cx="150876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7" y="1078992"/>
            <a:ext cx="141731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Decision Made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0688" y="1042415"/>
            <a:ext cx="100584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8" y="1078992"/>
            <a:ext cx="9144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Owner / Due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31673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" y="131673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50008" y="131673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1927" y="131673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90688" y="131673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5" y="140817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138988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Connectors in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7" y="138988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1682495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7" y="1682495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50008" y="1682495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1927" y="1682495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90688" y="1682495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5" y="177393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75564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IRE source authority matrix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5727" y="175564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04825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7" y="204825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50008" y="204825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7" y="204825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90688" y="204825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5" y="213969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212140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CI class scope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95727" y="212140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2414016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7" y="2414016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50008" y="2414016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81927" y="2414016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90688" y="2414016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6615" y="250545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248716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Intune connector config and credentials owner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95727" y="248716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77977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7" y="277977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50008" y="277977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81927" y="277977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90688" y="277977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6615" y="287121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285292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SCCM connector config and overlap resolution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95727" y="285292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145536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2647" y="3145536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350008" y="3145536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81927" y="3145536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790688" y="3145536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6615" y="323697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321868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Cloud connector scope and credentials owner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95727" y="321868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351129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2647" y="351129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350008" y="351129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81927" y="351129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0688" y="351129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6615" y="360273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" y="358444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CMDB health owner and target scores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95727" y="358444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N E X T  S T E P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Happens After This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5156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5156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08813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Connector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380743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Confirm which SGCs are in scope. Identify credential owners for each connector. Document Azure AD app registration requirement for Intune.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5156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6007" y="105156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105156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0055" y="108813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IRE Authority Matrix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1380743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Draft CI class x attribute authority matrix. Review with CMDB and discovery teams before Sprint 5 IRE configuration.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6888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46888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46888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0545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MID Server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279806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Confirm MID Server network access to SCCM and any other on-premise data sources. Resolve firewall exceptions before Sprint 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7" y="246888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7" y="246888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7" y="246888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0055" y="250545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Cloud Credentials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7" y="279806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Engage cloud team to provision read-only service accounts for AWS/Azure connectors. Target: credentials ready before Sprint 5 kick-off.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88620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88620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88620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92277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CMDB Health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" y="421538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Run CMDB health check before connector activation to capture baseline. Measure improvement at Sprint 6 close.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645920"/>
            <a:ext cx="64008" cy="1554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27632"/>
            <a:ext cx="64008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Everforth ECS Federal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176272"/>
            <a:ext cx="640080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000" b="0" i="0">
                <a:solidFill>
                  <a:srgbClr val="14B8A6"/>
                </a:solidFill>
                <a:latin typeface="Calibri"/>
              </a:rPr>
              <a:t>ServiceNow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743200"/>
            <a:ext cx="7772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pic>
        <p:nvPicPr>
          <p:cNvPr id="6" name="Picture 5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SERVICE GRAPH CONNECTORS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