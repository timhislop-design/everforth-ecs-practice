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1554480"/>
            <a:ext cx="64008" cy="219456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4173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Modernizing the Core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CSDM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Service Data Model for AI-Driven Impact Analysis and Service Visibility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2636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A5A7F"/>
                </a:solidFill>
              </a:rPr>
              <a:t>Prepared by Everforth ECS Federal  ·  ServiceNow Practice  ·  Confidential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AGENDA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 Today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7552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OOTB-First Frame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87552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engagement commits to OOTB — and what it means in the room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36208" y="1371600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371600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1426464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(and Isn't)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766560" y="1737360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vs. customization — with examples relevant to CSDM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57200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87552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 CSDM Architecture Overview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87552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applications, technical services, the CSDM framework layers, and the relationship to CMDB and Change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36208" y="2487168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236208" y="2487168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766560" y="2542032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Decisions #1–#8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766560" y="2852928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Decisions #1–#8  ·  Adoption scope, app inventory, service taxonomy, ownership, relationships, CMDB alignment, catalog integration, Change impact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57200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57200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87552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987552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recorded before we leave this room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236208" y="3602736"/>
            <a:ext cx="5394960" cy="896112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236208" y="3602736"/>
            <a:ext cx="43891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6766560" y="3657600"/>
            <a:ext cx="4773168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Comes Next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6766560" y="3968496"/>
            <a:ext cx="4773168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 Pack workbook, configuration sprint, live ServiceNow demo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57200" y="4663440"/>
            <a:ext cx="11247120" cy="502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7091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rule:  </a:t>
            </a:r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get made in this room. The OOTB recommendation is pre-populated. Your team's job is to confirm, adjust, or document the exception.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APPROACH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OOTB-first is not a constraint — it is the AI strategy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OOTB-First Means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420624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2880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starts with the OOTB CSDM capability — not the legacy system pattern.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(activating features, setting values, building taxonomies, writing rules) is always available — it is how OOTB is tailored to your organization.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 (code changes, new database fields, custom scripts) requires a documented business case and Customization Council sign-off.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18-week engagement is scoped and priced for OOTB execution. Customization expands scope.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What It Protects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420624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73368" y="1828800"/>
            <a:ext cx="52120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— Predictive Intelligence, Now Assist, Virtual Agent — require clean OOTB-aligned data and process structures. Custom fields and non-standard models reduce AI accuracy or block activation entirely.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upgrade paths. Customizations break on upgrades. OOTB patterns survive upgrades automatically with no remediation cost.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debt elimination. The Governance Triage Log captures every exception — it is managed and addressed iteratively. Nothing is lost; everything is governed.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LINE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 customization is — and what it isn't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CONFIGURATION  —  This is always available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19072"/>
            <a:ext cx="5394960" cy="393192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94360" y="1828800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Creating Business Service and Application Service records in OOTB CSDM tables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service hierarchy (Business Application → Application Service → Technical Service)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Assigning service owners, service managers, and support groups via OOTB service record fields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Mapping CIs to Application Services via OOTB service dependency relationships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Service Offering and Service Commitment records (OOTB)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service classification (customer-facing vs. supporting services)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Binding incidents to services via OOTB Business Service field on incident form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Configuring service health targets in OOTB Service Level Management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Setting up OOTB Service Maps for visual dependency display</a:t>
            </a:r>
          </a:p>
          <a:p>
            <a:r>
              <a:rPr lang="en-US" dirty="0" sz="1100">
                <a:solidFill>
                  <a:srgbClr val="16A34A"/>
                </a:solidFill>
                <a:latin typeface="Calibri"/>
              </a:rPr>
              <a:t>✓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Defining CSDM phasing approach (Foundation → Advanced in staged sprints)</a:t>
            </a:r>
          </a:p>
        </p:txBody>
      </p:sp>
      <p:sp>
        <p:nvSpPr>
          <p:cNvPr id="14" name="Shape 11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236208" y="137160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CUSTOMIZATION  —  Requires business case &amp; Council sign-off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36208" y="1719072"/>
            <a:ext cx="5486400" cy="3931920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373368" y="1828800"/>
            <a:ext cx="52120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CSDM table extensions beyond OOTB service hierarchy tables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service health calculations replacing OOTB service level targets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CMDB sync overriding OOTB service relationship model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service catalog integration with non-OOTB service record schema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impact calculation logic for incidents and changes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service dashboard widgets beyond OOTB PA service KPIs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Non-standard service hierarchy (more than 4 levels deep)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Scripted service dependency population from external systems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Custom service approval workflows for service record changes</a:t>
            </a:r>
          </a:p>
          <a:p>
            <a:r>
              <a:rPr lang="en-US" dirty="0" sz="1100">
                <a:solidFill>
                  <a:srgbClr val="B91C1C"/>
                </a:solidFill>
                <a:latin typeface="Calibri"/>
              </a:rPr>
              <a:t>✗  </a:t>
            </a:r>
            <a:r>
              <a:rPr lang="en-US" dirty="0" sz="1100">
                <a:solidFill>
                  <a:srgbClr val="1A1A1A"/>
                </a:solidFill>
                <a:latin typeface="Calibri"/>
              </a:rPr>
              <a:t>External service registry integration replacing OOTB CSDM records</a:t>
            </a:r>
          </a:p>
        </p:txBody>
      </p:sp>
      <p:sp>
        <p:nvSpPr>
          <p:cNvPr id="18" name="Shape 15"/>
          <p:cNvSpPr/>
          <p:nvPr/>
        </p:nvSpPr>
        <p:spPr>
          <a:xfrm>
            <a:off x="457200" y="5440680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94360" y="5486400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pattern requiring customization is captured in the Governance Triage Log with a named owner and disposition date — addressed in the current sprint via the Customization Council or deferred to a governed follow-on engagement.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THE PROCESS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ServiceNow OOTB CSDM Framework — Foundation View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Application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118360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374392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Service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035552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91584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Service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52744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08776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CIs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869936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25968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Map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9787128" y="1691640"/>
            <a:ext cx="256032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43160" y="1371600"/>
            <a:ext cx="1661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View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2267712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Key Capabilities &amp; OOTB Features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CSDM Layers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 (what the business uses) → Application Service (what IT deploys) → Technical Service (infrastructure components). Each layer maps naturally to OOTB tables — no schema extension needed.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20624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Relationship Model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29768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'Supported by' and 'Consumed by' relationships built in the OOTB CMDB. Service Maps visualize end-to-end dependencies automatically once relationships are defined.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955280" y="2596896"/>
            <a:ext cx="3749040" cy="3675888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46720" y="2670048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&amp; Change Integration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046720" y="3017520"/>
            <a:ext cx="3566160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 service maps feed Change Management risk scoring (which services are affected by a change) and Now Assist impact analysis. Clean CSDM data is a prerequisite for AI-accurate change advisory.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#1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CSDM adoption scope is right for Sprint 4 — foundation tier or full framework?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CSDM Tiers: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Tier: Business Applications + Application Services only. Maps well to most ITSM-first engagements. Full CSDM: adds Business Capability, Business Service, Offering layers — more value, more data prep.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tier for Sprint 4 — establish Application Services and their CMDB relationships. Full CSDM model is a natural follow-on once CMDB Discovery data is stable.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at Foundation: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foundation tier enables: Change impact analysis, Service Map visibility in incidents, and Now Assist context for affected service identification.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Foundation tier (Business App + App Service) or full CSDM framework for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there existing application inventory data that can seed the CSDM — or is this a net-new exercise?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target number of Business Applications in scope at Sprint 4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owns the CSDM data model post-engagement — the CMDB team, the IT architecture team, or a dedicated CSDM owner?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CSDM in Sprint 4 without stable Discovery data produces inaccurate service maps. Foundation tier first — full CSDM in a follow-on engagement after Discovery and CMDB are operationally stable.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#2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the Business Application inventory — and how will it be loaded?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Business Application Table: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cmdb_ci_business_app is the OOTB table for Business Applications. Populated via: manual entry (quick for small inventories), Import Sets from spreadsheet, or Discovery (for application detection).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Attributes: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description, lifecycle stage, business criticality, support group, IT owner, business owner. All OOTB fields — no new columns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Data Pack: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CSDM Accelerator Pack includes a Business Application worksheet for bulk import. ECS populates ServiceNow Mapping tab — customer provides inventory data.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Business Applications are in scope at Sprint 4 go-live (estimate)?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is the source of the application inventory — CMDB, ITSM asset list, architecture register, spreadsheet?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is the named IT owner (and business owner, if different) for each Business Application?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business criticality be assigned at Sprint 4 — or is that a follow-on exercise?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to load the full application portfolio in Sprint 4 without a validated data source creates data quality issues. Recommend: start with the top 20–30 business-critical applications. Expand post-go-live.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#3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the service taxonomy be structured — and how does it map to OOTB tables?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Service Taxonomy: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 (cmdb_ci_service_auto) — what IT deploys. Technical Service (cmdb_ci_service) — infrastructure grouping. Both tables exist OOTB — no new tables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Convention: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recommends: [BusinessApp]-[Environment] for Application Services (e.g., Payroll-Production). Consistent naming enables accurate service map rendering and PI training.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 Alignment: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 map to service catalog offerings. A Business Application 'Payroll' maps to catalog items for 'Payroll Access Request' and 'Payroll Report Run' — connecting business and IT views.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How many Application Services will be modeled in Sprint 4 (recommend: 1–2 per Business Application)?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naming convention will be used for Application Services?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Technical Services (infrastructure groupings) be modeled in Sprint 4 — or deferred?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service taxonomy document (from architecture or IT leadership) that CSDM should reflect?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new CSDM taxonomy tables or sub-types outside the OOTB schema requires Customization Council sign-off. The OOTB cmdb_ci_service and cmdb_ci_business_app tables support the full ITIL service hierarchy.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#4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Application Service owners be assigned — and what does ownership mean operationally?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Ownership Fields: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Service: 'Owned by' (business owner), 'Managed by' (IT owner), 'Support group' (assignment target for service-related incidents).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Impact: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ownership drives: change approval routing (service owner notified of changes affecting their service), incident notifications, and outage communication distribution lists.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Model: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recommendation: 1 business owner + 1 IT owner per Application Service. Support group handles day-to-day operational tickets. No custom role extension needed.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Who are the named business owners and IT owners for each Application Service?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What does 'service owner' mean operationally — approval authority, escalation point, communication owner?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service owners receive automated notifications for changes affecting their service?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there a governance process for service owner changes (organizational changes, staff turnover)?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service ownership hierarchies with custom approval trees require customization. OOTB: 1 business owner + 1 IT owner per service, routing via Support Group for operational tickets. Simple, maintainable, and accurate.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#5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relationships will be modeled — and how deep will the service map go?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Relationship 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'Hosted on' (App Service → Server CI), 'Depends on' (App Service → Database, Network CI), 'Connected to' (App Service → other App Service), 'Runs on' (App Service → Platform).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Map Depth: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Service Map renders all configured relationships automatically. Depth 1: App Service → direct CIs. Depth 2: App Service → CIs → their dependencies. Sprint 4 target: depth 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Relationship: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Discovery is active (Sprint 4), relationships between Application Services and discovered CIs are created automatically by the OOTB Discovery Relationships plugin.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What CIs will be manually linked to Application Services in Sprint 4 (pre-Discovery)?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Will depth 2 service map relationships be modeled — or only direct dependencies?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How will relationships be maintained as infrastructure changes (automated via Discovery vs manual update process)?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the service map be used in Change Management for impact assessment at Sprint 4 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Over-modeling CSDM relationships before Discovery is active creates maps that are immediately out of date. Sprint 4 recommendation: model top-tier app-to-server relationships manually; let Discovery auto-populate depth 2 in Sprint 5.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#6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CSDM integrate with CMDB to create accurate service maps?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CSDM-CMDB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Services link to CMDB CIs via the OOTB 'cmdb_rel_ci' relationship table. No new tables or foreign keys. Service Map renders these relationships visually — OOTB, no configuration needed beyond populating the records.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Auto-Mapping: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Discovery is active, Application Services are automatically associated with discovered CIs based on IP ranges and port mappings. OOTB behavior — no scripting.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Health Impact: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CSDM accuracy depends on CMDB completeness. Incomplete CMDB = broken service maps. Sprint 4 CSDM and CMDB must be sequenced together.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CMDB be populated via Discovery before CSDM relationships are configured — or will both be done manually in Sprint 4?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Who is responsible for maintaining CSDM-to-CMDB relationships as infrastructure changes?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What is the CMDB completeness target (%) before service maps are shared with business stakeholders?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Will Service Map views be published to business owners via the OOTB portal?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CSDM service maps before CMDB is populated produces maps with missing nodes. Recommend: populate CMDB CI data (at minimum, server and application CIs) before building Application Service relationships.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#7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CSDM data connect to the service catalog?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Catalog-CSDM Link: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can be linked to Application Services via the 'Affected service' field on Request Items. This enables: service-specific fulfillment routing, PI prediction of affected service from request type, and PA reporting by service.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Offering Catalog: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Offering Catalog (cmdb_ci_service_offering) models the customer-facing view of IT services. Linked to Application Services and to catalog items — no scripting needed.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Center topic taxonomy can mirror the CSDM service taxonomy — IT topics map to IT services, HR topics to HR services. Consistent naming improves user experience and search relevance.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catalog items be linked to Application Services at go-live — or deferred to a follow-on?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Is the Offering Catalog in scope for Sprint 4 — or just Application Services?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Will Employee Center topic taxonomy be aligned to the CSDM service taxonomy?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Who maintains the catalog-to-CSDM mapping as new catalog items are added post-go-live?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Offering Catalog modeling in Sprint 4 alongside CMDB, CSDM, and Discovery adds significant scope. Recommend: Application Services first; Offering Catalog in Sprint 5 or follow-on when service data is stable.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KEY DECISION  #8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9692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will CSDM service maps integrate with Change Management for impact assessment?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457200" y="1298448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38988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OOTB RECOMMENDATION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1773936"/>
            <a:ext cx="5394960" cy="3657600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1865376"/>
            <a:ext cx="51206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Change-CSDM Integration: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records include an 'Affected CIs' field and an 'Affected Services' field. When a CI is added to a change, OOTB service map lookup automatically populates the affected Application Services.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 Change risk score includes service criticality as a factor. Application Services marked as 'critical' in CSDM increase the calculated risk score of changes touching their CIs.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Notification: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Application Service is listed as affected on a Change record, the named service owner is automatically notified — OOTB notification, no scripting.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389888"/>
            <a:ext cx="553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DECIDE IN THE ROOM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17920" y="1773936"/>
            <a:ext cx="5532120" cy="36576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080" y="1865376"/>
            <a:ext cx="5257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answer: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Will Affected Services auto-population from service maps be activated at Sprint 4 go-live?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Should service criticality from CSDM factor into Change risk score calculation — or is risk score stand-alone?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Who are the named approvers notified when a critical Application Service is affected by a change?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Is the CAB (Change Advisory Board) process in scope for Sprint 4 — and will CSDM impact analysis support CAB reviews?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5559552"/>
            <a:ext cx="11247120" cy="658368"/>
          </a:xfrm>
          <a:prstGeom prst="rect">
            <a:avLst/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5605272"/>
            <a:ext cx="10972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OOTB Defense:  </a:t>
            </a:r>
            <a:pPr indent="0" marL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custom Change-to-CSDM risk calculation formulas require Customization Council review. OOTB service criticality contribution to risk score is sufficient for most organizations. Enable OOTB feature first; customize only after baseline data proves it is insufficient.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2011680"/>
            <a:ext cx="64008" cy="1645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Log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85800" y="2880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on the next page is an action.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85800" y="36118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left blank leave this room with a named owner and a date. Before we close: no decision is unresolved — it is either made, or owned.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DECISION LOG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15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CSDM — Decisions Made in This Workshop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114300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03120"/>
                <a:gridCol w="3657600"/>
                <a:gridCol w="3017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Made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/ Due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CSDM Adoption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 tier vs full framework, data source, target app 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Application Inventory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Source, app count, IT/business owner assignment, criticality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Taxonomy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Naming convention, App Service count, Technical Service 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+ IT owner per service, operational meaning, governance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 Depth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types linked, map depth, Discovery dependency, 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CMDB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Sequencing, auto-mapping, health target before publishing maps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Catalog-to-CSDM link, Offering Catalog scope, EC taxonomy alignment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Affected Services auto-population, risk scoring, CAB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5603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14B8A6"/>
                </a:solidFill>
              </a:rPr>
              <a:t>NEXT STEPS</a:t>
            </a:r>
            <a:endParaRPr lang="en-US" sz="800" dirty="0"/>
          </a:p>
        </p:txBody>
      </p:sp>
      <p:sp>
        <p:nvSpPr>
          <p:cNvPr id="4" name="Shape 1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16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502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happens after this workshop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112471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1148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03327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Accelerator Pack — Workbook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after this workshop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4864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captured today are entered into the CSDM Accelerator Pack workbook. ECS pre-populates the ServiceNow Mapping tab with OOTB field-level configuration specs.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25196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25196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4340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87375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Configuration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38912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Configuration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38912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configures the process in ServiceNow against the completed Accelerator Pack workbook. Customer SMEs validate configuration against agreed decisions.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092440" y="1417320"/>
            <a:ext cx="3611880" cy="4114800"/>
          </a:xfrm>
          <a:prstGeom prst="rect">
            <a:avLst/>
          </a:prstGeom>
          <a:solidFill>
            <a:srgbClr val="F7F9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092440" y="1417320"/>
            <a:ext cx="361188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83880" y="1417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714232" y="1444752"/>
            <a:ext cx="2880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OOTB Walkthrough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29600" y="1965960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sprint demo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229600" y="2240280"/>
            <a:ext cx="33375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walks the customer through the configured OOTB process in a live ServiceNow instance. Every decision from today is visible in the system.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5650992"/>
            <a:ext cx="1124712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CCF0E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56967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does not replace the Accelerator Pack workbook. The workbook is the living record — decisions formally captured, configuration data collected, and customer sign-off obtained before sprint build begins.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0" y="137160"/>
            <a:ext cx="1554480" cy="5303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65760" y="6556248"/>
            <a:ext cx="11430000" cy="0"/>
          </a:xfrm>
          <a:prstGeom prst="line">
            <a:avLst/>
          </a:prstGeom>
          <a:noFill/>
          <a:ln w="6350">
            <a:solidFill>
              <a:srgbClr val="2A4A7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66019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Everforth ECS Federal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566160" y="6601968"/>
            <a:ext cx="6400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SERVICENOW PRACTICE  ·  MODERNIZING THE CORE  ·  CSDM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11430000" y="660196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A9F"/>
                </a:solidFill>
              </a:rPr>
              <a:t>17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737360"/>
            <a:ext cx="64008" cy="1920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685800" y="26974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close the decision log.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" y="333756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C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before we adjourn: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8 decisions made — or does each open item have a named owner and a date?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anything we captured incorrectly that needs to be corrected before the workbook is updated?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decision that needs escalation or leadership approval before Sprint 4 configuration begins?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19963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F"/>
                </a:solidFill>
              </a:rPr>
              <a:t>Contact your ECS Account Executive  ·  servicenow@ecstech.com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2026-05-12T05:27:10Z</dcterms:created>
  <dcterms:modified xsi:type="dcterms:W3CDTF">2026-05-12T05:27:10Z</dcterms:modified>
</cp:coreProperties>
</file>