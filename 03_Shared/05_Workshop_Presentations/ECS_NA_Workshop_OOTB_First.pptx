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Rectangle 1"/>
          <p:cNvSpPr/>
          <p:nvPr/>
        </p:nvSpPr>
        <p:spPr>
          <a:xfrm>
            <a:off x="292608" y="1645920"/>
            <a:ext cx="64008" cy="155448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75488" y="1627632"/>
            <a:ext cx="6858000" cy="749808"/>
          </a:xfrm>
          <a:prstGeom prst="rect">
            <a:avLst/>
          </a:prstGeom>
          <a:noFill/>
        </p:spPr>
        <p:txBody>
          <a:bodyPr wrap="square" lIns="36576" rIns="36576" tIns="18288" bIns="18288">
            <a:spAutoFit/>
          </a:bodyPr>
          <a:lstStyle/>
          <a:p>
            <a:pPr algn="l"/>
            <a:r>
              <a:rPr sz="4000" b="1" i="0">
                <a:solidFill>
                  <a:srgbClr val="FFFFFF"/>
                </a:solidFill>
                <a:latin typeface="Calibri"/>
              </a:rPr>
              <a:t>Modernizing the Core</a:t>
            </a:r>
          </a:p>
        </p:txBody>
      </p:sp>
      <p:sp>
        <p:nvSpPr>
          <p:cNvPr id="4" name="TextBox 3"/>
          <p:cNvSpPr txBox="1"/>
          <p:nvPr/>
        </p:nvSpPr>
        <p:spPr>
          <a:xfrm>
            <a:off x="475488" y="2304288"/>
            <a:ext cx="7772400" cy="621792"/>
          </a:xfrm>
          <a:prstGeom prst="rect">
            <a:avLst/>
          </a:prstGeom>
          <a:noFill/>
        </p:spPr>
        <p:txBody>
          <a:bodyPr wrap="square" lIns="36576" rIns="36576" tIns="18288" bIns="18288">
            <a:spAutoFit/>
          </a:bodyPr>
          <a:lstStyle/>
          <a:p>
            <a:pPr algn="l"/>
            <a:r>
              <a:rPr sz="3000" b="1" i="0">
                <a:solidFill>
                  <a:srgbClr val="14B8A6"/>
                </a:solidFill>
                <a:latin typeface="Calibri"/>
              </a:rPr>
              <a:t>Now Assist &amp; Generative AI</a:t>
            </a:r>
          </a:p>
        </p:txBody>
      </p:sp>
      <p:sp>
        <p:nvSpPr>
          <p:cNvPr id="5" name="TextBox 4"/>
          <p:cNvSpPr txBox="1"/>
          <p:nvPr/>
        </p:nvSpPr>
        <p:spPr>
          <a:xfrm>
            <a:off x="475488" y="2907792"/>
            <a:ext cx="6858000" cy="384048"/>
          </a:xfrm>
          <a:prstGeom prst="rect">
            <a:avLst/>
          </a:prstGeom>
          <a:noFill/>
        </p:spPr>
        <p:txBody>
          <a:bodyPr wrap="square" lIns="36576" rIns="36576" tIns="18288" bIns="18288">
            <a:spAutoFit/>
          </a:bodyPr>
          <a:lstStyle/>
          <a:p>
            <a:pPr algn="l"/>
            <a:r>
              <a:rPr sz="1300" b="0" i="1">
                <a:solidFill>
                  <a:srgbClr val="FFFFFF"/>
                </a:solidFill>
                <a:latin typeface="Calibri"/>
              </a:rPr>
              <a:t>Ensuring AI Realization and Optimizing Long-Term Value</a:t>
            </a:r>
          </a:p>
        </p:txBody>
      </p:sp>
      <p:sp>
        <p:nvSpPr>
          <p:cNvPr id="6" name="TextBox 5"/>
          <p:cNvSpPr txBox="1"/>
          <p:nvPr/>
        </p:nvSpPr>
        <p:spPr>
          <a:xfrm>
            <a:off x="274320" y="4407408"/>
            <a:ext cx="5486400" cy="228600"/>
          </a:xfrm>
          <a:prstGeom prst="rect">
            <a:avLst/>
          </a:prstGeom>
          <a:noFill/>
        </p:spPr>
        <p:txBody>
          <a:bodyPr wrap="square" lIns="36576" rIns="36576" tIns="18288" bIns="18288">
            <a:spAutoFit/>
          </a:bodyPr>
          <a:lstStyle/>
          <a:p>
            <a:pPr algn="l"/>
            <a:r>
              <a:rPr sz="750" b="0" i="0">
                <a:solidFill>
                  <a:srgbClr val="94A3B8"/>
                </a:solidFill>
                <a:latin typeface="Calibri"/>
              </a:rPr>
              <a:t>Prepared by Everforth ECS Federal  ·  ServiceNow Practice  ·  Confidential</a:t>
            </a:r>
          </a:p>
        </p:txBody>
      </p:sp>
      <p:pic>
        <p:nvPicPr>
          <p:cNvPr id="7" name="Picture 6"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8" name="Rectangle 7"/>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10" name="TextBox 9"/>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NOW ASSIST / GEN AI</a:t>
            </a:r>
          </a:p>
        </p:txBody>
      </p:sp>
      <p:sp>
        <p:nvSpPr>
          <p:cNvPr id="11" name="TextBox 10"/>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A G E N D A</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2400" b="1" i="0">
                <a:solidFill>
                  <a:srgbClr val="0B1F3A"/>
                </a:solidFill>
                <a:latin typeface="Calibri"/>
              </a:rPr>
              <a:t>What We'll Cover Today</a:t>
            </a:r>
          </a:p>
        </p:txBody>
      </p:sp>
      <p:sp>
        <p:nvSpPr>
          <p:cNvPr id="5" name="Rectangle 4"/>
          <p:cNvSpPr/>
          <p:nvPr/>
        </p:nvSpPr>
        <p:spPr>
          <a:xfrm>
            <a:off x="320040" y="1005840"/>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97280"/>
            <a:ext cx="438912" cy="43891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1143000"/>
            <a:ext cx="438912" cy="347472"/>
          </a:xfrm>
          <a:prstGeom prst="rect">
            <a:avLst/>
          </a:prstGeom>
          <a:noFill/>
        </p:spPr>
        <p:txBody>
          <a:bodyPr wrap="square" lIns="36576" rIns="36576" tIns="18288" bIns="18288">
            <a:spAutoFit/>
          </a:bodyPr>
          <a:lstStyle/>
          <a:p>
            <a:pPr algn="ctr"/>
            <a:r>
              <a:rPr sz="1400" b="1" i="0">
                <a:solidFill>
                  <a:srgbClr val="FFFFFF"/>
                </a:solidFill>
                <a:latin typeface="Calibri"/>
              </a:rPr>
              <a:t>01</a:t>
            </a:r>
          </a:p>
        </p:txBody>
      </p:sp>
      <p:sp>
        <p:nvSpPr>
          <p:cNvPr id="8" name="TextBox 7"/>
          <p:cNvSpPr txBox="1"/>
          <p:nvPr/>
        </p:nvSpPr>
        <p:spPr>
          <a:xfrm>
            <a:off x="832104" y="1097280"/>
            <a:ext cx="3749039" cy="256032"/>
          </a:xfrm>
          <a:prstGeom prst="rect">
            <a:avLst/>
          </a:prstGeom>
          <a:noFill/>
        </p:spPr>
        <p:txBody>
          <a:bodyPr wrap="square" lIns="36576" rIns="36576" tIns="18288" bIns="18288">
            <a:spAutoFit/>
          </a:bodyPr>
          <a:lstStyle/>
          <a:p>
            <a:pPr algn="l"/>
            <a:r>
              <a:rPr sz="1100" b="1" i="0">
                <a:solidFill>
                  <a:srgbClr val="0B1F3A"/>
                </a:solidFill>
                <a:latin typeface="Calibri"/>
              </a:rPr>
              <a:t>The OOTB-First Frame</a:t>
            </a:r>
          </a:p>
        </p:txBody>
      </p:sp>
      <p:sp>
        <p:nvSpPr>
          <p:cNvPr id="9" name="TextBox 8"/>
          <p:cNvSpPr txBox="1"/>
          <p:nvPr/>
        </p:nvSpPr>
        <p:spPr>
          <a:xfrm>
            <a:off x="832104" y="1344168"/>
            <a:ext cx="3749039" cy="310896"/>
          </a:xfrm>
          <a:prstGeom prst="rect">
            <a:avLst/>
          </a:prstGeom>
          <a:noFill/>
        </p:spPr>
        <p:txBody>
          <a:bodyPr wrap="square" lIns="36576" rIns="36576" tIns="18288" bIns="18288">
            <a:spAutoFit/>
          </a:bodyPr>
          <a:lstStyle/>
          <a:p>
            <a:pPr algn="l"/>
            <a:r>
              <a:rPr sz="950" b="0" i="0">
                <a:solidFill>
                  <a:srgbClr val="1E293B"/>
                </a:solidFill>
                <a:latin typeface="Calibri"/>
              </a:rPr>
              <a:t>Why this engagement commits to OOTB -- and what it means in the room</a:t>
            </a:r>
          </a:p>
        </p:txBody>
      </p:sp>
      <p:sp>
        <p:nvSpPr>
          <p:cNvPr id="10" name="Rectangle 9"/>
          <p:cNvSpPr/>
          <p:nvPr/>
        </p:nvSpPr>
        <p:spPr>
          <a:xfrm>
            <a:off x="320040" y="1892807"/>
            <a:ext cx="438912" cy="43891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0040" y="1938527"/>
            <a:ext cx="438912" cy="347472"/>
          </a:xfrm>
          <a:prstGeom prst="rect">
            <a:avLst/>
          </a:prstGeom>
          <a:noFill/>
        </p:spPr>
        <p:txBody>
          <a:bodyPr wrap="square" lIns="36576" rIns="36576" tIns="18288" bIns="18288">
            <a:spAutoFit/>
          </a:bodyPr>
          <a:lstStyle/>
          <a:p>
            <a:pPr algn="ctr"/>
            <a:r>
              <a:rPr sz="1400" b="1" i="0">
                <a:solidFill>
                  <a:srgbClr val="FFFFFF"/>
                </a:solidFill>
                <a:latin typeface="Calibri"/>
              </a:rPr>
              <a:t>02</a:t>
            </a:r>
          </a:p>
        </p:txBody>
      </p:sp>
      <p:sp>
        <p:nvSpPr>
          <p:cNvPr id="12" name="TextBox 11"/>
          <p:cNvSpPr txBox="1"/>
          <p:nvPr/>
        </p:nvSpPr>
        <p:spPr>
          <a:xfrm>
            <a:off x="832104" y="1892807"/>
            <a:ext cx="3749039" cy="256032"/>
          </a:xfrm>
          <a:prstGeom prst="rect">
            <a:avLst/>
          </a:prstGeom>
          <a:noFill/>
        </p:spPr>
        <p:txBody>
          <a:bodyPr wrap="square" lIns="36576" rIns="36576" tIns="18288" bIns="18288">
            <a:spAutoFit/>
          </a:bodyPr>
          <a:lstStyle/>
          <a:p>
            <a:pPr algn="l"/>
            <a:r>
              <a:rPr sz="1100" b="1" i="0">
                <a:solidFill>
                  <a:srgbClr val="0B1F3A"/>
                </a:solidFill>
                <a:latin typeface="Calibri"/>
              </a:rPr>
              <a:t>Now Assist Overview</a:t>
            </a:r>
          </a:p>
        </p:txBody>
      </p:sp>
      <p:sp>
        <p:nvSpPr>
          <p:cNvPr id="13" name="TextBox 12"/>
          <p:cNvSpPr txBox="1"/>
          <p:nvPr/>
        </p:nvSpPr>
        <p:spPr>
          <a:xfrm>
            <a:off x="832104" y="2139696"/>
            <a:ext cx="3749039" cy="310896"/>
          </a:xfrm>
          <a:prstGeom prst="rect">
            <a:avLst/>
          </a:prstGeom>
          <a:noFill/>
        </p:spPr>
        <p:txBody>
          <a:bodyPr wrap="square" lIns="36576" rIns="36576" tIns="18288" bIns="18288">
            <a:spAutoFit/>
          </a:bodyPr>
          <a:lstStyle/>
          <a:p>
            <a:pPr algn="l"/>
            <a:r>
              <a:rPr sz="950" b="0" i="0">
                <a:solidFill>
                  <a:srgbClr val="1E293B"/>
                </a:solidFill>
                <a:latin typeface="Calibri"/>
              </a:rPr>
              <a:t>What Now Assist is, what it does OOTB, and how it connects to the platform</a:t>
            </a:r>
          </a:p>
        </p:txBody>
      </p:sp>
      <p:sp>
        <p:nvSpPr>
          <p:cNvPr id="14" name="Rectangle 13"/>
          <p:cNvSpPr/>
          <p:nvPr/>
        </p:nvSpPr>
        <p:spPr>
          <a:xfrm>
            <a:off x="320040" y="2688336"/>
            <a:ext cx="438912" cy="43891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0040" y="2734056"/>
            <a:ext cx="438912" cy="347472"/>
          </a:xfrm>
          <a:prstGeom prst="rect">
            <a:avLst/>
          </a:prstGeom>
          <a:noFill/>
        </p:spPr>
        <p:txBody>
          <a:bodyPr wrap="square" lIns="36576" rIns="36576" tIns="18288" bIns="18288">
            <a:spAutoFit/>
          </a:bodyPr>
          <a:lstStyle/>
          <a:p>
            <a:pPr algn="ctr"/>
            <a:r>
              <a:rPr sz="1400" b="1" i="0">
                <a:solidFill>
                  <a:srgbClr val="FFFFFF"/>
                </a:solidFill>
                <a:latin typeface="Calibri"/>
              </a:rPr>
              <a:t>03</a:t>
            </a:r>
          </a:p>
        </p:txBody>
      </p:sp>
      <p:sp>
        <p:nvSpPr>
          <p:cNvPr id="16" name="TextBox 15"/>
          <p:cNvSpPr txBox="1"/>
          <p:nvPr/>
        </p:nvSpPr>
        <p:spPr>
          <a:xfrm>
            <a:off x="832104" y="2688336"/>
            <a:ext cx="3749039" cy="256032"/>
          </a:xfrm>
          <a:prstGeom prst="rect">
            <a:avLst/>
          </a:prstGeom>
          <a:noFill/>
        </p:spPr>
        <p:txBody>
          <a:bodyPr wrap="square" lIns="36576" rIns="36576" tIns="18288" bIns="18288">
            <a:spAutoFit/>
          </a:bodyPr>
          <a:lstStyle/>
          <a:p>
            <a:pPr algn="l"/>
            <a:r>
              <a:rPr sz="1100" b="1" i="0">
                <a:solidFill>
                  <a:srgbClr val="0B1F3A"/>
                </a:solidFill>
                <a:latin typeface="Calibri"/>
              </a:rPr>
              <a:t>Now Assist Process Walkthrough</a:t>
            </a:r>
          </a:p>
        </p:txBody>
      </p:sp>
      <p:sp>
        <p:nvSpPr>
          <p:cNvPr id="17" name="TextBox 16"/>
          <p:cNvSpPr txBox="1"/>
          <p:nvPr/>
        </p:nvSpPr>
        <p:spPr>
          <a:xfrm>
            <a:off x="832104" y="2935224"/>
            <a:ext cx="3749039" cy="310896"/>
          </a:xfrm>
          <a:prstGeom prst="rect">
            <a:avLst/>
          </a:prstGeom>
          <a:noFill/>
        </p:spPr>
        <p:txBody>
          <a:bodyPr wrap="square" lIns="36576" rIns="36576" tIns="18288" bIns="18288">
            <a:spAutoFit/>
          </a:bodyPr>
          <a:lstStyle/>
          <a:p>
            <a:pPr algn="l"/>
            <a:r>
              <a:rPr sz="950" b="0" i="0">
                <a:solidFill>
                  <a:srgbClr val="1E293B"/>
                </a:solidFill>
                <a:latin typeface="Calibri"/>
              </a:rPr>
              <a:t>GenAI skill activation, prompt engineering scope, use case enablement</a:t>
            </a:r>
          </a:p>
        </p:txBody>
      </p:sp>
      <p:sp>
        <p:nvSpPr>
          <p:cNvPr id="18" name="Rectangle 17"/>
          <p:cNvSpPr/>
          <p:nvPr/>
        </p:nvSpPr>
        <p:spPr>
          <a:xfrm>
            <a:off x="4663440" y="1097280"/>
            <a:ext cx="438912" cy="43891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63440" y="1143000"/>
            <a:ext cx="438912" cy="347472"/>
          </a:xfrm>
          <a:prstGeom prst="rect">
            <a:avLst/>
          </a:prstGeom>
          <a:noFill/>
        </p:spPr>
        <p:txBody>
          <a:bodyPr wrap="square" lIns="36576" rIns="36576" tIns="18288" bIns="18288">
            <a:spAutoFit/>
          </a:bodyPr>
          <a:lstStyle/>
          <a:p>
            <a:pPr algn="ctr"/>
            <a:r>
              <a:rPr sz="1400" b="1" i="0">
                <a:solidFill>
                  <a:srgbClr val="FFFFFF"/>
                </a:solidFill>
                <a:latin typeface="Calibri"/>
              </a:rPr>
              <a:t>04</a:t>
            </a:r>
          </a:p>
        </p:txBody>
      </p:sp>
      <p:sp>
        <p:nvSpPr>
          <p:cNvPr id="20" name="TextBox 19"/>
          <p:cNvSpPr txBox="1"/>
          <p:nvPr/>
        </p:nvSpPr>
        <p:spPr>
          <a:xfrm>
            <a:off x="5175504" y="1097280"/>
            <a:ext cx="3749039" cy="256032"/>
          </a:xfrm>
          <a:prstGeom prst="rect">
            <a:avLst/>
          </a:prstGeom>
          <a:noFill/>
        </p:spPr>
        <p:txBody>
          <a:bodyPr wrap="square" lIns="36576" rIns="36576" tIns="18288" bIns="18288">
            <a:spAutoFit/>
          </a:bodyPr>
          <a:lstStyle/>
          <a:p>
            <a:pPr algn="l"/>
            <a:r>
              <a:rPr sz="1100" b="1" i="0">
                <a:solidFill>
                  <a:srgbClr val="0B1F3A"/>
                </a:solidFill>
                <a:latin typeface="Calibri"/>
              </a:rPr>
              <a:t>Key Decisions #1-#7</a:t>
            </a:r>
          </a:p>
        </p:txBody>
      </p:sp>
      <p:sp>
        <p:nvSpPr>
          <p:cNvPr id="21" name="TextBox 20"/>
          <p:cNvSpPr txBox="1"/>
          <p:nvPr/>
        </p:nvSpPr>
        <p:spPr>
          <a:xfrm>
            <a:off x="5175504" y="1344168"/>
            <a:ext cx="3749039" cy="310896"/>
          </a:xfrm>
          <a:prstGeom prst="rect">
            <a:avLst/>
          </a:prstGeom>
          <a:noFill/>
        </p:spPr>
        <p:txBody>
          <a:bodyPr wrap="square" lIns="36576" rIns="36576" tIns="18288" bIns="18288">
            <a:spAutoFit/>
          </a:bodyPr>
          <a:lstStyle/>
          <a:p>
            <a:pPr algn="l"/>
            <a:r>
              <a:rPr sz="950" b="0" i="0">
                <a:solidFill>
                  <a:srgbClr val="1E293B"/>
                </a:solidFill>
                <a:latin typeface="Calibri"/>
              </a:rPr>
              <a:t>Skills in scope, text-to-workflow, summarization, Virtual Agent integration, data residency, guardrails, governance</a:t>
            </a:r>
          </a:p>
        </p:txBody>
      </p:sp>
      <p:sp>
        <p:nvSpPr>
          <p:cNvPr id="22" name="Rectangle 21"/>
          <p:cNvSpPr/>
          <p:nvPr/>
        </p:nvSpPr>
        <p:spPr>
          <a:xfrm>
            <a:off x="4663440" y="1892807"/>
            <a:ext cx="438912" cy="43891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63440" y="1938527"/>
            <a:ext cx="438912" cy="347472"/>
          </a:xfrm>
          <a:prstGeom prst="rect">
            <a:avLst/>
          </a:prstGeom>
          <a:noFill/>
        </p:spPr>
        <p:txBody>
          <a:bodyPr wrap="square" lIns="36576" rIns="36576" tIns="18288" bIns="18288">
            <a:spAutoFit/>
          </a:bodyPr>
          <a:lstStyle/>
          <a:p>
            <a:pPr algn="ctr"/>
            <a:r>
              <a:rPr sz="1400" b="1" i="0">
                <a:solidFill>
                  <a:srgbClr val="FFFFFF"/>
                </a:solidFill>
                <a:latin typeface="Calibri"/>
              </a:rPr>
              <a:t>05</a:t>
            </a:r>
          </a:p>
        </p:txBody>
      </p:sp>
      <p:sp>
        <p:nvSpPr>
          <p:cNvPr id="24" name="TextBox 23"/>
          <p:cNvSpPr txBox="1"/>
          <p:nvPr/>
        </p:nvSpPr>
        <p:spPr>
          <a:xfrm>
            <a:off x="5175504" y="1892807"/>
            <a:ext cx="3749039" cy="256032"/>
          </a:xfrm>
          <a:prstGeom prst="rect">
            <a:avLst/>
          </a:prstGeom>
          <a:noFill/>
        </p:spPr>
        <p:txBody>
          <a:bodyPr wrap="square" lIns="36576" rIns="36576" tIns="18288" bIns="18288">
            <a:spAutoFit/>
          </a:bodyPr>
          <a:lstStyle/>
          <a:p>
            <a:pPr algn="l"/>
            <a:r>
              <a:rPr sz="1100" b="1" i="0">
                <a:solidFill>
                  <a:srgbClr val="0B1F3A"/>
                </a:solidFill>
                <a:latin typeface="Calibri"/>
              </a:rPr>
              <a:t>Decision Log</a:t>
            </a:r>
          </a:p>
        </p:txBody>
      </p:sp>
      <p:sp>
        <p:nvSpPr>
          <p:cNvPr id="25" name="TextBox 24"/>
          <p:cNvSpPr txBox="1"/>
          <p:nvPr/>
        </p:nvSpPr>
        <p:spPr>
          <a:xfrm>
            <a:off x="5175504" y="2139696"/>
            <a:ext cx="3749039" cy="310896"/>
          </a:xfrm>
          <a:prstGeom prst="rect">
            <a:avLst/>
          </a:prstGeom>
          <a:noFill/>
        </p:spPr>
        <p:txBody>
          <a:bodyPr wrap="square" lIns="36576" rIns="36576" tIns="18288" bIns="18288">
            <a:spAutoFit/>
          </a:bodyPr>
          <a:lstStyle/>
          <a:p>
            <a:pPr algn="l"/>
            <a:r>
              <a:rPr sz="950" b="0" i="0">
                <a:solidFill>
                  <a:srgbClr val="1E293B"/>
                </a:solidFill>
                <a:latin typeface="Calibri"/>
              </a:rPr>
              <a:t>Every decision is recorded before we leave this room</a:t>
            </a:r>
          </a:p>
        </p:txBody>
      </p:sp>
      <p:sp>
        <p:nvSpPr>
          <p:cNvPr id="26" name="Rectangle 25"/>
          <p:cNvSpPr/>
          <p:nvPr/>
        </p:nvSpPr>
        <p:spPr>
          <a:xfrm>
            <a:off x="4663440" y="2688336"/>
            <a:ext cx="438912" cy="43891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63440" y="2734056"/>
            <a:ext cx="438912" cy="347472"/>
          </a:xfrm>
          <a:prstGeom prst="rect">
            <a:avLst/>
          </a:prstGeom>
          <a:noFill/>
        </p:spPr>
        <p:txBody>
          <a:bodyPr wrap="square" lIns="36576" rIns="36576" tIns="18288" bIns="18288">
            <a:spAutoFit/>
          </a:bodyPr>
          <a:lstStyle/>
          <a:p>
            <a:pPr algn="ctr"/>
            <a:r>
              <a:rPr sz="1400" b="1" i="0">
                <a:solidFill>
                  <a:srgbClr val="FFFFFF"/>
                </a:solidFill>
                <a:latin typeface="Calibri"/>
              </a:rPr>
              <a:t>06</a:t>
            </a:r>
          </a:p>
        </p:txBody>
      </p:sp>
      <p:sp>
        <p:nvSpPr>
          <p:cNvPr id="28" name="TextBox 27"/>
          <p:cNvSpPr txBox="1"/>
          <p:nvPr/>
        </p:nvSpPr>
        <p:spPr>
          <a:xfrm>
            <a:off x="5175504" y="2688336"/>
            <a:ext cx="3749039" cy="256032"/>
          </a:xfrm>
          <a:prstGeom prst="rect">
            <a:avLst/>
          </a:prstGeom>
          <a:noFill/>
        </p:spPr>
        <p:txBody>
          <a:bodyPr wrap="square" lIns="36576" rIns="36576" tIns="18288" bIns="18288">
            <a:spAutoFit/>
          </a:bodyPr>
          <a:lstStyle/>
          <a:p>
            <a:pPr algn="l"/>
            <a:r>
              <a:rPr sz="1100" b="1" i="0">
                <a:solidFill>
                  <a:srgbClr val="0B1F3A"/>
                </a:solidFill>
                <a:latin typeface="Calibri"/>
              </a:rPr>
              <a:t>What Comes Next</a:t>
            </a:r>
          </a:p>
        </p:txBody>
      </p:sp>
      <p:sp>
        <p:nvSpPr>
          <p:cNvPr id="29" name="TextBox 28"/>
          <p:cNvSpPr txBox="1"/>
          <p:nvPr/>
        </p:nvSpPr>
        <p:spPr>
          <a:xfrm>
            <a:off x="5175504" y="2935224"/>
            <a:ext cx="3749039" cy="310896"/>
          </a:xfrm>
          <a:prstGeom prst="rect">
            <a:avLst/>
          </a:prstGeom>
          <a:noFill/>
        </p:spPr>
        <p:txBody>
          <a:bodyPr wrap="square" lIns="36576" rIns="36576" tIns="18288" bIns="18288">
            <a:spAutoFit/>
          </a:bodyPr>
          <a:lstStyle/>
          <a:p>
            <a:pPr algn="l"/>
            <a:r>
              <a:rPr sz="950" b="0" i="0">
                <a:solidFill>
                  <a:srgbClr val="1E293B"/>
                </a:solidFill>
                <a:latin typeface="Calibri"/>
              </a:rPr>
              <a:t>Now Assist activation, skill configuration, guardrail setup, user training</a:t>
            </a:r>
          </a:p>
        </p:txBody>
      </p:sp>
      <p:sp>
        <p:nvSpPr>
          <p:cNvPr id="30" name="Rectangle 29"/>
          <p:cNvSpPr/>
          <p:nvPr/>
        </p:nvSpPr>
        <p:spPr>
          <a:xfrm>
            <a:off x="320040" y="3529583"/>
            <a:ext cx="8503920" cy="45720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3611879"/>
            <a:ext cx="8229600" cy="347472"/>
          </a:xfrm>
          <a:prstGeom prst="rect">
            <a:avLst/>
          </a:prstGeom>
          <a:noFill/>
        </p:spPr>
        <p:txBody>
          <a:bodyPr wrap="square" lIns="36576" rIns="36576" tIns="18288" bIns="18288">
            <a:spAutoFit/>
          </a:bodyPr>
          <a:lstStyle/>
          <a:p>
            <a:pPr algn="l"/>
            <a:r>
              <a:rPr sz="950" b="1" i="0">
                <a:solidFill>
                  <a:srgbClr val="0B1F3A"/>
                </a:solidFill>
                <a:latin typeface="Calibri"/>
              </a:rPr>
              <a:t>Ground rule: </a:t>
            </a:r>
            <a:r>
              <a:rPr sz="950" b="0" i="0">
                <a:solidFill>
                  <a:srgbClr val="1E293B"/>
                </a:solidFill>
                <a:latin typeface="Calibri"/>
              </a:rPr>
              <a:t>Decisions get made in this room. The OOTB recommendation is pre-populated. Your job is to confirm, adjust with rationale, or defer with a named owner and date.</a:t>
            </a:r>
          </a:p>
        </p:txBody>
      </p:sp>
      <p:sp>
        <p:nvSpPr>
          <p:cNvPr id="32" name="Rectangle 31"/>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34" name="TextBox 33"/>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NOW ASSIST / GEN AI</a:t>
            </a:r>
          </a:p>
        </p:txBody>
      </p:sp>
      <p:sp>
        <p:nvSpPr>
          <p:cNvPr id="35" name="TextBox 34"/>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T H E  A P P R O A C H</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2400" b="1" i="0">
                <a:solidFill>
                  <a:srgbClr val="0B1F3A"/>
                </a:solidFill>
                <a:latin typeface="Calibri"/>
              </a:rPr>
              <a:t>OOTB-first is not a constraint — it is the AI strategy</a:t>
            </a:r>
          </a:p>
        </p:txBody>
      </p:sp>
      <p:sp>
        <p:nvSpPr>
          <p:cNvPr id="5" name="Rectangle 4"/>
          <p:cNvSpPr/>
          <p:nvPr/>
        </p:nvSpPr>
        <p:spPr>
          <a:xfrm>
            <a:off x="320040" y="1005840"/>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24128"/>
            <a:ext cx="2743200" cy="31089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59" y="1033271"/>
            <a:ext cx="2651760" cy="274320"/>
          </a:xfrm>
          <a:prstGeom prst="rect">
            <a:avLst/>
          </a:prstGeom>
          <a:noFill/>
        </p:spPr>
        <p:txBody>
          <a:bodyPr wrap="square" lIns="36576" rIns="36576" tIns="18288" bIns="18288">
            <a:spAutoFit/>
          </a:bodyPr>
          <a:lstStyle/>
          <a:p>
            <a:pPr algn="ctr"/>
            <a:r>
              <a:rPr sz="950" b="1" i="0">
                <a:solidFill>
                  <a:srgbClr val="FFFFFF"/>
                </a:solidFill>
                <a:latin typeface="Calibri"/>
              </a:rPr>
              <a:t>What OOTB-First Means</a:t>
            </a:r>
          </a:p>
        </p:txBody>
      </p:sp>
      <p:sp>
        <p:nvSpPr>
          <p:cNvPr id="8" name="Rectangle 7"/>
          <p:cNvSpPr/>
          <p:nvPr/>
        </p:nvSpPr>
        <p:spPr>
          <a:xfrm>
            <a:off x="320040" y="1335024"/>
            <a:ext cx="2743200" cy="33375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79" y="1389888"/>
            <a:ext cx="2560320" cy="3200400"/>
          </a:xfrm>
          <a:prstGeom prst="rect">
            <a:avLst/>
          </a:prstGeom>
          <a:noFill/>
        </p:spPr>
        <p:txBody>
          <a:bodyPr wrap="square" lIns="36576" rIns="36576" tIns="18288" bIns="18288">
            <a:spAutoFit/>
          </a:bodyPr>
          <a:lstStyle/>
          <a:p>
            <a:pPr algn="l">
              <a:spcAft>
                <a:spcPts val="400"/>
              </a:spcAft>
            </a:pPr>
            <a:r>
              <a:rPr sz="850" b="0" i="0">
                <a:solidFill>
                  <a:srgbClr val="1E293B"/>
                </a:solidFill>
                <a:latin typeface="Calibri"/>
              </a:rPr>
              <a:t>•  Now Assist is the GenAI layer built into ServiceNow. OOTB skills include: incident summarization, case summarization, change request summarization, knowledge article generation, search augmentation, text-to-workflow, and Virtual Agent handoff.</a:t>
            </a:r>
          </a:p>
          <a:p>
            <a:pPr algn="l">
              <a:spcAft>
                <a:spcPts val="400"/>
              </a:spcAft>
            </a:pPr>
            <a:r>
              <a:rPr sz="850" b="0" i="0">
                <a:solidFill>
                  <a:srgbClr val="1E293B"/>
                </a:solidFill>
                <a:latin typeface="Calibri"/>
              </a:rPr>
              <a:t>•  Now Assist skills are activated through the Now Assist Admin Center -- zero scripting for standard use cases.</a:t>
            </a:r>
          </a:p>
          <a:p>
            <a:pPr algn="l">
              <a:spcAft>
                <a:spcPts val="400"/>
              </a:spcAft>
            </a:pPr>
            <a:r>
              <a:rPr sz="850" b="0" i="0">
                <a:solidFill>
                  <a:srgbClr val="1E293B"/>
                </a:solidFill>
                <a:latin typeface="Calibri"/>
              </a:rPr>
              <a:t>•  All GenAI processing uses the Now LLM (Llama-based, running on ServiceNow infrastructure) unless the customer opts into an external LLM connector (Azure OpenAI, etc.).</a:t>
            </a:r>
          </a:p>
        </p:txBody>
      </p:sp>
      <p:sp>
        <p:nvSpPr>
          <p:cNvPr id="10" name="Rectangle 9"/>
          <p:cNvSpPr/>
          <p:nvPr/>
        </p:nvSpPr>
        <p:spPr>
          <a:xfrm>
            <a:off x="3131820" y="1024128"/>
            <a:ext cx="2743200" cy="31089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177540" y="1033271"/>
            <a:ext cx="2651760" cy="274320"/>
          </a:xfrm>
          <a:prstGeom prst="rect">
            <a:avLst/>
          </a:prstGeom>
          <a:noFill/>
        </p:spPr>
        <p:txBody>
          <a:bodyPr wrap="square" lIns="36576" rIns="36576" tIns="18288" bIns="18288">
            <a:spAutoFit/>
          </a:bodyPr>
          <a:lstStyle/>
          <a:p>
            <a:pPr algn="ctr"/>
            <a:r>
              <a:rPr sz="950" b="1" i="0">
                <a:solidFill>
                  <a:srgbClr val="FFFFFF"/>
                </a:solidFill>
                <a:latin typeface="Calibri"/>
              </a:rPr>
              <a:t>What We Configure (Not Code)</a:t>
            </a:r>
          </a:p>
        </p:txBody>
      </p:sp>
      <p:sp>
        <p:nvSpPr>
          <p:cNvPr id="12" name="Rectangle 11"/>
          <p:cNvSpPr/>
          <p:nvPr/>
        </p:nvSpPr>
        <p:spPr>
          <a:xfrm>
            <a:off x="3131820" y="1335024"/>
            <a:ext cx="2743200" cy="33375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23260" y="1389888"/>
            <a:ext cx="2560320" cy="3200400"/>
          </a:xfrm>
          <a:prstGeom prst="rect">
            <a:avLst/>
          </a:prstGeom>
          <a:noFill/>
        </p:spPr>
        <p:txBody>
          <a:bodyPr wrap="square" lIns="36576" rIns="36576" tIns="18288" bIns="18288">
            <a:spAutoFit/>
          </a:bodyPr>
          <a:lstStyle/>
          <a:p>
            <a:pPr algn="l">
              <a:spcAft>
                <a:spcPts val="400"/>
              </a:spcAft>
            </a:pPr>
            <a:r>
              <a:rPr sz="850" b="0" i="0">
                <a:solidFill>
                  <a:srgbClr val="1E293B"/>
                </a:solidFill>
                <a:latin typeface="Calibri"/>
              </a:rPr>
              <a:t>•  Skill activation: enable/disable specific Now Assist skills per persona.</a:t>
            </a:r>
          </a:p>
          <a:p>
            <a:pPr algn="l">
              <a:spcAft>
                <a:spcPts val="400"/>
              </a:spcAft>
            </a:pPr>
            <a:r>
              <a:rPr sz="850" b="0" i="0">
                <a:solidFill>
                  <a:srgbClr val="1E293B"/>
                </a:solidFill>
                <a:latin typeface="Calibri"/>
              </a:rPr>
              <a:t>•  Prompt customization: adjust the system prompt for summarization and generation skills (OOTB prompt is a starting point, not locked).</a:t>
            </a:r>
          </a:p>
          <a:p>
            <a:pPr algn="l">
              <a:spcAft>
                <a:spcPts val="400"/>
              </a:spcAft>
            </a:pPr>
            <a:r>
              <a:rPr sz="850" b="0" i="0">
                <a:solidFill>
                  <a:srgbClr val="1E293B"/>
                </a:solidFill>
                <a:latin typeface="Calibri"/>
              </a:rPr>
              <a:t>•  Guardrails: topic restrictions, PII handling, and response filtering.</a:t>
            </a:r>
          </a:p>
          <a:p>
            <a:pPr algn="l">
              <a:spcAft>
                <a:spcPts val="400"/>
              </a:spcAft>
            </a:pPr>
            <a:r>
              <a:rPr sz="850" b="0" i="0">
                <a:solidFill>
                  <a:srgbClr val="1E293B"/>
                </a:solidFill>
                <a:latin typeface="Calibri"/>
              </a:rPr>
              <a:t>•  Virtual Agent integration: Now Assist as the GenAI layer for VA conversation flows.</a:t>
            </a:r>
          </a:p>
        </p:txBody>
      </p:sp>
      <p:sp>
        <p:nvSpPr>
          <p:cNvPr id="14" name="Rectangle 13"/>
          <p:cNvSpPr/>
          <p:nvPr/>
        </p:nvSpPr>
        <p:spPr>
          <a:xfrm>
            <a:off x="5943600" y="1024128"/>
            <a:ext cx="2743200" cy="31089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89320" y="1033271"/>
            <a:ext cx="2651760" cy="274320"/>
          </a:xfrm>
          <a:prstGeom prst="rect">
            <a:avLst/>
          </a:prstGeom>
          <a:noFill/>
        </p:spPr>
        <p:txBody>
          <a:bodyPr wrap="square" lIns="36576" rIns="36576" tIns="18288" bIns="18288">
            <a:spAutoFit/>
          </a:bodyPr>
          <a:lstStyle/>
          <a:p>
            <a:pPr algn="ctr"/>
            <a:r>
              <a:rPr sz="950" b="1" i="0">
                <a:solidFill>
                  <a:srgbClr val="FFFFFF"/>
                </a:solidFill>
                <a:latin typeface="Calibri"/>
              </a:rPr>
              <a:t>The Delivery Approach</a:t>
            </a:r>
          </a:p>
        </p:txBody>
      </p:sp>
      <p:sp>
        <p:nvSpPr>
          <p:cNvPr id="16" name="Rectangle 15"/>
          <p:cNvSpPr/>
          <p:nvPr/>
        </p:nvSpPr>
        <p:spPr>
          <a:xfrm>
            <a:off x="5943600" y="1335024"/>
            <a:ext cx="2743200" cy="33375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35040" y="1389888"/>
            <a:ext cx="2560320" cy="3200400"/>
          </a:xfrm>
          <a:prstGeom prst="rect">
            <a:avLst/>
          </a:prstGeom>
          <a:noFill/>
        </p:spPr>
        <p:txBody>
          <a:bodyPr wrap="square" lIns="36576" rIns="36576" tIns="18288" bIns="18288">
            <a:spAutoFit/>
          </a:bodyPr>
          <a:lstStyle/>
          <a:p>
            <a:pPr algn="l">
              <a:spcAft>
                <a:spcPts val="400"/>
              </a:spcAft>
            </a:pPr>
            <a:r>
              <a:rPr sz="850" b="0" i="0">
                <a:solidFill>
                  <a:srgbClr val="1E293B"/>
                </a:solidFill>
                <a:latin typeface="Calibri"/>
              </a:rPr>
              <a:t>•  Sprint 5 activates Now Assist, enables in-scope skills, and configures guardrails.</a:t>
            </a:r>
          </a:p>
          <a:p>
            <a:pPr algn="l">
              <a:spcAft>
                <a:spcPts val="400"/>
              </a:spcAft>
            </a:pPr>
            <a:r>
              <a:rPr sz="850" b="0" i="0">
                <a:solidFill>
                  <a:srgbClr val="1E293B"/>
                </a:solidFill>
                <a:latin typeface="Calibri"/>
              </a:rPr>
              <a:t>•  Sprint 6 tunes prompts, validates outputs, and trains service desk and end users.</a:t>
            </a:r>
          </a:p>
          <a:p>
            <a:pPr algn="l">
              <a:spcAft>
                <a:spcPts val="400"/>
              </a:spcAft>
            </a:pPr>
            <a:r>
              <a:rPr sz="850" b="0" i="0">
                <a:solidFill>
                  <a:srgbClr val="1E293B"/>
                </a:solidFill>
                <a:latin typeface="Calibri"/>
              </a:rPr>
              <a:t>•  All configuration through Now Assist Admin Center -- zero scripting.</a:t>
            </a:r>
          </a:p>
        </p:txBody>
      </p:sp>
      <p:sp>
        <p:nvSpPr>
          <p:cNvPr id="18" name="Rectangle 17"/>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20" name="TextBox 19"/>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NOW ASSIST / GEN AI</a:t>
            </a:r>
          </a:p>
        </p:txBody>
      </p:sp>
      <p:sp>
        <p:nvSpPr>
          <p:cNvPr id="21" name="TextBox 20"/>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T H E  L I N E</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2400" b="1" i="0">
                <a:solidFill>
                  <a:srgbClr val="0B1F3A"/>
                </a:solidFill>
                <a:latin typeface="Calibri"/>
              </a:rPr>
              <a:t>What a customization is — and what it isn’t</a:t>
            </a:r>
          </a:p>
        </p:txBody>
      </p:sp>
      <p:sp>
        <p:nvSpPr>
          <p:cNvPr id="5" name="Rectangle 4"/>
          <p:cNvSpPr/>
          <p:nvPr/>
        </p:nvSpPr>
        <p:spPr>
          <a:xfrm>
            <a:off x="320040" y="1005840"/>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24128"/>
            <a:ext cx="4160520" cy="29260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74904" y="1033271"/>
            <a:ext cx="4050791" cy="256032"/>
          </a:xfrm>
          <a:prstGeom prst="rect">
            <a:avLst/>
          </a:prstGeom>
          <a:noFill/>
        </p:spPr>
        <p:txBody>
          <a:bodyPr wrap="square" lIns="36576" rIns="36576" tIns="18288" bIns="18288">
            <a:spAutoFit/>
          </a:bodyPr>
          <a:lstStyle/>
          <a:p>
            <a:pPr algn="ctr"/>
            <a:r>
              <a:rPr sz="850" b="1" i="0">
                <a:solidFill>
                  <a:srgbClr val="FFFFFF"/>
                </a:solidFill>
                <a:latin typeface="Calibri"/>
              </a:rPr>
              <a:t>CONFIGURATION  —  This is always available</a:t>
            </a:r>
          </a:p>
        </p:txBody>
      </p:sp>
      <p:sp>
        <p:nvSpPr>
          <p:cNvPr id="8" name="Rectangle 7"/>
          <p:cNvSpPr/>
          <p:nvPr/>
        </p:nvSpPr>
        <p:spPr>
          <a:xfrm>
            <a:off x="320040" y="1316736"/>
            <a:ext cx="4160520" cy="3310128"/>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79" y="1371600"/>
            <a:ext cx="3977639" cy="3200400"/>
          </a:xfrm>
          <a:prstGeom prst="rect">
            <a:avLst/>
          </a:prstGeom>
          <a:noFill/>
        </p:spPr>
        <p:txBody>
          <a:bodyPr wrap="square" lIns="36576" rIns="36576" tIns="18288" bIns="18288">
            <a:spAutoFit/>
          </a:bodyPr>
          <a:lstStyle/>
          <a:p>
            <a:pPr algn="l">
              <a:spcAft>
                <a:spcPts val="300"/>
              </a:spcAft>
            </a:pPr>
            <a:r>
              <a:rPr sz="850" b="0" i="0">
                <a:solidFill>
                  <a:srgbClr val="1E293B"/>
                </a:solidFill>
                <a:latin typeface="Calibri"/>
              </a:rPr>
              <a:t>✓  S</a:t>
            </a:r>
          </a:p>
          <a:p>
            <a:pPr algn="l">
              <a:spcAft>
                <a:spcPts val="300"/>
              </a:spcAft>
            </a:pPr>
            <a:r>
              <a:rPr sz="850" b="0" i="0">
                <a:solidFill>
                  <a:srgbClr val="1E293B"/>
                </a:solidFill>
                <a:latin typeface="Calibri"/>
              </a:rPr>
              <a:t>✓  k</a:t>
            </a:r>
          </a:p>
          <a:p>
            <a:pPr algn="l">
              <a:spcAft>
                <a:spcPts val="300"/>
              </a:spcAft>
            </a:pPr>
            <a:r>
              <a:rPr sz="850" b="0" i="0">
                <a:solidFill>
                  <a:srgbClr val="1E293B"/>
                </a:solidFill>
                <a:latin typeface="Calibri"/>
              </a:rPr>
              <a:t>✓  i</a:t>
            </a:r>
          </a:p>
          <a:p>
            <a:pPr algn="l">
              <a:spcAft>
                <a:spcPts val="300"/>
              </a:spcAft>
            </a:pPr>
            <a:r>
              <a:rPr sz="850" b="0" i="0">
                <a:solidFill>
                  <a:srgbClr val="1E293B"/>
                </a:solidFill>
                <a:latin typeface="Calibri"/>
              </a:rPr>
              <a:t>✓  l</a:t>
            </a:r>
          </a:p>
          <a:p>
            <a:pPr algn="l">
              <a:spcAft>
                <a:spcPts val="300"/>
              </a:spcAft>
            </a:pPr>
            <a:r>
              <a:rPr sz="850" b="0" i="0">
                <a:solidFill>
                  <a:srgbClr val="1E293B"/>
                </a:solidFill>
                <a:latin typeface="Calibri"/>
              </a:rPr>
              <a:t>✓  l</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a</a:t>
            </a:r>
          </a:p>
          <a:p>
            <a:pPr algn="l">
              <a:spcAft>
                <a:spcPts val="300"/>
              </a:spcAft>
            </a:pPr>
            <a:r>
              <a:rPr sz="850" b="0" i="0">
                <a:solidFill>
                  <a:srgbClr val="1E293B"/>
                </a:solidFill>
                <a:latin typeface="Calibri"/>
              </a:rPr>
              <a:t>✓  c</a:t>
            </a:r>
          </a:p>
          <a:p>
            <a:pPr algn="l">
              <a:spcAft>
                <a:spcPts val="300"/>
              </a:spcAft>
            </a:pPr>
            <a:r>
              <a:rPr sz="850" b="0" i="0">
                <a:solidFill>
                  <a:srgbClr val="1E293B"/>
                </a:solidFill>
                <a:latin typeface="Calibri"/>
              </a:rPr>
              <a:t>✓  t</a:t>
            </a:r>
          </a:p>
          <a:p>
            <a:pPr algn="l">
              <a:spcAft>
                <a:spcPts val="300"/>
              </a:spcAft>
            </a:pPr>
            <a:r>
              <a:rPr sz="850" b="0" i="0">
                <a:solidFill>
                  <a:srgbClr val="1E293B"/>
                </a:solidFill>
                <a:latin typeface="Calibri"/>
              </a:rPr>
              <a:t>✓  i</a:t>
            </a:r>
          </a:p>
          <a:p>
            <a:pPr algn="l">
              <a:spcAft>
                <a:spcPts val="300"/>
              </a:spcAft>
            </a:pPr>
            <a:r>
              <a:rPr sz="850" b="0" i="0">
                <a:solidFill>
                  <a:srgbClr val="1E293B"/>
                </a:solidFill>
                <a:latin typeface="Calibri"/>
              </a:rPr>
              <a:t>✓  v</a:t>
            </a:r>
          </a:p>
          <a:p>
            <a:pPr algn="l">
              <a:spcAft>
                <a:spcPts val="300"/>
              </a:spcAft>
            </a:pPr>
            <a:r>
              <a:rPr sz="850" b="0" i="0">
                <a:solidFill>
                  <a:srgbClr val="1E293B"/>
                </a:solidFill>
                <a:latin typeface="Calibri"/>
              </a:rPr>
              <a:t>✓  a</a:t>
            </a:r>
          </a:p>
          <a:p>
            <a:pPr algn="l">
              <a:spcAft>
                <a:spcPts val="300"/>
              </a:spcAft>
            </a:pPr>
            <a:r>
              <a:rPr sz="850" b="0" i="0">
                <a:solidFill>
                  <a:srgbClr val="1E293B"/>
                </a:solidFill>
                <a:latin typeface="Calibri"/>
              </a:rPr>
              <a:t>✓  t</a:t>
            </a:r>
          </a:p>
          <a:p>
            <a:pPr algn="l">
              <a:spcAft>
                <a:spcPts val="300"/>
              </a:spcAft>
            </a:pPr>
            <a:r>
              <a:rPr sz="850" b="0" i="0">
                <a:solidFill>
                  <a:srgbClr val="1E293B"/>
                </a:solidFill>
                <a:latin typeface="Calibri"/>
              </a:rPr>
              <a:t>✓  i</a:t>
            </a:r>
          </a:p>
          <a:p>
            <a:pPr algn="l">
              <a:spcAft>
                <a:spcPts val="300"/>
              </a:spcAft>
            </a:pPr>
            <a:r>
              <a:rPr sz="850" b="0" i="0">
                <a:solidFill>
                  <a:srgbClr val="1E293B"/>
                </a:solidFill>
                <a:latin typeface="Calibri"/>
              </a:rPr>
              <a:t>✓  o</a:t>
            </a:r>
          </a:p>
          <a:p>
            <a:pPr algn="l">
              <a:spcAft>
                <a:spcPts val="300"/>
              </a:spcAft>
            </a:pPr>
            <a:r>
              <a:rPr sz="850" b="0" i="0">
                <a:solidFill>
                  <a:srgbClr val="1E293B"/>
                </a:solidFill>
                <a:latin typeface="Calibri"/>
              </a:rPr>
              <a:t>✓  n</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p</a:t>
            </a:r>
          </a:p>
          <a:p>
            <a:pPr algn="l">
              <a:spcAft>
                <a:spcPts val="300"/>
              </a:spcAft>
            </a:pPr>
            <a:r>
              <a:rPr sz="850" b="0" i="0">
                <a:solidFill>
                  <a:srgbClr val="1E293B"/>
                </a:solidFill>
                <a:latin typeface="Calibri"/>
              </a:rPr>
              <a:t>✓  r</a:t>
            </a:r>
          </a:p>
          <a:p>
            <a:pPr algn="l">
              <a:spcAft>
                <a:spcPts val="300"/>
              </a:spcAft>
            </a:pPr>
            <a:r>
              <a:rPr sz="850" b="0" i="0">
                <a:solidFill>
                  <a:srgbClr val="1E293B"/>
                </a:solidFill>
                <a:latin typeface="Calibri"/>
              </a:rPr>
              <a:t>✓  o</a:t>
            </a:r>
          </a:p>
          <a:p>
            <a:pPr algn="l">
              <a:spcAft>
                <a:spcPts val="300"/>
              </a:spcAft>
            </a:pPr>
            <a:r>
              <a:rPr sz="850" b="0" i="0">
                <a:solidFill>
                  <a:srgbClr val="1E293B"/>
                </a:solidFill>
                <a:latin typeface="Calibri"/>
              </a:rPr>
              <a:t>✓  m</a:t>
            </a:r>
          </a:p>
          <a:p>
            <a:pPr algn="l">
              <a:spcAft>
                <a:spcPts val="300"/>
              </a:spcAft>
            </a:pPr>
            <a:r>
              <a:rPr sz="850" b="0" i="0">
                <a:solidFill>
                  <a:srgbClr val="1E293B"/>
                </a:solidFill>
                <a:latin typeface="Calibri"/>
              </a:rPr>
              <a:t>✓  p</a:t>
            </a:r>
          </a:p>
          <a:p>
            <a:pPr algn="l">
              <a:spcAft>
                <a:spcPts val="300"/>
              </a:spcAft>
            </a:pPr>
            <a:r>
              <a:rPr sz="850" b="0" i="0">
                <a:solidFill>
                  <a:srgbClr val="1E293B"/>
                </a:solidFill>
                <a:latin typeface="Calibri"/>
              </a:rPr>
              <a:t>✓  t</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c</a:t>
            </a:r>
          </a:p>
          <a:p>
            <a:pPr algn="l">
              <a:spcAft>
                <a:spcPts val="300"/>
              </a:spcAft>
            </a:pPr>
            <a:r>
              <a:rPr sz="850" b="0" i="0">
                <a:solidFill>
                  <a:srgbClr val="1E293B"/>
                </a:solidFill>
                <a:latin typeface="Calibri"/>
              </a:rPr>
              <a:t>✓  u</a:t>
            </a:r>
          </a:p>
          <a:p>
            <a:pPr algn="l">
              <a:spcAft>
                <a:spcPts val="300"/>
              </a:spcAft>
            </a:pPr>
            <a:r>
              <a:rPr sz="850" b="0" i="0">
                <a:solidFill>
                  <a:srgbClr val="1E293B"/>
                </a:solidFill>
                <a:latin typeface="Calibri"/>
              </a:rPr>
              <a:t>✓  s</a:t>
            </a:r>
          </a:p>
          <a:p>
            <a:pPr algn="l">
              <a:spcAft>
                <a:spcPts val="300"/>
              </a:spcAft>
            </a:pPr>
            <a:r>
              <a:rPr sz="850" b="0" i="0">
                <a:solidFill>
                  <a:srgbClr val="1E293B"/>
                </a:solidFill>
                <a:latin typeface="Calibri"/>
              </a:rPr>
              <a:t>✓  t</a:t>
            </a:r>
          </a:p>
          <a:p>
            <a:pPr algn="l">
              <a:spcAft>
                <a:spcPts val="300"/>
              </a:spcAft>
            </a:pPr>
            <a:r>
              <a:rPr sz="850" b="0" i="0">
                <a:solidFill>
                  <a:srgbClr val="1E293B"/>
                </a:solidFill>
                <a:latin typeface="Calibri"/>
              </a:rPr>
              <a:t>✓  o</a:t>
            </a:r>
          </a:p>
          <a:p>
            <a:pPr algn="l">
              <a:spcAft>
                <a:spcPts val="300"/>
              </a:spcAft>
            </a:pPr>
            <a:r>
              <a:rPr sz="850" b="0" i="0">
                <a:solidFill>
                  <a:srgbClr val="1E293B"/>
                </a:solidFill>
                <a:latin typeface="Calibri"/>
              </a:rPr>
              <a:t>✓  m</a:t>
            </a:r>
          </a:p>
          <a:p>
            <a:pPr algn="l">
              <a:spcAft>
                <a:spcPts val="300"/>
              </a:spcAft>
            </a:pPr>
            <a:r>
              <a:rPr sz="850" b="0" i="0">
                <a:solidFill>
                  <a:srgbClr val="1E293B"/>
                </a:solidFill>
                <a:latin typeface="Calibri"/>
              </a:rPr>
              <a:t>✓  i</a:t>
            </a:r>
          </a:p>
          <a:p>
            <a:pPr algn="l">
              <a:spcAft>
                <a:spcPts val="300"/>
              </a:spcAft>
            </a:pPr>
            <a:r>
              <a:rPr sz="850" b="0" i="0">
                <a:solidFill>
                  <a:srgbClr val="1E293B"/>
                </a:solidFill>
                <a:latin typeface="Calibri"/>
              </a:rPr>
              <a:t>✓  z</a:t>
            </a:r>
          </a:p>
          <a:p>
            <a:pPr algn="l">
              <a:spcAft>
                <a:spcPts val="300"/>
              </a:spcAft>
            </a:pPr>
            <a:r>
              <a:rPr sz="850" b="0" i="0">
                <a:solidFill>
                  <a:srgbClr val="1E293B"/>
                </a:solidFill>
                <a:latin typeface="Calibri"/>
              </a:rPr>
              <a:t>✓  a</a:t>
            </a:r>
          </a:p>
          <a:p>
            <a:pPr algn="l">
              <a:spcAft>
                <a:spcPts val="300"/>
              </a:spcAft>
            </a:pPr>
            <a:r>
              <a:rPr sz="850" b="0" i="0">
                <a:solidFill>
                  <a:srgbClr val="1E293B"/>
                </a:solidFill>
                <a:latin typeface="Calibri"/>
              </a:rPr>
              <a:t>✓  t</a:t>
            </a:r>
          </a:p>
          <a:p>
            <a:pPr algn="l">
              <a:spcAft>
                <a:spcPts val="300"/>
              </a:spcAft>
            </a:pPr>
            <a:r>
              <a:rPr sz="850" b="0" i="0">
                <a:solidFill>
                  <a:srgbClr val="1E293B"/>
                </a:solidFill>
                <a:latin typeface="Calibri"/>
              </a:rPr>
              <a:t>✓  i</a:t>
            </a:r>
          </a:p>
          <a:p>
            <a:pPr algn="l">
              <a:spcAft>
                <a:spcPts val="300"/>
              </a:spcAft>
            </a:pPr>
            <a:r>
              <a:rPr sz="850" b="0" i="0">
                <a:solidFill>
                  <a:srgbClr val="1E293B"/>
                </a:solidFill>
                <a:latin typeface="Calibri"/>
              </a:rPr>
              <a:t>✓  o</a:t>
            </a:r>
          </a:p>
          <a:p>
            <a:pPr algn="l">
              <a:spcAft>
                <a:spcPts val="300"/>
              </a:spcAft>
            </a:pPr>
            <a:r>
              <a:rPr sz="850" b="0" i="0">
                <a:solidFill>
                  <a:srgbClr val="1E293B"/>
                </a:solidFill>
                <a:latin typeface="Calibri"/>
              </a:rPr>
              <a:t>✓  n</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g</a:t>
            </a:r>
          </a:p>
          <a:p>
            <a:pPr algn="l">
              <a:spcAft>
                <a:spcPts val="300"/>
              </a:spcAft>
            </a:pPr>
            <a:r>
              <a:rPr sz="850" b="0" i="0">
                <a:solidFill>
                  <a:srgbClr val="1E293B"/>
                </a:solidFill>
                <a:latin typeface="Calibri"/>
              </a:rPr>
              <a:t>✓  u</a:t>
            </a:r>
          </a:p>
          <a:p>
            <a:pPr algn="l">
              <a:spcAft>
                <a:spcPts val="300"/>
              </a:spcAft>
            </a:pPr>
            <a:r>
              <a:rPr sz="850" b="0" i="0">
                <a:solidFill>
                  <a:srgbClr val="1E293B"/>
                </a:solidFill>
                <a:latin typeface="Calibri"/>
              </a:rPr>
              <a:t>✓  a</a:t>
            </a:r>
          </a:p>
          <a:p>
            <a:pPr algn="l">
              <a:spcAft>
                <a:spcPts val="300"/>
              </a:spcAft>
            </a:pPr>
            <a:r>
              <a:rPr sz="850" b="0" i="0">
                <a:solidFill>
                  <a:srgbClr val="1E293B"/>
                </a:solidFill>
                <a:latin typeface="Calibri"/>
              </a:rPr>
              <a:t>✓  r</a:t>
            </a:r>
          </a:p>
          <a:p>
            <a:pPr algn="l">
              <a:spcAft>
                <a:spcPts val="300"/>
              </a:spcAft>
            </a:pPr>
            <a:r>
              <a:rPr sz="850" b="0" i="0">
                <a:solidFill>
                  <a:srgbClr val="1E293B"/>
                </a:solidFill>
                <a:latin typeface="Calibri"/>
              </a:rPr>
              <a:t>✓  d</a:t>
            </a:r>
          </a:p>
          <a:p>
            <a:pPr algn="l">
              <a:spcAft>
                <a:spcPts val="300"/>
              </a:spcAft>
            </a:pPr>
            <a:r>
              <a:rPr sz="850" b="0" i="0">
                <a:solidFill>
                  <a:srgbClr val="1E293B"/>
                </a:solidFill>
                <a:latin typeface="Calibri"/>
              </a:rPr>
              <a:t>✓  r</a:t>
            </a:r>
          </a:p>
          <a:p>
            <a:pPr algn="l">
              <a:spcAft>
                <a:spcPts val="300"/>
              </a:spcAft>
            </a:pPr>
            <a:r>
              <a:rPr sz="850" b="0" i="0">
                <a:solidFill>
                  <a:srgbClr val="1E293B"/>
                </a:solidFill>
                <a:latin typeface="Calibri"/>
              </a:rPr>
              <a:t>✓  a</a:t>
            </a:r>
          </a:p>
          <a:p>
            <a:pPr algn="l">
              <a:spcAft>
                <a:spcPts val="300"/>
              </a:spcAft>
            </a:pPr>
            <a:r>
              <a:rPr sz="850" b="0" i="0">
                <a:solidFill>
                  <a:srgbClr val="1E293B"/>
                </a:solidFill>
                <a:latin typeface="Calibri"/>
              </a:rPr>
              <a:t>✓  i</a:t>
            </a:r>
          </a:p>
          <a:p>
            <a:pPr algn="l">
              <a:spcAft>
                <a:spcPts val="300"/>
              </a:spcAft>
            </a:pPr>
            <a:r>
              <a:rPr sz="850" b="0" i="0">
                <a:solidFill>
                  <a:srgbClr val="1E293B"/>
                </a:solidFill>
                <a:latin typeface="Calibri"/>
              </a:rPr>
              <a:t>✓  l</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c</a:t>
            </a:r>
          </a:p>
          <a:p>
            <a:pPr algn="l">
              <a:spcAft>
                <a:spcPts val="300"/>
              </a:spcAft>
            </a:pPr>
            <a:r>
              <a:rPr sz="850" b="0" i="0">
                <a:solidFill>
                  <a:srgbClr val="1E293B"/>
                </a:solidFill>
                <a:latin typeface="Calibri"/>
              </a:rPr>
              <a:t>✓  o</a:t>
            </a:r>
          </a:p>
          <a:p>
            <a:pPr algn="l">
              <a:spcAft>
                <a:spcPts val="300"/>
              </a:spcAft>
            </a:pPr>
            <a:r>
              <a:rPr sz="850" b="0" i="0">
                <a:solidFill>
                  <a:srgbClr val="1E293B"/>
                </a:solidFill>
                <a:latin typeface="Calibri"/>
              </a:rPr>
              <a:t>✓  n</a:t>
            </a:r>
          </a:p>
          <a:p>
            <a:pPr algn="l">
              <a:spcAft>
                <a:spcPts val="300"/>
              </a:spcAft>
            </a:pPr>
            <a:r>
              <a:rPr sz="850" b="0" i="0">
                <a:solidFill>
                  <a:srgbClr val="1E293B"/>
                </a:solidFill>
                <a:latin typeface="Calibri"/>
              </a:rPr>
              <a:t>✓  f</a:t>
            </a:r>
          </a:p>
          <a:p>
            <a:pPr algn="l">
              <a:spcAft>
                <a:spcPts val="300"/>
              </a:spcAft>
            </a:pPr>
            <a:r>
              <a:rPr sz="850" b="0" i="0">
                <a:solidFill>
                  <a:srgbClr val="1E293B"/>
                </a:solidFill>
                <a:latin typeface="Calibri"/>
              </a:rPr>
              <a:t>✓  i</a:t>
            </a:r>
          </a:p>
          <a:p>
            <a:pPr algn="l">
              <a:spcAft>
                <a:spcPts val="300"/>
              </a:spcAft>
            </a:pPr>
            <a:r>
              <a:rPr sz="850" b="0" i="0">
                <a:solidFill>
                  <a:srgbClr val="1E293B"/>
                </a:solidFill>
                <a:latin typeface="Calibri"/>
              </a:rPr>
              <a:t>✓  g</a:t>
            </a:r>
          </a:p>
          <a:p>
            <a:pPr algn="l">
              <a:spcAft>
                <a:spcPts val="300"/>
              </a:spcAft>
            </a:pPr>
            <a:r>
              <a:rPr sz="850" b="0" i="0">
                <a:solidFill>
                  <a:srgbClr val="1E293B"/>
                </a:solidFill>
                <a:latin typeface="Calibri"/>
              </a:rPr>
              <a:t>✓  u</a:t>
            </a:r>
          </a:p>
          <a:p>
            <a:pPr algn="l">
              <a:spcAft>
                <a:spcPts val="300"/>
              </a:spcAft>
            </a:pPr>
            <a:r>
              <a:rPr sz="850" b="0" i="0">
                <a:solidFill>
                  <a:srgbClr val="1E293B"/>
                </a:solidFill>
                <a:latin typeface="Calibri"/>
              </a:rPr>
              <a:t>✓  r</a:t>
            </a:r>
          </a:p>
          <a:p>
            <a:pPr algn="l">
              <a:spcAft>
                <a:spcPts val="300"/>
              </a:spcAft>
            </a:pPr>
            <a:r>
              <a:rPr sz="850" b="0" i="0">
                <a:solidFill>
                  <a:srgbClr val="1E293B"/>
                </a:solidFill>
                <a:latin typeface="Calibri"/>
              </a:rPr>
              <a:t>✓  a</a:t>
            </a:r>
          </a:p>
          <a:p>
            <a:pPr algn="l">
              <a:spcAft>
                <a:spcPts val="300"/>
              </a:spcAft>
            </a:pPr>
            <a:r>
              <a:rPr sz="850" b="0" i="0">
                <a:solidFill>
                  <a:srgbClr val="1E293B"/>
                </a:solidFill>
                <a:latin typeface="Calibri"/>
              </a:rPr>
              <a:t>✓  t</a:t>
            </a:r>
          </a:p>
          <a:p>
            <a:pPr algn="l">
              <a:spcAft>
                <a:spcPts val="300"/>
              </a:spcAft>
            </a:pPr>
            <a:r>
              <a:rPr sz="850" b="0" i="0">
                <a:solidFill>
                  <a:srgbClr val="1E293B"/>
                </a:solidFill>
                <a:latin typeface="Calibri"/>
              </a:rPr>
              <a:t>✓  i</a:t>
            </a:r>
          </a:p>
          <a:p>
            <a:pPr algn="l">
              <a:spcAft>
                <a:spcPts val="300"/>
              </a:spcAft>
            </a:pPr>
            <a:r>
              <a:rPr sz="850" b="0" i="0">
                <a:solidFill>
                  <a:srgbClr val="1E293B"/>
                </a:solidFill>
                <a:latin typeface="Calibri"/>
              </a:rPr>
              <a:t>✓  o</a:t>
            </a:r>
          </a:p>
          <a:p>
            <a:pPr algn="l">
              <a:spcAft>
                <a:spcPts val="300"/>
              </a:spcAft>
            </a:pPr>
            <a:r>
              <a:rPr sz="850" b="0" i="0">
                <a:solidFill>
                  <a:srgbClr val="1E293B"/>
                </a:solidFill>
                <a:latin typeface="Calibri"/>
              </a:rPr>
              <a:t>✓  n</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V</a:t>
            </a:r>
          </a:p>
          <a:p>
            <a:pPr algn="l">
              <a:spcAft>
                <a:spcPts val="300"/>
              </a:spcAft>
            </a:pPr>
            <a:r>
              <a:rPr sz="850" b="0" i="0">
                <a:solidFill>
                  <a:srgbClr val="1E293B"/>
                </a:solidFill>
                <a:latin typeface="Calibri"/>
              </a:rPr>
              <a:t>✓  i</a:t>
            </a:r>
          </a:p>
          <a:p>
            <a:pPr algn="l">
              <a:spcAft>
                <a:spcPts val="300"/>
              </a:spcAft>
            </a:pPr>
            <a:r>
              <a:rPr sz="850" b="0" i="0">
                <a:solidFill>
                  <a:srgbClr val="1E293B"/>
                </a:solidFill>
                <a:latin typeface="Calibri"/>
              </a:rPr>
              <a:t>✓  r</a:t>
            </a:r>
          </a:p>
          <a:p>
            <a:pPr algn="l">
              <a:spcAft>
                <a:spcPts val="300"/>
              </a:spcAft>
            </a:pPr>
            <a:r>
              <a:rPr sz="850" b="0" i="0">
                <a:solidFill>
                  <a:srgbClr val="1E293B"/>
                </a:solidFill>
                <a:latin typeface="Calibri"/>
              </a:rPr>
              <a:t>✓  t</a:t>
            </a:r>
          </a:p>
          <a:p>
            <a:pPr algn="l">
              <a:spcAft>
                <a:spcPts val="300"/>
              </a:spcAft>
            </a:pPr>
            <a:r>
              <a:rPr sz="850" b="0" i="0">
                <a:solidFill>
                  <a:srgbClr val="1E293B"/>
                </a:solidFill>
                <a:latin typeface="Calibri"/>
              </a:rPr>
              <a:t>✓  u</a:t>
            </a:r>
          </a:p>
          <a:p>
            <a:pPr algn="l">
              <a:spcAft>
                <a:spcPts val="300"/>
              </a:spcAft>
            </a:pPr>
            <a:r>
              <a:rPr sz="850" b="0" i="0">
                <a:solidFill>
                  <a:srgbClr val="1E293B"/>
                </a:solidFill>
                <a:latin typeface="Calibri"/>
              </a:rPr>
              <a:t>✓  a</a:t>
            </a:r>
          </a:p>
          <a:p>
            <a:pPr algn="l">
              <a:spcAft>
                <a:spcPts val="300"/>
              </a:spcAft>
            </a:pPr>
            <a:r>
              <a:rPr sz="850" b="0" i="0">
                <a:solidFill>
                  <a:srgbClr val="1E293B"/>
                </a:solidFill>
                <a:latin typeface="Calibri"/>
              </a:rPr>
              <a:t>✓  l</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A</a:t>
            </a:r>
          </a:p>
          <a:p>
            <a:pPr algn="l">
              <a:spcAft>
                <a:spcPts val="300"/>
              </a:spcAft>
            </a:pPr>
            <a:r>
              <a:rPr sz="850" b="0" i="0">
                <a:solidFill>
                  <a:srgbClr val="1E293B"/>
                </a:solidFill>
                <a:latin typeface="Calibri"/>
              </a:rPr>
              <a:t>✓  g</a:t>
            </a:r>
          </a:p>
          <a:p>
            <a:pPr algn="l">
              <a:spcAft>
                <a:spcPts val="300"/>
              </a:spcAft>
            </a:pPr>
            <a:r>
              <a:rPr sz="850" b="0" i="0">
                <a:solidFill>
                  <a:srgbClr val="1E293B"/>
                </a:solidFill>
                <a:latin typeface="Calibri"/>
              </a:rPr>
              <a:t>✓  e</a:t>
            </a:r>
          </a:p>
          <a:p>
            <a:pPr algn="l">
              <a:spcAft>
                <a:spcPts val="300"/>
              </a:spcAft>
            </a:pPr>
            <a:r>
              <a:rPr sz="850" b="0" i="0">
                <a:solidFill>
                  <a:srgbClr val="1E293B"/>
                </a:solidFill>
                <a:latin typeface="Calibri"/>
              </a:rPr>
              <a:t>✓  n</a:t>
            </a:r>
          </a:p>
          <a:p>
            <a:pPr algn="l">
              <a:spcAft>
                <a:spcPts val="300"/>
              </a:spcAft>
            </a:pPr>
            <a:r>
              <a:rPr sz="850" b="0" i="0">
                <a:solidFill>
                  <a:srgbClr val="1E293B"/>
                </a:solidFill>
                <a:latin typeface="Calibri"/>
              </a:rPr>
              <a:t>✓  t</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i</a:t>
            </a:r>
          </a:p>
          <a:p>
            <a:pPr algn="l">
              <a:spcAft>
                <a:spcPts val="300"/>
              </a:spcAft>
            </a:pPr>
            <a:r>
              <a:rPr sz="850" b="0" i="0">
                <a:solidFill>
                  <a:srgbClr val="1E293B"/>
                </a:solidFill>
                <a:latin typeface="Calibri"/>
              </a:rPr>
              <a:t>✓  n</a:t>
            </a:r>
          </a:p>
          <a:p>
            <a:pPr algn="l">
              <a:spcAft>
                <a:spcPts val="300"/>
              </a:spcAft>
            </a:pPr>
            <a:r>
              <a:rPr sz="850" b="0" i="0">
                <a:solidFill>
                  <a:srgbClr val="1E293B"/>
                </a:solidFill>
                <a:latin typeface="Calibri"/>
              </a:rPr>
              <a:t>✓  t</a:t>
            </a:r>
          </a:p>
          <a:p>
            <a:pPr algn="l">
              <a:spcAft>
                <a:spcPts val="300"/>
              </a:spcAft>
            </a:pPr>
            <a:r>
              <a:rPr sz="850" b="0" i="0">
                <a:solidFill>
                  <a:srgbClr val="1E293B"/>
                </a:solidFill>
                <a:latin typeface="Calibri"/>
              </a:rPr>
              <a:t>✓  e</a:t>
            </a:r>
          </a:p>
          <a:p>
            <a:pPr algn="l">
              <a:spcAft>
                <a:spcPts val="300"/>
              </a:spcAft>
            </a:pPr>
            <a:r>
              <a:rPr sz="850" b="0" i="0">
                <a:solidFill>
                  <a:srgbClr val="1E293B"/>
                </a:solidFill>
                <a:latin typeface="Calibri"/>
              </a:rPr>
              <a:t>✓  g</a:t>
            </a:r>
          </a:p>
          <a:p>
            <a:pPr algn="l">
              <a:spcAft>
                <a:spcPts val="300"/>
              </a:spcAft>
            </a:pPr>
            <a:r>
              <a:rPr sz="850" b="0" i="0">
                <a:solidFill>
                  <a:srgbClr val="1E293B"/>
                </a:solidFill>
                <a:latin typeface="Calibri"/>
              </a:rPr>
              <a:t>✓  r</a:t>
            </a:r>
          </a:p>
          <a:p>
            <a:pPr algn="l">
              <a:spcAft>
                <a:spcPts val="300"/>
              </a:spcAft>
            </a:pPr>
            <a:r>
              <a:rPr sz="850" b="0" i="0">
                <a:solidFill>
                  <a:srgbClr val="1E293B"/>
                </a:solidFill>
                <a:latin typeface="Calibri"/>
              </a:rPr>
              <a:t>✓  a</a:t>
            </a:r>
          </a:p>
          <a:p>
            <a:pPr algn="l">
              <a:spcAft>
                <a:spcPts val="300"/>
              </a:spcAft>
            </a:pPr>
            <a:r>
              <a:rPr sz="850" b="0" i="0">
                <a:solidFill>
                  <a:srgbClr val="1E293B"/>
                </a:solidFill>
                <a:latin typeface="Calibri"/>
              </a:rPr>
              <a:t>✓  t</a:t>
            </a:r>
          </a:p>
          <a:p>
            <a:pPr algn="l">
              <a:spcAft>
                <a:spcPts val="300"/>
              </a:spcAft>
            </a:pPr>
            <a:r>
              <a:rPr sz="850" b="0" i="0">
                <a:solidFill>
                  <a:srgbClr val="1E293B"/>
                </a:solidFill>
                <a:latin typeface="Calibri"/>
              </a:rPr>
              <a:t>✓  i</a:t>
            </a:r>
          </a:p>
          <a:p>
            <a:pPr algn="l">
              <a:spcAft>
                <a:spcPts val="300"/>
              </a:spcAft>
            </a:pPr>
            <a:r>
              <a:rPr sz="850" b="0" i="0">
                <a:solidFill>
                  <a:srgbClr val="1E293B"/>
                </a:solidFill>
                <a:latin typeface="Calibri"/>
              </a:rPr>
              <a:t>✓  o</a:t>
            </a:r>
          </a:p>
          <a:p>
            <a:pPr algn="l">
              <a:spcAft>
                <a:spcPts val="300"/>
              </a:spcAft>
            </a:pPr>
            <a:r>
              <a:rPr sz="850" b="0" i="0">
                <a:solidFill>
                  <a:srgbClr val="1E293B"/>
                </a:solidFill>
                <a:latin typeface="Calibri"/>
              </a:rPr>
              <a:t>✓  n</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N</a:t>
            </a:r>
          </a:p>
          <a:p>
            <a:pPr algn="l">
              <a:spcAft>
                <a:spcPts val="300"/>
              </a:spcAft>
            </a:pPr>
            <a:r>
              <a:rPr sz="850" b="0" i="0">
                <a:solidFill>
                  <a:srgbClr val="1E293B"/>
                </a:solidFill>
                <a:latin typeface="Calibri"/>
              </a:rPr>
              <a:t>✓  o</a:t>
            </a:r>
          </a:p>
          <a:p>
            <a:pPr algn="l">
              <a:spcAft>
                <a:spcPts val="300"/>
              </a:spcAft>
            </a:pPr>
            <a:r>
              <a:rPr sz="850" b="0" i="0">
                <a:solidFill>
                  <a:srgbClr val="1E293B"/>
                </a:solidFill>
                <a:latin typeface="Calibri"/>
              </a:rPr>
              <a:t>✓  w</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L</a:t>
            </a:r>
          </a:p>
          <a:p>
            <a:pPr algn="l">
              <a:spcAft>
                <a:spcPts val="300"/>
              </a:spcAft>
            </a:pPr>
            <a:r>
              <a:rPr sz="850" b="0" i="0">
                <a:solidFill>
                  <a:srgbClr val="1E293B"/>
                </a:solidFill>
                <a:latin typeface="Calibri"/>
              </a:rPr>
              <a:t>✓  L</a:t>
            </a:r>
          </a:p>
          <a:p>
            <a:pPr algn="l">
              <a:spcAft>
                <a:spcPts val="300"/>
              </a:spcAft>
            </a:pPr>
            <a:r>
              <a:rPr sz="850" b="0" i="0">
                <a:solidFill>
                  <a:srgbClr val="1E293B"/>
                </a:solidFill>
                <a:latin typeface="Calibri"/>
              </a:rPr>
              <a:t>✓  M</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v</a:t>
            </a:r>
          </a:p>
          <a:p>
            <a:pPr algn="l">
              <a:spcAft>
                <a:spcPts val="300"/>
              </a:spcAft>
            </a:pPr>
            <a:r>
              <a:rPr sz="850" b="0" i="0">
                <a:solidFill>
                  <a:srgbClr val="1E293B"/>
                </a:solidFill>
                <a:latin typeface="Calibri"/>
              </a:rPr>
              <a:t>✓  s</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e</a:t>
            </a:r>
          </a:p>
          <a:p>
            <a:pPr algn="l">
              <a:spcAft>
                <a:spcPts val="300"/>
              </a:spcAft>
            </a:pPr>
            <a:r>
              <a:rPr sz="850" b="0" i="0">
                <a:solidFill>
                  <a:srgbClr val="1E293B"/>
                </a:solidFill>
                <a:latin typeface="Calibri"/>
              </a:rPr>
              <a:t>✓  x</a:t>
            </a:r>
          </a:p>
          <a:p>
            <a:pPr algn="l">
              <a:spcAft>
                <a:spcPts val="300"/>
              </a:spcAft>
            </a:pPr>
            <a:r>
              <a:rPr sz="850" b="0" i="0">
                <a:solidFill>
                  <a:srgbClr val="1E293B"/>
                </a:solidFill>
                <a:latin typeface="Calibri"/>
              </a:rPr>
              <a:t>✓  t</a:t>
            </a:r>
          </a:p>
          <a:p>
            <a:pPr algn="l">
              <a:spcAft>
                <a:spcPts val="300"/>
              </a:spcAft>
            </a:pPr>
            <a:r>
              <a:rPr sz="850" b="0" i="0">
                <a:solidFill>
                  <a:srgbClr val="1E293B"/>
                </a:solidFill>
                <a:latin typeface="Calibri"/>
              </a:rPr>
              <a:t>✓  e</a:t>
            </a:r>
          </a:p>
          <a:p>
            <a:pPr algn="l">
              <a:spcAft>
                <a:spcPts val="300"/>
              </a:spcAft>
            </a:pPr>
            <a:r>
              <a:rPr sz="850" b="0" i="0">
                <a:solidFill>
                  <a:srgbClr val="1E293B"/>
                </a:solidFill>
                <a:latin typeface="Calibri"/>
              </a:rPr>
              <a:t>✓  r</a:t>
            </a:r>
          </a:p>
          <a:p>
            <a:pPr algn="l">
              <a:spcAft>
                <a:spcPts val="300"/>
              </a:spcAft>
            </a:pPr>
            <a:r>
              <a:rPr sz="850" b="0" i="0">
                <a:solidFill>
                  <a:srgbClr val="1E293B"/>
                </a:solidFill>
                <a:latin typeface="Calibri"/>
              </a:rPr>
              <a:t>✓  n</a:t>
            </a:r>
          </a:p>
          <a:p>
            <a:pPr algn="l">
              <a:spcAft>
                <a:spcPts val="300"/>
              </a:spcAft>
            </a:pPr>
            <a:r>
              <a:rPr sz="850" b="0" i="0">
                <a:solidFill>
                  <a:srgbClr val="1E293B"/>
                </a:solidFill>
                <a:latin typeface="Calibri"/>
              </a:rPr>
              <a:t>✓  a</a:t>
            </a:r>
          </a:p>
          <a:p>
            <a:pPr algn="l">
              <a:spcAft>
                <a:spcPts val="300"/>
              </a:spcAft>
            </a:pPr>
            <a:r>
              <a:rPr sz="850" b="0" i="0">
                <a:solidFill>
                  <a:srgbClr val="1E293B"/>
                </a:solidFill>
                <a:latin typeface="Calibri"/>
              </a:rPr>
              <a:t>✓  l</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L</a:t>
            </a:r>
          </a:p>
          <a:p>
            <a:pPr algn="l">
              <a:spcAft>
                <a:spcPts val="300"/>
              </a:spcAft>
            </a:pPr>
            <a:r>
              <a:rPr sz="850" b="0" i="0">
                <a:solidFill>
                  <a:srgbClr val="1E293B"/>
                </a:solidFill>
                <a:latin typeface="Calibri"/>
              </a:rPr>
              <a:t>✓  L</a:t>
            </a:r>
          </a:p>
          <a:p>
            <a:pPr algn="l">
              <a:spcAft>
                <a:spcPts val="300"/>
              </a:spcAft>
            </a:pPr>
            <a:r>
              <a:rPr sz="850" b="0" i="0">
                <a:solidFill>
                  <a:srgbClr val="1E293B"/>
                </a:solidFill>
                <a:latin typeface="Calibri"/>
              </a:rPr>
              <a:t>✓  M</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s</a:t>
            </a:r>
          </a:p>
          <a:p>
            <a:pPr algn="l">
              <a:spcAft>
                <a:spcPts val="300"/>
              </a:spcAft>
            </a:pPr>
            <a:r>
              <a:rPr sz="850" b="0" i="0">
                <a:solidFill>
                  <a:srgbClr val="1E293B"/>
                </a:solidFill>
                <a:latin typeface="Calibri"/>
              </a:rPr>
              <a:t>✓  e</a:t>
            </a:r>
          </a:p>
          <a:p>
            <a:pPr algn="l">
              <a:spcAft>
                <a:spcPts val="300"/>
              </a:spcAft>
            </a:pPr>
            <a:r>
              <a:rPr sz="850" b="0" i="0">
                <a:solidFill>
                  <a:srgbClr val="1E293B"/>
                </a:solidFill>
                <a:latin typeface="Calibri"/>
              </a:rPr>
              <a:t>✓  l</a:t>
            </a:r>
          </a:p>
          <a:p>
            <a:pPr algn="l">
              <a:spcAft>
                <a:spcPts val="300"/>
              </a:spcAft>
            </a:pPr>
            <a:r>
              <a:rPr sz="850" b="0" i="0">
                <a:solidFill>
                  <a:srgbClr val="1E293B"/>
                </a:solidFill>
                <a:latin typeface="Calibri"/>
              </a:rPr>
              <a:t>✓  e</a:t>
            </a:r>
          </a:p>
          <a:p>
            <a:pPr algn="l">
              <a:spcAft>
                <a:spcPts val="300"/>
              </a:spcAft>
            </a:pPr>
            <a:r>
              <a:rPr sz="850" b="0" i="0">
                <a:solidFill>
                  <a:srgbClr val="1E293B"/>
                </a:solidFill>
                <a:latin typeface="Calibri"/>
              </a:rPr>
              <a:t>✓  c</a:t>
            </a:r>
          </a:p>
          <a:p>
            <a:pPr algn="l">
              <a:spcAft>
                <a:spcPts val="300"/>
              </a:spcAft>
            </a:pPr>
            <a:r>
              <a:rPr sz="850" b="0" i="0">
                <a:solidFill>
                  <a:srgbClr val="1E293B"/>
                </a:solidFill>
                <a:latin typeface="Calibri"/>
              </a:rPr>
              <a:t>✓  t</a:t>
            </a:r>
          </a:p>
          <a:p>
            <a:pPr algn="l">
              <a:spcAft>
                <a:spcPts val="300"/>
              </a:spcAft>
            </a:pPr>
            <a:r>
              <a:rPr sz="850" b="0" i="0">
                <a:solidFill>
                  <a:srgbClr val="1E293B"/>
                </a:solidFill>
                <a:latin typeface="Calibri"/>
              </a:rPr>
              <a:t>✓  i</a:t>
            </a:r>
          </a:p>
          <a:p>
            <a:pPr algn="l">
              <a:spcAft>
                <a:spcPts val="300"/>
              </a:spcAft>
            </a:pPr>
            <a:r>
              <a:rPr sz="850" b="0" i="0">
                <a:solidFill>
                  <a:srgbClr val="1E293B"/>
                </a:solidFill>
                <a:latin typeface="Calibri"/>
              </a:rPr>
              <a:t>✓  o</a:t>
            </a:r>
          </a:p>
          <a:p>
            <a:pPr algn="l">
              <a:spcAft>
                <a:spcPts val="300"/>
              </a:spcAft>
            </a:pPr>
            <a:r>
              <a:rPr sz="850" b="0" i="0">
                <a:solidFill>
                  <a:srgbClr val="1E293B"/>
                </a:solidFill>
                <a:latin typeface="Calibri"/>
              </a:rPr>
              <a:t>✓  n</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u</a:t>
            </a:r>
          </a:p>
          <a:p>
            <a:pPr algn="l">
              <a:spcAft>
                <a:spcPts val="300"/>
              </a:spcAft>
            </a:pPr>
            <a:r>
              <a:rPr sz="850" b="0" i="0">
                <a:solidFill>
                  <a:srgbClr val="1E293B"/>
                </a:solidFill>
                <a:latin typeface="Calibri"/>
              </a:rPr>
              <a:t>✓  s</a:t>
            </a:r>
          </a:p>
          <a:p>
            <a:pPr algn="l">
              <a:spcAft>
                <a:spcPts val="300"/>
              </a:spcAft>
            </a:pPr>
            <a:r>
              <a:rPr sz="850" b="0" i="0">
                <a:solidFill>
                  <a:srgbClr val="1E293B"/>
                </a:solidFill>
                <a:latin typeface="Calibri"/>
              </a:rPr>
              <a:t>✓  e</a:t>
            </a:r>
          </a:p>
          <a:p>
            <a:pPr algn="l">
              <a:spcAft>
                <a:spcPts val="300"/>
              </a:spcAft>
            </a:pPr>
            <a:r>
              <a:rPr sz="850" b="0" i="0">
                <a:solidFill>
                  <a:srgbClr val="1E293B"/>
                </a:solidFill>
                <a:latin typeface="Calibri"/>
              </a:rPr>
              <a:t>✓  r</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p</a:t>
            </a:r>
          </a:p>
          <a:p>
            <a:pPr algn="l">
              <a:spcAft>
                <a:spcPts val="300"/>
              </a:spcAft>
            </a:pPr>
            <a:r>
              <a:rPr sz="850" b="0" i="0">
                <a:solidFill>
                  <a:srgbClr val="1E293B"/>
                </a:solidFill>
                <a:latin typeface="Calibri"/>
              </a:rPr>
              <a:t>✓  e</a:t>
            </a:r>
          </a:p>
          <a:p>
            <a:pPr algn="l">
              <a:spcAft>
                <a:spcPts val="300"/>
              </a:spcAft>
            </a:pPr>
            <a:r>
              <a:rPr sz="850" b="0" i="0">
                <a:solidFill>
                  <a:srgbClr val="1E293B"/>
                </a:solidFill>
                <a:latin typeface="Calibri"/>
              </a:rPr>
              <a:t>✓  r</a:t>
            </a:r>
          </a:p>
          <a:p>
            <a:pPr algn="l">
              <a:spcAft>
                <a:spcPts val="300"/>
              </a:spcAft>
            </a:pPr>
            <a:r>
              <a:rPr sz="850" b="0" i="0">
                <a:solidFill>
                  <a:srgbClr val="1E293B"/>
                </a:solidFill>
                <a:latin typeface="Calibri"/>
              </a:rPr>
              <a:t>✓  s</a:t>
            </a:r>
          </a:p>
          <a:p>
            <a:pPr algn="l">
              <a:spcAft>
                <a:spcPts val="300"/>
              </a:spcAft>
            </a:pPr>
            <a:r>
              <a:rPr sz="850" b="0" i="0">
                <a:solidFill>
                  <a:srgbClr val="1E293B"/>
                </a:solidFill>
                <a:latin typeface="Calibri"/>
              </a:rPr>
              <a:t>✓  o</a:t>
            </a:r>
          </a:p>
          <a:p>
            <a:pPr algn="l">
              <a:spcAft>
                <a:spcPts val="300"/>
              </a:spcAft>
            </a:pPr>
            <a:r>
              <a:rPr sz="850" b="0" i="0">
                <a:solidFill>
                  <a:srgbClr val="1E293B"/>
                </a:solidFill>
                <a:latin typeface="Calibri"/>
              </a:rPr>
              <a:t>✓  n</a:t>
            </a:r>
          </a:p>
          <a:p>
            <a:pPr algn="l">
              <a:spcAft>
                <a:spcPts val="300"/>
              </a:spcAft>
            </a:pPr>
            <a:r>
              <a:rPr sz="850" b="0" i="0">
                <a:solidFill>
                  <a:srgbClr val="1E293B"/>
                </a:solidFill>
                <a:latin typeface="Calibri"/>
              </a:rPr>
              <a:t>✓  a</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s</a:t>
            </a:r>
          </a:p>
          <a:p>
            <a:pPr algn="l">
              <a:spcAft>
                <a:spcPts val="300"/>
              </a:spcAft>
            </a:pPr>
            <a:r>
              <a:rPr sz="850" b="0" i="0">
                <a:solidFill>
                  <a:srgbClr val="1E293B"/>
                </a:solidFill>
                <a:latin typeface="Calibri"/>
              </a:rPr>
              <a:t>✓  k</a:t>
            </a:r>
          </a:p>
          <a:p>
            <a:pPr algn="l">
              <a:spcAft>
                <a:spcPts val="300"/>
              </a:spcAft>
            </a:pPr>
            <a:r>
              <a:rPr sz="850" b="0" i="0">
                <a:solidFill>
                  <a:srgbClr val="1E293B"/>
                </a:solidFill>
                <a:latin typeface="Calibri"/>
              </a:rPr>
              <a:t>✓  i</a:t>
            </a:r>
          </a:p>
          <a:p>
            <a:pPr algn="l">
              <a:spcAft>
                <a:spcPts val="300"/>
              </a:spcAft>
            </a:pPr>
            <a:r>
              <a:rPr sz="850" b="0" i="0">
                <a:solidFill>
                  <a:srgbClr val="1E293B"/>
                </a:solidFill>
                <a:latin typeface="Calibri"/>
              </a:rPr>
              <a:t>✓  l</a:t>
            </a:r>
          </a:p>
          <a:p>
            <a:pPr algn="l">
              <a:spcAft>
                <a:spcPts val="300"/>
              </a:spcAft>
            </a:pPr>
            <a:r>
              <a:rPr sz="850" b="0" i="0">
                <a:solidFill>
                  <a:srgbClr val="1E293B"/>
                </a:solidFill>
                <a:latin typeface="Calibri"/>
              </a:rPr>
              <a:t>✓  l</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a</a:t>
            </a:r>
          </a:p>
          <a:p>
            <a:pPr algn="l">
              <a:spcAft>
                <a:spcPts val="300"/>
              </a:spcAft>
            </a:pPr>
            <a:r>
              <a:rPr sz="850" b="0" i="0">
                <a:solidFill>
                  <a:srgbClr val="1E293B"/>
                </a:solidFill>
                <a:latin typeface="Calibri"/>
              </a:rPr>
              <a:t>✓  s</a:t>
            </a:r>
          </a:p>
          <a:p>
            <a:pPr algn="l">
              <a:spcAft>
                <a:spcPts val="300"/>
              </a:spcAft>
            </a:pPr>
            <a:r>
              <a:rPr sz="850" b="0" i="0">
                <a:solidFill>
                  <a:srgbClr val="1E293B"/>
                </a:solidFill>
                <a:latin typeface="Calibri"/>
              </a:rPr>
              <a:t>✓  s</a:t>
            </a:r>
          </a:p>
          <a:p>
            <a:pPr algn="l">
              <a:spcAft>
                <a:spcPts val="300"/>
              </a:spcAft>
            </a:pPr>
            <a:r>
              <a:rPr sz="850" b="0" i="0">
                <a:solidFill>
                  <a:srgbClr val="1E293B"/>
                </a:solidFill>
                <a:latin typeface="Calibri"/>
              </a:rPr>
              <a:t>✓  i</a:t>
            </a:r>
          </a:p>
          <a:p>
            <a:pPr algn="l">
              <a:spcAft>
                <a:spcPts val="300"/>
              </a:spcAft>
            </a:pPr>
            <a:r>
              <a:rPr sz="850" b="0" i="0">
                <a:solidFill>
                  <a:srgbClr val="1E293B"/>
                </a:solidFill>
                <a:latin typeface="Calibri"/>
              </a:rPr>
              <a:t>✓  g</a:t>
            </a:r>
          </a:p>
          <a:p>
            <a:pPr algn="l">
              <a:spcAft>
                <a:spcPts val="300"/>
              </a:spcAft>
            </a:pPr>
            <a:r>
              <a:rPr sz="850" b="0" i="0">
                <a:solidFill>
                  <a:srgbClr val="1E293B"/>
                </a:solidFill>
                <a:latin typeface="Calibri"/>
              </a:rPr>
              <a:t>✓  n</a:t>
            </a:r>
          </a:p>
          <a:p>
            <a:pPr algn="l">
              <a:spcAft>
                <a:spcPts val="300"/>
              </a:spcAft>
            </a:pPr>
            <a:r>
              <a:rPr sz="850" b="0" i="0">
                <a:solidFill>
                  <a:srgbClr val="1E293B"/>
                </a:solidFill>
                <a:latin typeface="Calibri"/>
              </a:rPr>
              <a:t>✓  m</a:t>
            </a:r>
          </a:p>
          <a:p>
            <a:pPr algn="l">
              <a:spcAft>
                <a:spcPts val="300"/>
              </a:spcAft>
            </a:pPr>
            <a:r>
              <a:rPr sz="850" b="0" i="0">
                <a:solidFill>
                  <a:srgbClr val="1E293B"/>
                </a:solidFill>
                <a:latin typeface="Calibri"/>
              </a:rPr>
              <a:t>✓  e</a:t>
            </a:r>
          </a:p>
          <a:p>
            <a:pPr algn="l">
              <a:spcAft>
                <a:spcPts val="300"/>
              </a:spcAft>
            </a:pPr>
            <a:r>
              <a:rPr sz="850" b="0" i="0">
                <a:solidFill>
                  <a:srgbClr val="1E293B"/>
                </a:solidFill>
                <a:latin typeface="Calibri"/>
              </a:rPr>
              <a:t>✓  n</a:t>
            </a:r>
          </a:p>
          <a:p>
            <a:pPr algn="l">
              <a:spcAft>
                <a:spcPts val="300"/>
              </a:spcAft>
            </a:pPr>
            <a:r>
              <a:rPr sz="850" b="0" i="0">
                <a:solidFill>
                  <a:srgbClr val="1E293B"/>
                </a:solidFill>
                <a:latin typeface="Calibri"/>
              </a:rPr>
              <a:t>✓  t</a:t>
            </a:r>
          </a:p>
        </p:txBody>
      </p:sp>
      <p:sp>
        <p:nvSpPr>
          <p:cNvPr id="10" name="Rectangle 9"/>
          <p:cNvSpPr/>
          <p:nvPr/>
        </p:nvSpPr>
        <p:spPr>
          <a:xfrm>
            <a:off x="4617720" y="1024128"/>
            <a:ext cx="4160520" cy="292608"/>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72583" y="1033271"/>
            <a:ext cx="4050791" cy="256032"/>
          </a:xfrm>
          <a:prstGeom prst="rect">
            <a:avLst/>
          </a:prstGeom>
          <a:noFill/>
        </p:spPr>
        <p:txBody>
          <a:bodyPr wrap="square" lIns="36576" rIns="36576" tIns="18288" bIns="18288">
            <a:spAutoFit/>
          </a:bodyPr>
          <a:lstStyle/>
          <a:p>
            <a:pPr algn="ctr"/>
            <a:r>
              <a:rPr sz="850" b="1" i="0">
                <a:solidFill>
                  <a:srgbClr val="FFFFFF"/>
                </a:solidFill>
                <a:latin typeface="Calibri"/>
              </a:rPr>
              <a:t>CUSTOMIZATION  —  Requires Approval + Business Case</a:t>
            </a:r>
          </a:p>
        </p:txBody>
      </p:sp>
      <p:sp>
        <p:nvSpPr>
          <p:cNvPr id="12" name="Rectangle 11"/>
          <p:cNvSpPr/>
          <p:nvPr/>
        </p:nvSpPr>
        <p:spPr>
          <a:xfrm>
            <a:off x="4617720" y="1316736"/>
            <a:ext cx="4160520" cy="3310128"/>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09159" y="1371600"/>
            <a:ext cx="3977639" cy="3200400"/>
          </a:xfrm>
          <a:prstGeom prst="rect">
            <a:avLst/>
          </a:prstGeom>
          <a:noFill/>
        </p:spPr>
        <p:txBody>
          <a:bodyPr wrap="square" lIns="36576" rIns="36576" tIns="18288" bIns="18288">
            <a:spAutoFit/>
          </a:bodyPr>
          <a:lstStyle/>
          <a:p>
            <a:pPr algn="l">
              <a:spcAft>
                <a:spcPts val="300"/>
              </a:spcAft>
            </a:pPr>
            <a:r>
              <a:rPr sz="850" b="0" i="0">
                <a:solidFill>
                  <a:srgbClr val="1E293B"/>
                </a:solidFill>
                <a:latin typeface="Calibri"/>
              </a:rPr>
              <a:t>✗  C</a:t>
            </a:r>
          </a:p>
          <a:p>
            <a:pPr algn="l">
              <a:spcAft>
                <a:spcPts val="300"/>
              </a:spcAft>
            </a:pPr>
            <a:r>
              <a:rPr sz="850" b="0" i="0">
                <a:solidFill>
                  <a:srgbClr val="1E293B"/>
                </a:solidFill>
                <a:latin typeface="Calibri"/>
              </a:rPr>
              <a:t>✗  u</a:t>
            </a:r>
          </a:p>
          <a:p>
            <a:pPr algn="l">
              <a:spcAft>
                <a:spcPts val="300"/>
              </a:spcAft>
            </a:pPr>
            <a:r>
              <a:rPr sz="850" b="0" i="0">
                <a:solidFill>
                  <a:srgbClr val="1E293B"/>
                </a:solidFill>
                <a:latin typeface="Calibri"/>
              </a:rPr>
              <a:t>✗  s</a:t>
            </a:r>
          </a:p>
          <a:p>
            <a:pPr algn="l">
              <a:spcAft>
                <a:spcPts val="300"/>
              </a:spcAft>
            </a:pPr>
            <a:r>
              <a:rPr sz="850" b="0" i="0">
                <a:solidFill>
                  <a:srgbClr val="1E293B"/>
                </a:solidFill>
                <a:latin typeface="Calibri"/>
              </a:rPr>
              <a:t>✗  t</a:t>
            </a:r>
          </a:p>
          <a:p>
            <a:pPr algn="l">
              <a:spcAft>
                <a:spcPts val="300"/>
              </a:spcAft>
            </a:pPr>
            <a:r>
              <a:rPr sz="850" b="0" i="0">
                <a:solidFill>
                  <a:srgbClr val="1E293B"/>
                </a:solidFill>
                <a:latin typeface="Calibri"/>
              </a:rPr>
              <a:t>✗  o</a:t>
            </a:r>
          </a:p>
          <a:p>
            <a:pPr algn="l">
              <a:spcAft>
                <a:spcPts val="300"/>
              </a:spcAft>
            </a:pPr>
            <a:r>
              <a:rPr sz="850" b="0" i="0">
                <a:solidFill>
                  <a:srgbClr val="1E293B"/>
                </a:solidFill>
                <a:latin typeface="Calibri"/>
              </a:rPr>
              <a:t>✗  m</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L</a:t>
            </a:r>
          </a:p>
          <a:p>
            <a:pPr algn="l">
              <a:spcAft>
                <a:spcPts val="300"/>
              </a:spcAft>
            </a:pPr>
            <a:r>
              <a:rPr sz="850" b="0" i="0">
                <a:solidFill>
                  <a:srgbClr val="1E293B"/>
                </a:solidFill>
                <a:latin typeface="Calibri"/>
              </a:rPr>
              <a:t>✗  L</a:t>
            </a:r>
          </a:p>
          <a:p>
            <a:pPr algn="l">
              <a:spcAft>
                <a:spcPts val="300"/>
              </a:spcAft>
            </a:pPr>
            <a:r>
              <a:rPr sz="850" b="0" i="0">
                <a:solidFill>
                  <a:srgbClr val="1E293B"/>
                </a:solidFill>
                <a:latin typeface="Calibri"/>
              </a:rPr>
              <a:t>✗  M</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i</a:t>
            </a:r>
          </a:p>
          <a:p>
            <a:pPr algn="l">
              <a:spcAft>
                <a:spcPts val="300"/>
              </a:spcAft>
            </a:pPr>
            <a:r>
              <a:rPr sz="850" b="0" i="0">
                <a:solidFill>
                  <a:srgbClr val="1E293B"/>
                </a:solidFill>
                <a:latin typeface="Calibri"/>
              </a:rPr>
              <a:t>✗  n</a:t>
            </a:r>
          </a:p>
          <a:p>
            <a:pPr algn="l">
              <a:spcAft>
                <a:spcPts val="300"/>
              </a:spcAft>
            </a:pPr>
            <a:r>
              <a:rPr sz="850" b="0" i="0">
                <a:solidFill>
                  <a:srgbClr val="1E293B"/>
                </a:solidFill>
                <a:latin typeface="Calibri"/>
              </a:rPr>
              <a:t>✗  t</a:t>
            </a:r>
          </a:p>
          <a:p>
            <a:pPr algn="l">
              <a:spcAft>
                <a:spcPts val="300"/>
              </a:spcAft>
            </a:pPr>
            <a:r>
              <a:rPr sz="850" b="0" i="0">
                <a:solidFill>
                  <a:srgbClr val="1E293B"/>
                </a:solidFill>
                <a:latin typeface="Calibri"/>
              </a:rPr>
              <a:t>✗  e</a:t>
            </a:r>
          </a:p>
          <a:p>
            <a:pPr algn="l">
              <a:spcAft>
                <a:spcPts val="300"/>
              </a:spcAft>
            </a:pPr>
            <a:r>
              <a:rPr sz="850" b="0" i="0">
                <a:solidFill>
                  <a:srgbClr val="1E293B"/>
                </a:solidFill>
                <a:latin typeface="Calibri"/>
              </a:rPr>
              <a:t>✗  g</a:t>
            </a:r>
          </a:p>
          <a:p>
            <a:pPr algn="l">
              <a:spcAft>
                <a:spcPts val="300"/>
              </a:spcAft>
            </a:pPr>
            <a:r>
              <a:rPr sz="850" b="0" i="0">
                <a:solidFill>
                  <a:srgbClr val="1E293B"/>
                </a:solidFill>
                <a:latin typeface="Calibri"/>
              </a:rPr>
              <a:t>✗  r</a:t>
            </a:r>
          </a:p>
          <a:p>
            <a:pPr algn="l">
              <a:spcAft>
                <a:spcPts val="300"/>
              </a:spcAft>
            </a:pPr>
            <a:r>
              <a:rPr sz="850" b="0" i="0">
                <a:solidFill>
                  <a:srgbClr val="1E293B"/>
                </a:solidFill>
                <a:latin typeface="Calibri"/>
              </a:rPr>
              <a:t>✗  a</a:t>
            </a:r>
          </a:p>
          <a:p>
            <a:pPr algn="l">
              <a:spcAft>
                <a:spcPts val="300"/>
              </a:spcAft>
            </a:pPr>
            <a:r>
              <a:rPr sz="850" b="0" i="0">
                <a:solidFill>
                  <a:srgbClr val="1E293B"/>
                </a:solidFill>
                <a:latin typeface="Calibri"/>
              </a:rPr>
              <a:t>✗  t</a:t>
            </a:r>
          </a:p>
          <a:p>
            <a:pPr algn="l">
              <a:spcAft>
                <a:spcPts val="300"/>
              </a:spcAft>
            </a:pPr>
            <a:r>
              <a:rPr sz="850" b="0" i="0">
                <a:solidFill>
                  <a:srgbClr val="1E293B"/>
                </a:solidFill>
                <a:latin typeface="Calibri"/>
              </a:rPr>
              <a:t>✗  i</a:t>
            </a:r>
          </a:p>
          <a:p>
            <a:pPr algn="l">
              <a:spcAft>
                <a:spcPts val="300"/>
              </a:spcAft>
            </a:pPr>
            <a:r>
              <a:rPr sz="850" b="0" i="0">
                <a:solidFill>
                  <a:srgbClr val="1E293B"/>
                </a:solidFill>
                <a:latin typeface="Calibri"/>
              </a:rPr>
              <a:t>✗  o</a:t>
            </a:r>
          </a:p>
          <a:p>
            <a:pPr algn="l">
              <a:spcAft>
                <a:spcPts val="300"/>
              </a:spcAft>
            </a:pPr>
            <a:r>
              <a:rPr sz="850" b="0" i="0">
                <a:solidFill>
                  <a:srgbClr val="1E293B"/>
                </a:solidFill>
                <a:latin typeface="Calibri"/>
              </a:rPr>
              <a:t>✗  n</a:t>
            </a:r>
          </a:p>
          <a:p>
            <a:pPr algn="l">
              <a:spcAft>
                <a:spcPts val="300"/>
              </a:spcAft>
            </a:pPr>
            <a:r>
              <a:rPr sz="850" b="0" i="0">
                <a:solidFill>
                  <a:srgbClr val="1E293B"/>
                </a:solidFill>
                <a:latin typeface="Calibri"/>
              </a:rPr>
              <a:t>✗  s</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f</a:t>
            </a:r>
          </a:p>
          <a:p>
            <a:pPr algn="l">
              <a:spcAft>
                <a:spcPts val="300"/>
              </a:spcAft>
            </a:pPr>
            <a:r>
              <a:rPr sz="850" b="0" i="0">
                <a:solidFill>
                  <a:srgbClr val="1E293B"/>
                </a:solidFill>
                <a:latin typeface="Calibri"/>
              </a:rPr>
              <a:t>✗  o</a:t>
            </a:r>
          </a:p>
          <a:p>
            <a:pPr algn="l">
              <a:spcAft>
                <a:spcPts val="300"/>
              </a:spcAft>
            </a:pPr>
            <a:r>
              <a:rPr sz="850" b="0" i="0">
                <a:solidFill>
                  <a:srgbClr val="1E293B"/>
                </a:solidFill>
                <a:latin typeface="Calibri"/>
              </a:rPr>
              <a:t>✗  r</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s</a:t>
            </a:r>
          </a:p>
          <a:p>
            <a:pPr algn="l">
              <a:spcAft>
                <a:spcPts val="300"/>
              </a:spcAft>
            </a:pPr>
            <a:r>
              <a:rPr sz="850" b="0" i="0">
                <a:solidFill>
                  <a:srgbClr val="1E293B"/>
                </a:solidFill>
                <a:latin typeface="Calibri"/>
              </a:rPr>
              <a:t>✗  k</a:t>
            </a:r>
          </a:p>
          <a:p>
            <a:pPr algn="l">
              <a:spcAft>
                <a:spcPts val="300"/>
              </a:spcAft>
            </a:pPr>
            <a:r>
              <a:rPr sz="850" b="0" i="0">
                <a:solidFill>
                  <a:srgbClr val="1E293B"/>
                </a:solidFill>
                <a:latin typeface="Calibri"/>
              </a:rPr>
              <a:t>✗  i</a:t>
            </a:r>
          </a:p>
          <a:p>
            <a:pPr algn="l">
              <a:spcAft>
                <a:spcPts val="300"/>
              </a:spcAft>
            </a:pPr>
            <a:r>
              <a:rPr sz="850" b="0" i="0">
                <a:solidFill>
                  <a:srgbClr val="1E293B"/>
                </a:solidFill>
                <a:latin typeface="Calibri"/>
              </a:rPr>
              <a:t>✗  l</a:t>
            </a:r>
          </a:p>
          <a:p>
            <a:pPr algn="l">
              <a:spcAft>
                <a:spcPts val="300"/>
              </a:spcAft>
            </a:pPr>
            <a:r>
              <a:rPr sz="850" b="0" i="0">
                <a:solidFill>
                  <a:srgbClr val="1E293B"/>
                </a:solidFill>
                <a:latin typeface="Calibri"/>
              </a:rPr>
              <a:t>✗  l</a:t>
            </a:r>
          </a:p>
          <a:p>
            <a:pPr algn="l">
              <a:spcAft>
                <a:spcPts val="300"/>
              </a:spcAft>
            </a:pPr>
            <a:r>
              <a:rPr sz="850" b="0" i="0">
                <a:solidFill>
                  <a:srgbClr val="1E293B"/>
                </a:solidFill>
                <a:latin typeface="Calibri"/>
              </a:rPr>
              <a:t>✗  s</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a</a:t>
            </a:r>
          </a:p>
          <a:p>
            <a:pPr algn="l">
              <a:spcAft>
                <a:spcPts val="300"/>
              </a:spcAft>
            </a:pPr>
            <a:r>
              <a:rPr sz="850" b="0" i="0">
                <a:solidFill>
                  <a:srgbClr val="1E293B"/>
                </a:solidFill>
                <a:latin typeface="Calibri"/>
              </a:rPr>
              <a:t>✗  v</a:t>
            </a:r>
          </a:p>
          <a:p>
            <a:pPr algn="l">
              <a:spcAft>
                <a:spcPts val="300"/>
              </a:spcAft>
            </a:pPr>
            <a:r>
              <a:rPr sz="850" b="0" i="0">
                <a:solidFill>
                  <a:srgbClr val="1E293B"/>
                </a:solidFill>
                <a:latin typeface="Calibri"/>
              </a:rPr>
              <a:t>✗  a</a:t>
            </a:r>
          </a:p>
          <a:p>
            <a:pPr algn="l">
              <a:spcAft>
                <a:spcPts val="300"/>
              </a:spcAft>
            </a:pPr>
            <a:r>
              <a:rPr sz="850" b="0" i="0">
                <a:solidFill>
                  <a:srgbClr val="1E293B"/>
                </a:solidFill>
                <a:latin typeface="Calibri"/>
              </a:rPr>
              <a:t>✗  i</a:t>
            </a:r>
          </a:p>
          <a:p>
            <a:pPr algn="l">
              <a:spcAft>
                <a:spcPts val="300"/>
              </a:spcAft>
            </a:pPr>
            <a:r>
              <a:rPr sz="850" b="0" i="0">
                <a:solidFill>
                  <a:srgbClr val="1E293B"/>
                </a:solidFill>
                <a:latin typeface="Calibri"/>
              </a:rPr>
              <a:t>✗  l</a:t>
            </a:r>
          </a:p>
          <a:p>
            <a:pPr algn="l">
              <a:spcAft>
                <a:spcPts val="300"/>
              </a:spcAft>
            </a:pPr>
            <a:r>
              <a:rPr sz="850" b="0" i="0">
                <a:solidFill>
                  <a:srgbClr val="1E293B"/>
                </a:solidFill>
                <a:latin typeface="Calibri"/>
              </a:rPr>
              <a:t>✗  a</a:t>
            </a:r>
          </a:p>
          <a:p>
            <a:pPr algn="l">
              <a:spcAft>
                <a:spcPts val="300"/>
              </a:spcAft>
            </a:pPr>
            <a:r>
              <a:rPr sz="850" b="0" i="0">
                <a:solidFill>
                  <a:srgbClr val="1E293B"/>
                </a:solidFill>
                <a:latin typeface="Calibri"/>
              </a:rPr>
              <a:t>✗  b</a:t>
            </a:r>
          </a:p>
          <a:p>
            <a:pPr algn="l">
              <a:spcAft>
                <a:spcPts val="300"/>
              </a:spcAft>
            </a:pPr>
            <a:r>
              <a:rPr sz="850" b="0" i="0">
                <a:solidFill>
                  <a:srgbClr val="1E293B"/>
                </a:solidFill>
                <a:latin typeface="Calibri"/>
              </a:rPr>
              <a:t>✗  l</a:t>
            </a:r>
          </a:p>
          <a:p>
            <a:pPr algn="l">
              <a:spcAft>
                <a:spcPts val="300"/>
              </a:spcAft>
            </a:pPr>
            <a:r>
              <a:rPr sz="850" b="0" i="0">
                <a:solidFill>
                  <a:srgbClr val="1E293B"/>
                </a:solidFill>
                <a:latin typeface="Calibri"/>
              </a:rPr>
              <a:t>✗  e</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O</a:t>
            </a:r>
          </a:p>
          <a:p>
            <a:pPr algn="l">
              <a:spcAft>
                <a:spcPts val="300"/>
              </a:spcAft>
            </a:pPr>
            <a:r>
              <a:rPr sz="850" b="0" i="0">
                <a:solidFill>
                  <a:srgbClr val="1E293B"/>
                </a:solidFill>
                <a:latin typeface="Calibri"/>
              </a:rPr>
              <a:t>✗  O</a:t>
            </a:r>
          </a:p>
          <a:p>
            <a:pPr algn="l">
              <a:spcAft>
                <a:spcPts val="300"/>
              </a:spcAft>
            </a:pPr>
            <a:r>
              <a:rPr sz="850" b="0" i="0">
                <a:solidFill>
                  <a:srgbClr val="1E293B"/>
                </a:solidFill>
                <a:latin typeface="Calibri"/>
              </a:rPr>
              <a:t>✗  T</a:t>
            </a:r>
          </a:p>
          <a:p>
            <a:pPr algn="l">
              <a:spcAft>
                <a:spcPts val="300"/>
              </a:spcAft>
            </a:pPr>
            <a:r>
              <a:rPr sz="850" b="0" i="0">
                <a:solidFill>
                  <a:srgbClr val="1E293B"/>
                </a:solidFill>
                <a:latin typeface="Calibri"/>
              </a:rPr>
              <a:t>✗  B</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i</a:t>
            </a:r>
          </a:p>
          <a:p>
            <a:pPr algn="l">
              <a:spcAft>
                <a:spcPts val="300"/>
              </a:spcAft>
            </a:pPr>
            <a:r>
              <a:rPr sz="850" b="0" i="0">
                <a:solidFill>
                  <a:srgbClr val="1E293B"/>
                </a:solidFill>
                <a:latin typeface="Calibri"/>
              </a:rPr>
              <a:t>✗  n</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N</a:t>
            </a:r>
          </a:p>
          <a:p>
            <a:pPr algn="l">
              <a:spcAft>
                <a:spcPts val="300"/>
              </a:spcAft>
            </a:pPr>
            <a:r>
              <a:rPr sz="850" b="0" i="0">
                <a:solidFill>
                  <a:srgbClr val="1E293B"/>
                </a:solidFill>
                <a:latin typeface="Calibri"/>
              </a:rPr>
              <a:t>✗  o</a:t>
            </a:r>
          </a:p>
          <a:p>
            <a:pPr algn="l">
              <a:spcAft>
                <a:spcPts val="300"/>
              </a:spcAft>
            </a:pPr>
            <a:r>
              <a:rPr sz="850" b="0" i="0">
                <a:solidFill>
                  <a:srgbClr val="1E293B"/>
                </a:solidFill>
                <a:latin typeface="Calibri"/>
              </a:rPr>
              <a:t>✗  w</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A</a:t>
            </a:r>
          </a:p>
          <a:p>
            <a:pPr algn="l">
              <a:spcAft>
                <a:spcPts val="300"/>
              </a:spcAft>
            </a:pPr>
            <a:r>
              <a:rPr sz="850" b="0" i="0">
                <a:solidFill>
                  <a:srgbClr val="1E293B"/>
                </a:solidFill>
                <a:latin typeface="Calibri"/>
              </a:rPr>
              <a:t>✗  s</a:t>
            </a:r>
          </a:p>
          <a:p>
            <a:pPr algn="l">
              <a:spcAft>
                <a:spcPts val="300"/>
              </a:spcAft>
            </a:pPr>
            <a:r>
              <a:rPr sz="850" b="0" i="0">
                <a:solidFill>
                  <a:srgbClr val="1E293B"/>
                </a:solidFill>
                <a:latin typeface="Calibri"/>
              </a:rPr>
              <a:t>✗  s</a:t>
            </a:r>
          </a:p>
          <a:p>
            <a:pPr algn="l">
              <a:spcAft>
                <a:spcPts val="300"/>
              </a:spcAft>
            </a:pPr>
            <a:r>
              <a:rPr sz="850" b="0" i="0">
                <a:solidFill>
                  <a:srgbClr val="1E293B"/>
                </a:solidFill>
                <a:latin typeface="Calibri"/>
              </a:rPr>
              <a:t>✗  i</a:t>
            </a:r>
          </a:p>
          <a:p>
            <a:pPr algn="l">
              <a:spcAft>
                <a:spcPts val="300"/>
              </a:spcAft>
            </a:pPr>
            <a:r>
              <a:rPr sz="850" b="0" i="0">
                <a:solidFill>
                  <a:srgbClr val="1E293B"/>
                </a:solidFill>
                <a:latin typeface="Calibri"/>
              </a:rPr>
              <a:t>✗  s</a:t>
            </a:r>
          </a:p>
          <a:p>
            <a:pPr algn="l">
              <a:spcAft>
                <a:spcPts val="300"/>
              </a:spcAft>
            </a:pPr>
            <a:r>
              <a:rPr sz="850" b="0" i="0">
                <a:solidFill>
                  <a:srgbClr val="1E293B"/>
                </a:solidFill>
                <a:latin typeface="Calibri"/>
              </a:rPr>
              <a:t>✗  t</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s</a:t>
            </a:r>
          </a:p>
          <a:p>
            <a:pPr algn="l">
              <a:spcAft>
                <a:spcPts val="300"/>
              </a:spcAft>
            </a:pPr>
            <a:r>
              <a:rPr sz="850" b="0" i="0">
                <a:solidFill>
                  <a:srgbClr val="1E293B"/>
                </a:solidFill>
                <a:latin typeface="Calibri"/>
              </a:rPr>
              <a:t>✗  c</a:t>
            </a:r>
          </a:p>
          <a:p>
            <a:pPr algn="l">
              <a:spcAft>
                <a:spcPts val="300"/>
              </a:spcAft>
            </a:pPr>
            <a:r>
              <a:rPr sz="850" b="0" i="0">
                <a:solidFill>
                  <a:srgbClr val="1E293B"/>
                </a:solidFill>
                <a:latin typeface="Calibri"/>
              </a:rPr>
              <a:t>✗  r</a:t>
            </a:r>
          </a:p>
          <a:p>
            <a:pPr algn="l">
              <a:spcAft>
                <a:spcPts val="300"/>
              </a:spcAft>
            </a:pPr>
            <a:r>
              <a:rPr sz="850" b="0" i="0">
                <a:solidFill>
                  <a:srgbClr val="1E293B"/>
                </a:solidFill>
                <a:latin typeface="Calibri"/>
              </a:rPr>
              <a:t>✗  i</a:t>
            </a:r>
          </a:p>
          <a:p>
            <a:pPr algn="l">
              <a:spcAft>
                <a:spcPts val="300"/>
              </a:spcAft>
            </a:pPr>
            <a:r>
              <a:rPr sz="850" b="0" i="0">
                <a:solidFill>
                  <a:srgbClr val="1E293B"/>
                </a:solidFill>
                <a:latin typeface="Calibri"/>
              </a:rPr>
              <a:t>✗  p</a:t>
            </a:r>
          </a:p>
          <a:p>
            <a:pPr algn="l">
              <a:spcAft>
                <a:spcPts val="300"/>
              </a:spcAft>
            </a:pPr>
            <a:r>
              <a:rPr sz="850" b="0" i="0">
                <a:solidFill>
                  <a:srgbClr val="1E293B"/>
                </a:solidFill>
                <a:latin typeface="Calibri"/>
              </a:rPr>
              <a:t>✗  t</a:t>
            </a:r>
          </a:p>
          <a:p>
            <a:pPr algn="l">
              <a:spcAft>
                <a:spcPts val="300"/>
              </a:spcAft>
            </a:pPr>
            <a:r>
              <a:rPr sz="850" b="0" i="0">
                <a:solidFill>
                  <a:srgbClr val="1E293B"/>
                </a:solidFill>
                <a:latin typeface="Calibri"/>
              </a:rPr>
              <a:t>✗  e</a:t>
            </a:r>
          </a:p>
          <a:p>
            <a:pPr algn="l">
              <a:spcAft>
                <a:spcPts val="300"/>
              </a:spcAft>
            </a:pPr>
            <a:r>
              <a:rPr sz="850" b="0" i="0">
                <a:solidFill>
                  <a:srgbClr val="1E293B"/>
                </a:solidFill>
                <a:latin typeface="Calibri"/>
              </a:rPr>
              <a:t>✗  d</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s</a:t>
            </a:r>
          </a:p>
          <a:p>
            <a:pPr algn="l">
              <a:spcAft>
                <a:spcPts val="300"/>
              </a:spcAft>
            </a:pPr>
            <a:r>
              <a:rPr sz="850" b="0" i="0">
                <a:solidFill>
                  <a:srgbClr val="1E293B"/>
                </a:solidFill>
                <a:latin typeface="Calibri"/>
              </a:rPr>
              <a:t>✗  u</a:t>
            </a:r>
          </a:p>
          <a:p>
            <a:pPr algn="l">
              <a:spcAft>
                <a:spcPts val="300"/>
              </a:spcAft>
            </a:pPr>
            <a:r>
              <a:rPr sz="850" b="0" i="0">
                <a:solidFill>
                  <a:srgbClr val="1E293B"/>
                </a:solidFill>
                <a:latin typeface="Calibri"/>
              </a:rPr>
              <a:t>✗  m</a:t>
            </a:r>
          </a:p>
          <a:p>
            <a:pPr algn="l">
              <a:spcAft>
                <a:spcPts val="300"/>
              </a:spcAft>
            </a:pPr>
            <a:r>
              <a:rPr sz="850" b="0" i="0">
                <a:solidFill>
                  <a:srgbClr val="1E293B"/>
                </a:solidFill>
                <a:latin typeface="Calibri"/>
              </a:rPr>
              <a:t>✗  m</a:t>
            </a:r>
          </a:p>
          <a:p>
            <a:pPr algn="l">
              <a:spcAft>
                <a:spcPts val="300"/>
              </a:spcAft>
            </a:pPr>
            <a:r>
              <a:rPr sz="850" b="0" i="0">
                <a:solidFill>
                  <a:srgbClr val="1E293B"/>
                </a:solidFill>
                <a:latin typeface="Calibri"/>
              </a:rPr>
              <a:t>✗  a</a:t>
            </a:r>
          </a:p>
          <a:p>
            <a:pPr algn="l">
              <a:spcAft>
                <a:spcPts val="300"/>
              </a:spcAft>
            </a:pPr>
            <a:r>
              <a:rPr sz="850" b="0" i="0">
                <a:solidFill>
                  <a:srgbClr val="1E293B"/>
                </a:solidFill>
                <a:latin typeface="Calibri"/>
              </a:rPr>
              <a:t>✗  r</a:t>
            </a:r>
          </a:p>
          <a:p>
            <a:pPr algn="l">
              <a:spcAft>
                <a:spcPts val="300"/>
              </a:spcAft>
            </a:pPr>
            <a:r>
              <a:rPr sz="850" b="0" i="0">
                <a:solidFill>
                  <a:srgbClr val="1E293B"/>
                </a:solidFill>
                <a:latin typeface="Calibri"/>
              </a:rPr>
              <a:t>✗  i</a:t>
            </a:r>
          </a:p>
          <a:p>
            <a:pPr algn="l">
              <a:spcAft>
                <a:spcPts val="300"/>
              </a:spcAft>
            </a:pPr>
            <a:r>
              <a:rPr sz="850" b="0" i="0">
                <a:solidFill>
                  <a:srgbClr val="1E293B"/>
                </a:solidFill>
                <a:latin typeface="Calibri"/>
              </a:rPr>
              <a:t>✗  z</a:t>
            </a:r>
          </a:p>
          <a:p>
            <a:pPr algn="l">
              <a:spcAft>
                <a:spcPts val="300"/>
              </a:spcAft>
            </a:pPr>
            <a:r>
              <a:rPr sz="850" b="0" i="0">
                <a:solidFill>
                  <a:srgbClr val="1E293B"/>
                </a:solidFill>
                <a:latin typeface="Calibri"/>
              </a:rPr>
              <a:t>✗  a</a:t>
            </a:r>
          </a:p>
          <a:p>
            <a:pPr algn="l">
              <a:spcAft>
                <a:spcPts val="300"/>
              </a:spcAft>
            </a:pPr>
            <a:r>
              <a:rPr sz="850" b="0" i="0">
                <a:solidFill>
                  <a:srgbClr val="1E293B"/>
                </a:solidFill>
                <a:latin typeface="Calibri"/>
              </a:rPr>
              <a:t>✗  t</a:t>
            </a:r>
          </a:p>
          <a:p>
            <a:pPr algn="l">
              <a:spcAft>
                <a:spcPts val="300"/>
              </a:spcAft>
            </a:pPr>
            <a:r>
              <a:rPr sz="850" b="0" i="0">
                <a:solidFill>
                  <a:srgbClr val="1E293B"/>
                </a:solidFill>
                <a:latin typeface="Calibri"/>
              </a:rPr>
              <a:t>✗  i</a:t>
            </a:r>
          </a:p>
          <a:p>
            <a:pPr algn="l">
              <a:spcAft>
                <a:spcPts val="300"/>
              </a:spcAft>
            </a:pPr>
            <a:r>
              <a:rPr sz="850" b="0" i="0">
                <a:solidFill>
                  <a:srgbClr val="1E293B"/>
                </a:solidFill>
                <a:latin typeface="Calibri"/>
              </a:rPr>
              <a:t>✗  o</a:t>
            </a:r>
          </a:p>
          <a:p>
            <a:pPr algn="l">
              <a:spcAft>
                <a:spcPts val="300"/>
              </a:spcAft>
            </a:pPr>
            <a:r>
              <a:rPr sz="850" b="0" i="0">
                <a:solidFill>
                  <a:srgbClr val="1E293B"/>
                </a:solidFill>
                <a:latin typeface="Calibri"/>
              </a:rPr>
              <a:t>✗  n</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l</a:t>
            </a:r>
          </a:p>
          <a:p>
            <a:pPr algn="l">
              <a:spcAft>
                <a:spcPts val="300"/>
              </a:spcAft>
            </a:pPr>
            <a:r>
              <a:rPr sz="850" b="0" i="0">
                <a:solidFill>
                  <a:srgbClr val="1E293B"/>
                </a:solidFill>
                <a:latin typeface="Calibri"/>
              </a:rPr>
              <a:t>✗  o</a:t>
            </a:r>
          </a:p>
          <a:p>
            <a:pPr algn="l">
              <a:spcAft>
                <a:spcPts val="300"/>
              </a:spcAft>
            </a:pPr>
            <a:r>
              <a:rPr sz="850" b="0" i="0">
                <a:solidFill>
                  <a:srgbClr val="1E293B"/>
                </a:solidFill>
                <a:latin typeface="Calibri"/>
              </a:rPr>
              <a:t>✗  g</a:t>
            </a:r>
          </a:p>
          <a:p>
            <a:pPr algn="l">
              <a:spcAft>
                <a:spcPts val="300"/>
              </a:spcAft>
            </a:pPr>
            <a:r>
              <a:rPr sz="850" b="0" i="0">
                <a:solidFill>
                  <a:srgbClr val="1E293B"/>
                </a:solidFill>
                <a:latin typeface="Calibri"/>
              </a:rPr>
              <a:t>✗  i</a:t>
            </a:r>
          </a:p>
          <a:p>
            <a:pPr algn="l">
              <a:spcAft>
                <a:spcPts val="300"/>
              </a:spcAft>
            </a:pPr>
            <a:r>
              <a:rPr sz="850" b="0" i="0">
                <a:solidFill>
                  <a:srgbClr val="1E293B"/>
                </a:solidFill>
                <a:latin typeface="Calibri"/>
              </a:rPr>
              <a:t>✗  c</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r</a:t>
            </a:r>
          </a:p>
          <a:p>
            <a:pPr algn="l">
              <a:spcAft>
                <a:spcPts val="300"/>
              </a:spcAft>
            </a:pPr>
            <a:r>
              <a:rPr sz="850" b="0" i="0">
                <a:solidFill>
                  <a:srgbClr val="1E293B"/>
                </a:solidFill>
                <a:latin typeface="Calibri"/>
              </a:rPr>
              <a:t>✗  e</a:t>
            </a:r>
          </a:p>
          <a:p>
            <a:pPr algn="l">
              <a:spcAft>
                <a:spcPts val="300"/>
              </a:spcAft>
            </a:pPr>
            <a:r>
              <a:rPr sz="850" b="0" i="0">
                <a:solidFill>
                  <a:srgbClr val="1E293B"/>
                </a:solidFill>
                <a:latin typeface="Calibri"/>
              </a:rPr>
              <a:t>✗  p</a:t>
            </a:r>
          </a:p>
          <a:p>
            <a:pPr algn="l">
              <a:spcAft>
                <a:spcPts val="300"/>
              </a:spcAft>
            </a:pPr>
            <a:r>
              <a:rPr sz="850" b="0" i="0">
                <a:solidFill>
                  <a:srgbClr val="1E293B"/>
                </a:solidFill>
                <a:latin typeface="Calibri"/>
              </a:rPr>
              <a:t>✗  l</a:t>
            </a:r>
          </a:p>
          <a:p>
            <a:pPr algn="l">
              <a:spcAft>
                <a:spcPts val="300"/>
              </a:spcAft>
            </a:pPr>
            <a:r>
              <a:rPr sz="850" b="0" i="0">
                <a:solidFill>
                  <a:srgbClr val="1E293B"/>
                </a:solidFill>
                <a:latin typeface="Calibri"/>
              </a:rPr>
              <a:t>✗  a</a:t>
            </a:r>
          </a:p>
          <a:p>
            <a:pPr algn="l">
              <a:spcAft>
                <a:spcPts val="300"/>
              </a:spcAft>
            </a:pPr>
            <a:r>
              <a:rPr sz="850" b="0" i="0">
                <a:solidFill>
                  <a:srgbClr val="1E293B"/>
                </a:solidFill>
                <a:latin typeface="Calibri"/>
              </a:rPr>
              <a:t>✗  c</a:t>
            </a:r>
          </a:p>
          <a:p>
            <a:pPr algn="l">
              <a:spcAft>
                <a:spcPts val="300"/>
              </a:spcAft>
            </a:pPr>
            <a:r>
              <a:rPr sz="850" b="0" i="0">
                <a:solidFill>
                  <a:srgbClr val="1E293B"/>
                </a:solidFill>
                <a:latin typeface="Calibri"/>
              </a:rPr>
              <a:t>✗  i</a:t>
            </a:r>
          </a:p>
          <a:p>
            <a:pPr algn="l">
              <a:spcAft>
                <a:spcPts val="300"/>
              </a:spcAft>
            </a:pPr>
            <a:r>
              <a:rPr sz="850" b="0" i="0">
                <a:solidFill>
                  <a:srgbClr val="1E293B"/>
                </a:solidFill>
                <a:latin typeface="Calibri"/>
              </a:rPr>
              <a:t>✗  n</a:t>
            </a:r>
          </a:p>
          <a:p>
            <a:pPr algn="l">
              <a:spcAft>
                <a:spcPts val="300"/>
              </a:spcAft>
            </a:pPr>
            <a:r>
              <a:rPr sz="850" b="0" i="0">
                <a:solidFill>
                  <a:srgbClr val="1E293B"/>
                </a:solidFill>
                <a:latin typeface="Calibri"/>
              </a:rPr>
              <a:t>✗  g</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N</a:t>
            </a:r>
          </a:p>
          <a:p>
            <a:pPr algn="l">
              <a:spcAft>
                <a:spcPts val="300"/>
              </a:spcAft>
            </a:pPr>
            <a:r>
              <a:rPr sz="850" b="0" i="0">
                <a:solidFill>
                  <a:srgbClr val="1E293B"/>
                </a:solidFill>
                <a:latin typeface="Calibri"/>
              </a:rPr>
              <a:t>✗  o</a:t>
            </a:r>
          </a:p>
          <a:p>
            <a:pPr algn="l">
              <a:spcAft>
                <a:spcPts val="300"/>
              </a:spcAft>
            </a:pPr>
            <a:r>
              <a:rPr sz="850" b="0" i="0">
                <a:solidFill>
                  <a:srgbClr val="1E293B"/>
                </a:solidFill>
                <a:latin typeface="Calibri"/>
              </a:rPr>
              <a:t>✗  w</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A</a:t>
            </a:r>
          </a:p>
          <a:p>
            <a:pPr algn="l">
              <a:spcAft>
                <a:spcPts val="300"/>
              </a:spcAft>
            </a:pPr>
            <a:r>
              <a:rPr sz="850" b="0" i="0">
                <a:solidFill>
                  <a:srgbClr val="1E293B"/>
                </a:solidFill>
                <a:latin typeface="Calibri"/>
              </a:rPr>
              <a:t>✗  s</a:t>
            </a:r>
          </a:p>
          <a:p>
            <a:pPr algn="l">
              <a:spcAft>
                <a:spcPts val="300"/>
              </a:spcAft>
            </a:pPr>
            <a:r>
              <a:rPr sz="850" b="0" i="0">
                <a:solidFill>
                  <a:srgbClr val="1E293B"/>
                </a:solidFill>
                <a:latin typeface="Calibri"/>
              </a:rPr>
              <a:t>✗  s</a:t>
            </a:r>
          </a:p>
          <a:p>
            <a:pPr algn="l">
              <a:spcAft>
                <a:spcPts val="300"/>
              </a:spcAft>
            </a:pPr>
            <a:r>
              <a:rPr sz="850" b="0" i="0">
                <a:solidFill>
                  <a:srgbClr val="1E293B"/>
                </a:solidFill>
                <a:latin typeface="Calibri"/>
              </a:rPr>
              <a:t>✗  i</a:t>
            </a:r>
          </a:p>
          <a:p>
            <a:pPr algn="l">
              <a:spcAft>
                <a:spcPts val="300"/>
              </a:spcAft>
            </a:pPr>
            <a:r>
              <a:rPr sz="850" b="0" i="0">
                <a:solidFill>
                  <a:srgbClr val="1E293B"/>
                </a:solidFill>
                <a:latin typeface="Calibri"/>
              </a:rPr>
              <a:t>✗  s</a:t>
            </a:r>
          </a:p>
          <a:p>
            <a:pPr algn="l">
              <a:spcAft>
                <a:spcPts val="300"/>
              </a:spcAft>
            </a:pPr>
            <a:r>
              <a:rPr sz="850" b="0" i="0">
                <a:solidFill>
                  <a:srgbClr val="1E293B"/>
                </a:solidFill>
                <a:latin typeface="Calibri"/>
              </a:rPr>
              <a:t>✗  t</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s</a:t>
            </a:r>
          </a:p>
          <a:p>
            <a:pPr algn="l">
              <a:spcAft>
                <a:spcPts val="300"/>
              </a:spcAft>
            </a:pPr>
            <a:r>
              <a:rPr sz="850" b="0" i="0">
                <a:solidFill>
                  <a:srgbClr val="1E293B"/>
                </a:solidFill>
                <a:latin typeface="Calibri"/>
              </a:rPr>
              <a:t>✗  k</a:t>
            </a:r>
          </a:p>
          <a:p>
            <a:pPr algn="l">
              <a:spcAft>
                <a:spcPts val="300"/>
              </a:spcAft>
            </a:pPr>
            <a:r>
              <a:rPr sz="850" b="0" i="0">
                <a:solidFill>
                  <a:srgbClr val="1E293B"/>
                </a:solidFill>
                <a:latin typeface="Calibri"/>
              </a:rPr>
              <a:t>✗  i</a:t>
            </a:r>
          </a:p>
          <a:p>
            <a:pPr algn="l">
              <a:spcAft>
                <a:spcPts val="300"/>
              </a:spcAft>
            </a:pPr>
            <a:r>
              <a:rPr sz="850" b="0" i="0">
                <a:solidFill>
                  <a:srgbClr val="1E293B"/>
                </a:solidFill>
                <a:latin typeface="Calibri"/>
              </a:rPr>
              <a:t>✗  l</a:t>
            </a:r>
          </a:p>
          <a:p>
            <a:pPr algn="l">
              <a:spcAft>
                <a:spcPts val="300"/>
              </a:spcAft>
            </a:pPr>
            <a:r>
              <a:rPr sz="850" b="0" i="0">
                <a:solidFill>
                  <a:srgbClr val="1E293B"/>
                </a:solidFill>
                <a:latin typeface="Calibri"/>
              </a:rPr>
              <a:t>✗  l</a:t>
            </a:r>
          </a:p>
          <a:p>
            <a:pPr algn="l">
              <a:spcAft>
                <a:spcPts val="300"/>
              </a:spcAft>
            </a:pPr>
            <a:r>
              <a:rPr sz="850" b="0" i="0">
                <a:solidFill>
                  <a:srgbClr val="1E293B"/>
                </a:solidFill>
                <a:latin typeface="Calibri"/>
              </a:rPr>
              <a:t>✗  s</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c</a:t>
            </a:r>
          </a:p>
          <a:p>
            <a:pPr algn="l">
              <a:spcAft>
                <a:spcPts val="300"/>
              </a:spcAft>
            </a:pPr>
            <a:r>
              <a:rPr sz="850" b="0" i="0">
                <a:solidFill>
                  <a:srgbClr val="1E293B"/>
                </a:solidFill>
                <a:latin typeface="Calibri"/>
              </a:rPr>
              <a:t>✗  u</a:t>
            </a:r>
          </a:p>
          <a:p>
            <a:pPr algn="l">
              <a:spcAft>
                <a:spcPts val="300"/>
              </a:spcAft>
            </a:pPr>
            <a:r>
              <a:rPr sz="850" b="0" i="0">
                <a:solidFill>
                  <a:srgbClr val="1E293B"/>
                </a:solidFill>
                <a:latin typeface="Calibri"/>
              </a:rPr>
              <a:t>✗  s</a:t>
            </a:r>
          </a:p>
          <a:p>
            <a:pPr algn="l">
              <a:spcAft>
                <a:spcPts val="300"/>
              </a:spcAft>
            </a:pPr>
            <a:r>
              <a:rPr sz="850" b="0" i="0">
                <a:solidFill>
                  <a:srgbClr val="1E293B"/>
                </a:solidFill>
                <a:latin typeface="Calibri"/>
              </a:rPr>
              <a:t>✗  t</a:t>
            </a:r>
          </a:p>
          <a:p>
            <a:pPr algn="l">
              <a:spcAft>
                <a:spcPts val="300"/>
              </a:spcAft>
            </a:pPr>
            <a:r>
              <a:rPr sz="850" b="0" i="0">
                <a:solidFill>
                  <a:srgbClr val="1E293B"/>
                </a:solidFill>
                <a:latin typeface="Calibri"/>
              </a:rPr>
              <a:t>✗  o</a:t>
            </a:r>
          </a:p>
          <a:p>
            <a:pPr algn="l">
              <a:spcAft>
                <a:spcPts val="300"/>
              </a:spcAft>
            </a:pPr>
            <a:r>
              <a:rPr sz="850" b="0" i="0">
                <a:solidFill>
                  <a:srgbClr val="1E293B"/>
                </a:solidFill>
                <a:latin typeface="Calibri"/>
              </a:rPr>
              <a:t>✗  m</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G</a:t>
            </a:r>
          </a:p>
          <a:p>
            <a:pPr algn="l">
              <a:spcAft>
                <a:spcPts val="300"/>
              </a:spcAft>
            </a:pPr>
            <a:r>
              <a:rPr sz="850" b="0" i="0">
                <a:solidFill>
                  <a:srgbClr val="1E293B"/>
                </a:solidFill>
                <a:latin typeface="Calibri"/>
              </a:rPr>
              <a:t>✗  e</a:t>
            </a:r>
          </a:p>
          <a:p>
            <a:pPr algn="l">
              <a:spcAft>
                <a:spcPts val="300"/>
              </a:spcAft>
            </a:pPr>
            <a:r>
              <a:rPr sz="850" b="0" i="0">
                <a:solidFill>
                  <a:srgbClr val="1E293B"/>
                </a:solidFill>
                <a:latin typeface="Calibri"/>
              </a:rPr>
              <a:t>✗  n</a:t>
            </a:r>
          </a:p>
          <a:p>
            <a:pPr algn="l">
              <a:spcAft>
                <a:spcPts val="300"/>
              </a:spcAft>
            </a:pPr>
            <a:r>
              <a:rPr sz="850" b="0" i="0">
                <a:solidFill>
                  <a:srgbClr val="1E293B"/>
                </a:solidFill>
                <a:latin typeface="Calibri"/>
              </a:rPr>
              <a:t>✗  A</a:t>
            </a:r>
          </a:p>
          <a:p>
            <a:pPr algn="l">
              <a:spcAft>
                <a:spcPts val="300"/>
              </a:spcAft>
            </a:pPr>
            <a:r>
              <a:rPr sz="850" b="0" i="0">
                <a:solidFill>
                  <a:srgbClr val="1E293B"/>
                </a:solidFill>
                <a:latin typeface="Calibri"/>
              </a:rPr>
              <a:t>✗  I</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p</a:t>
            </a:r>
          </a:p>
          <a:p>
            <a:pPr algn="l">
              <a:spcAft>
                <a:spcPts val="300"/>
              </a:spcAft>
            </a:pPr>
            <a:r>
              <a:rPr sz="850" b="0" i="0">
                <a:solidFill>
                  <a:srgbClr val="1E293B"/>
                </a:solidFill>
                <a:latin typeface="Calibri"/>
              </a:rPr>
              <a:t>✗  r</a:t>
            </a:r>
          </a:p>
          <a:p>
            <a:pPr algn="l">
              <a:spcAft>
                <a:spcPts val="300"/>
              </a:spcAft>
            </a:pPr>
            <a:r>
              <a:rPr sz="850" b="0" i="0">
                <a:solidFill>
                  <a:srgbClr val="1E293B"/>
                </a:solidFill>
                <a:latin typeface="Calibri"/>
              </a:rPr>
              <a:t>✗  o</a:t>
            </a:r>
          </a:p>
          <a:p>
            <a:pPr algn="l">
              <a:spcAft>
                <a:spcPts val="300"/>
              </a:spcAft>
            </a:pPr>
            <a:r>
              <a:rPr sz="850" b="0" i="0">
                <a:solidFill>
                  <a:srgbClr val="1E293B"/>
                </a:solidFill>
                <a:latin typeface="Calibri"/>
              </a:rPr>
              <a:t>✗  m</a:t>
            </a:r>
          </a:p>
          <a:p>
            <a:pPr algn="l">
              <a:spcAft>
                <a:spcPts val="300"/>
              </a:spcAft>
            </a:pPr>
            <a:r>
              <a:rPr sz="850" b="0" i="0">
                <a:solidFill>
                  <a:srgbClr val="1E293B"/>
                </a:solidFill>
                <a:latin typeface="Calibri"/>
              </a:rPr>
              <a:t>✗  p</a:t>
            </a:r>
          </a:p>
          <a:p>
            <a:pPr algn="l">
              <a:spcAft>
                <a:spcPts val="300"/>
              </a:spcAft>
            </a:pPr>
            <a:r>
              <a:rPr sz="850" b="0" i="0">
                <a:solidFill>
                  <a:srgbClr val="1E293B"/>
                </a:solidFill>
                <a:latin typeface="Calibri"/>
              </a:rPr>
              <a:t>✗  t</a:t>
            </a:r>
          </a:p>
          <a:p>
            <a:pPr algn="l">
              <a:spcAft>
                <a:spcPts val="300"/>
              </a:spcAft>
            </a:pPr>
            <a:r>
              <a:rPr sz="850" b="0" i="0">
                <a:solidFill>
                  <a:srgbClr val="1E293B"/>
                </a:solidFill>
                <a:latin typeface="Calibri"/>
              </a:rPr>
              <a:t>✗  s</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r</a:t>
            </a:r>
          </a:p>
          <a:p>
            <a:pPr algn="l">
              <a:spcAft>
                <a:spcPts val="300"/>
              </a:spcAft>
            </a:pPr>
            <a:r>
              <a:rPr sz="850" b="0" i="0">
                <a:solidFill>
                  <a:srgbClr val="1E293B"/>
                </a:solidFill>
                <a:latin typeface="Calibri"/>
              </a:rPr>
              <a:t>✗  e</a:t>
            </a:r>
          </a:p>
          <a:p>
            <a:pPr algn="l">
              <a:spcAft>
                <a:spcPts val="300"/>
              </a:spcAft>
            </a:pPr>
            <a:r>
              <a:rPr sz="850" b="0" i="0">
                <a:solidFill>
                  <a:srgbClr val="1E293B"/>
                </a:solidFill>
                <a:latin typeface="Calibri"/>
              </a:rPr>
              <a:t>✗  q</a:t>
            </a:r>
          </a:p>
          <a:p>
            <a:pPr algn="l">
              <a:spcAft>
                <a:spcPts val="300"/>
              </a:spcAft>
            </a:pPr>
            <a:r>
              <a:rPr sz="850" b="0" i="0">
                <a:solidFill>
                  <a:srgbClr val="1E293B"/>
                </a:solidFill>
                <a:latin typeface="Calibri"/>
              </a:rPr>
              <a:t>✗  u</a:t>
            </a:r>
          </a:p>
          <a:p>
            <a:pPr algn="l">
              <a:spcAft>
                <a:spcPts val="300"/>
              </a:spcAft>
            </a:pPr>
            <a:r>
              <a:rPr sz="850" b="0" i="0">
                <a:solidFill>
                  <a:srgbClr val="1E293B"/>
                </a:solidFill>
                <a:latin typeface="Calibri"/>
              </a:rPr>
              <a:t>✗  i</a:t>
            </a:r>
          </a:p>
          <a:p>
            <a:pPr algn="l">
              <a:spcAft>
                <a:spcPts val="300"/>
              </a:spcAft>
            </a:pPr>
            <a:r>
              <a:rPr sz="850" b="0" i="0">
                <a:solidFill>
                  <a:srgbClr val="1E293B"/>
                </a:solidFill>
                <a:latin typeface="Calibri"/>
              </a:rPr>
              <a:t>✗  r</a:t>
            </a:r>
          </a:p>
          <a:p>
            <a:pPr algn="l">
              <a:spcAft>
                <a:spcPts val="300"/>
              </a:spcAft>
            </a:pPr>
            <a:r>
              <a:rPr sz="850" b="0" i="0">
                <a:solidFill>
                  <a:srgbClr val="1E293B"/>
                </a:solidFill>
                <a:latin typeface="Calibri"/>
              </a:rPr>
              <a:t>✗  i</a:t>
            </a:r>
          </a:p>
          <a:p>
            <a:pPr algn="l">
              <a:spcAft>
                <a:spcPts val="300"/>
              </a:spcAft>
            </a:pPr>
            <a:r>
              <a:rPr sz="850" b="0" i="0">
                <a:solidFill>
                  <a:srgbClr val="1E293B"/>
                </a:solidFill>
                <a:latin typeface="Calibri"/>
              </a:rPr>
              <a:t>✗  n</a:t>
            </a:r>
          </a:p>
          <a:p>
            <a:pPr algn="l">
              <a:spcAft>
                <a:spcPts val="300"/>
              </a:spcAft>
            </a:pPr>
            <a:r>
              <a:rPr sz="850" b="0" i="0">
                <a:solidFill>
                  <a:srgbClr val="1E293B"/>
                </a:solidFill>
                <a:latin typeface="Calibri"/>
              </a:rPr>
              <a:t>✗  g</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c</a:t>
            </a:r>
          </a:p>
          <a:p>
            <a:pPr algn="l">
              <a:spcAft>
                <a:spcPts val="300"/>
              </a:spcAft>
            </a:pPr>
            <a:r>
              <a:rPr sz="850" b="0" i="0">
                <a:solidFill>
                  <a:srgbClr val="1E293B"/>
                </a:solidFill>
                <a:latin typeface="Calibri"/>
              </a:rPr>
              <a:t>✗  o</a:t>
            </a:r>
          </a:p>
          <a:p>
            <a:pPr algn="l">
              <a:spcAft>
                <a:spcPts val="300"/>
              </a:spcAft>
            </a:pPr>
            <a:r>
              <a:rPr sz="850" b="0" i="0">
                <a:solidFill>
                  <a:srgbClr val="1E293B"/>
                </a:solidFill>
                <a:latin typeface="Calibri"/>
              </a:rPr>
              <a:t>✗  d</a:t>
            </a:r>
          </a:p>
          <a:p>
            <a:pPr algn="l">
              <a:spcAft>
                <a:spcPts val="300"/>
              </a:spcAft>
            </a:pPr>
            <a:r>
              <a:rPr sz="850" b="0" i="0">
                <a:solidFill>
                  <a:srgbClr val="1E293B"/>
                </a:solidFill>
                <a:latin typeface="Calibri"/>
              </a:rPr>
              <a:t>✗  e</a:t>
            </a:r>
          </a:p>
          <a:p>
            <a:pPr algn="l">
              <a:spcAft>
                <a:spcPts val="300"/>
              </a:spcAft>
            </a:pPr>
            <a:r>
              <a:rPr sz="850" b="0" i="0">
                <a:solidFill>
                  <a:srgbClr val="1E293B"/>
                </a:solidFill>
                <a:latin typeface="Calibri"/>
              </a:rPr>
              <a:t>✗   </a:t>
            </a:r>
          </a:p>
          <a:p>
            <a:pPr algn="l">
              <a:spcAft>
                <a:spcPts val="300"/>
              </a:spcAft>
            </a:pPr>
            <a:r>
              <a:rPr sz="850" b="0" i="0">
                <a:solidFill>
                  <a:srgbClr val="1E293B"/>
                </a:solidFill>
                <a:latin typeface="Calibri"/>
              </a:rPr>
              <a:t>✗  d</a:t>
            </a:r>
          </a:p>
          <a:p>
            <a:pPr algn="l">
              <a:spcAft>
                <a:spcPts val="300"/>
              </a:spcAft>
            </a:pPr>
            <a:r>
              <a:rPr sz="850" b="0" i="0">
                <a:solidFill>
                  <a:srgbClr val="1E293B"/>
                </a:solidFill>
                <a:latin typeface="Calibri"/>
              </a:rPr>
              <a:t>✗  e</a:t>
            </a:r>
          </a:p>
          <a:p>
            <a:pPr algn="l">
              <a:spcAft>
                <a:spcPts val="300"/>
              </a:spcAft>
            </a:pPr>
            <a:r>
              <a:rPr sz="850" b="0" i="0">
                <a:solidFill>
                  <a:srgbClr val="1E293B"/>
                </a:solidFill>
                <a:latin typeface="Calibri"/>
              </a:rPr>
              <a:t>✗  p</a:t>
            </a:r>
          </a:p>
          <a:p>
            <a:pPr algn="l">
              <a:spcAft>
                <a:spcPts val="300"/>
              </a:spcAft>
            </a:pPr>
            <a:r>
              <a:rPr sz="850" b="0" i="0">
                <a:solidFill>
                  <a:srgbClr val="1E293B"/>
                </a:solidFill>
                <a:latin typeface="Calibri"/>
              </a:rPr>
              <a:t>✗  l</a:t>
            </a:r>
          </a:p>
          <a:p>
            <a:pPr algn="l">
              <a:spcAft>
                <a:spcPts val="300"/>
              </a:spcAft>
            </a:pPr>
            <a:r>
              <a:rPr sz="850" b="0" i="0">
                <a:solidFill>
                  <a:srgbClr val="1E293B"/>
                </a:solidFill>
                <a:latin typeface="Calibri"/>
              </a:rPr>
              <a:t>✗  o</a:t>
            </a:r>
          </a:p>
          <a:p>
            <a:pPr algn="l">
              <a:spcAft>
                <a:spcPts val="300"/>
              </a:spcAft>
            </a:pPr>
            <a:r>
              <a:rPr sz="850" b="0" i="0">
                <a:solidFill>
                  <a:srgbClr val="1E293B"/>
                </a:solidFill>
                <a:latin typeface="Calibri"/>
              </a:rPr>
              <a:t>✗  y</a:t>
            </a:r>
          </a:p>
          <a:p>
            <a:pPr algn="l">
              <a:spcAft>
                <a:spcPts val="300"/>
              </a:spcAft>
            </a:pPr>
            <a:r>
              <a:rPr sz="850" b="0" i="0">
                <a:solidFill>
                  <a:srgbClr val="1E293B"/>
                </a:solidFill>
                <a:latin typeface="Calibri"/>
              </a:rPr>
              <a:t>✗  m</a:t>
            </a:r>
          </a:p>
          <a:p>
            <a:pPr algn="l">
              <a:spcAft>
                <a:spcPts val="300"/>
              </a:spcAft>
            </a:pPr>
            <a:r>
              <a:rPr sz="850" b="0" i="0">
                <a:solidFill>
                  <a:srgbClr val="1E293B"/>
                </a:solidFill>
                <a:latin typeface="Calibri"/>
              </a:rPr>
              <a:t>✗  e</a:t>
            </a:r>
          </a:p>
          <a:p>
            <a:pPr algn="l">
              <a:spcAft>
                <a:spcPts val="300"/>
              </a:spcAft>
            </a:pPr>
            <a:r>
              <a:rPr sz="850" b="0" i="0">
                <a:solidFill>
                  <a:srgbClr val="1E293B"/>
                </a:solidFill>
                <a:latin typeface="Calibri"/>
              </a:rPr>
              <a:t>✗  n</a:t>
            </a:r>
          </a:p>
          <a:p>
            <a:pPr algn="l">
              <a:spcAft>
                <a:spcPts val="300"/>
              </a:spcAft>
            </a:pPr>
            <a:r>
              <a:rPr sz="850" b="0" i="0">
                <a:solidFill>
                  <a:srgbClr val="1E293B"/>
                </a:solidFill>
                <a:latin typeface="Calibri"/>
              </a:rPr>
              <a:t>✗  t</a:t>
            </a:r>
          </a:p>
        </p:txBody>
      </p:sp>
      <p:sp>
        <p:nvSpPr>
          <p:cNvPr id="14" name="Rectangle 13"/>
          <p:cNvSpPr/>
          <p:nvPr/>
        </p:nvSpPr>
        <p:spPr>
          <a:xfrm>
            <a:off x="320040" y="4645152"/>
            <a:ext cx="8503920" cy="164592"/>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654296"/>
            <a:ext cx="8229600" cy="146304"/>
          </a:xfrm>
          <a:prstGeom prst="rect">
            <a:avLst/>
          </a:prstGeom>
          <a:noFill/>
        </p:spPr>
        <p:txBody>
          <a:bodyPr wrap="square" lIns="36576" rIns="36576" tIns="18288" bIns="18288">
            <a:spAutoFit/>
          </a:bodyPr>
          <a:lstStyle/>
          <a:p>
            <a:pPr algn="l"/>
            <a:r>
              <a:rPr sz="800" b="1" i="0">
                <a:solidFill>
                  <a:srgbClr val="0B1F3A"/>
                </a:solidFill>
                <a:latin typeface="Calibri"/>
              </a:rPr>
              <a:t>The customization bar:  </a:t>
            </a:r>
            <a:r>
              <a:rPr sz="800" b="0" i="0">
                <a:solidFill>
                  <a:srgbClr val="1E293B"/>
                </a:solidFill>
                <a:latin typeface="Calibri"/>
              </a:rPr>
              <a:t>Now Assist runs on ServiceNow infrastructure. Data does not leave the platform. Custom LLM integrations introduce data residency risk, FedRAMP compliance complexity, and prompt injection surface area that OOTB Now Assist eliminates.</a:t>
            </a:r>
          </a:p>
        </p:txBody>
      </p:sp>
      <p:sp>
        <p:nvSpPr>
          <p:cNvPr id="16" name="Rectangle 15"/>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18" name="TextBox 17"/>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NOW ASSIST / GEN AI</a:t>
            </a:r>
          </a:p>
        </p:txBody>
      </p:sp>
      <p:sp>
        <p:nvSpPr>
          <p:cNvPr id="19" name="TextBox 18"/>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T H E  P R O C E S S</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2400" b="1" i="0">
                <a:solidFill>
                  <a:srgbClr val="0B1F3A"/>
                </a:solidFill>
                <a:latin typeface="Calibri"/>
              </a:rPr>
              <a:t>Now Assist Flow: User Interaction to GenAI Output</a:t>
            </a:r>
          </a:p>
        </p:txBody>
      </p:sp>
      <p:sp>
        <p:nvSpPr>
          <p:cNvPr id="5" name="Rectangle 4"/>
          <p:cNvSpPr/>
          <p:nvPr/>
        </p:nvSpPr>
        <p:spPr>
          <a:xfrm>
            <a:off x="320040" y="1005840"/>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78992"/>
            <a:ext cx="1627632" cy="34747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59" y="1097280"/>
            <a:ext cx="1536192" cy="292608"/>
          </a:xfrm>
          <a:prstGeom prst="rect">
            <a:avLst/>
          </a:prstGeom>
          <a:noFill/>
        </p:spPr>
        <p:txBody>
          <a:bodyPr wrap="square" lIns="36576" rIns="36576" tIns="18288" bIns="18288">
            <a:spAutoFit/>
          </a:bodyPr>
          <a:lstStyle/>
          <a:p>
            <a:pPr algn="ctr"/>
            <a:r>
              <a:rPr sz="850" b="1" i="0">
                <a:solidFill>
                  <a:srgbClr val="FFFFFF"/>
                </a:solidFill>
                <a:latin typeface="Calibri"/>
              </a:rPr>
              <a:t>USER TRIGGERS SKILL</a:t>
            </a:r>
          </a:p>
        </p:txBody>
      </p:sp>
      <p:sp>
        <p:nvSpPr>
          <p:cNvPr id="8" name="Rectangle 7"/>
          <p:cNvSpPr/>
          <p:nvPr/>
        </p:nvSpPr>
        <p:spPr>
          <a:xfrm>
            <a:off x="2020824" y="1078992"/>
            <a:ext cx="1627632" cy="34747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66543" y="1097280"/>
            <a:ext cx="1536192" cy="292608"/>
          </a:xfrm>
          <a:prstGeom prst="rect">
            <a:avLst/>
          </a:prstGeom>
          <a:noFill/>
        </p:spPr>
        <p:txBody>
          <a:bodyPr wrap="square" lIns="36576" rIns="36576" tIns="18288" bIns="18288">
            <a:spAutoFit/>
          </a:bodyPr>
          <a:lstStyle/>
          <a:p>
            <a:pPr algn="ctr"/>
            <a:r>
              <a:rPr sz="850" b="1" i="0">
                <a:solidFill>
                  <a:srgbClr val="FFFFFF"/>
                </a:solidFill>
                <a:latin typeface="Calibri"/>
              </a:rPr>
              <a:t>CONTEXT ASSEMBLED</a:t>
            </a:r>
          </a:p>
        </p:txBody>
      </p:sp>
      <p:sp>
        <p:nvSpPr>
          <p:cNvPr id="10" name="Rectangle 9"/>
          <p:cNvSpPr/>
          <p:nvPr/>
        </p:nvSpPr>
        <p:spPr>
          <a:xfrm>
            <a:off x="3721608" y="1078992"/>
            <a:ext cx="1627632" cy="34747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67328" y="1097280"/>
            <a:ext cx="1536192" cy="292608"/>
          </a:xfrm>
          <a:prstGeom prst="rect">
            <a:avLst/>
          </a:prstGeom>
          <a:noFill/>
        </p:spPr>
        <p:txBody>
          <a:bodyPr wrap="square" lIns="36576" rIns="36576" tIns="18288" bIns="18288">
            <a:spAutoFit/>
          </a:bodyPr>
          <a:lstStyle/>
          <a:p>
            <a:pPr algn="ctr"/>
            <a:r>
              <a:rPr sz="850" b="1" i="0">
                <a:solidFill>
                  <a:srgbClr val="FFFFFF"/>
                </a:solidFill>
                <a:latin typeface="Calibri"/>
              </a:rPr>
              <a:t>LLM GENERATES RESPONSE</a:t>
            </a:r>
          </a:p>
        </p:txBody>
      </p:sp>
      <p:sp>
        <p:nvSpPr>
          <p:cNvPr id="12" name="Rectangle 11"/>
          <p:cNvSpPr/>
          <p:nvPr/>
        </p:nvSpPr>
        <p:spPr>
          <a:xfrm>
            <a:off x="5422392" y="1078992"/>
            <a:ext cx="1627632" cy="34747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68112" y="1097280"/>
            <a:ext cx="1536192" cy="292608"/>
          </a:xfrm>
          <a:prstGeom prst="rect">
            <a:avLst/>
          </a:prstGeom>
          <a:noFill/>
        </p:spPr>
        <p:txBody>
          <a:bodyPr wrap="square" lIns="36576" rIns="36576" tIns="18288" bIns="18288">
            <a:spAutoFit/>
          </a:bodyPr>
          <a:lstStyle/>
          <a:p>
            <a:pPr algn="ctr"/>
            <a:r>
              <a:rPr sz="850" b="1" i="0">
                <a:solidFill>
                  <a:srgbClr val="FFFFFF"/>
                </a:solidFill>
                <a:latin typeface="Calibri"/>
              </a:rPr>
              <a:t>AGENT REVIEWS AND ACTS</a:t>
            </a:r>
          </a:p>
        </p:txBody>
      </p:sp>
      <p:sp>
        <p:nvSpPr>
          <p:cNvPr id="14" name="Rectangle 13"/>
          <p:cNvSpPr/>
          <p:nvPr/>
        </p:nvSpPr>
        <p:spPr>
          <a:xfrm>
            <a:off x="7123176" y="1078992"/>
            <a:ext cx="1627632" cy="34747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68896" y="1097280"/>
            <a:ext cx="1536192" cy="292608"/>
          </a:xfrm>
          <a:prstGeom prst="rect">
            <a:avLst/>
          </a:prstGeom>
          <a:noFill/>
        </p:spPr>
        <p:txBody>
          <a:bodyPr wrap="square" lIns="36576" rIns="36576" tIns="18288" bIns="18288">
            <a:spAutoFit/>
          </a:bodyPr>
          <a:lstStyle/>
          <a:p>
            <a:pPr algn="ctr"/>
            <a:r>
              <a:rPr sz="850" b="1" i="0">
                <a:solidFill>
                  <a:srgbClr val="FFFFFF"/>
                </a:solidFill>
                <a:latin typeface="Calibri"/>
              </a:rPr>
              <a:t>FEEDBACK LOOP</a:t>
            </a:r>
          </a:p>
        </p:txBody>
      </p:sp>
      <p:sp>
        <p:nvSpPr>
          <p:cNvPr id="16" name="TextBox 15"/>
          <p:cNvSpPr txBox="1"/>
          <p:nvPr/>
        </p:nvSpPr>
        <p:spPr>
          <a:xfrm>
            <a:off x="4297680" y="1444752"/>
            <a:ext cx="457200" cy="201168"/>
          </a:xfrm>
          <a:prstGeom prst="rect">
            <a:avLst/>
          </a:prstGeom>
          <a:noFill/>
        </p:spPr>
        <p:txBody>
          <a:bodyPr wrap="square" lIns="36576" rIns="36576" tIns="18288" bIns="18288">
            <a:spAutoFit/>
          </a:bodyPr>
          <a:lstStyle/>
          <a:p>
            <a:pPr algn="ctr"/>
            <a:r>
              <a:rPr sz="1400" b="1" i="0">
                <a:solidFill>
                  <a:srgbClr val="14B8A6"/>
                </a:solidFill>
                <a:latin typeface="Calibri"/>
              </a:rPr>
              <a:t>↓</a:t>
            </a:r>
          </a:p>
        </p:txBody>
      </p:sp>
      <p:sp>
        <p:nvSpPr>
          <p:cNvPr id="17" name="Rectangle 16"/>
          <p:cNvSpPr/>
          <p:nvPr/>
        </p:nvSpPr>
        <p:spPr>
          <a:xfrm>
            <a:off x="320040" y="1664208"/>
            <a:ext cx="8503920" cy="32004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84048" y="1719072"/>
            <a:ext cx="8321040" cy="237744"/>
          </a:xfrm>
          <a:prstGeom prst="rect">
            <a:avLst/>
          </a:prstGeom>
          <a:noFill/>
        </p:spPr>
        <p:txBody>
          <a:bodyPr wrap="square" lIns="36576" rIns="36576" tIns="18288" bIns="18288">
            <a:spAutoFit/>
          </a:bodyPr>
          <a:lstStyle/>
          <a:p>
            <a:pPr algn="ctr"/>
            <a:r>
              <a:rPr sz="900" b="1" i="0">
                <a:solidFill>
                  <a:srgbClr val="0B1F3A"/>
                </a:solidFill>
                <a:latin typeface="Calibri"/>
              </a:rPr>
              <a:t>User Triggers Skill: Agent opens an incident (or end user sends a VA message). Now Assist skill triggered: summarize this incident, generate a knowledge article, suggest a resolution, or answer a natural language question.</a:t>
            </a:r>
          </a:p>
        </p:txBody>
      </p:sp>
      <p:sp>
        <p:nvSpPr>
          <p:cNvPr id="19" name="TextBox 18"/>
          <p:cNvSpPr txBox="1"/>
          <p:nvPr/>
        </p:nvSpPr>
        <p:spPr>
          <a:xfrm>
            <a:off x="4297680" y="2002536"/>
            <a:ext cx="457200" cy="182880"/>
          </a:xfrm>
          <a:prstGeom prst="rect">
            <a:avLst/>
          </a:prstGeom>
          <a:noFill/>
        </p:spPr>
        <p:txBody>
          <a:bodyPr wrap="square" lIns="36576" rIns="36576" tIns="18288" bIns="18288">
            <a:spAutoFit/>
          </a:bodyPr>
          <a:lstStyle/>
          <a:p>
            <a:pPr algn="ctr"/>
            <a:r>
              <a:rPr sz="1200" b="1" i="0">
                <a:solidFill>
                  <a:srgbClr val="14B8A6"/>
                </a:solidFill>
                <a:latin typeface="Calibri"/>
              </a:rPr>
              <a:t>↓</a:t>
            </a:r>
          </a:p>
        </p:txBody>
      </p:sp>
      <p:sp>
        <p:nvSpPr>
          <p:cNvPr id="20" name="Rectangle 19"/>
          <p:cNvSpPr/>
          <p:nvPr/>
        </p:nvSpPr>
        <p:spPr>
          <a:xfrm>
            <a:off x="320040" y="2185416"/>
            <a:ext cx="8503920" cy="32004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84048" y="2240280"/>
            <a:ext cx="8321040" cy="237744"/>
          </a:xfrm>
          <a:prstGeom prst="rect">
            <a:avLst/>
          </a:prstGeom>
          <a:noFill/>
        </p:spPr>
        <p:txBody>
          <a:bodyPr wrap="square" lIns="36576" rIns="36576" tIns="18288" bIns="18288">
            <a:spAutoFit/>
          </a:bodyPr>
          <a:lstStyle/>
          <a:p>
            <a:pPr algn="ctr"/>
            <a:r>
              <a:rPr sz="900" b="1" i="0">
                <a:solidFill>
                  <a:srgbClr val="0B1F3A"/>
                </a:solidFill>
                <a:latin typeface="Calibri"/>
              </a:rPr>
              <a:t>Context Assembled: Now Assist assembles context from the ServiceNow record: incident fields, work notes, related CI, similar incidents (from PI), KB articles. Context sent to Now LLM.</a:t>
            </a:r>
          </a:p>
        </p:txBody>
      </p:sp>
      <p:sp>
        <p:nvSpPr>
          <p:cNvPr id="22" name="TextBox 21"/>
          <p:cNvSpPr txBox="1"/>
          <p:nvPr/>
        </p:nvSpPr>
        <p:spPr>
          <a:xfrm>
            <a:off x="4297680" y="2523744"/>
            <a:ext cx="457200" cy="182880"/>
          </a:xfrm>
          <a:prstGeom prst="rect">
            <a:avLst/>
          </a:prstGeom>
          <a:noFill/>
        </p:spPr>
        <p:txBody>
          <a:bodyPr wrap="square" lIns="36576" rIns="36576" tIns="18288" bIns="18288">
            <a:spAutoFit/>
          </a:bodyPr>
          <a:lstStyle/>
          <a:p>
            <a:pPr algn="ctr"/>
            <a:r>
              <a:rPr sz="1200" b="1" i="0">
                <a:solidFill>
                  <a:srgbClr val="14B8A6"/>
                </a:solidFill>
                <a:latin typeface="Calibri"/>
              </a:rPr>
              <a:t>↓</a:t>
            </a:r>
          </a:p>
        </p:txBody>
      </p:sp>
      <p:sp>
        <p:nvSpPr>
          <p:cNvPr id="23" name="Rectangle 22"/>
          <p:cNvSpPr/>
          <p:nvPr/>
        </p:nvSpPr>
        <p:spPr>
          <a:xfrm>
            <a:off x="320040" y="2706624"/>
            <a:ext cx="8503920" cy="32004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84048" y="2761488"/>
            <a:ext cx="8321040" cy="237744"/>
          </a:xfrm>
          <a:prstGeom prst="rect">
            <a:avLst/>
          </a:prstGeom>
          <a:noFill/>
        </p:spPr>
        <p:txBody>
          <a:bodyPr wrap="square" lIns="36576" rIns="36576" tIns="18288" bIns="18288">
            <a:spAutoFit/>
          </a:bodyPr>
          <a:lstStyle/>
          <a:p>
            <a:pPr algn="ctr"/>
            <a:r>
              <a:rPr sz="900" b="1" i="0">
                <a:solidFill>
                  <a:srgbClr val="0B1F3A"/>
                </a:solidFill>
                <a:latin typeface="Calibri"/>
              </a:rPr>
              <a:t>LLM Generates Response: Now LLM processes context + prompt. Response generated: summary, suggested resolution, KB article draft, or conversational answer. Response returned to ServiceNow UI in under 5 seconds.</a:t>
            </a:r>
          </a:p>
        </p:txBody>
      </p:sp>
      <p:sp>
        <p:nvSpPr>
          <p:cNvPr id="25" name="TextBox 24"/>
          <p:cNvSpPr txBox="1"/>
          <p:nvPr/>
        </p:nvSpPr>
        <p:spPr>
          <a:xfrm>
            <a:off x="4297680" y="3044952"/>
            <a:ext cx="457200" cy="182880"/>
          </a:xfrm>
          <a:prstGeom prst="rect">
            <a:avLst/>
          </a:prstGeom>
          <a:noFill/>
        </p:spPr>
        <p:txBody>
          <a:bodyPr wrap="square" lIns="36576" rIns="36576" tIns="18288" bIns="18288">
            <a:spAutoFit/>
          </a:bodyPr>
          <a:lstStyle/>
          <a:p>
            <a:pPr algn="ctr"/>
            <a:r>
              <a:rPr sz="1200" b="1" i="0">
                <a:solidFill>
                  <a:srgbClr val="14B8A6"/>
                </a:solidFill>
                <a:latin typeface="Calibri"/>
              </a:rPr>
              <a:t>↓</a:t>
            </a:r>
          </a:p>
        </p:txBody>
      </p:sp>
      <p:sp>
        <p:nvSpPr>
          <p:cNvPr id="26" name="Rectangle 25"/>
          <p:cNvSpPr/>
          <p:nvPr/>
        </p:nvSpPr>
        <p:spPr>
          <a:xfrm>
            <a:off x="320040" y="3227832"/>
            <a:ext cx="8503920" cy="32004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84048" y="3282696"/>
            <a:ext cx="8321040" cy="237744"/>
          </a:xfrm>
          <a:prstGeom prst="rect">
            <a:avLst/>
          </a:prstGeom>
          <a:noFill/>
        </p:spPr>
        <p:txBody>
          <a:bodyPr wrap="square" lIns="36576" rIns="36576" tIns="18288" bIns="18288">
            <a:spAutoFit/>
          </a:bodyPr>
          <a:lstStyle/>
          <a:p>
            <a:pPr algn="ctr"/>
            <a:r>
              <a:rPr sz="900" b="1" i="0">
                <a:solidFill>
                  <a:srgbClr val="0B1F3A"/>
                </a:solidFill>
                <a:latin typeface="Calibri"/>
              </a:rPr>
              <a:t>Agent Reviews and Acts: Agent reviews the GenAI output in the Now Assist panel. Accepts, edits, or rejects. Accepted content added to work notes, resolution field, or KB article draft. Rejection logged as feedback.</a:t>
            </a:r>
          </a:p>
        </p:txBody>
      </p:sp>
      <p:sp>
        <p:nvSpPr>
          <p:cNvPr id="28" name="TextBox 27"/>
          <p:cNvSpPr txBox="1"/>
          <p:nvPr/>
        </p:nvSpPr>
        <p:spPr>
          <a:xfrm>
            <a:off x="4297680" y="3566160"/>
            <a:ext cx="457200" cy="182880"/>
          </a:xfrm>
          <a:prstGeom prst="rect">
            <a:avLst/>
          </a:prstGeom>
          <a:noFill/>
        </p:spPr>
        <p:txBody>
          <a:bodyPr wrap="square" lIns="36576" rIns="36576" tIns="18288" bIns="18288">
            <a:spAutoFit/>
          </a:bodyPr>
          <a:lstStyle/>
          <a:p>
            <a:pPr algn="ctr"/>
            <a:r>
              <a:rPr sz="1200" b="1" i="0">
                <a:solidFill>
                  <a:srgbClr val="14B8A6"/>
                </a:solidFill>
                <a:latin typeface="Calibri"/>
              </a:rPr>
              <a:t>↓</a:t>
            </a:r>
          </a:p>
        </p:txBody>
      </p:sp>
      <p:sp>
        <p:nvSpPr>
          <p:cNvPr id="29" name="Rectangle 28"/>
          <p:cNvSpPr/>
          <p:nvPr/>
        </p:nvSpPr>
        <p:spPr>
          <a:xfrm>
            <a:off x="320040" y="3749039"/>
            <a:ext cx="8503920" cy="32004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84048" y="3803903"/>
            <a:ext cx="8321040" cy="237744"/>
          </a:xfrm>
          <a:prstGeom prst="rect">
            <a:avLst/>
          </a:prstGeom>
          <a:noFill/>
        </p:spPr>
        <p:txBody>
          <a:bodyPr wrap="square" lIns="36576" rIns="36576" tIns="18288" bIns="18288">
            <a:spAutoFit/>
          </a:bodyPr>
          <a:lstStyle/>
          <a:p>
            <a:pPr algn="ctr"/>
            <a:r>
              <a:rPr sz="900" b="1" i="0">
                <a:solidFill>
                  <a:srgbClr val="0B1F3A"/>
                </a:solidFill>
                <a:latin typeface="Calibri"/>
              </a:rPr>
              <a:t>Feedback Loop: Accept/reject/edit signals improve Now Assist output quality over time. Guardrail violations logged for admin review. Audit trail of all Now Assist interactions maintained OOTB.</a:t>
            </a:r>
          </a:p>
        </p:txBody>
      </p:sp>
      <p:sp>
        <p:nvSpPr>
          <p:cNvPr id="31" name="TextBox 30"/>
          <p:cNvSpPr txBox="1"/>
          <p:nvPr/>
        </p:nvSpPr>
        <p:spPr>
          <a:xfrm>
            <a:off x="4297680" y="4087368"/>
            <a:ext cx="457200" cy="182880"/>
          </a:xfrm>
          <a:prstGeom prst="rect">
            <a:avLst/>
          </a:prstGeom>
          <a:noFill/>
        </p:spPr>
        <p:txBody>
          <a:bodyPr wrap="square" lIns="36576" rIns="36576" tIns="18288" bIns="18288">
            <a:spAutoFit/>
          </a:bodyPr>
          <a:lstStyle/>
          <a:p>
            <a:pPr algn="ctr"/>
            <a:r>
              <a:rPr sz="1200" b="1" i="0">
                <a:solidFill>
                  <a:srgbClr val="14B8A6"/>
                </a:solidFill>
                <a:latin typeface="Calibri"/>
              </a:rPr>
              <a:t>↓</a:t>
            </a:r>
          </a:p>
        </p:txBody>
      </p:sp>
      <p:sp>
        <p:nvSpPr>
          <p:cNvPr id="32" name="TextBox 31"/>
          <p:cNvSpPr txBox="1"/>
          <p:nvPr/>
        </p:nvSpPr>
        <p:spPr>
          <a:xfrm>
            <a:off x="320040" y="4315968"/>
            <a:ext cx="8503920" cy="457200"/>
          </a:xfrm>
          <a:prstGeom prst="rect">
            <a:avLst/>
          </a:prstGeom>
          <a:noFill/>
        </p:spPr>
        <p:txBody>
          <a:bodyPr wrap="square" lIns="36576" rIns="36576" tIns="18288" bIns="18288">
            <a:spAutoFit/>
          </a:bodyPr>
          <a:lstStyle/>
          <a:p>
            <a:pPr algn="l"/>
            <a:r>
              <a:rPr sz="850" b="1" i="0">
                <a:solidFill>
                  <a:srgbClr val="0D9488"/>
                </a:solidFill>
                <a:latin typeface="Calibri"/>
              </a:rPr>
              <a:t>AI Features Active at Go-Live:  </a:t>
            </a:r>
            <a:r>
              <a:rPr sz="850" b="0" i="0">
                <a:solidFill>
                  <a:srgbClr val="1E293B"/>
                </a:solidFill>
                <a:latin typeface="Calibri"/>
              </a:rPr>
              <a:t>Now Assist is the most visible AI feature for end users and agents. Adoption is driven by output quality. Plan a 30-day post-go-live quality review to tune prompts based on agent feedback before broad rollout.</a:t>
            </a:r>
          </a:p>
        </p:txBody>
      </p:sp>
      <p:sp>
        <p:nvSpPr>
          <p:cNvPr id="33" name="Rectangle 32"/>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35" name="TextBox 34"/>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NOW ASSIST / GEN AI</a:t>
            </a:r>
          </a:p>
        </p:txBody>
      </p:sp>
      <p:sp>
        <p:nvSpPr>
          <p:cNvPr id="36" name="TextBox 35"/>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K E Y  D E C I S I O N   # 1</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1900" b="1" i="0">
                <a:solidFill>
                  <a:srgbClr val="0B1F3A"/>
                </a:solidFill>
                <a:latin typeface="Calibri"/>
              </a:rPr>
              <a:t>Which Now Assist skills will be activated at go-live?</a:t>
            </a:r>
          </a:p>
        </p:txBody>
      </p:sp>
      <p:sp>
        <p:nvSpPr>
          <p:cNvPr id="5" name="Rectangle 4"/>
          <p:cNvSpPr/>
          <p:nvPr/>
        </p:nvSpPr>
        <p:spPr>
          <a:xfrm>
            <a:off x="320040" y="987552"/>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24128"/>
            <a:ext cx="4069080" cy="2743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033271"/>
            <a:ext cx="3977639" cy="237744"/>
          </a:xfrm>
          <a:prstGeom prst="rect">
            <a:avLst/>
          </a:prstGeom>
          <a:noFill/>
        </p:spPr>
        <p:txBody>
          <a:bodyPr wrap="square" lIns="36576" rIns="36576" tIns="18288" bIns="18288">
            <a:spAutoFit/>
          </a:bodyPr>
          <a:lstStyle/>
          <a:p>
            <a:pPr algn="ctr"/>
            <a:r>
              <a:rPr sz="850" b="1" i="0">
                <a:solidFill>
                  <a:srgbClr val="FFFFFF"/>
                </a:solidFill>
                <a:latin typeface="Calibri"/>
              </a:rPr>
              <a:t>OOTB RECOMMENDATION</a:t>
            </a:r>
          </a:p>
        </p:txBody>
      </p:sp>
      <p:sp>
        <p:nvSpPr>
          <p:cNvPr id="8" name="Rectangle 7"/>
          <p:cNvSpPr/>
          <p:nvPr/>
        </p:nvSpPr>
        <p:spPr>
          <a:xfrm>
            <a:off x="320040" y="1298448"/>
            <a:ext cx="406908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53312"/>
            <a:ext cx="388620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D9488"/>
                </a:solidFill>
                <a:latin typeface="Calibri"/>
              </a:rPr>
              <a:t>OOTB Now Assist Skills:</a:t>
            </a:r>
          </a:p>
          <a:p>
            <a:pPr algn="l">
              <a:spcAft>
                <a:spcPts val="200"/>
              </a:spcAft>
            </a:pPr>
            <a:r>
              <a:rPr sz="850" b="0" i="0">
                <a:solidFill>
                  <a:srgbClr val="1E293B"/>
                </a:solidFill>
                <a:latin typeface="Calibri"/>
              </a:rPr>
              <a:t>Incident summarization (agent view), Case summarization (agent view), Change summarization, Knowledge article generation from incident, Search augmentation (EC/VA natural language), Text-to-workflow (Flow Designer AI assist), Virtual Agent GenAI handoff, Chat assist (response suggestions for agents).</a:t>
            </a:r>
          </a:p>
        </p:txBody>
      </p:sp>
      <p:sp>
        <p:nvSpPr>
          <p:cNvPr id="10" name="Rectangle 9"/>
          <p:cNvSpPr/>
          <p:nvPr/>
        </p:nvSpPr>
        <p:spPr>
          <a:xfrm>
            <a:off x="4480560" y="1024128"/>
            <a:ext cx="4343400" cy="2743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033271"/>
            <a:ext cx="4251960" cy="237744"/>
          </a:xfrm>
          <a:prstGeom prst="rect">
            <a:avLst/>
          </a:prstGeom>
          <a:noFill/>
        </p:spPr>
        <p:txBody>
          <a:bodyPr wrap="square" lIns="36576" rIns="36576" tIns="18288" bIns="18288">
            <a:spAutoFit/>
          </a:bodyPr>
          <a:lstStyle/>
          <a:p>
            <a:pPr algn="ctr"/>
            <a:r>
              <a:rPr sz="850" b="1" i="0">
                <a:solidFill>
                  <a:srgbClr val="FFFFFF"/>
                </a:solidFill>
                <a:latin typeface="Calibri"/>
              </a:rPr>
              <a:t>DECIDE IN THE ROOM</a:t>
            </a:r>
          </a:p>
        </p:txBody>
      </p:sp>
      <p:sp>
        <p:nvSpPr>
          <p:cNvPr id="12" name="Rectangle 11"/>
          <p:cNvSpPr/>
          <p:nvPr/>
        </p:nvSpPr>
        <p:spPr>
          <a:xfrm>
            <a:off x="4480560" y="1298448"/>
            <a:ext cx="434340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1353312"/>
            <a:ext cx="416052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B1F3A"/>
                </a:solidFill>
                <a:latin typeface="Calibri"/>
              </a:rPr>
              <a:t>Questions to answer:</a:t>
            </a:r>
          </a:p>
          <a:p>
            <a:pPr algn="l">
              <a:spcAft>
                <a:spcPts val="300"/>
              </a:spcAft>
            </a:pPr>
            <a:r>
              <a:rPr sz="850" b="0" i="0">
                <a:solidFill>
                  <a:srgbClr val="1E293B"/>
                </a:solidFill>
                <a:latin typeface="Calibri"/>
              </a:rPr>
              <a:t>1.  Is incident summarization the highest-value skill for the service desk?</a:t>
            </a:r>
          </a:p>
          <a:p>
            <a:pPr algn="l">
              <a:spcAft>
                <a:spcPts val="300"/>
              </a:spcAft>
            </a:pPr>
            <a:r>
              <a:rPr sz="850" b="0" i="0">
                <a:solidFill>
                  <a:srgbClr val="1E293B"/>
                </a:solidFill>
                <a:latin typeface="Calibri"/>
              </a:rPr>
              <a:t>2.  Is knowledge article generation from incidents a workflow improvement target?</a:t>
            </a:r>
          </a:p>
          <a:p>
            <a:pPr algn="l">
              <a:spcAft>
                <a:spcPts val="300"/>
              </a:spcAft>
            </a:pPr>
            <a:r>
              <a:rPr sz="850" b="0" i="0">
                <a:solidFill>
                  <a:srgbClr val="1E293B"/>
                </a:solidFill>
                <a:latin typeface="Calibri"/>
              </a:rPr>
              <a:t>3.  Is Virtual Agent in scope -- and should Now Assist be the GenAI layer for VA?</a:t>
            </a:r>
          </a:p>
          <a:p>
            <a:pPr algn="l">
              <a:spcAft>
                <a:spcPts val="300"/>
              </a:spcAft>
            </a:pPr>
            <a:r>
              <a:rPr sz="850" b="0" i="0">
                <a:solidFill>
                  <a:srgbClr val="1E293B"/>
                </a:solidFill>
                <a:latin typeface="Calibri"/>
              </a:rPr>
              <a:t>4.  Are text-to-workflow features useful for the process design team in this engagement?</a:t>
            </a:r>
          </a:p>
        </p:txBody>
      </p:sp>
      <p:sp>
        <p:nvSpPr>
          <p:cNvPr id="14" name="Rectangle 13"/>
          <p:cNvSpPr/>
          <p:nvPr/>
        </p:nvSpPr>
        <p:spPr>
          <a:xfrm>
            <a:off x="320040" y="4096512"/>
            <a:ext cx="8503920" cy="493776"/>
          </a:xfrm>
          <a:prstGeom prst="rect">
            <a:avLst/>
          </a:prstGeom>
          <a:solidFill>
            <a:srgbClr val="FEF3C7"/>
          </a:solidFill>
          <a:ln w="6350">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133087"/>
            <a:ext cx="8321040" cy="420624"/>
          </a:xfrm>
          <a:prstGeom prst="rect">
            <a:avLst/>
          </a:prstGeom>
          <a:noFill/>
        </p:spPr>
        <p:txBody>
          <a:bodyPr wrap="square" lIns="36576" rIns="36576" tIns="18288" bIns="18288">
            <a:spAutoFit/>
          </a:bodyPr>
          <a:lstStyle/>
          <a:p>
            <a:pPr algn="l"/>
            <a:r>
              <a:rPr sz="900" b="1" i="0">
                <a:solidFill>
                  <a:srgbClr val="D97706"/>
                </a:solidFill>
                <a:latin typeface="Calibri"/>
              </a:rPr>
              <a:t>⚠  OOTB Defense:  </a:t>
            </a:r>
            <a:r>
              <a:rPr sz="850" b="0" i="0">
                <a:solidFill>
                  <a:srgbClr val="1E293B"/>
                </a:solidFill>
                <a:latin typeface="Calibri"/>
              </a:rPr>
              <a:t>Activate 2-3 skills at go-live, not all skills at once. Incident summarization + knowledge article generation is the recommended starting point: highest adoption, clearest ROI, lowest risk.</a:t>
            </a:r>
          </a:p>
        </p:txBody>
      </p:sp>
      <p:sp>
        <p:nvSpPr>
          <p:cNvPr id="16" name="Rectangle 15"/>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18" name="TextBox 17"/>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NOW ASSIST / GEN AI</a:t>
            </a:r>
          </a:p>
        </p:txBody>
      </p:sp>
      <p:sp>
        <p:nvSpPr>
          <p:cNvPr id="19" name="TextBox 18"/>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K E Y  D E C I S I O N   # 2</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1900" b="1" i="0">
                <a:solidFill>
                  <a:srgbClr val="0B1F3A"/>
                </a:solidFill>
                <a:latin typeface="Calibri"/>
              </a:rPr>
              <a:t>Will Now LLM (on-platform) or an external LLM be used?</a:t>
            </a:r>
          </a:p>
        </p:txBody>
      </p:sp>
      <p:sp>
        <p:nvSpPr>
          <p:cNvPr id="5" name="Rectangle 4"/>
          <p:cNvSpPr/>
          <p:nvPr/>
        </p:nvSpPr>
        <p:spPr>
          <a:xfrm>
            <a:off x="320040" y="987552"/>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24128"/>
            <a:ext cx="4069080" cy="2743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033271"/>
            <a:ext cx="3977639" cy="237744"/>
          </a:xfrm>
          <a:prstGeom prst="rect">
            <a:avLst/>
          </a:prstGeom>
          <a:noFill/>
        </p:spPr>
        <p:txBody>
          <a:bodyPr wrap="square" lIns="36576" rIns="36576" tIns="18288" bIns="18288">
            <a:spAutoFit/>
          </a:bodyPr>
          <a:lstStyle/>
          <a:p>
            <a:pPr algn="ctr"/>
            <a:r>
              <a:rPr sz="850" b="1" i="0">
                <a:solidFill>
                  <a:srgbClr val="FFFFFF"/>
                </a:solidFill>
                <a:latin typeface="Calibri"/>
              </a:rPr>
              <a:t>OOTB RECOMMENDATION</a:t>
            </a:r>
          </a:p>
        </p:txBody>
      </p:sp>
      <p:sp>
        <p:nvSpPr>
          <p:cNvPr id="8" name="Rectangle 7"/>
          <p:cNvSpPr/>
          <p:nvPr/>
        </p:nvSpPr>
        <p:spPr>
          <a:xfrm>
            <a:off x="320040" y="1298448"/>
            <a:ext cx="406908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53312"/>
            <a:ext cx="388620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D9488"/>
                </a:solidFill>
                <a:latin typeface="Calibri"/>
              </a:rPr>
              <a:t>Now LLM vs External LLM:</a:t>
            </a:r>
          </a:p>
          <a:p>
            <a:pPr algn="l">
              <a:spcAft>
                <a:spcPts val="200"/>
              </a:spcAft>
            </a:pPr>
            <a:r>
              <a:rPr sz="850" b="0" i="0">
                <a:solidFill>
                  <a:srgbClr val="1E293B"/>
                </a:solidFill>
                <a:latin typeface="Calibri"/>
              </a:rPr>
              <a:t>Now LLM: Llama-based model hosted on ServiceNow FedRAMP-authorized infrastructure. Data stays in the platform. No additional data processing agreement needed. External LLM connector: Azure OpenAI (FedRAMP High authorized), AWS Bedrock. Requires additional data processing agreement and IT security review.</a:t>
            </a:r>
          </a:p>
        </p:txBody>
      </p:sp>
      <p:sp>
        <p:nvSpPr>
          <p:cNvPr id="10" name="Rectangle 9"/>
          <p:cNvSpPr/>
          <p:nvPr/>
        </p:nvSpPr>
        <p:spPr>
          <a:xfrm>
            <a:off x="4480560" y="1024128"/>
            <a:ext cx="4343400" cy="2743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033271"/>
            <a:ext cx="4251960" cy="237744"/>
          </a:xfrm>
          <a:prstGeom prst="rect">
            <a:avLst/>
          </a:prstGeom>
          <a:noFill/>
        </p:spPr>
        <p:txBody>
          <a:bodyPr wrap="square" lIns="36576" rIns="36576" tIns="18288" bIns="18288">
            <a:spAutoFit/>
          </a:bodyPr>
          <a:lstStyle/>
          <a:p>
            <a:pPr algn="ctr"/>
            <a:r>
              <a:rPr sz="850" b="1" i="0">
                <a:solidFill>
                  <a:srgbClr val="FFFFFF"/>
                </a:solidFill>
                <a:latin typeface="Calibri"/>
              </a:rPr>
              <a:t>DECIDE IN THE ROOM</a:t>
            </a:r>
          </a:p>
        </p:txBody>
      </p:sp>
      <p:sp>
        <p:nvSpPr>
          <p:cNvPr id="12" name="Rectangle 11"/>
          <p:cNvSpPr/>
          <p:nvPr/>
        </p:nvSpPr>
        <p:spPr>
          <a:xfrm>
            <a:off x="4480560" y="1298448"/>
            <a:ext cx="434340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1353312"/>
            <a:ext cx="416052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B1F3A"/>
                </a:solidFill>
                <a:latin typeface="Calibri"/>
              </a:rPr>
              <a:t>Questions to answer:</a:t>
            </a:r>
          </a:p>
          <a:p>
            <a:pPr algn="l">
              <a:spcAft>
                <a:spcPts val="300"/>
              </a:spcAft>
            </a:pPr>
            <a:r>
              <a:rPr sz="850" b="0" i="0">
                <a:solidFill>
                  <a:srgbClr val="1E293B"/>
                </a:solidFill>
                <a:latin typeface="Calibri"/>
              </a:rPr>
              <a:t>1.  Is FedRAMP High compliance required for the LLM processing data?</a:t>
            </a:r>
          </a:p>
          <a:p>
            <a:pPr algn="l">
              <a:spcAft>
                <a:spcPts val="300"/>
              </a:spcAft>
            </a:pPr>
            <a:r>
              <a:rPr sz="850" b="0" i="0">
                <a:solidFill>
                  <a:srgbClr val="1E293B"/>
                </a:solidFill>
                <a:latin typeface="Calibri"/>
              </a:rPr>
              <a:t>2.  Has IT security reviewed and approved external LLM data flows?</a:t>
            </a:r>
          </a:p>
          <a:p>
            <a:pPr algn="l">
              <a:spcAft>
                <a:spcPts val="300"/>
              </a:spcAft>
            </a:pPr>
            <a:r>
              <a:rPr sz="850" b="0" i="0">
                <a:solidFill>
                  <a:srgbClr val="1E293B"/>
                </a:solidFill>
                <a:latin typeface="Calibri"/>
              </a:rPr>
              <a:t>3.  Is there a specific LLM capability (GPT-4, Claude 3) required that Now LLM does not provide?</a:t>
            </a:r>
          </a:p>
          <a:p>
            <a:pPr algn="l">
              <a:spcAft>
                <a:spcPts val="300"/>
              </a:spcAft>
            </a:pPr>
            <a:r>
              <a:rPr sz="850" b="0" i="0">
                <a:solidFill>
                  <a:srgbClr val="1E293B"/>
                </a:solidFill>
                <a:latin typeface="Calibri"/>
              </a:rPr>
              <a:t>4.  Is there a preference for keeping all data processing on the ServiceNow platform?</a:t>
            </a:r>
          </a:p>
        </p:txBody>
      </p:sp>
      <p:sp>
        <p:nvSpPr>
          <p:cNvPr id="14" name="Rectangle 13"/>
          <p:cNvSpPr/>
          <p:nvPr/>
        </p:nvSpPr>
        <p:spPr>
          <a:xfrm>
            <a:off x="320040" y="4096512"/>
            <a:ext cx="8503920" cy="493776"/>
          </a:xfrm>
          <a:prstGeom prst="rect">
            <a:avLst/>
          </a:prstGeom>
          <a:solidFill>
            <a:srgbClr val="FEF3C7"/>
          </a:solidFill>
          <a:ln w="6350">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133087"/>
            <a:ext cx="8321040" cy="420624"/>
          </a:xfrm>
          <a:prstGeom prst="rect">
            <a:avLst/>
          </a:prstGeom>
          <a:noFill/>
        </p:spPr>
        <p:txBody>
          <a:bodyPr wrap="square" lIns="36576" rIns="36576" tIns="18288" bIns="18288">
            <a:spAutoFit/>
          </a:bodyPr>
          <a:lstStyle/>
          <a:p>
            <a:pPr algn="l"/>
            <a:r>
              <a:rPr sz="900" b="1" i="0">
                <a:solidFill>
                  <a:srgbClr val="D97706"/>
                </a:solidFill>
                <a:latin typeface="Calibri"/>
              </a:rPr>
              <a:t>⚠  OOTB Defense:  </a:t>
            </a:r>
            <a:r>
              <a:rPr sz="850" b="0" i="0">
                <a:solidFill>
                  <a:srgbClr val="1E293B"/>
                </a:solidFill>
                <a:latin typeface="Calibri"/>
              </a:rPr>
              <a:t>For federal deployments: start with Now LLM. It is FedRAMP authorized, requires no additional data processing agreement, and handles the majority of Now Assist use cases. External LLM should require a formal security review before activation.</a:t>
            </a:r>
          </a:p>
        </p:txBody>
      </p:sp>
      <p:sp>
        <p:nvSpPr>
          <p:cNvPr id="16" name="Rectangle 15"/>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18" name="TextBox 17"/>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NOW ASSIST / GEN AI</a:t>
            </a:r>
          </a:p>
        </p:txBody>
      </p:sp>
      <p:sp>
        <p:nvSpPr>
          <p:cNvPr id="19" name="TextBox 18"/>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K E Y  D E C I S I O N   # 3</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1900" b="1" i="0">
                <a:solidFill>
                  <a:srgbClr val="0B1F3A"/>
                </a:solidFill>
                <a:latin typeface="Calibri"/>
              </a:rPr>
              <a:t>What guardrails are required for GenAI outputs?</a:t>
            </a:r>
          </a:p>
        </p:txBody>
      </p:sp>
      <p:sp>
        <p:nvSpPr>
          <p:cNvPr id="5" name="Rectangle 4"/>
          <p:cNvSpPr/>
          <p:nvPr/>
        </p:nvSpPr>
        <p:spPr>
          <a:xfrm>
            <a:off x="320040" y="987552"/>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24128"/>
            <a:ext cx="4069080" cy="2743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033271"/>
            <a:ext cx="3977639" cy="237744"/>
          </a:xfrm>
          <a:prstGeom prst="rect">
            <a:avLst/>
          </a:prstGeom>
          <a:noFill/>
        </p:spPr>
        <p:txBody>
          <a:bodyPr wrap="square" lIns="36576" rIns="36576" tIns="18288" bIns="18288">
            <a:spAutoFit/>
          </a:bodyPr>
          <a:lstStyle/>
          <a:p>
            <a:pPr algn="ctr"/>
            <a:r>
              <a:rPr sz="850" b="1" i="0">
                <a:solidFill>
                  <a:srgbClr val="FFFFFF"/>
                </a:solidFill>
                <a:latin typeface="Calibri"/>
              </a:rPr>
              <a:t>OOTB RECOMMENDATION</a:t>
            </a:r>
          </a:p>
        </p:txBody>
      </p:sp>
      <p:sp>
        <p:nvSpPr>
          <p:cNvPr id="8" name="Rectangle 7"/>
          <p:cNvSpPr/>
          <p:nvPr/>
        </p:nvSpPr>
        <p:spPr>
          <a:xfrm>
            <a:off x="320040" y="1298448"/>
            <a:ext cx="406908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53312"/>
            <a:ext cx="388620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D9488"/>
                </a:solidFill>
                <a:latin typeface="Calibri"/>
              </a:rPr>
              <a:t>OOTB Guardrail Options:</a:t>
            </a:r>
          </a:p>
          <a:p>
            <a:pPr algn="l">
              <a:spcAft>
                <a:spcPts val="200"/>
              </a:spcAft>
            </a:pPr>
            <a:r>
              <a:rPr sz="850" b="0" i="0">
                <a:solidFill>
                  <a:srgbClr val="1E293B"/>
                </a:solidFill>
                <a:latin typeface="Calibri"/>
              </a:rPr>
              <a:t>Topic restrictions: block Now Assist from responding to off-topic or sensitive topic categories. PII detection: flag or block responses containing PII patterns. Response filtering: content moderation on GenAI outputs. Audit trail: all Now Assist interactions logged OOTB (table: now_assist_interaction).</a:t>
            </a:r>
          </a:p>
        </p:txBody>
      </p:sp>
      <p:sp>
        <p:nvSpPr>
          <p:cNvPr id="10" name="Rectangle 9"/>
          <p:cNvSpPr/>
          <p:nvPr/>
        </p:nvSpPr>
        <p:spPr>
          <a:xfrm>
            <a:off x="4480560" y="1024128"/>
            <a:ext cx="4343400" cy="2743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033271"/>
            <a:ext cx="4251960" cy="237744"/>
          </a:xfrm>
          <a:prstGeom prst="rect">
            <a:avLst/>
          </a:prstGeom>
          <a:noFill/>
        </p:spPr>
        <p:txBody>
          <a:bodyPr wrap="square" lIns="36576" rIns="36576" tIns="18288" bIns="18288">
            <a:spAutoFit/>
          </a:bodyPr>
          <a:lstStyle/>
          <a:p>
            <a:pPr algn="ctr"/>
            <a:r>
              <a:rPr sz="850" b="1" i="0">
                <a:solidFill>
                  <a:srgbClr val="FFFFFF"/>
                </a:solidFill>
                <a:latin typeface="Calibri"/>
              </a:rPr>
              <a:t>DECIDE IN THE ROOM</a:t>
            </a:r>
          </a:p>
        </p:txBody>
      </p:sp>
      <p:sp>
        <p:nvSpPr>
          <p:cNvPr id="12" name="Rectangle 11"/>
          <p:cNvSpPr/>
          <p:nvPr/>
        </p:nvSpPr>
        <p:spPr>
          <a:xfrm>
            <a:off x="4480560" y="1298448"/>
            <a:ext cx="434340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1353312"/>
            <a:ext cx="416052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B1F3A"/>
                </a:solidFill>
                <a:latin typeface="Calibri"/>
              </a:rPr>
              <a:t>Questions to answer:</a:t>
            </a:r>
          </a:p>
          <a:p>
            <a:pPr algn="l">
              <a:spcAft>
                <a:spcPts val="300"/>
              </a:spcAft>
            </a:pPr>
            <a:r>
              <a:rPr sz="850" b="0" i="0">
                <a:solidFill>
                  <a:srgbClr val="1E293B"/>
                </a:solidFill>
                <a:latin typeface="Calibri"/>
              </a:rPr>
              <a:t>1.  Are there topic categories that Now Assist should never discuss (HR, legal, classified)?</a:t>
            </a:r>
          </a:p>
          <a:p>
            <a:pPr algn="l">
              <a:spcAft>
                <a:spcPts val="300"/>
              </a:spcAft>
            </a:pPr>
            <a:r>
              <a:rPr sz="850" b="0" i="0">
                <a:solidFill>
                  <a:srgbClr val="1E293B"/>
                </a:solidFill>
                <a:latin typeface="Calibri"/>
              </a:rPr>
              <a:t>2.  Is there a PII detection requirement for GenAI outputs (SSN, DOB, etc.)?</a:t>
            </a:r>
          </a:p>
          <a:p>
            <a:pPr algn="l">
              <a:spcAft>
                <a:spcPts val="300"/>
              </a:spcAft>
            </a:pPr>
            <a:r>
              <a:rPr sz="850" b="0" i="0">
                <a:solidFill>
                  <a:srgbClr val="1E293B"/>
                </a:solidFill>
                <a:latin typeface="Calibri"/>
              </a:rPr>
              <a:t>3.  Who reviews the Now Assist audit log -- IT security, compliance team, or both?</a:t>
            </a:r>
          </a:p>
          <a:p>
            <a:pPr algn="l">
              <a:spcAft>
                <a:spcPts val="300"/>
              </a:spcAft>
            </a:pPr>
            <a:r>
              <a:rPr sz="850" b="0" i="0">
                <a:solidFill>
                  <a:srgbClr val="1E293B"/>
                </a:solidFill>
                <a:latin typeface="Calibri"/>
              </a:rPr>
              <a:t>4.  Is there a formal AI use policy that guardrail settings must reflect?</a:t>
            </a:r>
          </a:p>
        </p:txBody>
      </p:sp>
      <p:sp>
        <p:nvSpPr>
          <p:cNvPr id="14" name="Rectangle 13"/>
          <p:cNvSpPr/>
          <p:nvPr/>
        </p:nvSpPr>
        <p:spPr>
          <a:xfrm>
            <a:off x="320040" y="4096512"/>
            <a:ext cx="8503920" cy="493776"/>
          </a:xfrm>
          <a:prstGeom prst="rect">
            <a:avLst/>
          </a:prstGeom>
          <a:solidFill>
            <a:srgbClr val="FEF3C7"/>
          </a:solidFill>
          <a:ln w="6350">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133087"/>
            <a:ext cx="8321040" cy="420624"/>
          </a:xfrm>
          <a:prstGeom prst="rect">
            <a:avLst/>
          </a:prstGeom>
          <a:noFill/>
        </p:spPr>
        <p:txBody>
          <a:bodyPr wrap="square" lIns="36576" rIns="36576" tIns="18288" bIns="18288">
            <a:spAutoFit/>
          </a:bodyPr>
          <a:lstStyle/>
          <a:p>
            <a:pPr algn="l"/>
            <a:r>
              <a:rPr sz="900" b="1" i="0">
                <a:solidFill>
                  <a:srgbClr val="D97706"/>
                </a:solidFill>
                <a:latin typeface="Calibri"/>
              </a:rPr>
              <a:t>⚠  OOTB Defense:  </a:t>
            </a:r>
            <a:r>
              <a:rPr sz="850" b="0" i="0">
                <a:solidFill>
                  <a:srgbClr val="1E293B"/>
                </a:solidFill>
                <a:latin typeface="Calibri"/>
              </a:rPr>
              <a:t>Federal agencies should configure guardrails before enabling Now Assist for end users. A 30-minute guardrail configuration session with IT security and compliance before go-live prevents policy violations at scale.</a:t>
            </a:r>
          </a:p>
        </p:txBody>
      </p:sp>
      <p:sp>
        <p:nvSpPr>
          <p:cNvPr id="16" name="Rectangle 15"/>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18" name="TextBox 17"/>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NOW ASSIST / GEN AI</a:t>
            </a:r>
          </a:p>
        </p:txBody>
      </p:sp>
      <p:sp>
        <p:nvSpPr>
          <p:cNvPr id="19" name="TextBox 18"/>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K E Y  D E C I S I O N   # 4</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1900" b="1" i="0">
                <a:solidFill>
                  <a:srgbClr val="0B1F3A"/>
                </a:solidFill>
                <a:latin typeface="Calibri"/>
              </a:rPr>
              <a:t>How will Now Assist integrate with Virtual Agent?</a:t>
            </a:r>
          </a:p>
        </p:txBody>
      </p:sp>
      <p:sp>
        <p:nvSpPr>
          <p:cNvPr id="5" name="Rectangle 4"/>
          <p:cNvSpPr/>
          <p:nvPr/>
        </p:nvSpPr>
        <p:spPr>
          <a:xfrm>
            <a:off x="320040" y="987552"/>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24128"/>
            <a:ext cx="4069080" cy="2743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033271"/>
            <a:ext cx="3977639" cy="237744"/>
          </a:xfrm>
          <a:prstGeom prst="rect">
            <a:avLst/>
          </a:prstGeom>
          <a:noFill/>
        </p:spPr>
        <p:txBody>
          <a:bodyPr wrap="square" lIns="36576" rIns="36576" tIns="18288" bIns="18288">
            <a:spAutoFit/>
          </a:bodyPr>
          <a:lstStyle/>
          <a:p>
            <a:pPr algn="ctr"/>
            <a:r>
              <a:rPr sz="850" b="1" i="0">
                <a:solidFill>
                  <a:srgbClr val="FFFFFF"/>
                </a:solidFill>
                <a:latin typeface="Calibri"/>
              </a:rPr>
              <a:t>OOTB RECOMMENDATION</a:t>
            </a:r>
          </a:p>
        </p:txBody>
      </p:sp>
      <p:sp>
        <p:nvSpPr>
          <p:cNvPr id="8" name="Rectangle 7"/>
          <p:cNvSpPr/>
          <p:nvPr/>
        </p:nvSpPr>
        <p:spPr>
          <a:xfrm>
            <a:off x="320040" y="1298448"/>
            <a:ext cx="406908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53312"/>
            <a:ext cx="388620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D9488"/>
                </a:solidFill>
                <a:latin typeface="Calibri"/>
              </a:rPr>
              <a:t>OOTB VA-Now Assist Integration:</a:t>
            </a:r>
          </a:p>
          <a:p>
            <a:pPr algn="l">
              <a:spcAft>
                <a:spcPts val="200"/>
              </a:spcAft>
            </a:pPr>
            <a:r>
              <a:rPr sz="850" b="0" i="0">
                <a:solidFill>
                  <a:srgbClr val="1E293B"/>
                </a:solidFill>
                <a:latin typeface="Calibri"/>
              </a:rPr>
              <a:t>Now Assist can serve as the GenAI resolution layer for Virtual Agent: when VA cannot match a topic, Now Assist answers using KB and incident data. VA hands off to Now Assist, Now Assist responds, VA presents the response to the end user. No scripting -- activated in VA designer.</a:t>
            </a:r>
          </a:p>
        </p:txBody>
      </p:sp>
      <p:sp>
        <p:nvSpPr>
          <p:cNvPr id="10" name="Rectangle 9"/>
          <p:cNvSpPr/>
          <p:nvPr/>
        </p:nvSpPr>
        <p:spPr>
          <a:xfrm>
            <a:off x="4480560" y="1024128"/>
            <a:ext cx="4343400" cy="2743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033271"/>
            <a:ext cx="4251960" cy="237744"/>
          </a:xfrm>
          <a:prstGeom prst="rect">
            <a:avLst/>
          </a:prstGeom>
          <a:noFill/>
        </p:spPr>
        <p:txBody>
          <a:bodyPr wrap="square" lIns="36576" rIns="36576" tIns="18288" bIns="18288">
            <a:spAutoFit/>
          </a:bodyPr>
          <a:lstStyle/>
          <a:p>
            <a:pPr algn="ctr"/>
            <a:r>
              <a:rPr sz="850" b="1" i="0">
                <a:solidFill>
                  <a:srgbClr val="FFFFFF"/>
                </a:solidFill>
                <a:latin typeface="Calibri"/>
              </a:rPr>
              <a:t>DECIDE IN THE ROOM</a:t>
            </a:r>
          </a:p>
        </p:txBody>
      </p:sp>
      <p:sp>
        <p:nvSpPr>
          <p:cNvPr id="12" name="Rectangle 11"/>
          <p:cNvSpPr/>
          <p:nvPr/>
        </p:nvSpPr>
        <p:spPr>
          <a:xfrm>
            <a:off x="4480560" y="1298448"/>
            <a:ext cx="434340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1353312"/>
            <a:ext cx="416052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B1F3A"/>
                </a:solidFill>
                <a:latin typeface="Calibri"/>
              </a:rPr>
              <a:t>Questions to answer:</a:t>
            </a:r>
          </a:p>
          <a:p>
            <a:pPr algn="l">
              <a:spcAft>
                <a:spcPts val="300"/>
              </a:spcAft>
            </a:pPr>
            <a:r>
              <a:rPr sz="850" b="0" i="0">
                <a:solidFill>
                  <a:srgbClr val="1E293B"/>
                </a:solidFill>
                <a:latin typeface="Calibri"/>
              </a:rPr>
              <a:t>1.  Is Virtual Agent in scope for this engagement?</a:t>
            </a:r>
          </a:p>
          <a:p>
            <a:pPr algn="l">
              <a:spcAft>
                <a:spcPts val="300"/>
              </a:spcAft>
            </a:pPr>
            <a:r>
              <a:rPr sz="850" b="0" i="0">
                <a:solidFill>
                  <a:srgbClr val="1E293B"/>
                </a:solidFill>
                <a:latin typeface="Calibri"/>
              </a:rPr>
              <a:t>2.  Should VA fall back to Now Assist when no topic match is found?</a:t>
            </a:r>
          </a:p>
          <a:p>
            <a:pPr algn="l">
              <a:spcAft>
                <a:spcPts val="300"/>
              </a:spcAft>
            </a:pPr>
            <a:r>
              <a:rPr sz="850" b="0" i="0">
                <a:solidFill>
                  <a:srgbClr val="1E293B"/>
                </a:solidFill>
                <a:latin typeface="Calibri"/>
              </a:rPr>
              <a:t>3.  What is the acceptable response quality bar for Now Assist VA answers?</a:t>
            </a:r>
          </a:p>
          <a:p>
            <a:pPr algn="l">
              <a:spcAft>
                <a:spcPts val="300"/>
              </a:spcAft>
            </a:pPr>
            <a:r>
              <a:rPr sz="850" b="0" i="0">
                <a:solidFill>
                  <a:srgbClr val="1E293B"/>
                </a:solidFill>
                <a:latin typeface="Calibri"/>
              </a:rPr>
              <a:t>4.  Is there a sensitive topic category that should escalate to a live agent vs. Now Assist?</a:t>
            </a:r>
          </a:p>
        </p:txBody>
      </p:sp>
      <p:sp>
        <p:nvSpPr>
          <p:cNvPr id="14" name="Rectangle 13"/>
          <p:cNvSpPr/>
          <p:nvPr/>
        </p:nvSpPr>
        <p:spPr>
          <a:xfrm>
            <a:off x="320040" y="4096512"/>
            <a:ext cx="8503920" cy="493776"/>
          </a:xfrm>
          <a:prstGeom prst="rect">
            <a:avLst/>
          </a:prstGeom>
          <a:solidFill>
            <a:srgbClr val="FEF3C7"/>
          </a:solidFill>
          <a:ln w="6350">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133087"/>
            <a:ext cx="8321040" cy="420624"/>
          </a:xfrm>
          <a:prstGeom prst="rect">
            <a:avLst/>
          </a:prstGeom>
          <a:noFill/>
        </p:spPr>
        <p:txBody>
          <a:bodyPr wrap="square" lIns="36576" rIns="36576" tIns="18288" bIns="18288">
            <a:spAutoFit/>
          </a:bodyPr>
          <a:lstStyle/>
          <a:p>
            <a:pPr algn="l"/>
            <a:r>
              <a:rPr sz="900" b="1" i="0">
                <a:solidFill>
                  <a:srgbClr val="D97706"/>
                </a:solidFill>
                <a:latin typeface="Calibri"/>
              </a:rPr>
              <a:t>⚠  OOTB Defense:  </a:t>
            </a:r>
            <a:r>
              <a:rPr sz="850" b="0" i="0">
                <a:solidFill>
                  <a:srgbClr val="1E293B"/>
                </a:solidFill>
                <a:latin typeface="Calibri"/>
              </a:rPr>
              <a:t>VA + Now Assist integration dramatically increases VA deflection without expanding the topic library. Topics not mapped in VA get answered by Now Assist from KB context. Plan for this integration in the VA sprint, not after the fact.</a:t>
            </a:r>
          </a:p>
        </p:txBody>
      </p:sp>
      <p:sp>
        <p:nvSpPr>
          <p:cNvPr id="16" name="Rectangle 15"/>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18" name="TextBox 17"/>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NOW ASSIST / GEN AI</a:t>
            </a:r>
          </a:p>
        </p:txBody>
      </p:sp>
      <p:sp>
        <p:nvSpPr>
          <p:cNvPr id="19" name="TextBox 18"/>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K E Y  D E C I S I O N   # 5</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1900" b="1" i="0">
                <a:solidFill>
                  <a:srgbClr val="0B1F3A"/>
                </a:solidFill>
                <a:latin typeface="Calibri"/>
              </a:rPr>
              <a:t>What prompt customization is needed?</a:t>
            </a:r>
          </a:p>
        </p:txBody>
      </p:sp>
      <p:sp>
        <p:nvSpPr>
          <p:cNvPr id="5" name="Rectangle 4"/>
          <p:cNvSpPr/>
          <p:nvPr/>
        </p:nvSpPr>
        <p:spPr>
          <a:xfrm>
            <a:off x="320040" y="987552"/>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24128"/>
            <a:ext cx="4069080" cy="2743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033271"/>
            <a:ext cx="3977639" cy="237744"/>
          </a:xfrm>
          <a:prstGeom prst="rect">
            <a:avLst/>
          </a:prstGeom>
          <a:noFill/>
        </p:spPr>
        <p:txBody>
          <a:bodyPr wrap="square" lIns="36576" rIns="36576" tIns="18288" bIns="18288">
            <a:spAutoFit/>
          </a:bodyPr>
          <a:lstStyle/>
          <a:p>
            <a:pPr algn="ctr"/>
            <a:r>
              <a:rPr sz="850" b="1" i="0">
                <a:solidFill>
                  <a:srgbClr val="FFFFFF"/>
                </a:solidFill>
                <a:latin typeface="Calibri"/>
              </a:rPr>
              <a:t>OOTB RECOMMENDATION</a:t>
            </a:r>
          </a:p>
        </p:txBody>
      </p:sp>
      <p:sp>
        <p:nvSpPr>
          <p:cNvPr id="8" name="Rectangle 7"/>
          <p:cNvSpPr/>
          <p:nvPr/>
        </p:nvSpPr>
        <p:spPr>
          <a:xfrm>
            <a:off x="320040" y="1298448"/>
            <a:ext cx="406908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53312"/>
            <a:ext cx="388620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D9488"/>
                </a:solidFill>
                <a:latin typeface="Calibri"/>
              </a:rPr>
              <a:t>OOTB Prompt Customization:</a:t>
            </a:r>
          </a:p>
          <a:p>
            <a:pPr algn="l">
              <a:spcAft>
                <a:spcPts val="200"/>
              </a:spcAft>
            </a:pPr>
            <a:r>
              <a:rPr sz="850" b="0" i="0">
                <a:solidFill>
                  <a:srgbClr val="1E293B"/>
                </a:solidFill>
                <a:latin typeface="Calibri"/>
              </a:rPr>
              <a:t>Now Assist Admin Center: view and edit the system prompt for each skill. Customization scope: add agency context, restrict response length, specify output format, add persona instructions. Customization is text configuration -- no scripting. Changes apply globally to the skill.</a:t>
            </a:r>
          </a:p>
        </p:txBody>
      </p:sp>
      <p:sp>
        <p:nvSpPr>
          <p:cNvPr id="10" name="Rectangle 9"/>
          <p:cNvSpPr/>
          <p:nvPr/>
        </p:nvSpPr>
        <p:spPr>
          <a:xfrm>
            <a:off x="4480560" y="1024128"/>
            <a:ext cx="4343400" cy="2743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033271"/>
            <a:ext cx="4251960" cy="237744"/>
          </a:xfrm>
          <a:prstGeom prst="rect">
            <a:avLst/>
          </a:prstGeom>
          <a:noFill/>
        </p:spPr>
        <p:txBody>
          <a:bodyPr wrap="square" lIns="36576" rIns="36576" tIns="18288" bIns="18288">
            <a:spAutoFit/>
          </a:bodyPr>
          <a:lstStyle/>
          <a:p>
            <a:pPr algn="ctr"/>
            <a:r>
              <a:rPr sz="850" b="1" i="0">
                <a:solidFill>
                  <a:srgbClr val="FFFFFF"/>
                </a:solidFill>
                <a:latin typeface="Calibri"/>
              </a:rPr>
              <a:t>DECIDE IN THE ROOM</a:t>
            </a:r>
          </a:p>
        </p:txBody>
      </p:sp>
      <p:sp>
        <p:nvSpPr>
          <p:cNvPr id="12" name="Rectangle 11"/>
          <p:cNvSpPr/>
          <p:nvPr/>
        </p:nvSpPr>
        <p:spPr>
          <a:xfrm>
            <a:off x="4480560" y="1298448"/>
            <a:ext cx="434340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1353312"/>
            <a:ext cx="416052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B1F3A"/>
                </a:solidFill>
                <a:latin typeface="Calibri"/>
              </a:rPr>
              <a:t>Questions to answer:</a:t>
            </a:r>
          </a:p>
          <a:p>
            <a:pPr algn="l">
              <a:spcAft>
                <a:spcPts val="300"/>
              </a:spcAft>
            </a:pPr>
            <a:r>
              <a:rPr sz="850" b="0" i="0">
                <a:solidFill>
                  <a:srgbClr val="1E293B"/>
                </a:solidFill>
                <a:latin typeface="Calibri"/>
              </a:rPr>
              <a:t>1.  Should the incident summarization prompt include agency-specific context (e.g., "This is a federal IT service desk")?</a:t>
            </a:r>
          </a:p>
          <a:p>
            <a:pPr algn="l">
              <a:spcAft>
                <a:spcPts val="300"/>
              </a:spcAft>
            </a:pPr>
            <a:r>
              <a:rPr sz="850" b="0" i="0">
                <a:solidFill>
                  <a:srgbClr val="1E293B"/>
                </a:solidFill>
                <a:latin typeface="Calibri"/>
              </a:rPr>
              <a:t>2.  Is a specific output format required for summaries (bullet vs. paragraph)?</a:t>
            </a:r>
          </a:p>
          <a:p>
            <a:pPr algn="l">
              <a:spcAft>
                <a:spcPts val="300"/>
              </a:spcAft>
            </a:pPr>
            <a:r>
              <a:rPr sz="850" b="0" i="0">
                <a:solidFill>
                  <a:srgbClr val="1E293B"/>
                </a:solidFill>
                <a:latin typeface="Calibri"/>
              </a:rPr>
              <a:t>3.  Are there response length constraints driven by the service desk workflow?</a:t>
            </a:r>
          </a:p>
          <a:p>
            <a:pPr algn="l">
              <a:spcAft>
                <a:spcPts val="300"/>
              </a:spcAft>
            </a:pPr>
            <a:r>
              <a:rPr sz="850" b="0" i="0">
                <a:solidFill>
                  <a:srgbClr val="1E293B"/>
                </a:solidFill>
                <a:latin typeface="Calibri"/>
              </a:rPr>
              <a:t>4.  Who owns prompt iteration post-go-live?</a:t>
            </a:r>
          </a:p>
        </p:txBody>
      </p:sp>
      <p:sp>
        <p:nvSpPr>
          <p:cNvPr id="14" name="Rectangle 13"/>
          <p:cNvSpPr/>
          <p:nvPr/>
        </p:nvSpPr>
        <p:spPr>
          <a:xfrm>
            <a:off x="320040" y="4096512"/>
            <a:ext cx="8503920" cy="493776"/>
          </a:xfrm>
          <a:prstGeom prst="rect">
            <a:avLst/>
          </a:prstGeom>
          <a:solidFill>
            <a:srgbClr val="FEF3C7"/>
          </a:solidFill>
          <a:ln w="6350">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133087"/>
            <a:ext cx="8321040" cy="420624"/>
          </a:xfrm>
          <a:prstGeom prst="rect">
            <a:avLst/>
          </a:prstGeom>
          <a:noFill/>
        </p:spPr>
        <p:txBody>
          <a:bodyPr wrap="square" lIns="36576" rIns="36576" tIns="18288" bIns="18288">
            <a:spAutoFit/>
          </a:bodyPr>
          <a:lstStyle/>
          <a:p>
            <a:pPr algn="l"/>
            <a:r>
              <a:rPr sz="900" b="1" i="0">
                <a:solidFill>
                  <a:srgbClr val="D97706"/>
                </a:solidFill>
                <a:latin typeface="Calibri"/>
              </a:rPr>
              <a:t>⚠  OOTB Defense:  </a:t>
            </a:r>
            <a:r>
              <a:rPr sz="850" b="0" i="0">
                <a:solidFill>
                  <a:srgbClr val="1E293B"/>
                </a:solidFill>
                <a:latin typeface="Calibri"/>
              </a:rPr>
              <a:t>The OOTB prompts are good starting points. Expect 2-3 rounds of prompt iteration in the first 30 days. Assign a named prompt owner who works with the service desk to refine based on agent feedback.</a:t>
            </a:r>
          </a:p>
        </p:txBody>
      </p:sp>
      <p:sp>
        <p:nvSpPr>
          <p:cNvPr id="16" name="Rectangle 15"/>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18" name="TextBox 17"/>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NOW ASSIST / GEN AI</a:t>
            </a:r>
          </a:p>
        </p:txBody>
      </p:sp>
      <p:sp>
        <p:nvSpPr>
          <p:cNvPr id="19" name="TextBox 18"/>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K E Y  D E C I S I O N   # 6</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1900" b="1" i="0">
                <a:solidFill>
                  <a:srgbClr val="0B1F3A"/>
                </a:solidFill>
                <a:latin typeface="Calibri"/>
              </a:rPr>
              <a:t>How will Now Assist be governed post-go-live?</a:t>
            </a:r>
          </a:p>
        </p:txBody>
      </p:sp>
      <p:sp>
        <p:nvSpPr>
          <p:cNvPr id="5" name="Rectangle 4"/>
          <p:cNvSpPr/>
          <p:nvPr/>
        </p:nvSpPr>
        <p:spPr>
          <a:xfrm>
            <a:off x="320040" y="987552"/>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24128"/>
            <a:ext cx="4069080" cy="2743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033271"/>
            <a:ext cx="3977639" cy="237744"/>
          </a:xfrm>
          <a:prstGeom prst="rect">
            <a:avLst/>
          </a:prstGeom>
          <a:noFill/>
        </p:spPr>
        <p:txBody>
          <a:bodyPr wrap="square" lIns="36576" rIns="36576" tIns="18288" bIns="18288">
            <a:spAutoFit/>
          </a:bodyPr>
          <a:lstStyle/>
          <a:p>
            <a:pPr algn="ctr"/>
            <a:r>
              <a:rPr sz="850" b="1" i="0">
                <a:solidFill>
                  <a:srgbClr val="FFFFFF"/>
                </a:solidFill>
                <a:latin typeface="Calibri"/>
              </a:rPr>
              <a:t>OOTB RECOMMENDATION</a:t>
            </a:r>
          </a:p>
        </p:txBody>
      </p:sp>
      <p:sp>
        <p:nvSpPr>
          <p:cNvPr id="8" name="Rectangle 7"/>
          <p:cNvSpPr/>
          <p:nvPr/>
        </p:nvSpPr>
        <p:spPr>
          <a:xfrm>
            <a:off x="320040" y="1298448"/>
            <a:ext cx="406908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53312"/>
            <a:ext cx="388620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D9488"/>
                </a:solidFill>
                <a:latin typeface="Calibri"/>
              </a:rPr>
              <a:t>OOTB Governance Tools:</a:t>
            </a:r>
          </a:p>
          <a:p>
            <a:pPr algn="l">
              <a:spcAft>
                <a:spcPts val="200"/>
              </a:spcAft>
            </a:pPr>
            <a:r>
              <a:rPr sz="850" b="0" i="0">
                <a:solidFill>
                  <a:srgbClr val="1E293B"/>
                </a:solidFill>
                <a:latin typeface="Calibri"/>
              </a:rPr>
              <a:t>Now Assist Admin Center: usage analytics (skill invocations, accept/reject rate, average response time). Interaction audit log. Guardrail violation log. Model feedback summary. All OOTB -- no scripting.</a:t>
            </a:r>
          </a:p>
        </p:txBody>
      </p:sp>
      <p:sp>
        <p:nvSpPr>
          <p:cNvPr id="10" name="Rectangle 9"/>
          <p:cNvSpPr/>
          <p:nvPr/>
        </p:nvSpPr>
        <p:spPr>
          <a:xfrm>
            <a:off x="4480560" y="1024128"/>
            <a:ext cx="4343400" cy="2743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033271"/>
            <a:ext cx="4251960" cy="237744"/>
          </a:xfrm>
          <a:prstGeom prst="rect">
            <a:avLst/>
          </a:prstGeom>
          <a:noFill/>
        </p:spPr>
        <p:txBody>
          <a:bodyPr wrap="square" lIns="36576" rIns="36576" tIns="18288" bIns="18288">
            <a:spAutoFit/>
          </a:bodyPr>
          <a:lstStyle/>
          <a:p>
            <a:pPr algn="ctr"/>
            <a:r>
              <a:rPr sz="850" b="1" i="0">
                <a:solidFill>
                  <a:srgbClr val="FFFFFF"/>
                </a:solidFill>
                <a:latin typeface="Calibri"/>
              </a:rPr>
              <a:t>DECIDE IN THE ROOM</a:t>
            </a:r>
          </a:p>
        </p:txBody>
      </p:sp>
      <p:sp>
        <p:nvSpPr>
          <p:cNvPr id="12" name="Rectangle 11"/>
          <p:cNvSpPr/>
          <p:nvPr/>
        </p:nvSpPr>
        <p:spPr>
          <a:xfrm>
            <a:off x="4480560" y="1298448"/>
            <a:ext cx="434340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1353312"/>
            <a:ext cx="416052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B1F3A"/>
                </a:solidFill>
                <a:latin typeface="Calibri"/>
              </a:rPr>
              <a:t>Questions to answer:</a:t>
            </a:r>
          </a:p>
          <a:p>
            <a:pPr algn="l">
              <a:spcAft>
                <a:spcPts val="300"/>
              </a:spcAft>
            </a:pPr>
            <a:r>
              <a:rPr sz="850" b="0" i="0">
                <a:solidFill>
                  <a:srgbClr val="1E293B"/>
                </a:solidFill>
                <a:latin typeface="Calibri"/>
              </a:rPr>
              <a:t>1.  Who is the Now Assist admin responsible for monitoring usage and quality?</a:t>
            </a:r>
          </a:p>
          <a:p>
            <a:pPr algn="l">
              <a:spcAft>
                <a:spcPts val="300"/>
              </a:spcAft>
            </a:pPr>
            <a:r>
              <a:rPr sz="850" b="0" i="0">
                <a:solidFill>
                  <a:srgbClr val="1E293B"/>
                </a:solidFill>
                <a:latin typeface="Calibri"/>
              </a:rPr>
              <a:t>2.  What is the review frequency for accept/reject rate by skill?</a:t>
            </a:r>
          </a:p>
          <a:p>
            <a:pPr algn="l">
              <a:spcAft>
                <a:spcPts val="300"/>
              </a:spcAft>
            </a:pPr>
            <a:r>
              <a:rPr sz="850" b="0" i="0">
                <a:solidFill>
                  <a:srgbClr val="1E293B"/>
                </a:solidFill>
                <a:latin typeface="Calibri"/>
              </a:rPr>
              <a:t>3.  Is there an AI governance committee that Now Assist usage must be reported to?</a:t>
            </a:r>
          </a:p>
          <a:p>
            <a:pPr algn="l">
              <a:spcAft>
                <a:spcPts val="300"/>
              </a:spcAft>
            </a:pPr>
            <a:r>
              <a:rPr sz="850" b="0" i="0">
                <a:solidFill>
                  <a:srgbClr val="1E293B"/>
                </a:solidFill>
                <a:latin typeface="Calibri"/>
              </a:rPr>
              <a:t>4.  What is the process for disabling a skill if output quality degrades?</a:t>
            </a:r>
          </a:p>
        </p:txBody>
      </p:sp>
      <p:sp>
        <p:nvSpPr>
          <p:cNvPr id="14" name="Rectangle 13"/>
          <p:cNvSpPr/>
          <p:nvPr/>
        </p:nvSpPr>
        <p:spPr>
          <a:xfrm>
            <a:off x="320040" y="4096512"/>
            <a:ext cx="8503920" cy="493776"/>
          </a:xfrm>
          <a:prstGeom prst="rect">
            <a:avLst/>
          </a:prstGeom>
          <a:solidFill>
            <a:srgbClr val="FEF3C7"/>
          </a:solidFill>
          <a:ln w="6350">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133087"/>
            <a:ext cx="8321040" cy="420624"/>
          </a:xfrm>
          <a:prstGeom prst="rect">
            <a:avLst/>
          </a:prstGeom>
          <a:noFill/>
        </p:spPr>
        <p:txBody>
          <a:bodyPr wrap="square" lIns="36576" rIns="36576" tIns="18288" bIns="18288">
            <a:spAutoFit/>
          </a:bodyPr>
          <a:lstStyle/>
          <a:p>
            <a:pPr algn="l"/>
            <a:r>
              <a:rPr sz="900" b="1" i="0">
                <a:solidFill>
                  <a:srgbClr val="D97706"/>
                </a:solidFill>
                <a:latin typeface="Calibri"/>
              </a:rPr>
              <a:t>⚠  OOTB Defense:  </a:t>
            </a:r>
            <a:r>
              <a:rPr sz="850" b="0" i="0">
                <a:solidFill>
                  <a:srgbClr val="1E293B"/>
                </a:solidFill>
                <a:latin typeface="Calibri"/>
              </a:rPr>
              <a:t>Federal AI governance requirements are evolving. Assign a Now Assist admin who can report usage, quality, and guardrail compliance to IT security and any AI governance body. This role takes 1-2 hours per month -- it is not a full-time job.</a:t>
            </a:r>
          </a:p>
        </p:txBody>
      </p:sp>
      <p:sp>
        <p:nvSpPr>
          <p:cNvPr id="16" name="Rectangle 15"/>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18" name="TextBox 17"/>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NOW ASSIST / GEN AI</a:t>
            </a:r>
          </a:p>
        </p:txBody>
      </p:sp>
      <p:sp>
        <p:nvSpPr>
          <p:cNvPr id="19" name="TextBox 18"/>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K E Y  D E C I S I O N   # 7</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1900" b="1" i="0">
                <a:solidFill>
                  <a:srgbClr val="0B1F3A"/>
                </a:solidFill>
                <a:latin typeface="Calibri"/>
              </a:rPr>
              <a:t>What user training and change management is needed?</a:t>
            </a:r>
          </a:p>
        </p:txBody>
      </p:sp>
      <p:sp>
        <p:nvSpPr>
          <p:cNvPr id="5" name="Rectangle 4"/>
          <p:cNvSpPr/>
          <p:nvPr/>
        </p:nvSpPr>
        <p:spPr>
          <a:xfrm>
            <a:off x="320040" y="987552"/>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24128"/>
            <a:ext cx="4069080" cy="2743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033271"/>
            <a:ext cx="3977639" cy="237744"/>
          </a:xfrm>
          <a:prstGeom prst="rect">
            <a:avLst/>
          </a:prstGeom>
          <a:noFill/>
        </p:spPr>
        <p:txBody>
          <a:bodyPr wrap="square" lIns="36576" rIns="36576" tIns="18288" bIns="18288">
            <a:spAutoFit/>
          </a:bodyPr>
          <a:lstStyle/>
          <a:p>
            <a:pPr algn="ctr"/>
            <a:r>
              <a:rPr sz="850" b="1" i="0">
                <a:solidFill>
                  <a:srgbClr val="FFFFFF"/>
                </a:solidFill>
                <a:latin typeface="Calibri"/>
              </a:rPr>
              <a:t>OOTB RECOMMENDATION</a:t>
            </a:r>
          </a:p>
        </p:txBody>
      </p:sp>
      <p:sp>
        <p:nvSpPr>
          <p:cNvPr id="8" name="Rectangle 7"/>
          <p:cNvSpPr/>
          <p:nvPr/>
        </p:nvSpPr>
        <p:spPr>
          <a:xfrm>
            <a:off x="320040" y="1298448"/>
            <a:ext cx="406908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53312"/>
            <a:ext cx="388620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D9488"/>
                </a:solidFill>
                <a:latin typeface="Calibri"/>
              </a:rPr>
              <a:t>OOTB Training Resources:</a:t>
            </a:r>
          </a:p>
          <a:p>
            <a:pPr algn="l">
              <a:spcAft>
                <a:spcPts val="200"/>
              </a:spcAft>
            </a:pPr>
            <a:r>
              <a:rPr sz="850" b="0" i="0">
                <a:solidFill>
                  <a:srgbClr val="1E293B"/>
                </a:solidFill>
                <a:latin typeface="Calibri"/>
              </a:rPr>
              <a:t>ServiceNow provides Now Assist user training content on NowLearning. ECS will provide role-specific training: agent training (how to use Now Assist in incident form), end-user training (VA GenAI answers), admin training (Admin Center, guardrails, prompt management).</a:t>
            </a:r>
          </a:p>
        </p:txBody>
      </p:sp>
      <p:sp>
        <p:nvSpPr>
          <p:cNvPr id="10" name="Rectangle 9"/>
          <p:cNvSpPr/>
          <p:nvPr/>
        </p:nvSpPr>
        <p:spPr>
          <a:xfrm>
            <a:off x="4480560" y="1024128"/>
            <a:ext cx="4343400" cy="2743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033271"/>
            <a:ext cx="4251960" cy="237744"/>
          </a:xfrm>
          <a:prstGeom prst="rect">
            <a:avLst/>
          </a:prstGeom>
          <a:noFill/>
        </p:spPr>
        <p:txBody>
          <a:bodyPr wrap="square" lIns="36576" rIns="36576" tIns="18288" bIns="18288">
            <a:spAutoFit/>
          </a:bodyPr>
          <a:lstStyle/>
          <a:p>
            <a:pPr algn="ctr"/>
            <a:r>
              <a:rPr sz="850" b="1" i="0">
                <a:solidFill>
                  <a:srgbClr val="FFFFFF"/>
                </a:solidFill>
                <a:latin typeface="Calibri"/>
              </a:rPr>
              <a:t>DECIDE IN THE ROOM</a:t>
            </a:r>
          </a:p>
        </p:txBody>
      </p:sp>
      <p:sp>
        <p:nvSpPr>
          <p:cNvPr id="12" name="Rectangle 11"/>
          <p:cNvSpPr/>
          <p:nvPr/>
        </p:nvSpPr>
        <p:spPr>
          <a:xfrm>
            <a:off x="4480560" y="1298448"/>
            <a:ext cx="4343400" cy="2743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1353312"/>
            <a:ext cx="4160520" cy="2651760"/>
          </a:xfrm>
          <a:prstGeom prst="rect">
            <a:avLst/>
          </a:prstGeom>
          <a:noFill/>
        </p:spPr>
        <p:txBody>
          <a:bodyPr wrap="square" lIns="36576" rIns="36576" tIns="18288" bIns="18288">
            <a:spAutoFit/>
          </a:bodyPr>
          <a:lstStyle/>
          <a:p>
            <a:pPr algn="l">
              <a:spcBef>
                <a:spcPts val="400"/>
              </a:spcBef>
              <a:spcAft>
                <a:spcPts val="200"/>
              </a:spcAft>
            </a:pPr>
            <a:r>
              <a:rPr sz="900" b="1" i="0">
                <a:solidFill>
                  <a:srgbClr val="0B1F3A"/>
                </a:solidFill>
                <a:latin typeface="Calibri"/>
              </a:rPr>
              <a:t>Questions to answer:</a:t>
            </a:r>
          </a:p>
          <a:p>
            <a:pPr algn="l">
              <a:spcAft>
                <a:spcPts val="300"/>
              </a:spcAft>
            </a:pPr>
            <a:r>
              <a:rPr sz="850" b="0" i="0">
                <a:solidFill>
                  <a:srgbClr val="1E293B"/>
                </a:solidFill>
                <a:latin typeface="Calibri"/>
              </a:rPr>
              <a:t>1.  Is this the first GenAI tool deployed in the agency -- and is there organizational change management needed?</a:t>
            </a:r>
          </a:p>
          <a:p>
            <a:pPr algn="l">
              <a:spcAft>
                <a:spcPts val="300"/>
              </a:spcAft>
            </a:pPr>
            <a:r>
              <a:rPr sz="850" b="0" i="0">
                <a:solidFill>
                  <a:srgbClr val="1E293B"/>
                </a:solidFill>
                <a:latin typeface="Calibri"/>
              </a:rPr>
              <a:t>2.  Should agents be trained before go-live or on the day of go-live?</a:t>
            </a:r>
          </a:p>
          <a:p>
            <a:pPr algn="l">
              <a:spcAft>
                <a:spcPts val="300"/>
              </a:spcAft>
            </a:pPr>
            <a:r>
              <a:rPr sz="850" b="0" i="0">
                <a:solidFill>
                  <a:srgbClr val="1E293B"/>
                </a:solidFill>
                <a:latin typeface="Calibri"/>
              </a:rPr>
              <a:t>3.  Is there a union or HR consideration for AI-assisted work tools?</a:t>
            </a:r>
          </a:p>
          <a:p>
            <a:pPr algn="l">
              <a:spcAft>
                <a:spcPts val="300"/>
              </a:spcAft>
            </a:pPr>
            <a:r>
              <a:rPr sz="850" b="0" i="0">
                <a:solidFill>
                  <a:srgbClr val="1E293B"/>
                </a:solidFill>
                <a:latin typeface="Calibri"/>
              </a:rPr>
              <a:t>4.  Should Now Assist be piloted with a small agent group before broad rollout?</a:t>
            </a:r>
          </a:p>
        </p:txBody>
      </p:sp>
      <p:sp>
        <p:nvSpPr>
          <p:cNvPr id="14" name="Rectangle 13"/>
          <p:cNvSpPr/>
          <p:nvPr/>
        </p:nvSpPr>
        <p:spPr>
          <a:xfrm>
            <a:off x="320040" y="4096512"/>
            <a:ext cx="8503920" cy="493776"/>
          </a:xfrm>
          <a:prstGeom prst="rect">
            <a:avLst/>
          </a:prstGeom>
          <a:solidFill>
            <a:srgbClr val="FEF3C7"/>
          </a:solidFill>
          <a:ln w="6350">
            <a:solidFill>
              <a:srgbClr val="FDD8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133087"/>
            <a:ext cx="8321040" cy="420624"/>
          </a:xfrm>
          <a:prstGeom prst="rect">
            <a:avLst/>
          </a:prstGeom>
          <a:noFill/>
        </p:spPr>
        <p:txBody>
          <a:bodyPr wrap="square" lIns="36576" rIns="36576" tIns="18288" bIns="18288">
            <a:spAutoFit/>
          </a:bodyPr>
          <a:lstStyle/>
          <a:p>
            <a:pPr algn="l"/>
            <a:r>
              <a:rPr sz="900" b="1" i="0">
                <a:solidFill>
                  <a:srgbClr val="D97706"/>
                </a:solidFill>
                <a:latin typeface="Calibri"/>
              </a:rPr>
              <a:t>⚠  OOTB Defense:  </a:t>
            </a:r>
            <a:r>
              <a:rPr sz="850" b="0" i="0">
                <a:solidFill>
                  <a:srgbClr val="1E293B"/>
                </a:solidFill>
                <a:latin typeface="Calibri"/>
              </a:rPr>
              <a:t>Now Assist adoption is driven by trust in output quality. A pilot with 5-10 agents for 2 weeks before broad go-live builds trust, surfaces prompt improvements, and produces internal champions. Plan for the pilot in Sprint 6.</a:t>
            </a:r>
          </a:p>
        </p:txBody>
      </p:sp>
      <p:sp>
        <p:nvSpPr>
          <p:cNvPr id="16" name="Rectangle 15"/>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18" name="TextBox 17"/>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NOW ASSIST / GEN AI</a:t>
            </a:r>
          </a:p>
        </p:txBody>
      </p:sp>
      <p:sp>
        <p:nvSpPr>
          <p:cNvPr id="19" name="TextBox 18"/>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Rectangle 1"/>
          <p:cNvSpPr/>
          <p:nvPr/>
        </p:nvSpPr>
        <p:spPr>
          <a:xfrm>
            <a:off x="292608" y="1572768"/>
            <a:ext cx="64008" cy="164592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75488" y="1572768"/>
            <a:ext cx="6858000" cy="804672"/>
          </a:xfrm>
          <a:prstGeom prst="rect">
            <a:avLst/>
          </a:prstGeom>
          <a:noFill/>
        </p:spPr>
        <p:txBody>
          <a:bodyPr wrap="square" lIns="36576" rIns="36576" tIns="18288" bIns="18288">
            <a:spAutoFit/>
          </a:bodyPr>
          <a:lstStyle/>
          <a:p>
            <a:pPr algn="l"/>
            <a:r>
              <a:rPr sz="4400" b="1" i="0">
                <a:solidFill>
                  <a:srgbClr val="FFFFFF"/>
                </a:solidFill>
                <a:latin typeface="Calibri"/>
              </a:rPr>
              <a:t>Decision Log</a:t>
            </a:r>
          </a:p>
        </p:txBody>
      </p:sp>
      <p:sp>
        <p:nvSpPr>
          <p:cNvPr id="4" name="TextBox 3"/>
          <p:cNvSpPr txBox="1"/>
          <p:nvPr/>
        </p:nvSpPr>
        <p:spPr>
          <a:xfrm>
            <a:off x="475488" y="2377440"/>
            <a:ext cx="7315200" cy="347472"/>
          </a:xfrm>
          <a:prstGeom prst="rect">
            <a:avLst/>
          </a:prstGeom>
          <a:noFill/>
        </p:spPr>
        <p:txBody>
          <a:bodyPr wrap="square" lIns="36576" rIns="36576" tIns="18288" bIns="18288">
            <a:spAutoFit/>
          </a:bodyPr>
          <a:lstStyle/>
          <a:p>
            <a:pPr algn="l"/>
            <a:r>
              <a:rPr sz="1600" b="1" i="0">
                <a:solidFill>
                  <a:srgbClr val="14B8A6"/>
                </a:solidFill>
                <a:latin typeface="Calibri"/>
              </a:rPr>
              <a:t>Every decision on the next page is an action.</a:t>
            </a:r>
          </a:p>
        </p:txBody>
      </p:sp>
      <p:sp>
        <p:nvSpPr>
          <p:cNvPr id="5" name="TextBox 4"/>
          <p:cNvSpPr txBox="1"/>
          <p:nvPr/>
        </p:nvSpPr>
        <p:spPr>
          <a:xfrm>
            <a:off x="475488" y="2706624"/>
            <a:ext cx="7315200" cy="347472"/>
          </a:xfrm>
          <a:prstGeom prst="rect">
            <a:avLst/>
          </a:prstGeom>
          <a:noFill/>
        </p:spPr>
        <p:txBody>
          <a:bodyPr wrap="square" lIns="36576" rIns="36576" tIns="18288" bIns="18288">
            <a:spAutoFit/>
          </a:bodyPr>
          <a:lstStyle/>
          <a:p>
            <a:pPr algn="l"/>
            <a:r>
              <a:rPr sz="1600" b="1" i="0">
                <a:solidFill>
                  <a:srgbClr val="14B8A6"/>
                </a:solidFill>
                <a:latin typeface="Calibri"/>
              </a:rPr>
              <a:t>Decisions left blank leave this room with a named owner and a date.</a:t>
            </a:r>
          </a:p>
        </p:txBody>
      </p:sp>
      <p:sp>
        <p:nvSpPr>
          <p:cNvPr id="6" name="TextBox 5"/>
          <p:cNvSpPr txBox="1"/>
          <p:nvPr/>
        </p:nvSpPr>
        <p:spPr>
          <a:xfrm>
            <a:off x="475488" y="3200400"/>
            <a:ext cx="7315200" cy="347472"/>
          </a:xfrm>
          <a:prstGeom prst="rect">
            <a:avLst/>
          </a:prstGeom>
          <a:noFill/>
        </p:spPr>
        <p:txBody>
          <a:bodyPr wrap="square" lIns="36576" rIns="36576" tIns="18288" bIns="18288">
            <a:spAutoFit/>
          </a:bodyPr>
          <a:lstStyle/>
          <a:p>
            <a:pPr algn="l"/>
            <a:r>
              <a:rPr sz="1200" b="0" i="1">
                <a:solidFill>
                  <a:srgbClr val="FFFFFF"/>
                </a:solidFill>
                <a:latin typeface="Calibri"/>
              </a:rPr>
              <a:t>Before we close: no decision is unresolved — it is either made, or owned.</a:t>
            </a:r>
          </a:p>
        </p:txBody>
      </p:sp>
      <p:pic>
        <p:nvPicPr>
          <p:cNvPr id="7" name="Picture 6"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8" name="Rectangle 7"/>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10" name="TextBox 9"/>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NOW ASSIST / GEN AI</a:t>
            </a:r>
          </a:p>
        </p:txBody>
      </p:sp>
      <p:sp>
        <p:nvSpPr>
          <p:cNvPr id="11" name="TextBox 10"/>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D E C I S I O N  L O G</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2000" b="1" i="0">
                <a:solidFill>
                  <a:srgbClr val="0B1F3A"/>
                </a:solidFill>
                <a:latin typeface="Calibri"/>
              </a:rPr>
              <a:t>Now Assist &amp; Generative AI — Decisions Made in This Workshop</a:t>
            </a:r>
          </a:p>
        </p:txBody>
      </p:sp>
      <p:sp>
        <p:nvSpPr>
          <p:cNvPr id="5" name="Rectangle 4"/>
          <p:cNvSpPr/>
          <p:nvPr/>
        </p:nvSpPr>
        <p:spPr>
          <a:xfrm>
            <a:off x="320040" y="987552"/>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42415"/>
            <a:ext cx="292608" cy="2743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59" y="1078992"/>
            <a:ext cx="201168" cy="201168"/>
          </a:xfrm>
          <a:prstGeom prst="rect">
            <a:avLst/>
          </a:prstGeom>
          <a:noFill/>
        </p:spPr>
        <p:txBody>
          <a:bodyPr wrap="square" lIns="36576" rIns="36576" tIns="18288" bIns="18288">
            <a:spAutoFit/>
          </a:bodyPr>
          <a:lstStyle/>
          <a:p>
            <a:pPr algn="l"/>
            <a:r>
              <a:rPr sz="850" b="1" i="0">
                <a:solidFill>
                  <a:srgbClr val="FFFFFF"/>
                </a:solidFill>
                <a:latin typeface="Calibri"/>
              </a:rPr>
              <a:t>#</a:t>
            </a:r>
          </a:p>
        </p:txBody>
      </p:sp>
      <p:sp>
        <p:nvSpPr>
          <p:cNvPr id="8" name="Rectangle 7"/>
          <p:cNvSpPr/>
          <p:nvPr/>
        </p:nvSpPr>
        <p:spPr>
          <a:xfrm>
            <a:off x="612647" y="1042415"/>
            <a:ext cx="1737360" cy="2743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078992"/>
            <a:ext cx="1645919" cy="201168"/>
          </a:xfrm>
          <a:prstGeom prst="rect">
            <a:avLst/>
          </a:prstGeom>
          <a:noFill/>
        </p:spPr>
        <p:txBody>
          <a:bodyPr wrap="square" lIns="36576" rIns="36576" tIns="18288" bIns="18288">
            <a:spAutoFit/>
          </a:bodyPr>
          <a:lstStyle/>
          <a:p>
            <a:pPr algn="l"/>
            <a:r>
              <a:rPr sz="850" b="1" i="0">
                <a:solidFill>
                  <a:srgbClr val="FFFFFF"/>
                </a:solidFill>
                <a:latin typeface="Calibri"/>
              </a:rPr>
              <a:t>Decision Topic</a:t>
            </a:r>
          </a:p>
        </p:txBody>
      </p:sp>
      <p:sp>
        <p:nvSpPr>
          <p:cNvPr id="10" name="Rectangle 9"/>
          <p:cNvSpPr/>
          <p:nvPr/>
        </p:nvSpPr>
        <p:spPr>
          <a:xfrm>
            <a:off x="2350008" y="1042415"/>
            <a:ext cx="3931920" cy="2743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95727" y="1078992"/>
            <a:ext cx="3840480" cy="201168"/>
          </a:xfrm>
          <a:prstGeom prst="rect">
            <a:avLst/>
          </a:prstGeom>
          <a:noFill/>
        </p:spPr>
        <p:txBody>
          <a:bodyPr wrap="square" lIns="36576" rIns="36576" tIns="18288" bIns="18288">
            <a:spAutoFit/>
          </a:bodyPr>
          <a:lstStyle/>
          <a:p>
            <a:pPr algn="l"/>
            <a:r>
              <a:rPr sz="850" b="1" i="0">
                <a:solidFill>
                  <a:srgbClr val="FFFFFF"/>
                </a:solidFill>
                <a:latin typeface="Calibri"/>
              </a:rPr>
              <a:t>Scope</a:t>
            </a:r>
          </a:p>
        </p:txBody>
      </p:sp>
      <p:sp>
        <p:nvSpPr>
          <p:cNvPr id="12" name="Rectangle 11"/>
          <p:cNvSpPr/>
          <p:nvPr/>
        </p:nvSpPr>
        <p:spPr>
          <a:xfrm>
            <a:off x="6281927" y="1042415"/>
            <a:ext cx="1508760" cy="2743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27647" y="1078992"/>
            <a:ext cx="1417319" cy="201168"/>
          </a:xfrm>
          <a:prstGeom prst="rect">
            <a:avLst/>
          </a:prstGeom>
          <a:noFill/>
        </p:spPr>
        <p:txBody>
          <a:bodyPr wrap="square" lIns="36576" rIns="36576" tIns="18288" bIns="18288">
            <a:spAutoFit/>
          </a:bodyPr>
          <a:lstStyle/>
          <a:p>
            <a:pPr algn="l"/>
            <a:r>
              <a:rPr sz="850" b="1" i="0">
                <a:solidFill>
                  <a:srgbClr val="FFFFFF"/>
                </a:solidFill>
                <a:latin typeface="Calibri"/>
              </a:rPr>
              <a:t>Decision Made</a:t>
            </a:r>
          </a:p>
        </p:txBody>
      </p:sp>
      <p:sp>
        <p:nvSpPr>
          <p:cNvPr id="14" name="Rectangle 13"/>
          <p:cNvSpPr/>
          <p:nvPr/>
        </p:nvSpPr>
        <p:spPr>
          <a:xfrm>
            <a:off x="7790688" y="1042415"/>
            <a:ext cx="1005840" cy="27432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36408" y="1078992"/>
            <a:ext cx="914400" cy="201168"/>
          </a:xfrm>
          <a:prstGeom prst="rect">
            <a:avLst/>
          </a:prstGeom>
          <a:noFill/>
        </p:spPr>
        <p:txBody>
          <a:bodyPr wrap="square" lIns="36576" rIns="36576" tIns="18288" bIns="18288">
            <a:spAutoFit/>
          </a:bodyPr>
          <a:lstStyle/>
          <a:p>
            <a:pPr algn="l"/>
            <a:r>
              <a:rPr sz="850" b="1" i="0">
                <a:solidFill>
                  <a:srgbClr val="FFFFFF"/>
                </a:solidFill>
                <a:latin typeface="Calibri"/>
              </a:rPr>
              <a:t>Owner / Due</a:t>
            </a:r>
          </a:p>
        </p:txBody>
      </p:sp>
      <p:sp>
        <p:nvSpPr>
          <p:cNvPr id="16" name="Rectangle 15"/>
          <p:cNvSpPr/>
          <p:nvPr/>
        </p:nvSpPr>
        <p:spPr>
          <a:xfrm>
            <a:off x="320040" y="1316736"/>
            <a:ext cx="292608"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7" y="1316736"/>
            <a:ext cx="173736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350008" y="1316736"/>
            <a:ext cx="393192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81927" y="1316736"/>
            <a:ext cx="150876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90688" y="1316736"/>
            <a:ext cx="100584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56615" y="1408176"/>
            <a:ext cx="219456" cy="201168"/>
          </a:xfrm>
          <a:prstGeom prst="rect">
            <a:avLst/>
          </a:prstGeom>
          <a:noFill/>
        </p:spPr>
        <p:txBody>
          <a:bodyPr wrap="square" lIns="36576" rIns="36576" tIns="18288" bIns="18288">
            <a:spAutoFit/>
          </a:bodyPr>
          <a:lstStyle/>
          <a:p>
            <a:pPr algn="l"/>
            <a:r>
              <a:rPr sz="900" b="1" i="0">
                <a:solidFill>
                  <a:srgbClr val="14B8A6"/>
                </a:solidFill>
                <a:latin typeface="Calibri"/>
              </a:rPr>
              <a:t>#1</a:t>
            </a:r>
          </a:p>
        </p:txBody>
      </p:sp>
      <p:sp>
        <p:nvSpPr>
          <p:cNvPr id="22" name="TextBox 21"/>
          <p:cNvSpPr txBox="1"/>
          <p:nvPr/>
        </p:nvSpPr>
        <p:spPr>
          <a:xfrm>
            <a:off x="658368" y="1389888"/>
            <a:ext cx="1645919" cy="274320"/>
          </a:xfrm>
          <a:prstGeom prst="rect">
            <a:avLst/>
          </a:prstGeom>
          <a:noFill/>
        </p:spPr>
        <p:txBody>
          <a:bodyPr wrap="square" lIns="36576" rIns="36576" tIns="18288" bIns="18288">
            <a:spAutoFit/>
          </a:bodyPr>
          <a:lstStyle/>
          <a:p>
            <a:pPr algn="l"/>
            <a:r>
              <a:rPr sz="850" b="1" i="0">
                <a:solidFill>
                  <a:srgbClr val="1E293B"/>
                </a:solidFill>
                <a:latin typeface="Calibri"/>
              </a:rPr>
              <a:t>Now Assist skills activated at go-live</a:t>
            </a:r>
          </a:p>
        </p:txBody>
      </p:sp>
      <p:sp>
        <p:nvSpPr>
          <p:cNvPr id="23" name="TextBox 22"/>
          <p:cNvSpPr txBox="1"/>
          <p:nvPr/>
        </p:nvSpPr>
        <p:spPr>
          <a:xfrm>
            <a:off x="2395727" y="1389888"/>
            <a:ext cx="3840480" cy="274320"/>
          </a:xfrm>
          <a:prstGeom prst="rect">
            <a:avLst/>
          </a:prstGeom>
          <a:noFill/>
        </p:spPr>
        <p:txBody>
          <a:bodyPr wrap="square" lIns="36576" rIns="36576" tIns="18288" bIns="18288">
            <a:spAutoFit/>
          </a:bodyPr>
          <a:lstStyle/>
          <a:p>
            <a:pPr algn="l"/>
            <a:r>
              <a:rPr sz="850" b="0" i="0">
                <a:solidFill>
                  <a:srgbClr val="1E293B"/>
                </a:solidFill>
                <a:latin typeface="Calibri"/>
              </a:rPr>
              <a:t/>
            </a:r>
          </a:p>
        </p:txBody>
      </p:sp>
      <p:sp>
        <p:nvSpPr>
          <p:cNvPr id="24" name="Rectangle 23"/>
          <p:cNvSpPr/>
          <p:nvPr/>
        </p:nvSpPr>
        <p:spPr>
          <a:xfrm>
            <a:off x="320040" y="1682495"/>
            <a:ext cx="292608"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2647" y="1682495"/>
            <a:ext cx="173736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350008" y="1682495"/>
            <a:ext cx="393192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81927" y="1682495"/>
            <a:ext cx="150876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90688" y="1682495"/>
            <a:ext cx="100584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56615" y="1773936"/>
            <a:ext cx="219456" cy="201168"/>
          </a:xfrm>
          <a:prstGeom prst="rect">
            <a:avLst/>
          </a:prstGeom>
          <a:noFill/>
        </p:spPr>
        <p:txBody>
          <a:bodyPr wrap="square" lIns="36576" rIns="36576" tIns="18288" bIns="18288">
            <a:spAutoFit/>
          </a:bodyPr>
          <a:lstStyle/>
          <a:p>
            <a:pPr algn="l"/>
            <a:r>
              <a:rPr sz="900" b="1" i="0">
                <a:solidFill>
                  <a:srgbClr val="14B8A6"/>
                </a:solidFill>
                <a:latin typeface="Calibri"/>
              </a:rPr>
              <a:t>#2</a:t>
            </a:r>
          </a:p>
        </p:txBody>
      </p:sp>
      <p:sp>
        <p:nvSpPr>
          <p:cNvPr id="30" name="TextBox 29"/>
          <p:cNvSpPr txBox="1"/>
          <p:nvPr/>
        </p:nvSpPr>
        <p:spPr>
          <a:xfrm>
            <a:off x="658368" y="1755648"/>
            <a:ext cx="1645919" cy="274320"/>
          </a:xfrm>
          <a:prstGeom prst="rect">
            <a:avLst/>
          </a:prstGeom>
          <a:noFill/>
        </p:spPr>
        <p:txBody>
          <a:bodyPr wrap="square" lIns="36576" rIns="36576" tIns="18288" bIns="18288">
            <a:spAutoFit/>
          </a:bodyPr>
          <a:lstStyle/>
          <a:p>
            <a:pPr algn="l"/>
            <a:r>
              <a:rPr sz="850" b="1" i="0">
                <a:solidFill>
                  <a:srgbClr val="1E293B"/>
                </a:solidFill>
                <a:latin typeface="Calibri"/>
              </a:rPr>
              <a:t>LLM selection (Now LLM vs external)</a:t>
            </a:r>
          </a:p>
        </p:txBody>
      </p:sp>
      <p:sp>
        <p:nvSpPr>
          <p:cNvPr id="31" name="TextBox 30"/>
          <p:cNvSpPr txBox="1"/>
          <p:nvPr/>
        </p:nvSpPr>
        <p:spPr>
          <a:xfrm>
            <a:off x="2395727" y="1755648"/>
            <a:ext cx="3840480" cy="274320"/>
          </a:xfrm>
          <a:prstGeom prst="rect">
            <a:avLst/>
          </a:prstGeom>
          <a:noFill/>
        </p:spPr>
        <p:txBody>
          <a:bodyPr wrap="square" lIns="36576" rIns="36576" tIns="18288" bIns="18288">
            <a:spAutoFit/>
          </a:bodyPr>
          <a:lstStyle/>
          <a:p>
            <a:pPr algn="l"/>
            <a:r>
              <a:rPr sz="850" b="0" i="0">
                <a:solidFill>
                  <a:srgbClr val="1E293B"/>
                </a:solidFill>
                <a:latin typeface="Calibri"/>
              </a:rPr>
              <a:t/>
            </a:r>
          </a:p>
        </p:txBody>
      </p:sp>
      <p:sp>
        <p:nvSpPr>
          <p:cNvPr id="32" name="Rectangle 31"/>
          <p:cNvSpPr/>
          <p:nvPr/>
        </p:nvSpPr>
        <p:spPr>
          <a:xfrm>
            <a:off x="320040" y="2048256"/>
            <a:ext cx="292608"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2647" y="2048256"/>
            <a:ext cx="173736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350008" y="2048256"/>
            <a:ext cx="393192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281927" y="2048256"/>
            <a:ext cx="150876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790688" y="2048256"/>
            <a:ext cx="100584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56615" y="2139696"/>
            <a:ext cx="219456" cy="201168"/>
          </a:xfrm>
          <a:prstGeom prst="rect">
            <a:avLst/>
          </a:prstGeom>
          <a:noFill/>
        </p:spPr>
        <p:txBody>
          <a:bodyPr wrap="square" lIns="36576" rIns="36576" tIns="18288" bIns="18288">
            <a:spAutoFit/>
          </a:bodyPr>
          <a:lstStyle/>
          <a:p>
            <a:pPr algn="l"/>
            <a:r>
              <a:rPr sz="900" b="1" i="0">
                <a:solidFill>
                  <a:srgbClr val="14B8A6"/>
                </a:solidFill>
                <a:latin typeface="Calibri"/>
              </a:rPr>
              <a:t>#3</a:t>
            </a:r>
          </a:p>
        </p:txBody>
      </p:sp>
      <p:sp>
        <p:nvSpPr>
          <p:cNvPr id="38" name="TextBox 37"/>
          <p:cNvSpPr txBox="1"/>
          <p:nvPr/>
        </p:nvSpPr>
        <p:spPr>
          <a:xfrm>
            <a:off x="658368" y="2121408"/>
            <a:ext cx="1645919" cy="274320"/>
          </a:xfrm>
          <a:prstGeom prst="rect">
            <a:avLst/>
          </a:prstGeom>
          <a:noFill/>
        </p:spPr>
        <p:txBody>
          <a:bodyPr wrap="square" lIns="36576" rIns="36576" tIns="18288" bIns="18288">
            <a:spAutoFit/>
          </a:bodyPr>
          <a:lstStyle/>
          <a:p>
            <a:pPr algn="l"/>
            <a:r>
              <a:rPr sz="850" b="1" i="0">
                <a:solidFill>
                  <a:srgbClr val="1E293B"/>
                </a:solidFill>
                <a:latin typeface="Calibri"/>
              </a:rPr>
              <a:t>Guardrail configuration requirements</a:t>
            </a:r>
          </a:p>
        </p:txBody>
      </p:sp>
      <p:sp>
        <p:nvSpPr>
          <p:cNvPr id="39" name="TextBox 38"/>
          <p:cNvSpPr txBox="1"/>
          <p:nvPr/>
        </p:nvSpPr>
        <p:spPr>
          <a:xfrm>
            <a:off x="2395727" y="2121408"/>
            <a:ext cx="3840480" cy="274320"/>
          </a:xfrm>
          <a:prstGeom prst="rect">
            <a:avLst/>
          </a:prstGeom>
          <a:noFill/>
        </p:spPr>
        <p:txBody>
          <a:bodyPr wrap="square" lIns="36576" rIns="36576" tIns="18288" bIns="18288">
            <a:spAutoFit/>
          </a:bodyPr>
          <a:lstStyle/>
          <a:p>
            <a:pPr algn="l"/>
            <a:r>
              <a:rPr sz="850" b="0" i="0">
                <a:solidFill>
                  <a:srgbClr val="1E293B"/>
                </a:solidFill>
                <a:latin typeface="Calibri"/>
              </a:rPr>
              <a:t/>
            </a:r>
          </a:p>
        </p:txBody>
      </p:sp>
      <p:sp>
        <p:nvSpPr>
          <p:cNvPr id="40" name="Rectangle 39"/>
          <p:cNvSpPr/>
          <p:nvPr/>
        </p:nvSpPr>
        <p:spPr>
          <a:xfrm>
            <a:off x="320040" y="2414016"/>
            <a:ext cx="292608"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12647" y="2414016"/>
            <a:ext cx="173736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2350008" y="2414016"/>
            <a:ext cx="393192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81927" y="2414016"/>
            <a:ext cx="150876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90688" y="2414016"/>
            <a:ext cx="100584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56615" y="2505456"/>
            <a:ext cx="219456" cy="201168"/>
          </a:xfrm>
          <a:prstGeom prst="rect">
            <a:avLst/>
          </a:prstGeom>
          <a:noFill/>
        </p:spPr>
        <p:txBody>
          <a:bodyPr wrap="square" lIns="36576" rIns="36576" tIns="18288" bIns="18288">
            <a:spAutoFit/>
          </a:bodyPr>
          <a:lstStyle/>
          <a:p>
            <a:pPr algn="l"/>
            <a:r>
              <a:rPr sz="900" b="1" i="0">
                <a:solidFill>
                  <a:srgbClr val="14B8A6"/>
                </a:solidFill>
                <a:latin typeface="Calibri"/>
              </a:rPr>
              <a:t>#4</a:t>
            </a:r>
          </a:p>
        </p:txBody>
      </p:sp>
      <p:sp>
        <p:nvSpPr>
          <p:cNvPr id="46" name="TextBox 45"/>
          <p:cNvSpPr txBox="1"/>
          <p:nvPr/>
        </p:nvSpPr>
        <p:spPr>
          <a:xfrm>
            <a:off x="658368" y="2487168"/>
            <a:ext cx="1645919" cy="274320"/>
          </a:xfrm>
          <a:prstGeom prst="rect">
            <a:avLst/>
          </a:prstGeom>
          <a:noFill/>
        </p:spPr>
        <p:txBody>
          <a:bodyPr wrap="square" lIns="36576" rIns="36576" tIns="18288" bIns="18288">
            <a:spAutoFit/>
          </a:bodyPr>
          <a:lstStyle/>
          <a:p>
            <a:pPr algn="l"/>
            <a:r>
              <a:rPr sz="850" b="1" i="0">
                <a:solidFill>
                  <a:srgbClr val="1E293B"/>
                </a:solidFill>
                <a:latin typeface="Calibri"/>
              </a:rPr>
              <a:t>VA-Now Assist integration decision</a:t>
            </a:r>
          </a:p>
        </p:txBody>
      </p:sp>
      <p:sp>
        <p:nvSpPr>
          <p:cNvPr id="47" name="TextBox 46"/>
          <p:cNvSpPr txBox="1"/>
          <p:nvPr/>
        </p:nvSpPr>
        <p:spPr>
          <a:xfrm>
            <a:off x="2395727" y="2487168"/>
            <a:ext cx="3840480" cy="274320"/>
          </a:xfrm>
          <a:prstGeom prst="rect">
            <a:avLst/>
          </a:prstGeom>
          <a:noFill/>
        </p:spPr>
        <p:txBody>
          <a:bodyPr wrap="square" lIns="36576" rIns="36576" tIns="18288" bIns="18288">
            <a:spAutoFit/>
          </a:bodyPr>
          <a:lstStyle/>
          <a:p>
            <a:pPr algn="l"/>
            <a:r>
              <a:rPr sz="850" b="0" i="0">
                <a:solidFill>
                  <a:srgbClr val="1E293B"/>
                </a:solidFill>
                <a:latin typeface="Calibri"/>
              </a:rPr>
              <a:t/>
            </a:r>
          </a:p>
        </p:txBody>
      </p:sp>
      <p:sp>
        <p:nvSpPr>
          <p:cNvPr id="48" name="Rectangle 47"/>
          <p:cNvSpPr/>
          <p:nvPr/>
        </p:nvSpPr>
        <p:spPr>
          <a:xfrm>
            <a:off x="320040" y="2779776"/>
            <a:ext cx="292608"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612647" y="2779776"/>
            <a:ext cx="173736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350008" y="2779776"/>
            <a:ext cx="393192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281927" y="2779776"/>
            <a:ext cx="150876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7790688" y="2779776"/>
            <a:ext cx="100584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56615" y="2871216"/>
            <a:ext cx="219456" cy="201168"/>
          </a:xfrm>
          <a:prstGeom prst="rect">
            <a:avLst/>
          </a:prstGeom>
          <a:noFill/>
        </p:spPr>
        <p:txBody>
          <a:bodyPr wrap="square" lIns="36576" rIns="36576" tIns="18288" bIns="18288">
            <a:spAutoFit/>
          </a:bodyPr>
          <a:lstStyle/>
          <a:p>
            <a:pPr algn="l"/>
            <a:r>
              <a:rPr sz="900" b="1" i="0">
                <a:solidFill>
                  <a:srgbClr val="14B8A6"/>
                </a:solidFill>
                <a:latin typeface="Calibri"/>
              </a:rPr>
              <a:t>#5</a:t>
            </a:r>
          </a:p>
        </p:txBody>
      </p:sp>
      <p:sp>
        <p:nvSpPr>
          <p:cNvPr id="54" name="TextBox 53"/>
          <p:cNvSpPr txBox="1"/>
          <p:nvPr/>
        </p:nvSpPr>
        <p:spPr>
          <a:xfrm>
            <a:off x="658368" y="2852928"/>
            <a:ext cx="1645919" cy="274320"/>
          </a:xfrm>
          <a:prstGeom prst="rect">
            <a:avLst/>
          </a:prstGeom>
          <a:noFill/>
        </p:spPr>
        <p:txBody>
          <a:bodyPr wrap="square" lIns="36576" rIns="36576" tIns="18288" bIns="18288">
            <a:spAutoFit/>
          </a:bodyPr>
          <a:lstStyle/>
          <a:p>
            <a:pPr algn="l"/>
            <a:r>
              <a:rPr sz="850" b="1" i="0">
                <a:solidFill>
                  <a:srgbClr val="1E293B"/>
                </a:solidFill>
                <a:latin typeface="Calibri"/>
              </a:rPr>
              <a:t>Prompt ownership</a:t>
            </a:r>
          </a:p>
        </p:txBody>
      </p:sp>
      <p:sp>
        <p:nvSpPr>
          <p:cNvPr id="55" name="TextBox 54"/>
          <p:cNvSpPr txBox="1"/>
          <p:nvPr/>
        </p:nvSpPr>
        <p:spPr>
          <a:xfrm>
            <a:off x="2395727" y="2852928"/>
            <a:ext cx="3840480" cy="274320"/>
          </a:xfrm>
          <a:prstGeom prst="rect">
            <a:avLst/>
          </a:prstGeom>
          <a:noFill/>
        </p:spPr>
        <p:txBody>
          <a:bodyPr wrap="square" lIns="36576" rIns="36576" tIns="18288" bIns="18288">
            <a:spAutoFit/>
          </a:bodyPr>
          <a:lstStyle/>
          <a:p>
            <a:pPr algn="l"/>
            <a:r>
              <a:rPr sz="850" b="0" i="0">
                <a:solidFill>
                  <a:srgbClr val="1E293B"/>
                </a:solidFill>
                <a:latin typeface="Calibri"/>
              </a:rPr>
              <a:t/>
            </a:r>
          </a:p>
        </p:txBody>
      </p:sp>
      <p:sp>
        <p:nvSpPr>
          <p:cNvPr id="56" name="Rectangle 55"/>
          <p:cNvSpPr/>
          <p:nvPr/>
        </p:nvSpPr>
        <p:spPr>
          <a:xfrm>
            <a:off x="320040" y="3145536"/>
            <a:ext cx="292608"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612647" y="3145536"/>
            <a:ext cx="173736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2350008" y="3145536"/>
            <a:ext cx="393192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6281927" y="3145536"/>
            <a:ext cx="150876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7790688" y="3145536"/>
            <a:ext cx="1005840" cy="3657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56615" y="3236976"/>
            <a:ext cx="219456" cy="201168"/>
          </a:xfrm>
          <a:prstGeom prst="rect">
            <a:avLst/>
          </a:prstGeom>
          <a:noFill/>
        </p:spPr>
        <p:txBody>
          <a:bodyPr wrap="square" lIns="36576" rIns="36576" tIns="18288" bIns="18288">
            <a:spAutoFit/>
          </a:bodyPr>
          <a:lstStyle/>
          <a:p>
            <a:pPr algn="l"/>
            <a:r>
              <a:rPr sz="900" b="1" i="0">
                <a:solidFill>
                  <a:srgbClr val="14B8A6"/>
                </a:solidFill>
                <a:latin typeface="Calibri"/>
              </a:rPr>
              <a:t>#6</a:t>
            </a:r>
          </a:p>
        </p:txBody>
      </p:sp>
      <p:sp>
        <p:nvSpPr>
          <p:cNvPr id="62" name="TextBox 61"/>
          <p:cNvSpPr txBox="1"/>
          <p:nvPr/>
        </p:nvSpPr>
        <p:spPr>
          <a:xfrm>
            <a:off x="658368" y="3218688"/>
            <a:ext cx="1645919" cy="274320"/>
          </a:xfrm>
          <a:prstGeom prst="rect">
            <a:avLst/>
          </a:prstGeom>
          <a:noFill/>
        </p:spPr>
        <p:txBody>
          <a:bodyPr wrap="square" lIns="36576" rIns="36576" tIns="18288" bIns="18288">
            <a:spAutoFit/>
          </a:bodyPr>
          <a:lstStyle/>
          <a:p>
            <a:pPr algn="l"/>
            <a:r>
              <a:rPr sz="850" b="1" i="0">
                <a:solidFill>
                  <a:srgbClr val="1E293B"/>
                </a:solidFill>
                <a:latin typeface="Calibri"/>
              </a:rPr>
              <a:t>Now Assist governance model</a:t>
            </a:r>
          </a:p>
        </p:txBody>
      </p:sp>
      <p:sp>
        <p:nvSpPr>
          <p:cNvPr id="63" name="TextBox 62"/>
          <p:cNvSpPr txBox="1"/>
          <p:nvPr/>
        </p:nvSpPr>
        <p:spPr>
          <a:xfrm>
            <a:off x="2395727" y="3218688"/>
            <a:ext cx="3840480" cy="274320"/>
          </a:xfrm>
          <a:prstGeom prst="rect">
            <a:avLst/>
          </a:prstGeom>
          <a:noFill/>
        </p:spPr>
        <p:txBody>
          <a:bodyPr wrap="square" lIns="36576" rIns="36576" tIns="18288" bIns="18288">
            <a:spAutoFit/>
          </a:bodyPr>
          <a:lstStyle/>
          <a:p>
            <a:pPr algn="l"/>
            <a:r>
              <a:rPr sz="850" b="0" i="0">
                <a:solidFill>
                  <a:srgbClr val="1E293B"/>
                </a:solidFill>
                <a:latin typeface="Calibri"/>
              </a:rPr>
              <a:t/>
            </a:r>
          </a:p>
        </p:txBody>
      </p:sp>
      <p:sp>
        <p:nvSpPr>
          <p:cNvPr id="64" name="Rectangle 63"/>
          <p:cNvSpPr/>
          <p:nvPr/>
        </p:nvSpPr>
        <p:spPr>
          <a:xfrm>
            <a:off x="320040" y="3511296"/>
            <a:ext cx="292608"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612647" y="3511296"/>
            <a:ext cx="173736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2350008" y="3511296"/>
            <a:ext cx="393192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6281927" y="3511296"/>
            <a:ext cx="150876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7790688" y="3511296"/>
            <a:ext cx="1005840" cy="36576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356615" y="3602736"/>
            <a:ext cx="219456" cy="201168"/>
          </a:xfrm>
          <a:prstGeom prst="rect">
            <a:avLst/>
          </a:prstGeom>
          <a:noFill/>
        </p:spPr>
        <p:txBody>
          <a:bodyPr wrap="square" lIns="36576" rIns="36576" tIns="18288" bIns="18288">
            <a:spAutoFit/>
          </a:bodyPr>
          <a:lstStyle/>
          <a:p>
            <a:pPr algn="l"/>
            <a:r>
              <a:rPr sz="900" b="1" i="0">
                <a:solidFill>
                  <a:srgbClr val="14B8A6"/>
                </a:solidFill>
                <a:latin typeface="Calibri"/>
              </a:rPr>
              <a:t>#7</a:t>
            </a:r>
          </a:p>
        </p:txBody>
      </p:sp>
      <p:sp>
        <p:nvSpPr>
          <p:cNvPr id="70" name="TextBox 69"/>
          <p:cNvSpPr txBox="1"/>
          <p:nvPr/>
        </p:nvSpPr>
        <p:spPr>
          <a:xfrm>
            <a:off x="658368" y="3584448"/>
            <a:ext cx="1645919" cy="274320"/>
          </a:xfrm>
          <a:prstGeom prst="rect">
            <a:avLst/>
          </a:prstGeom>
          <a:noFill/>
        </p:spPr>
        <p:txBody>
          <a:bodyPr wrap="square" lIns="36576" rIns="36576" tIns="18288" bIns="18288">
            <a:spAutoFit/>
          </a:bodyPr>
          <a:lstStyle/>
          <a:p>
            <a:pPr algn="l"/>
            <a:r>
              <a:rPr sz="850" b="1" i="0">
                <a:solidFill>
                  <a:srgbClr val="1E293B"/>
                </a:solidFill>
                <a:latin typeface="Calibri"/>
              </a:rPr>
              <a:t>Training and change management plan</a:t>
            </a:r>
          </a:p>
        </p:txBody>
      </p:sp>
      <p:sp>
        <p:nvSpPr>
          <p:cNvPr id="71" name="TextBox 70"/>
          <p:cNvSpPr txBox="1"/>
          <p:nvPr/>
        </p:nvSpPr>
        <p:spPr>
          <a:xfrm>
            <a:off x="2395727" y="3584448"/>
            <a:ext cx="3840480" cy="274320"/>
          </a:xfrm>
          <a:prstGeom prst="rect">
            <a:avLst/>
          </a:prstGeom>
          <a:noFill/>
        </p:spPr>
        <p:txBody>
          <a:bodyPr wrap="square" lIns="36576" rIns="36576" tIns="18288" bIns="18288">
            <a:spAutoFit/>
          </a:bodyPr>
          <a:lstStyle/>
          <a:p>
            <a:pPr algn="l"/>
            <a:r>
              <a:rPr sz="850" b="0" i="0">
                <a:solidFill>
                  <a:srgbClr val="1E293B"/>
                </a:solidFill>
                <a:latin typeface="Calibri"/>
              </a:rPr>
              <a:t/>
            </a:r>
          </a:p>
        </p:txBody>
      </p:sp>
      <p:sp>
        <p:nvSpPr>
          <p:cNvPr id="72" name="Rectangle 71"/>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74" name="TextBox 73"/>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NOW ASSIST / GEN AI</a:t>
            </a:r>
          </a:p>
        </p:txBody>
      </p:sp>
      <p:sp>
        <p:nvSpPr>
          <p:cNvPr id="75" name="TextBox 74"/>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3" name="TextBox 2"/>
          <p:cNvSpPr txBox="1"/>
          <p:nvPr/>
        </p:nvSpPr>
        <p:spPr>
          <a:xfrm>
            <a:off x="347472" y="164592"/>
            <a:ext cx="4572000" cy="201168"/>
          </a:xfrm>
          <a:prstGeom prst="rect">
            <a:avLst/>
          </a:prstGeom>
          <a:noFill/>
        </p:spPr>
        <p:txBody>
          <a:bodyPr wrap="square" lIns="36576" rIns="36576" tIns="18288" bIns="18288">
            <a:spAutoFit/>
          </a:bodyPr>
          <a:lstStyle/>
          <a:p>
            <a:pPr algn="l"/>
            <a:r>
              <a:rPr sz="800" b="1" i="0">
                <a:solidFill>
                  <a:srgbClr val="14B8A6"/>
                </a:solidFill>
                <a:latin typeface="Calibri"/>
              </a:rPr>
              <a:t>N E X T  S T E P S</a:t>
            </a:r>
          </a:p>
        </p:txBody>
      </p:sp>
      <p:sp>
        <p:nvSpPr>
          <p:cNvPr id="4" name="TextBox 3"/>
          <p:cNvSpPr txBox="1"/>
          <p:nvPr/>
        </p:nvSpPr>
        <p:spPr>
          <a:xfrm>
            <a:off x="320040" y="384048"/>
            <a:ext cx="7772400" cy="685800"/>
          </a:xfrm>
          <a:prstGeom prst="rect">
            <a:avLst/>
          </a:prstGeom>
          <a:noFill/>
        </p:spPr>
        <p:txBody>
          <a:bodyPr wrap="square" lIns="36576" rIns="36576" tIns="18288" bIns="18288">
            <a:spAutoFit/>
          </a:bodyPr>
          <a:lstStyle/>
          <a:p>
            <a:pPr algn="l"/>
            <a:r>
              <a:rPr sz="2400" b="1" i="0">
                <a:solidFill>
                  <a:srgbClr val="0B1F3A"/>
                </a:solidFill>
                <a:latin typeface="Calibri"/>
              </a:rPr>
              <a:t>What Happens After This Workshop</a:t>
            </a:r>
          </a:p>
        </p:txBody>
      </p:sp>
      <p:sp>
        <p:nvSpPr>
          <p:cNvPr id="5" name="Rectangle 4"/>
          <p:cNvSpPr/>
          <p:nvPr/>
        </p:nvSpPr>
        <p:spPr>
          <a:xfrm>
            <a:off x="320040" y="987552"/>
            <a:ext cx="8503920" cy="1645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51560"/>
            <a:ext cx="4114800" cy="12801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 y="1051560"/>
            <a:ext cx="310896" cy="31089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1051560"/>
            <a:ext cx="310896" cy="310896"/>
          </a:xfrm>
          <a:prstGeom prst="rect">
            <a:avLst/>
          </a:prstGeom>
          <a:noFill/>
        </p:spPr>
        <p:txBody>
          <a:bodyPr wrap="square" lIns="36576" rIns="36576" tIns="18288" bIns="18288">
            <a:spAutoFit/>
          </a:bodyPr>
          <a:lstStyle/>
          <a:p>
            <a:pPr algn="ctr"/>
            <a:r>
              <a:rPr sz="1200" b="1" i="0">
                <a:solidFill>
                  <a:srgbClr val="FFFFFF"/>
                </a:solidFill>
                <a:latin typeface="Calibri"/>
              </a:rPr>
              <a:t>1</a:t>
            </a:r>
          </a:p>
        </p:txBody>
      </p:sp>
      <p:sp>
        <p:nvSpPr>
          <p:cNvPr id="9" name="TextBox 8"/>
          <p:cNvSpPr txBox="1"/>
          <p:nvPr/>
        </p:nvSpPr>
        <p:spPr>
          <a:xfrm>
            <a:off x="704088" y="1088136"/>
            <a:ext cx="3657600" cy="274320"/>
          </a:xfrm>
          <a:prstGeom prst="rect">
            <a:avLst/>
          </a:prstGeom>
          <a:noFill/>
        </p:spPr>
        <p:txBody>
          <a:bodyPr wrap="square" lIns="36576" rIns="36576" tIns="18288" bIns="18288">
            <a:spAutoFit/>
          </a:bodyPr>
          <a:lstStyle/>
          <a:p>
            <a:pPr algn="l"/>
            <a:r>
              <a:rPr sz="1100" b="1" i="0">
                <a:solidFill>
                  <a:srgbClr val="0B1F3A"/>
                </a:solidFill>
                <a:latin typeface="Calibri"/>
              </a:rPr>
              <a:t>Security Review</a:t>
            </a:r>
          </a:p>
        </p:txBody>
      </p:sp>
      <p:sp>
        <p:nvSpPr>
          <p:cNvPr id="10" name="TextBox 9"/>
          <p:cNvSpPr txBox="1"/>
          <p:nvPr/>
        </p:nvSpPr>
        <p:spPr>
          <a:xfrm>
            <a:off x="411479" y="1380743"/>
            <a:ext cx="3931920" cy="896112"/>
          </a:xfrm>
          <a:prstGeom prst="rect">
            <a:avLst/>
          </a:prstGeom>
          <a:noFill/>
        </p:spPr>
        <p:txBody>
          <a:bodyPr wrap="square" lIns="36576" rIns="36576" tIns="18288" bIns="18288">
            <a:spAutoFit/>
          </a:bodyPr>
          <a:lstStyle/>
          <a:p>
            <a:pPr algn="l"/>
            <a:r>
              <a:rPr sz="900" b="0" i="0">
                <a:solidFill>
                  <a:srgbClr val="1E293B"/>
                </a:solidFill>
                <a:latin typeface="Calibri"/>
              </a:rPr>
              <a:t>If external LLM is under consideration, initiate IT security review before Sprint 5. Now LLM requires no additional review.</a:t>
            </a:r>
          </a:p>
        </p:txBody>
      </p:sp>
      <p:sp>
        <p:nvSpPr>
          <p:cNvPr id="11" name="Rectangle 10"/>
          <p:cNvSpPr/>
          <p:nvPr/>
        </p:nvSpPr>
        <p:spPr>
          <a:xfrm>
            <a:off x="4636007" y="1051560"/>
            <a:ext cx="4114800" cy="12801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636007" y="1051560"/>
            <a:ext cx="310896" cy="31089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36007" y="1051560"/>
            <a:ext cx="310896" cy="310896"/>
          </a:xfrm>
          <a:prstGeom prst="rect">
            <a:avLst/>
          </a:prstGeom>
          <a:noFill/>
        </p:spPr>
        <p:txBody>
          <a:bodyPr wrap="square" lIns="36576" rIns="36576" tIns="18288" bIns="18288">
            <a:spAutoFit/>
          </a:bodyPr>
          <a:lstStyle/>
          <a:p>
            <a:pPr algn="ctr"/>
            <a:r>
              <a:rPr sz="1200" b="1" i="0">
                <a:solidFill>
                  <a:srgbClr val="FFFFFF"/>
                </a:solidFill>
                <a:latin typeface="Calibri"/>
              </a:rPr>
              <a:t>2</a:t>
            </a:r>
          </a:p>
        </p:txBody>
      </p:sp>
      <p:sp>
        <p:nvSpPr>
          <p:cNvPr id="14" name="TextBox 13"/>
          <p:cNvSpPr txBox="1"/>
          <p:nvPr/>
        </p:nvSpPr>
        <p:spPr>
          <a:xfrm>
            <a:off x="5020055" y="1088136"/>
            <a:ext cx="3657600" cy="274320"/>
          </a:xfrm>
          <a:prstGeom prst="rect">
            <a:avLst/>
          </a:prstGeom>
          <a:noFill/>
        </p:spPr>
        <p:txBody>
          <a:bodyPr wrap="square" lIns="36576" rIns="36576" tIns="18288" bIns="18288">
            <a:spAutoFit/>
          </a:bodyPr>
          <a:lstStyle/>
          <a:p>
            <a:pPr algn="l"/>
            <a:r>
              <a:rPr sz="1100" b="1" i="0">
                <a:solidFill>
                  <a:srgbClr val="0B1F3A"/>
                </a:solidFill>
                <a:latin typeface="Calibri"/>
              </a:rPr>
              <a:t>Guardrail Session</a:t>
            </a:r>
          </a:p>
        </p:txBody>
      </p:sp>
      <p:sp>
        <p:nvSpPr>
          <p:cNvPr id="15" name="TextBox 14"/>
          <p:cNvSpPr txBox="1"/>
          <p:nvPr/>
        </p:nvSpPr>
        <p:spPr>
          <a:xfrm>
            <a:off x="4727447" y="1380743"/>
            <a:ext cx="3931920" cy="896112"/>
          </a:xfrm>
          <a:prstGeom prst="rect">
            <a:avLst/>
          </a:prstGeom>
          <a:noFill/>
        </p:spPr>
        <p:txBody>
          <a:bodyPr wrap="square" lIns="36576" rIns="36576" tIns="18288" bIns="18288">
            <a:spAutoFit/>
          </a:bodyPr>
          <a:lstStyle/>
          <a:p>
            <a:pPr algn="l"/>
            <a:r>
              <a:rPr sz="900" b="0" i="0">
                <a:solidFill>
                  <a:srgbClr val="1E293B"/>
                </a:solidFill>
                <a:latin typeface="Calibri"/>
              </a:rPr>
              <a:t>Schedule 30-minute session with IT security and compliance before Sprint 5 go-live to define guardrail settings.</a:t>
            </a:r>
          </a:p>
        </p:txBody>
      </p:sp>
      <p:sp>
        <p:nvSpPr>
          <p:cNvPr id="16" name="Rectangle 15"/>
          <p:cNvSpPr/>
          <p:nvPr/>
        </p:nvSpPr>
        <p:spPr>
          <a:xfrm>
            <a:off x="320040" y="2468880"/>
            <a:ext cx="4114800" cy="12801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0040" y="2468880"/>
            <a:ext cx="310896" cy="31089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0040" y="2468880"/>
            <a:ext cx="310896" cy="310896"/>
          </a:xfrm>
          <a:prstGeom prst="rect">
            <a:avLst/>
          </a:prstGeom>
          <a:noFill/>
        </p:spPr>
        <p:txBody>
          <a:bodyPr wrap="square" lIns="36576" rIns="36576" tIns="18288" bIns="18288">
            <a:spAutoFit/>
          </a:bodyPr>
          <a:lstStyle/>
          <a:p>
            <a:pPr algn="ctr"/>
            <a:r>
              <a:rPr sz="1200" b="1" i="0">
                <a:solidFill>
                  <a:srgbClr val="FFFFFF"/>
                </a:solidFill>
                <a:latin typeface="Calibri"/>
              </a:rPr>
              <a:t>3</a:t>
            </a:r>
          </a:p>
        </p:txBody>
      </p:sp>
      <p:sp>
        <p:nvSpPr>
          <p:cNvPr id="19" name="TextBox 18"/>
          <p:cNvSpPr txBox="1"/>
          <p:nvPr/>
        </p:nvSpPr>
        <p:spPr>
          <a:xfrm>
            <a:off x="704088" y="2505456"/>
            <a:ext cx="3657600" cy="274320"/>
          </a:xfrm>
          <a:prstGeom prst="rect">
            <a:avLst/>
          </a:prstGeom>
          <a:noFill/>
        </p:spPr>
        <p:txBody>
          <a:bodyPr wrap="square" lIns="36576" rIns="36576" tIns="18288" bIns="18288">
            <a:spAutoFit/>
          </a:bodyPr>
          <a:lstStyle/>
          <a:p>
            <a:pPr algn="l"/>
            <a:r>
              <a:rPr sz="1100" b="1" i="0">
                <a:solidFill>
                  <a:srgbClr val="0B1F3A"/>
                </a:solidFill>
                <a:latin typeface="Calibri"/>
              </a:rPr>
              <a:t>Pilot Group</a:t>
            </a:r>
          </a:p>
        </p:txBody>
      </p:sp>
      <p:sp>
        <p:nvSpPr>
          <p:cNvPr id="20" name="TextBox 19"/>
          <p:cNvSpPr txBox="1"/>
          <p:nvPr/>
        </p:nvSpPr>
        <p:spPr>
          <a:xfrm>
            <a:off x="411479" y="2798064"/>
            <a:ext cx="3931920" cy="896112"/>
          </a:xfrm>
          <a:prstGeom prst="rect">
            <a:avLst/>
          </a:prstGeom>
          <a:noFill/>
        </p:spPr>
        <p:txBody>
          <a:bodyPr wrap="square" lIns="36576" rIns="36576" tIns="18288" bIns="18288">
            <a:spAutoFit/>
          </a:bodyPr>
          <a:lstStyle/>
          <a:p>
            <a:pPr algn="l"/>
            <a:r>
              <a:rPr sz="900" b="0" i="0">
                <a:solidFill>
                  <a:srgbClr val="1E293B"/>
                </a:solidFill>
                <a:latin typeface="Calibri"/>
              </a:rPr>
              <a:t>Identify 5-10 service desk agents for the Now Assist pilot in Sprint 6. They will be the trainers for the broader rollout.</a:t>
            </a:r>
          </a:p>
        </p:txBody>
      </p:sp>
      <p:sp>
        <p:nvSpPr>
          <p:cNvPr id="21" name="Rectangle 20"/>
          <p:cNvSpPr/>
          <p:nvPr/>
        </p:nvSpPr>
        <p:spPr>
          <a:xfrm>
            <a:off x="4636007" y="2468880"/>
            <a:ext cx="4114800" cy="12801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636007" y="2468880"/>
            <a:ext cx="310896" cy="31089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36007" y="2468880"/>
            <a:ext cx="310896" cy="310896"/>
          </a:xfrm>
          <a:prstGeom prst="rect">
            <a:avLst/>
          </a:prstGeom>
          <a:noFill/>
        </p:spPr>
        <p:txBody>
          <a:bodyPr wrap="square" lIns="36576" rIns="36576" tIns="18288" bIns="18288">
            <a:spAutoFit/>
          </a:bodyPr>
          <a:lstStyle/>
          <a:p>
            <a:pPr algn="ctr"/>
            <a:r>
              <a:rPr sz="1200" b="1" i="0">
                <a:solidFill>
                  <a:srgbClr val="FFFFFF"/>
                </a:solidFill>
                <a:latin typeface="Calibri"/>
              </a:rPr>
              <a:t>4</a:t>
            </a:r>
          </a:p>
        </p:txBody>
      </p:sp>
      <p:sp>
        <p:nvSpPr>
          <p:cNvPr id="24" name="TextBox 23"/>
          <p:cNvSpPr txBox="1"/>
          <p:nvPr/>
        </p:nvSpPr>
        <p:spPr>
          <a:xfrm>
            <a:off x="5020055" y="2505456"/>
            <a:ext cx="3657600" cy="274320"/>
          </a:xfrm>
          <a:prstGeom prst="rect">
            <a:avLst/>
          </a:prstGeom>
          <a:noFill/>
        </p:spPr>
        <p:txBody>
          <a:bodyPr wrap="square" lIns="36576" rIns="36576" tIns="18288" bIns="18288">
            <a:spAutoFit/>
          </a:bodyPr>
          <a:lstStyle/>
          <a:p>
            <a:pPr algn="l"/>
            <a:r>
              <a:rPr sz="1100" b="1" i="0">
                <a:solidFill>
                  <a:srgbClr val="0B1F3A"/>
                </a:solidFill>
                <a:latin typeface="Calibri"/>
              </a:rPr>
              <a:t>Prompt Owner</a:t>
            </a:r>
          </a:p>
        </p:txBody>
      </p:sp>
      <p:sp>
        <p:nvSpPr>
          <p:cNvPr id="25" name="TextBox 24"/>
          <p:cNvSpPr txBox="1"/>
          <p:nvPr/>
        </p:nvSpPr>
        <p:spPr>
          <a:xfrm>
            <a:off x="4727447" y="2798064"/>
            <a:ext cx="3931920" cy="896112"/>
          </a:xfrm>
          <a:prstGeom prst="rect">
            <a:avLst/>
          </a:prstGeom>
          <a:noFill/>
        </p:spPr>
        <p:txBody>
          <a:bodyPr wrap="square" lIns="36576" rIns="36576" tIns="18288" bIns="18288">
            <a:spAutoFit/>
          </a:bodyPr>
          <a:lstStyle/>
          <a:p>
            <a:pPr algn="l"/>
            <a:r>
              <a:rPr sz="900" b="0" i="0">
                <a:solidFill>
                  <a:srgbClr val="1E293B"/>
                </a:solidFill>
                <a:latin typeface="Calibri"/>
              </a:rPr>
              <a:t>Identify the named prompt owner. Brief them on the Now Assist Admin Center before Sprint 5 activation.</a:t>
            </a:r>
          </a:p>
        </p:txBody>
      </p:sp>
      <p:sp>
        <p:nvSpPr>
          <p:cNvPr id="26" name="Rectangle 25"/>
          <p:cNvSpPr/>
          <p:nvPr/>
        </p:nvSpPr>
        <p:spPr>
          <a:xfrm>
            <a:off x="320040" y="3886200"/>
            <a:ext cx="4114800" cy="128016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20040" y="3886200"/>
            <a:ext cx="310896" cy="31089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20040" y="3886200"/>
            <a:ext cx="310896" cy="310896"/>
          </a:xfrm>
          <a:prstGeom prst="rect">
            <a:avLst/>
          </a:prstGeom>
          <a:noFill/>
        </p:spPr>
        <p:txBody>
          <a:bodyPr wrap="square" lIns="36576" rIns="36576" tIns="18288" bIns="18288">
            <a:spAutoFit/>
          </a:bodyPr>
          <a:lstStyle/>
          <a:p>
            <a:pPr algn="ctr"/>
            <a:r>
              <a:rPr sz="1200" b="1" i="0">
                <a:solidFill>
                  <a:srgbClr val="FFFFFF"/>
                </a:solidFill>
                <a:latin typeface="Calibri"/>
              </a:rPr>
              <a:t>5</a:t>
            </a:r>
          </a:p>
        </p:txBody>
      </p:sp>
      <p:sp>
        <p:nvSpPr>
          <p:cNvPr id="29" name="TextBox 28"/>
          <p:cNvSpPr txBox="1"/>
          <p:nvPr/>
        </p:nvSpPr>
        <p:spPr>
          <a:xfrm>
            <a:off x="704088" y="3922776"/>
            <a:ext cx="3657600" cy="274320"/>
          </a:xfrm>
          <a:prstGeom prst="rect">
            <a:avLst/>
          </a:prstGeom>
          <a:noFill/>
        </p:spPr>
        <p:txBody>
          <a:bodyPr wrap="square" lIns="36576" rIns="36576" tIns="18288" bIns="18288">
            <a:spAutoFit/>
          </a:bodyPr>
          <a:lstStyle/>
          <a:p>
            <a:pPr algn="l"/>
            <a:r>
              <a:rPr sz="1100" b="1" i="0">
                <a:solidFill>
                  <a:srgbClr val="0B1F3A"/>
                </a:solidFill>
                <a:latin typeface="Calibri"/>
              </a:rPr>
              <a:t>AI Governance Check</a:t>
            </a:r>
          </a:p>
        </p:txBody>
      </p:sp>
      <p:sp>
        <p:nvSpPr>
          <p:cNvPr id="30" name="TextBox 29"/>
          <p:cNvSpPr txBox="1"/>
          <p:nvPr/>
        </p:nvSpPr>
        <p:spPr>
          <a:xfrm>
            <a:off x="411479" y="4215384"/>
            <a:ext cx="3931920" cy="896112"/>
          </a:xfrm>
          <a:prstGeom prst="rect">
            <a:avLst/>
          </a:prstGeom>
          <a:noFill/>
        </p:spPr>
        <p:txBody>
          <a:bodyPr wrap="square" lIns="36576" rIns="36576" tIns="18288" bIns="18288">
            <a:spAutoFit/>
          </a:bodyPr>
          <a:lstStyle/>
          <a:p>
            <a:pPr algn="l"/>
            <a:r>
              <a:rPr sz="900" b="0" i="0">
                <a:solidFill>
                  <a:srgbClr val="1E293B"/>
                </a:solidFill>
                <a:latin typeface="Calibri"/>
              </a:rPr>
              <a:t>Confirm whether the agency has an active AI governance policy or committee that Now Assist must be reported to. If yes, loop in before Sprint 5.</a:t>
            </a:r>
          </a:p>
        </p:txBody>
      </p:sp>
      <p:sp>
        <p:nvSpPr>
          <p:cNvPr id="31" name="Rectangle 30"/>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33" name="TextBox 32"/>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NOW ASSIST / GEN AI</a:t>
            </a:r>
          </a:p>
        </p:txBody>
      </p:sp>
      <p:sp>
        <p:nvSpPr>
          <p:cNvPr id="34" name="TextBox 33"/>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Rectangle 1"/>
          <p:cNvSpPr/>
          <p:nvPr/>
        </p:nvSpPr>
        <p:spPr>
          <a:xfrm>
            <a:off x="292608" y="1645920"/>
            <a:ext cx="64008" cy="155448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75488" y="1627632"/>
            <a:ext cx="6400800" cy="548640"/>
          </a:xfrm>
          <a:prstGeom prst="rect">
            <a:avLst/>
          </a:prstGeom>
          <a:noFill/>
        </p:spPr>
        <p:txBody>
          <a:bodyPr wrap="square" lIns="36576" rIns="36576" tIns="18288" bIns="18288">
            <a:spAutoFit/>
          </a:bodyPr>
          <a:lstStyle/>
          <a:p>
            <a:pPr algn="l"/>
            <a:r>
              <a:rPr sz="3200" b="1" i="0">
                <a:solidFill>
                  <a:srgbClr val="FFFFFF"/>
                </a:solidFill>
                <a:latin typeface="Calibri"/>
              </a:rPr>
              <a:t>Everforth ECS Federal</a:t>
            </a:r>
          </a:p>
        </p:txBody>
      </p:sp>
      <p:sp>
        <p:nvSpPr>
          <p:cNvPr id="4" name="TextBox 3"/>
          <p:cNvSpPr txBox="1"/>
          <p:nvPr/>
        </p:nvSpPr>
        <p:spPr>
          <a:xfrm>
            <a:off x="475488" y="2176272"/>
            <a:ext cx="6400800" cy="402336"/>
          </a:xfrm>
          <a:prstGeom prst="rect">
            <a:avLst/>
          </a:prstGeom>
          <a:noFill/>
        </p:spPr>
        <p:txBody>
          <a:bodyPr wrap="square" lIns="36576" rIns="36576" tIns="18288" bIns="18288">
            <a:spAutoFit/>
          </a:bodyPr>
          <a:lstStyle/>
          <a:p>
            <a:pPr algn="l"/>
            <a:r>
              <a:rPr sz="2000" b="0" i="0">
                <a:solidFill>
                  <a:srgbClr val="14B8A6"/>
                </a:solidFill>
                <a:latin typeface="Calibri"/>
              </a:rPr>
              <a:t>ServiceNow Practice</a:t>
            </a:r>
          </a:p>
        </p:txBody>
      </p:sp>
      <p:sp>
        <p:nvSpPr>
          <p:cNvPr id="5" name="TextBox 4"/>
          <p:cNvSpPr txBox="1"/>
          <p:nvPr/>
        </p:nvSpPr>
        <p:spPr>
          <a:xfrm>
            <a:off x="475488" y="2743200"/>
            <a:ext cx="7772400" cy="274320"/>
          </a:xfrm>
          <a:prstGeom prst="rect">
            <a:avLst/>
          </a:prstGeom>
          <a:noFill/>
        </p:spPr>
        <p:txBody>
          <a:bodyPr wrap="square" lIns="36576" rIns="36576" tIns="18288" bIns="18288">
            <a:spAutoFit/>
          </a:bodyPr>
          <a:lstStyle/>
          <a:p>
            <a:pPr algn="l"/>
            <a:r>
              <a:rPr sz="900" b="0" i="0">
                <a:solidFill>
                  <a:srgbClr val="94A3B8"/>
                </a:solidFill>
                <a:latin typeface="Calibri"/>
              </a:rPr>
              <a:t>SERVICENOW PRACTICE  ·  MODERNIZING THE CORE  ·  NOW ASSIST / GEN AI</a:t>
            </a:r>
          </a:p>
        </p:txBody>
      </p:sp>
      <p:pic>
        <p:nvPicPr>
          <p:cNvPr id="6" name="Picture 5" descr="everforth_logo.png"/>
          <p:cNvPicPr>
            <a:picLocks noChangeAspect="1"/>
          </p:cNvPicPr>
          <p:nvPr/>
        </p:nvPicPr>
        <p:blipFill>
          <a:blip r:embed="rId2"/>
          <a:stretch>
            <a:fillRect/>
          </a:stretch>
        </p:blipFill>
        <p:spPr>
          <a:xfrm>
            <a:off x="7909560" y="64008"/>
            <a:ext cx="1115568" cy="420624"/>
          </a:xfrm>
          <a:prstGeom prst="rect">
            <a:avLst/>
          </a:prstGeom>
        </p:spPr>
      </p:pic>
      <p:sp>
        <p:nvSpPr>
          <p:cNvPr id="7" name="Rectangle 6"/>
          <p:cNvSpPr/>
          <p:nvPr/>
        </p:nvSpPr>
        <p:spPr>
          <a:xfrm>
            <a:off x="0" y="4818888"/>
            <a:ext cx="9144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4846320"/>
            <a:ext cx="2011680" cy="182880"/>
          </a:xfrm>
          <a:prstGeom prst="rect">
            <a:avLst/>
          </a:prstGeom>
          <a:noFill/>
        </p:spPr>
        <p:txBody>
          <a:bodyPr wrap="square" lIns="36576" rIns="36576" tIns="18288" bIns="18288">
            <a:spAutoFit/>
          </a:bodyPr>
          <a:lstStyle/>
          <a:p>
            <a:pPr algn="l"/>
            <a:r>
              <a:rPr sz="700" b="0" i="0">
                <a:solidFill>
                  <a:srgbClr val="94A3B8"/>
                </a:solidFill>
                <a:latin typeface="Calibri"/>
              </a:rPr>
              <a:t>Everforth ECS Federal</a:t>
            </a:r>
          </a:p>
        </p:txBody>
      </p:sp>
      <p:sp>
        <p:nvSpPr>
          <p:cNvPr id="9" name="TextBox 8"/>
          <p:cNvSpPr txBox="1"/>
          <p:nvPr/>
        </p:nvSpPr>
        <p:spPr>
          <a:xfrm>
            <a:off x="2286000" y="4846320"/>
            <a:ext cx="5029200" cy="182880"/>
          </a:xfrm>
          <a:prstGeom prst="rect">
            <a:avLst/>
          </a:prstGeom>
          <a:noFill/>
        </p:spPr>
        <p:txBody>
          <a:bodyPr wrap="square" lIns="36576" rIns="36576" tIns="18288" bIns="18288">
            <a:spAutoFit/>
          </a:bodyPr>
          <a:lstStyle/>
          <a:p>
            <a:pPr algn="ctr"/>
            <a:r>
              <a:rPr sz="700" b="0" i="0">
                <a:solidFill>
                  <a:srgbClr val="94A3B8"/>
                </a:solidFill>
                <a:latin typeface="Calibri"/>
              </a:rPr>
              <a:t>SERVICENOW PRACTICE  ·  MODERNIZING THE CORE  ·  NOW ASSIST / GEN AI</a:t>
            </a:r>
          </a:p>
        </p:txBody>
      </p:sp>
      <p:sp>
        <p:nvSpPr>
          <p:cNvPr id="10" name="TextBox 9"/>
          <p:cNvSpPr txBox="1"/>
          <p:nvPr/>
        </p:nvSpPr>
        <p:spPr>
          <a:xfrm>
            <a:off x="8503920" y="4846320"/>
            <a:ext cx="365760" cy="182880"/>
          </a:xfrm>
          <a:prstGeom prst="rect">
            <a:avLst/>
          </a:prstGeom>
          <a:noFill/>
        </p:spPr>
        <p:txBody>
          <a:bodyPr wrap="square" lIns="36576" rIns="36576" tIns="18288" bIns="18288">
            <a:spAutoFit/>
          </a:bodyPr>
          <a:lstStyle/>
          <a:p>
            <a:pPr algn="r"/>
            <a:r>
              <a:rPr sz="700" b="0" i="0">
                <a:solidFill>
                  <a:srgbClr val="94A3B8"/>
                </a:solidFill>
                <a:latin typeface="Calibri"/>
              </a:rPr>
              <a:t>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