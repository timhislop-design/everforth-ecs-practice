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Foundation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the Data Foundation for AI Realization and Long-Term Value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PLATFORM FOUNDATION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PLATFORM FOUNDATION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7552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7552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6208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66560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66560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vs. customization — with examples relevant to Platform Foundation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87552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Platform Architecture Overview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strategy, environment plan, and the foundational data that powers every downstream sprint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36208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66560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#1–#8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66560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#1–#8  ·  Environment plan, user import, locations, groups, schedules, email, MID Server, health baseline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87552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87552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36208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766560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766560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Accelerator Pack workbook, Sprint 1 configuration build, instance access for the team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" y="4663440"/>
            <a:ext cx="112471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709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get made in this room. The OOTB recommendation is pre-populated. Your team's job is to confirm, adjust, or document the exception.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PLATFORM FOUNDATION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OOTB-First Means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288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the OOTB Platform Foundation capability — not the legacy system pattern.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features, setting values, building taxonomies, writing rules) is always available — it is how OOTB is tailored to your organization.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Protects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73368" y="182880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Predictive Intelligence, Now Assist, Virtual Agent — require clean OOTB-aligned data and process structures. Custom fields and non-standard models reduce AI accuracy or block activation entirely.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upgrade paths. Customizations break on upgrades. OOTB patterns survive upgrades automatically with no remediation cost.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elimination. The Governance Triage Log captures every exception — it is managed and addressed iteratively. Nothing is lost; everything is governed.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PLATFORM FOUNDATION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3931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2880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SMTP relay and configuring inbound email mailboxes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Defining business hour schedules and holiday calendars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Importing users and groups from Active Directory via LDAP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Building the location hierarchy (site → building → floor)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Creating department records and org-level groupings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Assigning OOTB roles (itil, admin, catalog_admin, asset)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Configuring the MID Server and deployment credentials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system properties for instance timezone and locale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CUSTOMIZATION  —  Requires business case &amp; Council sign-off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39319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73368" y="182880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Adding non-standard fields to the User or Group tables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Creating custom role definitions outside the OOTB role 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Scripting custom LDAP attribute transformations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Building custom scheduled jobs outside import sets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Modifying OOTB import transform maps in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Creating custom location hierarchy tables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5440680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48640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pattern requiring customization is captured in the Governance Triage Log with a named owner and disposition date — addressed in the current sprint via the Customization Council or deferred to a governed follow-on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PLATFORM FOUNDATION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Platform Foundation — Build Architecture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Provision Instance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18360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 Users &amp; Orgs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35552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 Groups &amp; Roles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52744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Foundation Data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869936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Prep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787128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 &amp; Baseline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Capabilities &amp; OOTB Features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&amp; Org Data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LDAP import syncs users, departments, and locations automatically. Scheduled import jobs keep data current throughout the engagement. No manual CSV uploads required.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20624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29768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Groups &amp; Roles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29768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role set covers all process areas. Assignment groups map to support teams. Group managers and escalation paths configured through the Group form — no scripting needed.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95528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04672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Readiness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04672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foundation data (users, locations, groups, CIs) directly enables Predictive Intelligence accuracy, Now Assist context, and Virtual Agent routing from Sprint 1 forward.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PLATFORM FOUNDATION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instance strategy — sub-production environments, naming, and data approach?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Environment Strategy: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instance + 1 sub-production (development/test). PDI (Personal Developer Instance) for consultant training and demo builds. Instance naming follows customer's standard — ECS recommends: [customer]-dev / [customer]-prod.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Strategy: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Sub-prod seeded from Foundation Data Pack imports. Production starts clean. No production data in dev — all foundation data loaded from accelerator pack workbooks.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Two-environment strategy matches OOTB-first execution model. Scope is controlled. UAT and go-live approvals are gated in the same instance that goes live.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Accept 2-environment strategy (dev + prod) — or is there a documented requirement for a separate UAT environment?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instance naming convention (URL, display name)?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are the named Instance Admins for each environment?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data-seeding approach for the dev environment — full Foundation Pack import or partial?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UAT environment is not OOTB-required and expands sprint scope. UAT can be run in the dev/test sub-prod instance against the Foundation Pack data — this is the OOTB recommended pattern.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PLATFORM FOUNDATION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users be imported — and what is the ongoing sync strategy?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LDAP Integration: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LDAP Integration connects to Active Directory / Entra ID. Users, email, department, manager, and title sync automatically. Scheduled import job runs on configurable interval (default: daily).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OUs in Scope: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filter defined by OU path — only include active employees in scope. Disabled accounts handled via HR Integrations or LDAP filter exclusion.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Mapping: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maps: name, email, title, department, manager, phone. Custom attributes require field mapping configuration — not scripting.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OUs / directory groups are in scope for the initial import?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import schedule — daily, twice-daily, or event-triggered?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Which LDAP attributes map to which ServiceNow user fields?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Active Directory on-prem, Entra ID (cloud), or hybrid? What is the LDAP/LDAPS endpoint?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LDAP transform scripts are not needed for 95%+ of deployments. If a required attribute is not in the OOTB field list, it is added via LDAP mapping configuration — not scripting.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PLATFORM FOUNDATION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location hierarchy — and how will it be loaded?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Location Structure: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Location table supports parent-child hierarchy. Recommended: Company → Site → Building → Floor. Location field is used on incidents, assets, CIs, and user records — powering location-based assignment rules and PA breakdowns.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Method: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Data Pack includes locations worksheet. Bulk import via Import Sets — no scripting. Updates handled by re-running import job.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data drives assignment rules, SLA schedules by timezone, and PA breakdowns by site. Clean location data from Sprint 1 prevents rework in every subsequent sprint.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How many location levels are needed (site / building / floor — or simpler)?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total site count at 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source of truth for location data (HR system, AD, spreadsheet)?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Are there multiple time zones — and do SLAs need per-timezone schedules?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3 levels of location hierarchy is rarely required in OOTB processes. If complex location logic is requested, evaluate whether PA breakdown (not table depth) is the real requirement.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PLATFORM FOUNDATION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groups and roles will be configured at go-live?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Role Set: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roles: itil (fulfiller), itil_admin (process admin), catalog_admin, asset, change_manager, approver_user. These cover all Sprint 1–6 processes without custom roles.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Groups: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group per support team. Group type = assignment. Group manager field drives escalation notifications. No scripting required to build or modify groups.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Assignment: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assigned via Group Membership — not individually per user. OOTB best practice. Predictive Intelligence trains on group-level assignment patterns.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support teams need assignment groups at go-live (names, managers, members)?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there approval groups (distinct from assignment groups)?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Which users need admin-level roles vs. fulfiller-level roles?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Are there vendor or external groups that need limited access?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roles are rarely justified in an OOTB-first model. If a requested capability is not covered by OOTB roles, evaluate whether it is a use-case gap (handled via Customization Council) or a misunderstanding of OOTB capability.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PLATFORM FOUNDATION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business hour schedules will be configured — and for which process areas?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Schedule Options: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Schedules support: 8×5, 8×7, 24×7, and custom windows. Multiple schedules active simultaneously — each SLA selects its schedule at the definition level.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Zone Support: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are timezone-aware. Multi-timezone organizations use one schedule per timezone. Holiday schedules are added as exclusions — OOTB, no scripting.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Setup: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P1/P2: 24×7 · P3: Business Hours (8×5) · P4/P5: Extended Business Hours (8×6). SLA attainment tracks separately per schedule — visible in PA immediately.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are the standard business hours (days and times, timezone)?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Does P1 require 24×7 coverage — or is it business hours only?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Are there multiple time zones requiring separate schedules?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holidays need to be excluded from SLA calculations?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schedule scripts are not needed. All schedule variations are handled via the OOTB Schedule and Schedule Span records. If a request requires scripted schedule logic, escalate to Customization Council.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PLATFORM FOUNDATION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email configuration — outbound relay and inbound mailboxes?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Email (SMTP):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connects to customer SMTP relay. No additional licensing. From address is configurable per notification. TLS/SSL supported OOTB.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Email Accounts: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inbound email action creates incidents from incoming email automatically. Supports POP3, IMAP, Exchange. Multiple mailboxes supported (one per process area if needed).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Templates: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OOTB notification templates are text-based and fully editable in the Notification UI. No scripting needed to change subject lines, body text, or recipient lists.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is the SMTP relay hostname, port, and authentication method?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'From' address for ServiceNow notifications?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inbound email address(es) will be active at go-live (e.g., ithelp@domain.com)?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Are there email relay security requirements (SPF, DKIM, IP allowlisting)?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scripting and custom flow triggers are not needed in OOTB. If a request requires conditional email logic, evaluate whether OOTB notification conditions (event filters, conditions on the notification record) cover the need before scripting.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PLATFORM FOUNDATION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MID Server deployment strategy — count, placement, and credentials?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MID Server Role: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Server bridges ServiceNow cloud and on-premise network. Required for: Discovery, LDAP, SCCM/Intune connectors, on-prem SMTP. Runs as a Windows or Linux service.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 MID Server per network segment requiring discovery. High-availability: 2 MID Servers in the same cluster — OOTB failover, no scripting.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Vault: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Server credentials stored in ServiceNow Credential store — encrypted, audited. Service account requires read access to network segments in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How many network segments require on-premise MID Server access?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Will MID Servers be Windows or Linux? What are the target host specifications?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service account will the MID Server use — and what AD permissions are required?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high-availability (2 MID Servers) required at go-live?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MID Servers per segment add complexity without adding capability for most deployments. Start with 1 per segment; scale to HA only if uptime SLA for discovery requires it.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PLATFORM FOUNDATION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the platform health baseline KPIs — and how will they be tracked?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Instance Health Checks: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provides OOTB system diagnostics: instance scan, upgrade monitor, and security center. These run without additional configuration.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Baseline Metrics: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Sprint 1 close: user import success rate, location record count and completeness, group membership completeness, MID Server status (green). These are the go/no-go gates for Sprint 2.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Foundation: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foundation indicators activate from Sprint 1 data. Sprint 6 builds on these baselines — clean Sprint 1 data is a prerequisite for meaningful Sprint 6 dashboards.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Who reviews the Sprint 1 health baseline before Sprint 2 begins?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minimum user import completeness % to proceed to Sprint 2?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is the named Instance Admin responsible for ongoing platform health?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escalation path if a foundational data issue is discovered mid-engagement?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health monitoring dashboards are not needed at Sprint 1. The OOTB System Diagnostics and import job logs provide sufficient health visibility during the foundation sprint.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 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PLATFORM FOUNDATION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PLATFORM FOUNDATION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Foundation — Decisions Made in This Workshop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3657600"/>
                <a:gridCol w="30175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/ 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 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 plan (dev/prod), naming convention, data seeding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Import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LDAP source, OUs in scope, sync schedule, field mapping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Hierarchy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Hierarchy depth, site count, source of truth, time zones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 &amp; Roles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 groups, role assignments, approval groups, vendor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Hour Schedules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windows, time zones, holiday exclusions, SLA priority mapping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Configuration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SMTP relay, From address, inbound mailboxes, security requirements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Server Deployment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Count, OS, network segments, service account, HA requirement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Baseline KPIs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Go/no-go criteria, named Instance Admin, escalation path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PLATFORM FOUNDATION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3327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Platform Foundation Accelerator Pack workbook. ECS pre-populates the ServiceNow Mapping tab with OOTB field-level configuration specs.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5196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5196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4340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7375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Configuration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8912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Configuration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38912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process in ServiceNow against the completed Accelerator Pack workbook. Customer SMEs validate configuration against agreed decisions.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9244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9244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71423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sprint demo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process in a live ServiceNow instance. Every decision from today is visible in the system.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5650992"/>
            <a:ext cx="1124712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569671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The workbook is the living record — decisions formally captured, configuration data collected, and customer sign-off obtained before sprint build begins.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PLATFORM FOUNDATION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64008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2697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close the decision log.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33756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8 decisions made — or does each open item have a named owner and a date?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Sprint 1 configuration begins?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1996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2026-05-12T05:27:10Z</dcterms:created>
  <dcterms:modified xsi:type="dcterms:W3CDTF">2026-05-12T05:27:10Z</dcterms:modified>
</cp:coreProperties>
</file>