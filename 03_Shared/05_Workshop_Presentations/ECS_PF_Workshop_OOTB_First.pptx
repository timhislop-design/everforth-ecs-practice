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1645920"/>
            <a:ext cx="64008" cy="15544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627632"/>
            <a:ext cx="6858000" cy="7498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Modernizing the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304288"/>
            <a:ext cx="7772400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4B8A6"/>
                </a:solidFill>
                <a:latin typeface="Calibri"/>
              </a:rPr>
              <a:t>Platform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2907792"/>
            <a:ext cx="685800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Ensuring AI Realization and Optimizing Long-Term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407408"/>
            <a:ext cx="54864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Calibri"/>
              </a:rPr>
              <a:t>Prepared by Everforth ECS Federal  ·  ServiceNow Practice  ·  Confidential</a:t>
            </a:r>
          </a:p>
        </p:txBody>
      </p:sp>
      <p:pic>
        <p:nvPicPr>
          <p:cNvPr id="7" name="Picture 6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PLATFORM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A G E N D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What We'll Cover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43000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1097280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The OOTB-First 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344168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Why this engagement commits to OOTB -- and what it means in the room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92807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938527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1892807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What a Customization Is (and Isnt)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2139696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Configuration vs. scripting -- with examples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688336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734056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" y="2688336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Platform Foundation Walkthrough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" y="2935224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Instance architecture, identity, MID Server, and AI readiness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1097280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1143000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5504" y="1097280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Key Decisions #1-#8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5504" y="1344168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Environments, AD/SSO, roles, MID Server, email, calendars, upgrade governance, AI readiness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1892807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1938527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5504" y="1892807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Decision Log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5504" y="2139696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Every decision is recorded before we leave this room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2688336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2734056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75504" y="2688336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What Comes Next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75504" y="2935224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Foundation Data Pack, instance setup sprint, AI plugin activation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529583"/>
            <a:ext cx="85039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611879"/>
            <a:ext cx="82296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0B1F3A"/>
                </a:solidFill>
                <a:latin typeface="Calibri"/>
              </a:rPr>
              <a:t>Ground rule: 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Decisions get made in this room. The OOTB recommendation is pre-populated. Your job is to confirm, adjust with rationale, or defer with a named owner and date.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PLATFORM FOUNDATION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T H E  A P P R O A C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OOTB-first is not a constraint — it is the AI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2743200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033271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What OOTB-First Means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35024"/>
            <a:ext cx="2743200" cy="3337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389888"/>
            <a:ext cx="2560320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Every platform decision starts with OOTB ServiceNow configuration -- not a custom integration pattern.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Configuration (AD/LDAP import, SSO, role assignment, MID Server deployment, email relay) is always available.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Customization (scripted provisioning, custom auth plugins, non-standard group schemas) requires Customization Council sign-off.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The 18-week engagement is scoped for OOTB platform execution. Custom identity integrations expand scope significantly.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31820" y="1024128"/>
            <a:ext cx="2743200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77540" y="1033271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What It Protects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31820" y="1335024"/>
            <a:ext cx="2743200" cy="3337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23260" y="1389888"/>
            <a:ext cx="2560320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AI features (PI, Now Assist, Virtual Agent) require OOTB-aligned user and group schemas. Custom fields on sys_user degrade AI model accuracy.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Upgrade continuity -- OOTB configurations survive upgrades automatically. Custom auth scripts and provisioning logic require manual remediation.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Delivery timeline -- OOTB platform setup completes in 1-2 weeks. Custom identity integrations insert unknown lead time.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Audit and compliance -- OOTB role inheritance and access controls are pre-documented for FedRAMP/FISMA review.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024128"/>
            <a:ext cx="2743200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033271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What It Enables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335024"/>
            <a:ext cx="2743200" cy="3337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1389888"/>
            <a:ext cx="2560320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PI training from Sprint 1 -- clean OOTB data structures enable Predictive Intelligence to begin learning from the first submitted ticket.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Now Assist user context -- OOTB user profiles surface relevant AI recommendations without custom personalization config.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PA user segmentation -- OOTB groups and roles enable Performance Analytics breakdowns without custom reporting.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Expansion (HRSD, GRC, SecOps) without re-architecting identity models -- OOTB schemas are designed for multi-domain growth.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PLATFORM FOUNDATION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T H E  L I N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What a customization is — and what it isn’t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160520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" y="1033271"/>
            <a:ext cx="4050791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CONFIGURATION  —  This is always available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16736"/>
            <a:ext cx="4160520" cy="33101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371600"/>
            <a:ext cx="3977639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Configuring sub-production and production instance environments (naming, access)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Setting up AD/LDAP integration via OOTB scheduled import and group sync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Configuring OOTB SAML 2.0 SSO with your IdP (Okta, Azure AD, ADFS, Ping)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Assigning OOTB platform roles via group membership (itil, admin, approver_user)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Deploying and configuring MID Server (properties, proxy, HA cluster)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Setting inbound email actions and outbound SMTP relay configuration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Defining business calendars, time zones, and holiday schedule records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Configuring system properties for PI plugin and Now Assist activation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Setting up update set governance and environment promotion process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Configuring instance branding (logo, banner, instance name)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024128"/>
            <a:ext cx="4160520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2583" y="1033271"/>
            <a:ext cx="4050791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CUSTOMIZATION  —  Requires Approval + Business Case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1316736"/>
            <a:ext cx="4160520" cy="33101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1371600"/>
            <a:ext cx="3977639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Scripted user provisioning logic beyond OOTB scheduled LDAP imports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Custom role hierarchies with scripted role inheritance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Custom authentication plugins beyond OOTB SAML/OpenID Connect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Scripted MID Server load balancing beyond OOTB cluster configuration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Custom email parsers extracting structured data from email body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Scripted calendar logic for complex rotating shifts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Full CSS/theme overrides beyond OOTB instance branding options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Scripted update set promotion pipelines (CI/CD integration)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Custom user attribute transforms on import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Scripted group sync logic beyond OOTB AD group mapping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645152"/>
            <a:ext cx="8503920" cy="1645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654296"/>
            <a:ext cx="82296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0B1F3A"/>
                </a:solidFill>
                <a:latin typeface="Calibri"/>
              </a:rPr>
              <a:t>The customization bar:  </a:t>
            </a:r>
            <a:r>
              <a:rPr sz="800" b="0" i="0">
                <a:solidFill>
                  <a:srgbClr val="1E293B"/>
                </a:solidFill>
                <a:latin typeface="Calibri"/>
              </a:rPr>
              <a:t>If it requires a script include, business rule, or custom scheduled job -- it is a customization. If it can be set through System Properties, LDAP Configuration, or the MID Server properties page -- it is configuration.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PLATFORM FOUNDATION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T H E  P R O C E S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ServiceNow Platform Foundation -- Architecture End to 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2052828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097280"/>
            <a:ext cx="196138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AD / LDAP</a:t>
            </a:r>
          </a:p>
        </p:txBody>
      </p:sp>
      <p:sp>
        <p:nvSpPr>
          <p:cNvPr id="8" name="Rectangle 7"/>
          <p:cNvSpPr/>
          <p:nvPr/>
        </p:nvSpPr>
        <p:spPr>
          <a:xfrm>
            <a:off x="2446020" y="1078992"/>
            <a:ext cx="2052828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91740" y="1097280"/>
            <a:ext cx="196138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SAML / SSO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078992"/>
            <a:ext cx="2052828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097280"/>
            <a:ext cx="196138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Local Auth (break-glass)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97980" y="1078992"/>
            <a:ext cx="2052828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43700" y="1097280"/>
            <a:ext cx="196138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SCIM (optional)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444752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14B8A6"/>
                </a:solidFill>
                <a:latin typeface="Calibri"/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664208"/>
            <a:ext cx="850392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1719072"/>
            <a:ext cx="832104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0B1F3A"/>
                </a:solidFill>
                <a:latin typeface="Calibri"/>
              </a:rPr>
              <a:t>USER RECORD CREATED (sys_user) + GROUP MEMBERSHIP SYNCED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002536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14B8A6"/>
                </a:solidFill>
                <a:latin typeface="Calibri"/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185416"/>
            <a:ext cx="2107692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4" y="2231136"/>
            <a:ext cx="1997964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0" i="0">
                <a:solidFill>
                  <a:srgbClr val="0B1F3A"/>
                </a:solidFill>
                <a:latin typeface="Calibri"/>
              </a:rPr>
              <a:t>OOTB Role Assigned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00884" y="2185416"/>
            <a:ext cx="2107692" cy="320040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55748" y="2231136"/>
            <a:ext cx="1997964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0" i="0">
                <a:solidFill>
                  <a:srgbClr val="0B1F3A"/>
                </a:solidFill>
                <a:latin typeface="Calibri"/>
              </a:rPr>
              <a:t>MID Server Active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1728" y="2185416"/>
            <a:ext cx="2107692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36592" y="2231136"/>
            <a:ext cx="1997964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0" i="0">
                <a:solidFill>
                  <a:srgbClr val="0B1F3A"/>
                </a:solidFill>
                <a:latin typeface="Calibri"/>
              </a:rPr>
              <a:t>Email Relay Live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62572" y="2185416"/>
            <a:ext cx="2107692" cy="320040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17436" y="2231136"/>
            <a:ext cx="1997964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0" i="0">
                <a:solidFill>
                  <a:srgbClr val="0B1F3A"/>
                </a:solidFill>
                <a:latin typeface="Calibri"/>
              </a:rPr>
              <a:t>PI Plugin Enabled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2249424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14B8A6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706624"/>
            <a:ext cx="850392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2761488"/>
            <a:ext cx="832104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0B1F3A"/>
                </a:solidFill>
                <a:latin typeface="Calibri"/>
              </a:rPr>
              <a:t>INSTANCE READY FOR SPRINT 1 CONFIGURATION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3044952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14B8A6"/>
                </a:solidFill>
                <a:latin typeface="Calibri"/>
              </a:rPr>
              <a:t>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3273551"/>
            <a:ext cx="85039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0D9488"/>
                </a:solidFill>
                <a:latin typeface="Calibri"/>
              </a:rPr>
              <a:t>AI Features Active at Go-Live: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PI plugin enabled from Sprint 1 trains passively on OOTB-structured data. Now Assist activates through store licensing -- no custom config. PA reads OOTB user/group schemas from day one.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PLATFORM FOUNDATION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What instance environments are in scope -- and how are they structured?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Recommendation: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Standard: Dev + Test/UAT + Production. OOTB clone process for environment refresh. Update set governance for promoting changes through the pipeline. No custom CI/CD pipeline required at this engagement size.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Why it works: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OOTB update sets + manual promotion covers delivery patterns for federal engagements. Clone keeps sub-prod in sync without scripted tooling.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Dev + UAT + Prod (standard) -- or Dev + Prod only?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Who owns and approves changes in each environment?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What is the clone schedule for refreshing UAT from Prod?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What credentials and access controls govern each environment?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Custom CI/CD pipelines (Jenkins, GitHub Actions) require scripted tooling and are outside the 18-week scope. OOTB update sets + scheduled clones cover standard federal delivery patterns.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PLATFORM FOUNDATION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How will users be provisioned -- and how will the AD/LDAP integration work?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Recommendation: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OOTB LDAP scheduled import (pull from AD). Group sync maps AD security groups to ServiceNow assignment groups. User deactivation on AD status change -- OOTB. Manager sync for approval routing -- OOTB attribute mapping.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Which AD OU(s) are in scope for import?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What AD group names map to ServiceNow assignment groups?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Is manager sync required for approval routing?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What is the import frequency (hourly, daily)?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Real-time push provisioning (SCIM) and custom attribute transforms are frequent customization triggers. OOTB scheduled pull with daily sync is the federal standard -- secure, auditable, and upgrade-safe.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PLATFORM FOUNDATION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How will SSO and MFA be configured?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Recommendation: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OOTB SAML 2.0 with your IdP. MFA enforced at the IdP -- not within ServiceNow. OOTB session timeout and concurrent session controls. Break-glass local accounts for emergencies -- documented, audited.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Which IdP (Okta, Azure AD, ADFS, Ping)?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Is MFA currently enforced at the IdP for all users?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How many break-glass local accounts are required?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What is the session timeout requirement?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Custom authentication plugins are the single most common cause of upgrade failures. OOTB SAML + IdP-enforced MFA is the federal standard and the upgrade-safe choice.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PLATFORM FOUNDATION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What OOTB roles will be assigned -- and how?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Role Model: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Core roles: itil (service desk), itil_admin, approver_user, catalog_user, knowledge. Role inheritance via AD group membership -- configure once at group level. No scripted role assignment needed.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Which AD groups map to which OOTB roles?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What is the role review process for new hires?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Are there any roles requiring manual assignment beyond group sync?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Who holds the admin role -- and is it time-limited?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Custom roles that replicate subsets of OOTB roles add maintenance burden without security gain. Use OOTB roles + group-based assignment -- auditable, upgrade-safe, and pre-documented for compliance review.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PLATFORM FOUNDATION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What is the MID Server deployment architecture?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MID Server: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Java agent installed on Windows or Linux in your network. Supports Discovery, LDAP imports, IntegrationHub, and email relay. HA: OOTB MID Server cluster for failover. Dedicated VM per MID Server -- lowest maintenance, best documented.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Where is the MID Server installed -- internal network, DMZ, or cloud?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How many MID Servers (1 primary + 1 standby minimum)?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What service account credentials does the MID Server run under?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What network access (ports, firewall rules) is required for the Discovery scope?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Container-based MID Server deployments and custom proxy configurations are supportable but require additional scoping. OOTB MID Server on a dedicated VM is the standard -- plan for 2 instances minimum for HA.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PLATFORM FOUNDATION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How will inbound and outbound email be configured?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Email Framework: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Outbound: OOTB SMTP relay (or Office 365/SendGrid). Inbound: OOTB inbound email action creates incidents from inbound email. Reply tracking on tickets -- OOTB. Email filtering rules configurable without scripting.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Which SMTP relay is in scope (Office 365, on-prem Exchange, SendGrid)?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Which mailboxes trigger inbound incident creation?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What domains/senders are whitelisted for inbound?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Are there shared mailboxes requiring specific routing rules?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Custom email parsers that extract structured data from email body text are customization territory. OOTB inbound email + Predictive Intelligence category prediction covers the vast majority of inbound routing needs.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PLATFORM FOUNDATION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What are the business calendars, time zones, and holiday schedules?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Schedule Records: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Multiple schedule definitions for different SLA tiers (8×5, 8×7, 24×7). Holiday exclusions configurable per schedule. Time zone set at instance level and at user level. OOTB DST adjustment.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What is the primary SLA business hours schedule (8×5, 8×7)?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Which holidays are excluded from SLA calculations?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Do different teams operate on different schedules?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What is the instance time zone?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Scripted calendar logic for rotating shifts and per-department calendars is customization territory. OOTB schedule records cover 99% of federal calendar patterns -- define them before Sprint 1 SLA configuration.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PLATFORM FOUNDATION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What AI platform readiness steps are required before Sprint 3?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AI Readiness: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PI plugin activation: enable in Sprint 1 -- trains passively from the first ticket. PI training threshold: ~100 records per cluster before predictions activate. Now Assist: store licensing activation -- 30 minutes. Virtual Agent NLU: OOTB pre-trained on ITSM intents.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Is Now Assist licensing active before Sprint 3?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Is the PI plugin enabled in the instance?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Which data fields are populated consistently to support PI training (category, subcategory, assignment group)?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Is ServiceNow Mobile licensing active for Employee Center?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Delaying PI plugin enablement to Sprint 3 means prediction models have less training data at go-live. Enable PI from Sprint 1 -- it trains passively and costs nothing extra to run early.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PLATFORM FOUNDATION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1572768"/>
            <a:ext cx="64008" cy="1645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572768"/>
            <a:ext cx="6858000" cy="8046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Decision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377440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14B8A6"/>
                </a:solidFill>
                <a:latin typeface="Calibri"/>
              </a:rPr>
              <a:t>Every decision on the next page is an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2706624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14B8A6"/>
                </a:solidFill>
                <a:latin typeface="Calibri"/>
              </a:rPr>
              <a:t>Decisions left blank leave this room with a named owner and a date.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3200400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Before we close: no decision is unresolved — it is either made, or owned.</a:t>
            </a:r>
          </a:p>
        </p:txBody>
      </p:sp>
      <p:pic>
        <p:nvPicPr>
          <p:cNvPr id="7" name="Picture 6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PLATFORM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D E C I S I O N  L O 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libri"/>
              </a:rPr>
              <a:t>Platform Foundation — Decisions Made in This Workshop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42415"/>
            <a:ext cx="292608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078992"/>
            <a:ext cx="20116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7" y="1042415"/>
            <a:ext cx="173736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078992"/>
            <a:ext cx="1645919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Decision Topic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50008" y="1042415"/>
            <a:ext cx="393192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95727" y="1078992"/>
            <a:ext cx="3840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81927" y="1042415"/>
            <a:ext cx="150876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7" y="1078992"/>
            <a:ext cx="1417319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Decision Made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90688" y="1042415"/>
            <a:ext cx="100584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8" y="1078992"/>
            <a:ext cx="914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Owner / Due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316736"/>
            <a:ext cx="29260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7" y="1316736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50008" y="1316736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81927" y="1316736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90688" y="131673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5" y="140817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138988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Instance Environment 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7" y="138988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Sub-prod count; owner assignments; clone schedule; update set governance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1682495"/>
            <a:ext cx="292608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7" y="1682495"/>
            <a:ext cx="17373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50008" y="1682495"/>
            <a:ext cx="39319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81927" y="1682495"/>
            <a:ext cx="15087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90688" y="1682495"/>
            <a:ext cx="100584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5" y="177393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175564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User Provisioning &amp; AD Integration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95727" y="175564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AD OU scope; group-to-group mapping; sync frequency; manager sync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2048256"/>
            <a:ext cx="29260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7" y="2048256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350008" y="2048256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81927" y="2048256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90688" y="204825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6615" y="213969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212140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SSO / MFA Configuration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95727" y="212140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IdP selection; MFA enforcement; break-glass accounts; session timeout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2414016"/>
            <a:ext cx="292608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647" y="2414016"/>
            <a:ext cx="17373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50008" y="2414016"/>
            <a:ext cx="39319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1927" y="2414016"/>
            <a:ext cx="15087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90688" y="2414016"/>
            <a:ext cx="100584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6615" y="250545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248716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Role &amp; Access Model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95727" y="248716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Role-to-AD-group mapping; review process; manual assignment exceptions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2779776"/>
            <a:ext cx="29260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2647" y="2779776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350008" y="2779776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81927" y="2779776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790688" y="277977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6615" y="287121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285292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MID Server Architecture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95727" y="285292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Count and placement; service account; network access; HA model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3145536"/>
            <a:ext cx="292608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2647" y="3145536"/>
            <a:ext cx="17373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350008" y="3145536"/>
            <a:ext cx="39319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81927" y="3145536"/>
            <a:ext cx="15087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790688" y="3145536"/>
            <a:ext cx="100584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6615" y="323697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" y="321868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Email Configuration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95727" y="321868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SMTP relay; inbound mailboxes; domain whitelist; routing rules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3511296"/>
            <a:ext cx="29260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2647" y="3511296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350008" y="3511296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81927" y="3511296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90688" y="351129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56615" y="360273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8368" y="358444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Business Calendars &amp; Schedules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395727" y="358444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Primary SLA schedule; holiday exclusions; team schedules; time zone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0040" y="3877056"/>
            <a:ext cx="292608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2647" y="3877056"/>
            <a:ext cx="17373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350008" y="3877056"/>
            <a:ext cx="39319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81927" y="3877056"/>
            <a:ext cx="15087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790688" y="3877056"/>
            <a:ext cx="100584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56615" y="396849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" y="395020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AI Platform Readiness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395727" y="395020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PI plugin enabled; Now Assist licensing; field consistency; training baseline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PLATFORM FOUNDATION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N E X T  S T E P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What Happens After This Workshop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41148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31089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05156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08813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Complete the Foundation Data Pack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380743"/>
            <a:ext cx="3931920" cy="896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Fill all Foundation Data Accelerator Pack workbook tabs: AD config, MID Server specs, SSO IdP details, business calendar entries, and role-to-group mapping.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36007" y="1051560"/>
            <a:ext cx="41148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36007" y="1051560"/>
            <a:ext cx="31089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105156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0055" y="108813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Instance Setup Sprint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7" y="1380743"/>
            <a:ext cx="3931920" cy="896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ECS configures AD/LDAP, SSO, MID Server, email relay, and platform properties in the dev instance based on decisions from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468880"/>
            <a:ext cx="41148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468880"/>
            <a:ext cx="31089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46888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250545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Enable AI Plugins Now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2798064"/>
            <a:ext cx="3931920" cy="896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Enable PI plugin and activate Now Assist licensing before Sprint 3. ECS validates field consistency to ensure PI training begins from day one.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36007" y="2468880"/>
            <a:ext cx="41148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36007" y="2468880"/>
            <a:ext cx="31089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6007" y="246888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0055" y="250545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Sprint 1 Kickoff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7" y="2798064"/>
            <a:ext cx="3931920" cy="896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Platform Foundation setup gates the IM and catalog configuration sprints. Confirm environment access, AD credentials, and MID Server readiness before Sprint 1 begins.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PLATFORM FOUNDATION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1645920"/>
            <a:ext cx="64008" cy="15544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627632"/>
            <a:ext cx="64008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Everforth ECS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176272"/>
            <a:ext cx="6400800" cy="40233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0" i="0">
                <a:solidFill>
                  <a:srgbClr val="14B8A6"/>
                </a:solidFill>
                <a:latin typeface="Calibri"/>
              </a:rPr>
              <a:t>ServiceNow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2743200"/>
            <a:ext cx="77724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SERVICENOW PRACTICE  ·  MODERNIZING THE CORE  ·  PLATFORM FOUNDATION</a:t>
            </a:r>
          </a:p>
        </p:txBody>
      </p:sp>
      <p:pic>
        <p:nvPicPr>
          <p:cNvPr id="6" name="Picture 5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PLATFORM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