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858000" cy="7498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Modernizing the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04288"/>
            <a:ext cx="7772400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4B8A6"/>
                </a:solidFill>
                <a:latin typeface="Calibri"/>
              </a:rPr>
              <a:t>Virtual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907792"/>
            <a:ext cx="685800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Ensuring AI Realization and Optimizing Long-Term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407408"/>
            <a:ext cx="54864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Prepared by Everforth ECS Federal  ·  ServiceNow Practice  ·  Confidential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A G E N D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The OOTB-First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Why this engagement commits to OOTB -- and what it means in the room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a Customization Is (and Isnt)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Configuration vs. scripting -- with examples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OOTB Virtual Agent Walkthrough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NLU, topic flows, handoff, channel deployment in OOTB 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097280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143000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1097280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Key Decisions #1-#8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1344168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Topic scope, NLU, handoff, channels, authentication, catalog/incident integration, persona, 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892807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938527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1892807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Decision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2139696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Every decision is recorded before we leave this room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688336"/>
            <a:ext cx="438912" cy="4389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734056"/>
            <a:ext cx="438912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2688336"/>
            <a:ext cx="3749039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What Comes Next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2935224"/>
            <a:ext cx="3749039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VA Accelerator Pack, NLU training, channel deployment, pilot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29583"/>
            <a:ext cx="85039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611879"/>
            <a:ext cx="82296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1" i="0">
                <a:solidFill>
                  <a:srgbClr val="0B1F3A"/>
                </a:solidFill>
                <a:latin typeface="Calibri"/>
              </a:rPr>
              <a:t>Ground rule: </a:t>
            </a:r>
            <a:r>
              <a:rPr sz="950" b="0" i="0">
                <a:solidFill>
                  <a:srgbClr val="1E293B"/>
                </a:solidFill>
                <a:latin typeface="Calibri"/>
              </a:rPr>
              <a:t>Decisions get made in this room. The OOTB recommendation is pre-populated. Your job is to confirm, adjust with rationale, or defer with a named owner and date.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A P P R O A C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OOTB-first is not a constraint — it is the AI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OOTB-First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Every VA decision starts with OOTB Now Platform Virtual Agent -- not a custom chatbot build or third-party conversational AI.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Configuration (topic flows, NLU utterances, channel deployment, greeting, escalation rules) is always available through VA Studio -- no coding required.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Customization (custom NLU models, external AI/LLM integrations, custom scripted topic flows) requires a Customization Council case.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The 18-week engagement is scoped for OOTB VA execution. Custom NLU or third-party bot integration expands scope significantly.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182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754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It Protects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182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326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Now Assist integration -- OOTB VA and Now Assist share the same NLU foundation. Custom bots cannot leverage Now Assist capabilities without re-integration.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Upgrade continuity -- OOTB VA topic configurations survive upgrades. Custom scripted flows require manual remediation after each upgrade.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Delivery timeline -- OOTB VA topics deploy in days. Custom NLU model training and external bot integration takes weeks to months.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License ROI -- VA deflection rate and Now Assist generative capabilities are only measurable when built on the OOTB platform.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24128"/>
            <a:ext cx="27432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033271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What It Enables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35024"/>
            <a:ext cx="2743200" cy="3337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89888"/>
            <a:ext cx="25603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OOTB ITSM topic flows from Sprint 3 -- Incident creation, catalog ordering, RITM status, KB search, password reset -- pre-built and pre-trained.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Now Assist generative responses within VA -- AI-generated resolution suggestions from KB and incident history without custom prompting.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Performance Analytics deflection rate KPIs -- contained conversations, escalation rate, topic success rate -- live from go-live.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•  Channel expansion (Teams, Slack, mobile, web) from the same OOTB topic configuration -- one build, many channels.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L I 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a customization is — and what it isn’t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1605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CONFIGURATION  —  This is always available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Activating OOTB VA topic flows (Incident, Catalog, RITM status, KB search, Password reset)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VA greeting, persona name, and fallback messages in VA Studio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Adding custom utterances to OOTB NLU models (no NLU model rebuild needed)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live agent escalation (Connect Support, Teams, or email handoff)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Deploying VA to Employee Center (EC launcher widget -- OOTB)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Deploying VA to Microsoft Teams via OOTB Teams channel configuration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authentication model (same-session SSO via OOTB identity broker)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Configuring topic flow branching for organizational-specific options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Setting fallback and unrecognized intent behavior in VA Studio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✓  Enabling PA VA analytics (deflection rate, escalation rate, topic success)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24128"/>
            <a:ext cx="4160520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3" y="1033271"/>
            <a:ext cx="4050791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CUSTOMIZATION  —  Requires Approval + Business Case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316736"/>
            <a:ext cx="416052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371600"/>
            <a:ext cx="3977639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NLU model training beyond adding utterances to OOTB intents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External LLM (GPT, Gemini, custom) integration replacing OOTB NLU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scripted VA topic flows with complex API calls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Third-party bot platform integration (Dialogflow, Copilot Studio)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VA UI components beyond OOTB channel configurations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sentiment analysis or emotion detection in conversations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live agent routing logic beyond OOTB escalation rules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VA-to-external-ticketing-system handoff (non-ServiceNow)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Custom conversation analytics beyond OOTB PA indicators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✗  Scripted proactive notification triggers from 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45152"/>
            <a:ext cx="8503920" cy="1645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54296"/>
            <a:ext cx="822960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0B1F3A"/>
                </a:solidFill>
                <a:latin typeface="Calibri"/>
              </a:rPr>
              <a:t>The customization bar:  </a:t>
            </a:r>
            <a:r>
              <a:rPr sz="800" b="0" i="0">
                <a:solidFill>
                  <a:srgbClr val="1E293B"/>
                </a:solidFill>
                <a:latin typeface="Calibri"/>
              </a:rPr>
              <a:t>If it requires a scripted topic flow, custom NLU model, or external platform integration -- it is a customization. If it can be configured in VA Studio through topic builder, utterance editor, or channel settings -- it is configuration.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T H E  P R O C E S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ServiceNow OOTB Virtual Agent -- Conversation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Employee Center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602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1740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Microsoft Teams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Mobile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7980" y="1078992"/>
            <a:ext cx="2052828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3700" y="1097280"/>
            <a:ext cx="1961388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Web (embedded)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4475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4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64208"/>
            <a:ext cx="850392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719072"/>
            <a:ext cx="832104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 i="0">
                <a:solidFill>
                  <a:srgbClr val="0B1F3A"/>
                </a:solidFill>
                <a:latin typeface="Calibri"/>
              </a:rPr>
              <a:t>CONVERSATION INITIATED -- NLU identifies intent from user utterance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002536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185416"/>
            <a:ext cx="281025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OOTB Topic Flow Executes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3448" y="2185416"/>
            <a:ext cx="2810256" cy="320040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58312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Fallback: KB article suggestion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6856" y="2185416"/>
            <a:ext cx="281025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1720" y="2231136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Unrecognized: escalation offered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249424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706624"/>
            <a:ext cx="281025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2752344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SELF-SERVED (contained)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3448" y="2706624"/>
            <a:ext cx="2810256" cy="320040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58312" y="2752344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ESCALATED to live 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6856" y="2706624"/>
            <a:ext cx="2810256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1720" y="2752344"/>
            <a:ext cx="2700528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0B1F3A"/>
                </a:solidFill>
                <a:latin typeface="Calibri"/>
              </a:rPr>
              <a:t>TICKET CREATED (RITM or INC)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2770632"/>
            <a:ext cx="4572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273551"/>
            <a:ext cx="8503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0D9488"/>
                </a:solidFill>
                <a:latin typeface="Calibri"/>
              </a:rPr>
              <a:t>AI Features Active at Go-Live: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Now Assist generates AI-powered resolution suggestions within VA from KB and incident history. PA VA KPIs (deflection rate, containment rate, escalation rate) are live from first conversation.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Which VA topic flows are in scope at go-live?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Topic Library: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Pre-built ITSM topics: Incident create, Incident status, Catalog item order, RITM status, KB article search, Password reset (with AD integration), IT Outage notification. Each topic is pre-trained with OOTB ITSM NLU utterances -- no NLU training required to activate.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Why it works: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OOTB topics are the fastest path to deflection. Add utterances to cover your specific terminology. Do not build custom topics where OOTB topics exist.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OOTB topics are in scope at go-live (vs. phased to Sprint 5)?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Is password reset in scope -- and is the AD write-back integration ready?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Is catalog item ordering via VA in scope -- or phased after catalog configuration?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What is the minimum viable topic set for a successful go-live?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Building custom topic flows where OOTB topics exist is the most common VA customization mistake. Configure OOTB topics first -- custom topics are for scenarios genuinely not covered by the library.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the NLU model be trained for your organization?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NLU Model: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Pre-trained on ITSM intents (incident, request, reset, status). Custom utterances: add organization-specific phrases to OOTB intents in VA Studio -- 10-20 per topic is sufficient. No NLU model rebuild. Language: OOTB supports English + 30 additional languages.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organization-specific terms do users use for common IT requests (e.g., "VPN issue" = network incident)?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languages are in scope -- is English-only sufficient at go-live?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Who owns the NLU utterance backlog -- and what is the review cadence after go-live?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Is there a legacy chatbot with NLU logs that can seed utterance examples?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Full NLU model replacement (Dialogflow, Copilot Studio) is out of scope for the 18-week engagement. Add utterances to OOTB intents -- it achieves 80%+ recognition accuracy for standard ITSM requests without a custom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VA escalate to a live agent -- and through which channel?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Escalation Options: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Connect Support (OOTB live chat within ServiceNow). Teams channel handoff (OOTB Teams integration). Email: VA generates a pre-filled email draft for the user. Ticket creation: VA creates an incident and provides the INC number. Escalation trigger: user requests agent, three unrecognized intents, or topic-specific threshold.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live agent chat in scope -- and through which channel (Connect Support, Teams)?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are the live agent hours -- and what happens to escalations outside business hours?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is the escalation trigger logic (user request, N failed turns, specific keywords)?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Should VA create an incident automatically on escalation -- or leave it to the agent?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VA without a defined escalation path creates dead-end conversations that drive user frustration. Define the escalation model before go-live -- even if live chat is phased, ticket-creation escalation must be active from day 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Which channels will VA be deployed to at go-live?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Channel Options: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Employee Center: OOTB EC launcher widget (floating button or embedded). Microsoft Teams: OOTB Teams channel configuration. ServiceNow Mobile: OOTB mobile VA integration. Web (standalone): configurable for intranet embedding. All channels share the same OOTB topic configuration -- one build, many channels.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channels are in scope at go-live (EC, Teams, Mobile, Web)?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Is Teams the primary channel -- or Employee Center?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For Teams: is the ServiceNow Teams app already deployed or will it be deployed as part of this engagement?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For EC: where does the VA launcher appear (floating button, search widget, topic page)?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Multi-channel VA deployment is an OOTB capability -- but deploying to all channels simultaneously increases testing complexity. Go-live with EC + Teams, then expand to mobile and web.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VA authentication work -- and what can authenticated users 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Authentication: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VA in Employee Center: same-session SSO -- user is already authenticated. VA in Teams: OOTB identity broker authenticates via the user's ServiceNow session. Authenticated actions: create incident in user context, check RITM status, order catalog items on behalf of user. Unauthenticated: KB search only.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Is authenticated VA in scope at go-live -- or unauthenticated KB search only initially?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For Teams: is the OOTB identity broker configuration in scope for this engagement?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Should VA be able to create incidents and orders in the user's name -- or just informational?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Are there any compliance restrictions on automated incident creation via chatbot?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Unauthenticated VA (KB search only) has limited deflection value. Authenticated VA that can create tickets and check statuses delivers 3-5× higher deflection rates -- configure it from day 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VA integrate with the Service Catalog and Incident Management?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Integration: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Catalog: OOTB "Order an Item" topic flow surfaces catalog items matching user intent. RITM status: OOTB RITM status check by number or "my recent requests." Incident: OOTB incident create topic captures category, description, priority -- submits to ServiceNow directly. Incident status: OOTB INC status check by number or "my open incidents."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catalog items should VA be able to order (all in-scope items or a curated subset)?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Should VA surface Knowledge articles before offering to create an incident?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happens if the catalog item requires approval -- does VA inform the user?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Is RITM + INC status check via VA in scope at go-live?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VA that can only search KB but not create tickets or orders has limited utility. Configure catalog ordering and incident creation from day one -- the OOTB topic flows make this a configuration task, not a build.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What is the VA persona, greeting, and fallback configuration?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Persona Config: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Bot name and avatar: configurable in VA Studio (no code). Greeting message: customizable per channel. Fallback message (unrecognized intent): configurable. Out-of-hours message: configurable. All text is editable -- no scripting needed.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What is the bot name (e.g., "IT Assist", "HelpBot")?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What does the greeting say -- and does it vary by channel?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is the fallback message for unrecognized intents?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Should VA suggest KB articles as a fallback before offering to create a ticket?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Bot persona configuration is a 30-minute VA Studio task. Define it before go-live to avoid the default "Virtual Agent" placeholder name -- it is a user-facing first impression that matters for adoption.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K E Y  D E C I S I O N   #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0B1F3A"/>
                </a:solidFill>
                <a:latin typeface="Calibri"/>
              </a:rPr>
              <a:t>How will VA performance be measured and optimized after go-live?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406908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33271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OOTB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06908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388620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>OOTB VA Analytics: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PA VA KPIs: containment rate, escalation rate, topic success rate, conversation volume by topic, unrecognized intent rate. OOTB VA conversation log: every conversation captured for review. NLU confidence score by utterance -- identifies training gaps. All dashboards live from first conversation.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D9488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024128"/>
            <a:ext cx="434340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33271"/>
            <a:ext cx="425196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DECIDE IN THE 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298448"/>
            <a:ext cx="4343400" cy="2743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53312"/>
            <a:ext cx="41605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900" b="1" i="0">
                <a:solidFill>
                  <a:srgbClr val="0B1F3A"/>
                </a:solidFill>
                <a:latin typeface="Calibri"/>
              </a:rPr>
              <a:t>Questions to answer: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1.  Which PA VA KPIs are required for the go-live dashboard?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2.  Who owns the VA performance review -- and what is the cadence (weekly, monthly)?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3.  What is the target containment rate at 30 days post go-live?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E293B"/>
                </a:solidFill>
                <a:latin typeface="Calibri"/>
              </a:rPr>
              <a:t>4.  How will unrecognized intents be reviewed and converted to new utterances?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096512"/>
            <a:ext cx="8503920" cy="493776"/>
          </a:xfrm>
          <a:prstGeom prst="rect">
            <a:avLst/>
          </a:prstGeom>
          <a:solidFill>
            <a:srgbClr val="FEF3C7"/>
          </a:solidFill>
          <a:ln w="6350">
            <a:solidFill>
              <a:srgbClr val="FDD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33087"/>
            <a:ext cx="8321040" cy="42062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⚠  OOTB Defense:  </a:t>
            </a:r>
            <a:r>
              <a:rPr sz="850" b="0" i="0">
                <a:solidFill>
                  <a:srgbClr val="1E293B"/>
                </a:solidFill>
                <a:latin typeface="Calibri"/>
              </a:rPr>
              <a:t>VA without a performance review process degrades over time as user language evolves. Assign a VA owner, set a weekly review cadence for the first 90 days, and act on unrecognized intent data -- it is the primary driver of containment rate improvement.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572768"/>
            <a:ext cx="64008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572768"/>
            <a:ext cx="685800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Decision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37744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Every decision on the next page is an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06624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Calibri"/>
              </a:rPr>
              <a:t>Decisions left blank leave this room with a named owner and a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3200400"/>
            <a:ext cx="73152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Before we close: no decision is unresolved — it is either made, or owned.</a:t>
            </a:r>
          </a:p>
        </p:txBody>
      </p:sp>
      <p:pic>
        <p:nvPicPr>
          <p:cNvPr id="7" name="Picture 6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D E C I S I O N  L O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Virtual Agent — Decisions Made in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42415"/>
            <a:ext cx="292608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078992"/>
            <a:ext cx="201168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042415"/>
            <a:ext cx="17373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078992"/>
            <a:ext cx="16459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1042415"/>
            <a:ext cx="393192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7" y="1078992"/>
            <a:ext cx="3840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1927" y="1042415"/>
            <a:ext cx="150876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7" y="1078992"/>
            <a:ext cx="1417319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Decision Made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1042415"/>
            <a:ext cx="1005840" cy="2743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8" y="1078992"/>
            <a:ext cx="914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Owner / Due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31673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" y="131673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50008" y="131673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7" y="131673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90688" y="131673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5" y="14081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3898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Topic Scope at Go-Live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7" y="13898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OOTB topics active; phased topics; minimum viable 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682495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" y="1682495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50008" y="1682495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81927" y="1682495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90688" y="1682495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5" y="17739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17556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NLU Training &amp; Utterances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7" y="17556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Organization-specific terms; language scope; utterance ownership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04825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7" y="204825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50008" y="204825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1927" y="204825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90688" y="204825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5" y="21396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1214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Live Agent Escalation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7" y="21214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Escalation channel; hours; trigger logic; incident-on-escalation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41401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7" y="241401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50008" y="241401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1927" y="241401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90688" y="241401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5" y="250545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248716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Channel 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5727" y="248716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Go-live channels; Teams app readiness; EC launcher placement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277977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2647" y="277977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50008" y="277977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81927" y="277977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90688" y="277977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6615" y="287121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285292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Authentication Model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95727" y="285292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Authenticated vs. unauthenticated; identity broker scope; automated actions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314553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2647" y="314553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350008" y="314553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81927" y="314553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90688" y="314553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5" y="323697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321868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Catalog &amp; Incident Integration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95727" y="321868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Catalog ordering scope; KB-first logic; RITM/INC status check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3511296"/>
            <a:ext cx="2926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2647" y="3511296"/>
            <a:ext cx="1737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350008" y="3511296"/>
            <a:ext cx="3931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81927" y="3511296"/>
            <a:ext cx="1508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90688" y="3511296"/>
            <a:ext cx="10058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6615" y="360273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358444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Persona &amp; Greeting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95727" y="358444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Bot name; greeting text; fallback; out-of-hours message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3877056"/>
            <a:ext cx="29260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647" y="3877056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350008" y="3877056"/>
            <a:ext cx="393192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1927" y="3877056"/>
            <a:ext cx="15087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790688" y="3877056"/>
            <a:ext cx="10058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6615" y="3968496"/>
            <a:ext cx="219456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14B8A6"/>
                </a:solidFill>
                <a:latin typeface="Calibri"/>
              </a:rPr>
              <a:t>#8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3950208"/>
            <a:ext cx="1645919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  <a:latin typeface="Calibri"/>
              </a:rPr>
              <a:t>VA Analytics &amp; Governance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95727" y="3950208"/>
            <a:ext cx="38404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Go-live KPIs; containment rate target; review cadence; utterance backlog owner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" y="164592"/>
            <a:ext cx="45720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1" i="0">
                <a:solidFill>
                  <a:srgbClr val="14B8A6"/>
                </a:solidFill>
                <a:latin typeface="Calibri"/>
              </a:rPr>
              <a:t>N E X T  S T E P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77724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libri"/>
              </a:rPr>
              <a:t>What Happens After This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8503920" cy="1645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Complete the VA Accelerator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Fill the Virtual Agent Accelerator Pack: topic scope decisions, NLU utterance lists, channel configuration details, escalation routing, and persona settings.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7" y="105156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05156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5" y="108813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NLU Utterance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7" y="1380743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Customer team collects 10-20 real user phrases per in-scope topic. ECS adds utterances to OOTB NLU intents in VA Studio before UAT.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Channel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ECS deploys VA to Employee Center and Teams based on today's channel decisions. Teams deployment requires ServiceNow Teams app installation by customer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2468880"/>
            <a:ext cx="4114800" cy="12801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6007" y="2468880"/>
            <a:ext cx="310896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0055" y="250545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VA UAT &amp; 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7" y="2798064"/>
            <a:ext cx="3931920" cy="8961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VA UAT session with a pilot group of 10-20 users. Review conversation logs after 1 week to identify NLU gaps before full go-live.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" y="1645920"/>
            <a:ext cx="64008" cy="1554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627632"/>
            <a:ext cx="64008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Everforth ECS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2176272"/>
            <a:ext cx="6400800" cy="40233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 i="0">
                <a:solidFill>
                  <a:srgbClr val="14B8A6"/>
                </a:solidFill>
                <a:latin typeface="Calibri"/>
              </a:rPr>
              <a:t>ServiceNow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74320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pic>
        <p:nvPicPr>
          <p:cNvPr id="6" name="Picture 5" descr="everfor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64008"/>
            <a:ext cx="1115568" cy="4206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18888"/>
            <a:ext cx="91440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Everforth ECS Federal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846320"/>
            <a:ext cx="50292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SERVICENOW PRACTICE  ·  MODERNIZING THE CORE  ·  VIRTUAL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84632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